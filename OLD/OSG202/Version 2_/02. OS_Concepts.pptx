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1"/>
  </p:notesMasterIdLst>
  <p:sldIdLst>
    <p:sldId id="256" r:id="rId2"/>
    <p:sldId id="436" r:id="rId3"/>
    <p:sldId id="414" r:id="rId4"/>
    <p:sldId id="401" r:id="rId5"/>
    <p:sldId id="374" r:id="rId6"/>
    <p:sldId id="432" r:id="rId7"/>
    <p:sldId id="375" r:id="rId8"/>
    <p:sldId id="376" r:id="rId9"/>
    <p:sldId id="428" r:id="rId10"/>
    <p:sldId id="415" r:id="rId11"/>
    <p:sldId id="416" r:id="rId12"/>
    <p:sldId id="417" r:id="rId13"/>
    <p:sldId id="418" r:id="rId14"/>
    <p:sldId id="419" r:id="rId15"/>
    <p:sldId id="377" r:id="rId16"/>
    <p:sldId id="429" r:id="rId17"/>
    <p:sldId id="382" r:id="rId18"/>
    <p:sldId id="438" r:id="rId19"/>
    <p:sldId id="439" r:id="rId20"/>
    <p:sldId id="440" r:id="rId21"/>
    <p:sldId id="441" r:id="rId22"/>
    <p:sldId id="442" r:id="rId23"/>
    <p:sldId id="443" r:id="rId24"/>
    <p:sldId id="444" r:id="rId25"/>
    <p:sldId id="437" r:id="rId26"/>
    <p:sldId id="421" r:id="rId27"/>
    <p:sldId id="378" r:id="rId28"/>
    <p:sldId id="394" r:id="rId29"/>
    <p:sldId id="433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3300"/>
    <a:srgbClr val="FF66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4674" autoAdjust="0"/>
  </p:normalViewPr>
  <p:slideViewPr>
    <p:cSldViewPr>
      <p:cViewPr varScale="1">
        <p:scale>
          <a:sx n="83" d="100"/>
          <a:sy n="83" d="100"/>
        </p:scale>
        <p:origin x="931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CEF7861-424C-465D-BDAA-1E73E34D6CBD}" type="datetimeFigureOut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2696F13-D2D0-4310-ACB2-89661ACDBE8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Ontogeny Recapitulates Phylogeny: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loài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96F13-D2D0-4310-ACB2-89661ACDBE8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43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Decouple:tách</a:t>
            </a:r>
            <a:r>
              <a:rPr lang="en-US" altLang="en-US" dirty="0"/>
              <a:t> ra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Intruders: </a:t>
            </a:r>
            <a:r>
              <a:rPr lang="en-US" altLang="en-US" dirty="0" err="1"/>
              <a:t>kẻ</a:t>
            </a:r>
            <a:r>
              <a:rPr lang="en-US" altLang="en-US" dirty="0"/>
              <a:t> </a:t>
            </a:r>
            <a:r>
              <a:rPr lang="en-US" altLang="en-US" dirty="0" err="1"/>
              <a:t>xâm</a:t>
            </a:r>
            <a:r>
              <a:rPr lang="en-US" altLang="en-US" dirty="0"/>
              <a:t> </a:t>
            </a:r>
            <a:r>
              <a:rPr lang="en-US" altLang="en-US" dirty="0" err="1"/>
              <a:t>nhập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Shell: </a:t>
            </a:r>
            <a:r>
              <a:rPr lang="en-US" altLang="en-US" dirty="0" err="1"/>
              <a:t>võ</a:t>
            </a:r>
            <a:r>
              <a:rPr lang="en-US" altLang="en-US" dirty="0"/>
              <a:t> </a:t>
            </a:r>
            <a:r>
              <a:rPr lang="en-US" altLang="en-US" dirty="0" err="1"/>
              <a:t>bộc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Ontogeny Recapitulates Phylogeny: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loài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procedure call that synchronously shifts the control from user mode to kernel mode is called a 'Trap Instruction’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Inspecting : </a:t>
            </a:r>
            <a:r>
              <a:rPr lang="en-US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271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765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287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0996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8721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77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258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209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41580-D419-404C-86FE-946385375AD9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15197-C94A-4719-846D-0F45D941AFE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6154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7FFB1-438A-4BE8-B940-DB4F4A294F5E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01B368-52C4-4140-BA91-648790B0FFA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39529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4A69A-03B2-4A71-A041-742452646898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71DA9-F089-4C4D-8643-2524734E1FC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4656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73009-6FBB-4EFA-A877-6E7A9DB40FF4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B34D61-1C96-4FDD-9DE8-5CA06CE5A82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3664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13BF3-BF6E-4458-8C7E-A0ECF07073B4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F84BA8-2206-4A16-B7AA-C0F6F998BD1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67862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AEB11-40B6-475F-B188-85018B2B96B8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F560A-B0B1-4B54-B401-4289EC46CD1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27004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DBA78-646C-4B9F-92DA-1EE8E7AC7237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3C77A1-100E-4AE7-8C6F-BD1D644DA35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88562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6320A-6829-4EF1-B31C-2E927A588867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7A044-8F13-4DA0-8D60-B196C2F1429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6734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6C2F1-CCA9-46F5-A113-4A3DCE3E5940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C8B67-169E-435C-9F34-96F62C1AA34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0584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8DC5F-4902-4FF8-9728-41A4F0D651EB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86065-F96E-45B8-97C5-21E569A375D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8810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DCB57-8219-4120-AE71-35EF5DB6E4A8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DEB07-0A49-476A-A0B0-15236FC2EBB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855097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EE01C-8228-49BE-B340-801277FC6A31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78324-C1FC-4932-81CA-ECD236E55B9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42979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80199-AF74-4F99-B7CD-A94B5E28A71C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279A2-D590-4D0F-A559-5B9EF6EF447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3536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7D712E36-A9CB-4C72-8EE4-F0DE3499E43E}" type="datetime1">
              <a:rPr lang="en-US"/>
              <a:pPr>
                <a:defRPr/>
              </a:pPr>
              <a:t>12/04/2022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52AA9F6-3BCE-4FDF-9F2B-DB484E6212B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  <p:pic>
        <p:nvPicPr>
          <p:cNvPr id="2055" name="Picture 8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</a:t>
            </a:r>
          </a:p>
          <a:p>
            <a:pPr lvl="1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Locates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Manage and make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resource</a:t>
            </a:r>
          </a:p>
          <a:p>
            <a:pPr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  <a:p>
            <a:pPr lvl="1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mode,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Latency time </a:t>
            </a:r>
          </a:p>
          <a:p>
            <a:pPr lvl="2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Switch user mode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kernel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7150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Shell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Ontogeny Recapitulates Phylogeny</a:t>
            </a:r>
          </a:p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endParaRPr lang="en-US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4038600" y="3429000"/>
            <a:ext cx="5105400" cy="31242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the process appear on?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processes exist at any time,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many programs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the OS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them?</a:t>
            </a:r>
          </a:p>
        </p:txBody>
      </p:sp>
      <p:pic>
        <p:nvPicPr>
          <p:cNvPr id="614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40592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828800"/>
            <a:ext cx="5486400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30480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execution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executing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process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of resources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 registers value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information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needing to run a program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process is its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(i.e., all memory locations that the process can read and write)</a:t>
            </a: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1371600" y="4187825"/>
          <a:ext cx="6629400" cy="267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Artwork" r:id="rId4" imgW="8771429" imgH="3704762" progId="Adobe.Illustrator.7">
                  <p:embed/>
                </p:oleObj>
              </mc:Choice>
              <mc:Fallback>
                <p:oleObj name="Artwork" r:id="rId4" imgW="8771429" imgH="3704762" progId="Adobe.Illustrator.7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87825"/>
                        <a:ext cx="6629400" cy="267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7" name="Picture 5"/>
          <p:cNvPicPr>
            <a:picLocks noChangeAspect="1" noChangeArrowheads="1"/>
          </p:cNvPicPr>
          <p:nvPr/>
        </p:nvPicPr>
        <p:blipFill>
          <a:blip r:embed="rId3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724400"/>
            <a:ext cx="28194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6499" name="Rectangle 3"/>
          <p:cNvSpPr>
            <a:spLocks noGrp="1"/>
          </p:cNvSpPr>
          <p:nvPr>
            <p:ph type="body" idx="4294967295"/>
          </p:nvPr>
        </p:nvSpPr>
        <p:spPr>
          <a:xfrm>
            <a:off x="0" y="1219200"/>
            <a:ext cx="9144000" cy="38100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table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(array or linked list)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of processes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system consists of a collection of processes (many programs)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 processes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 process hierarchy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(tree)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another processes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many processes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forming a process hierarchy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only one parent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zero, one, or more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 OS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 different ways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248400" y="5638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Spaces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1"/>
          </p:nvPr>
        </p:nvSpPr>
        <p:spPr>
          <a:xfrm>
            <a:off x="0" y="914400"/>
            <a:ext cx="9144000" cy="5715000"/>
          </a:xfrm>
        </p:spPr>
        <p:txBody>
          <a:bodyPr/>
          <a:lstStyle/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programs loaded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into memory (multiple processes)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time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(However, the memory is limited)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may even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pause a running 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 memory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swap it back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somewhere different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This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absolute address of program located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at the time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used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 programs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think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on their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(protection mechanism)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 address spaces is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of addresses a process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 list of memory locations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(set of addresses)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0 to some maximum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which the process can read and write (the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 flexible in coding)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space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decoupled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the physical memory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larger or smaller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4" name="Picture 4" descr="01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151188"/>
            <a:ext cx="4876800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related information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Correlated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info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path name, root directory, file descriptor (Windows)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Mounted file system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(UNIX)</a:t>
            </a:r>
          </a:p>
          <a:p>
            <a:pPr lvl="3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mechanism for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b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among processes</a:t>
            </a:r>
          </a:p>
          <a:p>
            <a:pPr lvl="3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pseudofile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connect 2 processes</a:t>
            </a:r>
          </a:p>
          <a:p>
            <a:pPr lvl="3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 process 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inherit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one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  <a:p>
            <a:pPr lvl="3"/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9" name="Picture 5" descr="01-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5638800"/>
            <a:ext cx="23622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5410200" y="5105400"/>
            <a:ext cx="23098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1-15 &amp; 16.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96259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838200"/>
            <a:ext cx="8915400" cy="58674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(cont)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 I/O devices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look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reading or writing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 kinds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block special files and character special files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special file </a:t>
            </a:r>
          </a:p>
          <a:p>
            <a:pPr lvl="3"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disks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one consisting of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numbered blocks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Each block can be individually (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addressed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 special file</a:t>
            </a:r>
          </a:p>
          <a:p>
            <a:pPr lvl="3"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printer, modem, mice, …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used for devices that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 or output a character stream</a:t>
            </a:r>
          </a:p>
          <a:p>
            <a:pPr lvl="3"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(not block and not addressed)</a:t>
            </a:r>
          </a:p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 files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 a way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grouping files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together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96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96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62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62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1447800" y="0"/>
            <a:ext cx="76962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839200" cy="5486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computers have physical devices for acquiring input and producing output.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them 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Others 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dedicated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→ How does OS manage/ manipulate I/O (physical) devices?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Every OS has an I/O subsystem for managing its I/O devices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Some of I/O software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independent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Others are specific to particular I/O devices using device driver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 uses the I/O software basing on I/O hardware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447800" y="0"/>
            <a:ext cx="76962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 mechanism for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the access programs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users the resources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defined by OS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Involves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ensuring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all access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resources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code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processes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improve reliability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be detecting latent errors at the interface between component subsystems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OS manage the system security such as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protecting the system from unwanted intruders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Give attributes of file to protect the file accession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Shell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piece of software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that essentially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kind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 for end-users 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UNIX command interpreter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interface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(Ex: terminal), or GUI (Ex: Gnome, KDE)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Although it is not part of the OS, it makes heavy use of many OS features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Many shells exist such as sh – Shell, csh – C Shell, ksh – Korn Shell, and bash – Bourne Again Shell (default shell in most Linux system)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started up (when user logs in) with prompt ($) character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Has the terminal as standard input and output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shell scripts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 list of shell command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(same as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bat file in DOS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Ontogeny Recapitulates Phylogeny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Early computers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had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hardwired instruction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instructions were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by hardware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could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be changed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flexible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came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microprogramming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 Memories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Had just over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128 KB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(from 1959 to 1964)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 assembly language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lots of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nowadays (up to Gigabytes, Terabytes …)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Hardware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protection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hardware on IBM 7090/7094 so they just ran one program at a time, minicomputer and Intel 8080 – 80286 CPU running multiprogramming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Microcomputer protect hardware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run ability multiprogramming at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Ontogeny Recapitulates Phylogeny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magnetic-tape based (no disks, no file system concepts)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 disk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(by IBM in 1956) named RAMMAC (4m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store 5 million 7 bit characters, 35.000 $)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CDC 6600 in 1964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permanent files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1970,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disk with 2.5 MB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(40cm diameter and 5cm high) had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single directory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Floppy disk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(512KB, 1.2MB, 1.4 MB …)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 disk, Optical, Smart card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programs larger than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machine’s physical 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by moving pieces back and forth between RAM and disk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Enabled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have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 dynamically link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time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having it compiled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915400" cy="5943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work when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 using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code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as OS command that can access or control the disk?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do both of function operate? Kernel mode or user mode?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mode 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service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has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trap instruction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(interrupt)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(kernel mode)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figures out what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process wants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inspecting the parameter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it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carries out the system call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control to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following the system 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533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  <p:sp>
        <p:nvSpPr>
          <p:cNvPr id="98307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914400"/>
            <a:ext cx="8915400" cy="59436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programs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(hidden to user)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Permit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protected resources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Making a system call is like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special of procedure call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making a system call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Programs put the arguments in registers or on the stack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Then, it issues trap instructions to switch form user mode to kernel mode at the fixed address where the procedure located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mode dispatches to the correct system call handler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the system call handler has completed its work, the trap instructions is issued to witch form kernel to user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Then, the procedure returns to the user program in the usual way procedure calls return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vs. System Programs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programs provide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convenient environment for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 development and execution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(e.g, file manipulation, status, etc…)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System programs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seen by most users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simply user interfaces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system 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8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8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  <p:bldP spid="2" grpId="0" animBg="1"/>
      <p:bldP spid="3" grpId="0"/>
      <p:bldP spid="10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502" y="3695700"/>
            <a:ext cx="22288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7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88" y="3445669"/>
            <a:ext cx="22479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65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843" y="3217307"/>
            <a:ext cx="23717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38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75" y="1883465"/>
            <a:ext cx="2219325" cy="197167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705225" y="2369879"/>
            <a:ext cx="223837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24275" y="2740940"/>
            <a:ext cx="2238375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701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1883465"/>
            <a:ext cx="2343150" cy="208168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733800" y="2369879"/>
            <a:ext cx="23622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24275" y="2740940"/>
            <a:ext cx="241935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1782417"/>
            <a:ext cx="2143125" cy="266700"/>
          </a:xfrm>
          <a:prstGeom prst="rect">
            <a:avLst/>
          </a:prstGeom>
        </p:spPr>
      </p:pic>
      <p:cxnSp>
        <p:nvCxnSpPr>
          <p:cNvPr id="15" name="Curved Connector 14"/>
          <p:cNvCxnSpPr>
            <a:stCxn id="4" idx="1"/>
          </p:cNvCxnSpPr>
          <p:nvPr/>
        </p:nvCxnSpPr>
        <p:spPr>
          <a:xfrm rot="10800000" flipV="1">
            <a:off x="3276602" y="1915767"/>
            <a:ext cx="723899" cy="2961032"/>
          </a:xfrm>
          <a:prstGeom prst="curvedConnector2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42496" y="1942918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4166801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4909100"/>
            <a:ext cx="29527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31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1883465"/>
            <a:ext cx="2343150" cy="208168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733800" y="2369879"/>
            <a:ext cx="23622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24275" y="2740940"/>
            <a:ext cx="241935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1782417"/>
            <a:ext cx="2143125" cy="266700"/>
          </a:xfrm>
          <a:prstGeom prst="rect">
            <a:avLst/>
          </a:prstGeom>
        </p:spPr>
      </p:pic>
      <p:cxnSp>
        <p:nvCxnSpPr>
          <p:cNvPr id="15" name="Curved Connector 14"/>
          <p:cNvCxnSpPr>
            <a:stCxn id="4" idx="1"/>
          </p:cNvCxnSpPr>
          <p:nvPr/>
        </p:nvCxnSpPr>
        <p:spPr>
          <a:xfrm rot="10800000" flipV="1">
            <a:off x="3276602" y="1915767"/>
            <a:ext cx="723899" cy="2961032"/>
          </a:xfrm>
          <a:prstGeom prst="curvedConnector2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42496" y="1942918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4166801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4909100"/>
            <a:ext cx="2952750" cy="6762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4312" y="1524000"/>
            <a:ext cx="2095500" cy="257175"/>
          </a:xfrm>
          <a:prstGeom prst="rect">
            <a:avLst/>
          </a:prstGeom>
        </p:spPr>
      </p:pic>
      <p:cxnSp>
        <p:nvCxnSpPr>
          <p:cNvPr id="35" name="Curved Connector 34"/>
          <p:cNvCxnSpPr>
            <a:endCxn id="32" idx="3"/>
          </p:cNvCxnSpPr>
          <p:nvPr/>
        </p:nvCxnSpPr>
        <p:spPr>
          <a:xfrm rot="5400000" flipH="1" flipV="1">
            <a:off x="4441550" y="3230838"/>
            <a:ext cx="3256512" cy="100012"/>
          </a:xfrm>
          <a:prstGeom prst="curvedConnector4">
            <a:avLst>
              <a:gd name="adj1" fmla="val 18726"/>
              <a:gd name="adj2" fmla="val 673087"/>
            </a:avLst>
          </a:prstGeom>
          <a:ln w="317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41435" y="3119284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09311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57262"/>
            <a:ext cx="5191125" cy="4943475"/>
          </a:xfrm>
          <a:prstGeom prst="rect">
            <a:avLst/>
          </a:prstGeom>
        </p:spPr>
      </p:pic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1400" y="1397052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286000" y="1883466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1883465"/>
            <a:ext cx="2343150" cy="2081683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733800" y="2369879"/>
            <a:ext cx="23622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24275" y="2740940"/>
            <a:ext cx="241935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1782417"/>
            <a:ext cx="2143125" cy="266700"/>
          </a:xfrm>
          <a:prstGeom prst="rect">
            <a:avLst/>
          </a:prstGeom>
        </p:spPr>
      </p:pic>
      <p:cxnSp>
        <p:nvCxnSpPr>
          <p:cNvPr id="15" name="Curved Connector 14"/>
          <p:cNvCxnSpPr>
            <a:stCxn id="4" idx="1"/>
          </p:cNvCxnSpPr>
          <p:nvPr/>
        </p:nvCxnSpPr>
        <p:spPr>
          <a:xfrm rot="10800000" flipV="1">
            <a:off x="3276602" y="1915767"/>
            <a:ext cx="723899" cy="2961032"/>
          </a:xfrm>
          <a:prstGeom prst="curvedConnector2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42496" y="1942918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4166801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4909100"/>
            <a:ext cx="2952750" cy="6762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4312" y="1524000"/>
            <a:ext cx="2095500" cy="257175"/>
          </a:xfrm>
          <a:prstGeom prst="rect">
            <a:avLst/>
          </a:prstGeom>
        </p:spPr>
      </p:pic>
      <p:cxnSp>
        <p:nvCxnSpPr>
          <p:cNvPr id="35" name="Curved Connector 34"/>
          <p:cNvCxnSpPr>
            <a:endCxn id="32" idx="3"/>
          </p:cNvCxnSpPr>
          <p:nvPr/>
        </p:nvCxnSpPr>
        <p:spPr>
          <a:xfrm rot="5400000" flipH="1" flipV="1">
            <a:off x="4441550" y="3230838"/>
            <a:ext cx="3256512" cy="100012"/>
          </a:xfrm>
          <a:prstGeom prst="curvedConnector4">
            <a:avLst>
              <a:gd name="adj1" fmla="val 18726"/>
              <a:gd name="adj2" fmla="val 673087"/>
            </a:avLst>
          </a:prstGeom>
          <a:ln w="317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41435" y="3119284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551" y="2829867"/>
            <a:ext cx="2076449" cy="246519"/>
          </a:xfrm>
          <a:prstGeom prst="rect">
            <a:avLst/>
          </a:prstGeom>
        </p:spPr>
      </p:pic>
      <p:cxnSp>
        <p:nvCxnSpPr>
          <p:cNvPr id="14" name="Curved Connector 13"/>
          <p:cNvCxnSpPr/>
          <p:nvPr/>
        </p:nvCxnSpPr>
        <p:spPr>
          <a:xfrm rot="5400000">
            <a:off x="5495454" y="2229321"/>
            <a:ext cx="1048692" cy="152400"/>
          </a:xfrm>
          <a:prstGeom prst="curvedConnector3">
            <a:avLst>
              <a:gd name="adj1" fmla="val 68955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2429" y="2404578"/>
            <a:ext cx="444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5217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18435" name="Picture 624" descr="01-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00"/>
            <a:ext cx="6248400" cy="493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219200" y="5791200"/>
            <a:ext cx="723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There are 11 steps executing the system call:  read (fd, buffer, nbytes)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1-17.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743200"/>
            <a:ext cx="2590800" cy="12954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2004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Segment</a:t>
            </a:r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286000" y="3352800"/>
            <a:ext cx="1295400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33800" y="1389373"/>
            <a:ext cx="2590800" cy="97282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184657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 flipV="1">
            <a:off x="2438400" y="1875787"/>
            <a:ext cx="1295400" cy="12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53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1945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7" t="552" r="17184" b="552"/>
          <a:stretch>
            <a:fillRect/>
          </a:stretch>
        </p:blipFill>
        <p:spPr bwMode="auto">
          <a:xfrm>
            <a:off x="2895600" y="1143000"/>
            <a:ext cx="4038600" cy="45497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(cont)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3886200" cy="60960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for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fork(), exec(), wait(), exit() … 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open(), close(), read(), write(), lseek(), stat() …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 and File system management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mkdir(), mount(), link(), chown() …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Miscellaneous: chdir(), chmod(), kill(), time()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Windows Win32 API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652" name="Picture 4" descr="01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066800"/>
            <a:ext cx="55245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5257800" y="5638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1-23.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>
              <a:buClrTx/>
              <a:buSzTx/>
              <a:buFont typeface="Wingdings" pitchFamily="2" charset="2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381000" y="1600200"/>
            <a:ext cx="85344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3972</TotalTime>
  <Words>1900</Words>
  <Application>Microsoft Office PowerPoint</Application>
  <PresentationFormat>On-screen Show (4:3)</PresentationFormat>
  <Paragraphs>223</Paragraphs>
  <Slides>29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Artwork</vt:lpstr>
      <vt:lpstr>Introduction   Operating System Concepts System Calls </vt:lpstr>
      <vt:lpstr>Review</vt:lpstr>
      <vt:lpstr>Objectives</vt:lpstr>
      <vt:lpstr>Operating System Concepts Processes</vt:lpstr>
      <vt:lpstr>Operating System Concepts Processes </vt:lpstr>
      <vt:lpstr>Operating System Concepts Processes </vt:lpstr>
      <vt:lpstr>Operating System Concepts Address Spaces</vt:lpstr>
      <vt:lpstr>Operating System Concepts Files</vt:lpstr>
      <vt:lpstr>Operating System Concepts Files</vt:lpstr>
      <vt:lpstr>Operating System Concepts Input/Output</vt:lpstr>
      <vt:lpstr>Operating System Concepts Protection</vt:lpstr>
      <vt:lpstr>Operating System Concepts The Shell</vt:lpstr>
      <vt:lpstr>Operating System Concepts Ontogeny Recapitulates Phylogeny</vt:lpstr>
      <vt:lpstr>Operating System Concepts Ontogeny Recapitulates Phylogeny</vt:lpstr>
      <vt:lpstr>System Calls</vt:lpstr>
      <vt:lpstr>System Calls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System Calls (cont)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OS-Introduction</dc:title>
  <dc:creator>Kieu Trong Khanh</dc:creator>
  <cp:lastModifiedBy>Tong Phuoc Quan (FE FPTU HCM)</cp:lastModifiedBy>
  <cp:revision>1377</cp:revision>
  <dcterms:created xsi:type="dcterms:W3CDTF">2007-08-21T04:43:22Z</dcterms:created>
  <dcterms:modified xsi:type="dcterms:W3CDTF">2022-04-12T13:24:14Z</dcterms:modified>
</cp:coreProperties>
</file>