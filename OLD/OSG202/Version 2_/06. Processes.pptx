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22"/>
  </p:notesMasterIdLst>
  <p:sldIdLst>
    <p:sldId id="256" r:id="rId2"/>
    <p:sldId id="455" r:id="rId3"/>
    <p:sldId id="442" r:id="rId4"/>
    <p:sldId id="359" r:id="rId5"/>
    <p:sldId id="361" r:id="rId6"/>
    <p:sldId id="400" r:id="rId7"/>
    <p:sldId id="367" r:id="rId8"/>
    <p:sldId id="363" r:id="rId9"/>
    <p:sldId id="365" r:id="rId10"/>
    <p:sldId id="368" r:id="rId11"/>
    <p:sldId id="369" r:id="rId12"/>
    <p:sldId id="370" r:id="rId13"/>
    <p:sldId id="371" r:id="rId14"/>
    <p:sldId id="372" r:id="rId15"/>
    <p:sldId id="401" r:id="rId16"/>
    <p:sldId id="406" r:id="rId17"/>
    <p:sldId id="407" r:id="rId18"/>
    <p:sldId id="374" r:id="rId19"/>
    <p:sldId id="394" r:id="rId20"/>
    <p:sldId id="450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54" autoAdjust="0"/>
    <p:restoredTop sz="94674" autoAdjust="0"/>
  </p:normalViewPr>
  <p:slideViewPr>
    <p:cSldViewPr>
      <p:cViewPr varScale="1">
        <p:scale>
          <a:sx n="83" d="100"/>
          <a:sy n="83" d="100"/>
        </p:scale>
        <p:origin x="946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CC8BA07C-75C5-4481-A736-72996DB285D3}" type="datetimeFigureOut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85B9531-F935-4C7F-B4C6-6EE7574F5BD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This rapid switching back and forth is called multiprogramming</a:t>
            </a:r>
          </a:p>
          <a:p>
            <a:r>
              <a:rPr lang="en-US" dirty="0"/>
              <a:t>The process is the activity consisting of our baker reading the recipe, fetching the ingredients, and baking the cake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buFontTx/>
              <a:buAutoNum type="alphaLcPeriod"/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Context switch: </a:t>
            </a:r>
            <a:r>
              <a:rPr lang="en-US" altLang="en-US" dirty="0" err="1"/>
              <a:t>chuyển</a:t>
            </a:r>
            <a:r>
              <a:rPr lang="en-US" altLang="en-US" dirty="0"/>
              <a:t> </a:t>
            </a:r>
            <a:r>
              <a:rPr lang="en-US" altLang="en-US" dirty="0" err="1"/>
              <a:t>đổi</a:t>
            </a:r>
            <a:r>
              <a:rPr lang="en-US" altLang="en-US" dirty="0"/>
              <a:t> </a:t>
            </a:r>
            <a:r>
              <a:rPr lang="en-US" altLang="en-US" dirty="0" err="1"/>
              <a:t>trạng</a:t>
            </a:r>
            <a:r>
              <a:rPr lang="en-US" altLang="en-US" dirty="0"/>
              <a:t> </a:t>
            </a:r>
            <a:r>
              <a:rPr lang="en-US" altLang="en-US" dirty="0" err="1"/>
              <a:t>thái</a:t>
            </a:r>
            <a:endParaRPr lang="en-US" altLang="en-US" dirty="0"/>
          </a:p>
          <a:p>
            <a:r>
              <a:rPr lang="en-US" altLang="en-US" dirty="0"/>
              <a:t>Pure overhead : </a:t>
            </a:r>
            <a:r>
              <a:rPr lang="en-US" altLang="en-US" dirty="0" err="1"/>
              <a:t>phải</a:t>
            </a:r>
            <a:r>
              <a:rPr lang="en-US" altLang="en-US" dirty="0"/>
              <a:t> </a:t>
            </a:r>
            <a:r>
              <a:rPr lang="en-US" altLang="en-US" dirty="0" err="1"/>
              <a:t>chịu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/>
              <a:t>Token:mã</a:t>
            </a:r>
            <a:r>
              <a:rPr lang="en-US" altLang="en-US" dirty="0"/>
              <a:t> thong </a:t>
            </a:r>
            <a:r>
              <a:rPr lang="en-US" altLang="en-US" dirty="0" err="1"/>
              <a:t>báo</a:t>
            </a:r>
            <a:endParaRPr lang="en-US" altLang="en-US" dirty="0"/>
          </a:p>
          <a:p>
            <a:r>
              <a:rPr lang="en-US" altLang="en-US" dirty="0" err="1"/>
              <a:t>Descendants:hậu</a:t>
            </a:r>
            <a:r>
              <a:rPr lang="en-US" altLang="en-US" dirty="0"/>
              <a:t> </a:t>
            </a:r>
            <a:r>
              <a:rPr lang="en-US" altLang="en-US" dirty="0" err="1"/>
              <a:t>duệ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Fatal: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tranh</a:t>
            </a:r>
            <a:r>
              <a:rPr lang="en-US" altLang="en-US" dirty="0"/>
              <a:t> </a:t>
            </a:r>
            <a:r>
              <a:rPr lang="en-US" altLang="en-US" dirty="0" err="1"/>
              <a:t>duoc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Repository: </a:t>
            </a:r>
            <a:r>
              <a:rPr lang="en-US" altLang="en-US" dirty="0" err="1"/>
              <a:t>hầm</a:t>
            </a:r>
            <a:r>
              <a:rPr lang="en-US" altLang="en-US" dirty="0"/>
              <a:t> ,</a:t>
            </a:r>
            <a:r>
              <a:rPr lang="en-US" altLang="en-US" dirty="0" err="1"/>
              <a:t>kho</a:t>
            </a:r>
            <a:r>
              <a:rPr lang="en-US" altLang="en-US" dirty="0"/>
              <a:t> </a:t>
            </a:r>
            <a:r>
              <a:rPr lang="en-US" altLang="en-US" dirty="0" err="1"/>
              <a:t>để</a:t>
            </a:r>
            <a:r>
              <a:rPr lang="en-US" altLang="en-US" dirty="0"/>
              <a:t> hang </a:t>
            </a:r>
            <a:r>
              <a:rPr lang="en-US" altLang="en-US" dirty="0" err="1"/>
              <a:t>hóa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A1920B-7F79-4E56-B6EA-DA817EB81E87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2F9597-FBF6-4029-8FFA-7504A401DD8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13748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24BFE-C784-495B-A1A0-BA6D90E63934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1EAC6-B6E9-4E5E-8D2D-2F9BBC5C6C2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05866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36076-BAE7-4ED0-BC36-E4BB103CAF46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4691C3-E2EB-4C62-8D66-1C00D6F0702B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09476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B0CD8-21CA-491A-9216-15AA1DA62890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CB6E23-A8C3-49E5-8668-5163C3F597D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17867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A63C3-78DB-4788-B401-B3C774C77B2E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E3887F-23F6-451A-B6FF-8529E3F4C14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21221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63A3C-5D5D-49A4-95AE-6D4D43CAF90D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03E9DE-63E8-448D-9ABA-0A3B7F97045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23375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53533-EB1C-4CC5-A671-42700CC358CA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E5F046-5431-4634-B8E2-813A29A638C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04076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287F-D011-449B-A34D-87636D4EC0CE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FCFD4C-1467-4F75-8243-B6D2660F2A2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92079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61BA2-9EC7-47DC-83A0-E12B05BDE9D6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D0242-9F39-4CC4-BE1F-F33AF6C0272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4545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A2768-A1FC-4CC3-93BA-64D78E42C94A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FEEBB1-6522-49D9-88D7-F225393A2EAB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99838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F33A4-6040-4209-8C02-3FB91479421D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D31531-E8F0-49F1-AF65-19F8F58376D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486943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8495-2B13-4CB1-B02F-BE329309AB63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F24DCD-2F51-450F-A543-E58F7484FF9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752037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189102-5EA7-4842-8A85-C4C9748DE971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554F0-6795-4BDF-9337-27D9C28B7FF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60091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8806612C-07E2-46C9-8AB8-3E85BE49CF0B}" type="datetime1">
              <a:rPr lang="en-US"/>
              <a:pPr>
                <a:defRPr/>
              </a:pPr>
              <a:t>13/04/2022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9C323C1-063B-4247-8C76-8E6F19BB758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Processes &amp; Threads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body" idx="4294967295"/>
          </p:nvPr>
        </p:nvSpPr>
        <p:spPr>
          <a:xfrm>
            <a:off x="0" y="685800"/>
            <a:ext cx="9144000" cy="61722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mode,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Latency time 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Switch user mode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 kernel mode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Switch CPU a process to other process together</a:t>
            </a:r>
          </a:p>
          <a:p>
            <a:pPr algn="just">
              <a:lnSpc>
                <a:spcPct val="8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2192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1143000"/>
            <a:ext cx="8610600" cy="41148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program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 execution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program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 memory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executing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with each process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of resources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executable code, data, stack, CPU registers value, PC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information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needing to run a program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each process is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(i.e., all memory locations that the process can read and write)</a:t>
            </a:r>
          </a:p>
          <a:p>
            <a:pPr algn="just">
              <a:lnSpc>
                <a:spcPct val="8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table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(array or linked list) stores all the information of processes</a:t>
            </a:r>
          </a:p>
          <a:p>
            <a:pPr algn="just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hierarchy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(tree)</a:t>
            </a:r>
          </a:p>
        </p:txBody>
      </p:sp>
      <p:pic>
        <p:nvPicPr>
          <p:cNvPr id="151557" name="Picture 5"/>
          <p:cNvPicPr>
            <a:picLocks noChangeAspect="1" noChangeArrowheads="1"/>
          </p:cNvPicPr>
          <p:nvPr/>
        </p:nvPicPr>
        <p:blipFill>
          <a:blip r:embed="rId3">
            <a:lum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495800"/>
            <a:ext cx="2438400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477000" y="6324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1515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52578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model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Process creation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Process hierarchies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Process Termination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Process States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Transition States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Processes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Degree of multiprogramming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/>
          <a:lstStyle/>
          <a:p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xfrm>
            <a:off x="304800" y="1371600"/>
            <a:ext cx="8839200" cy="54864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OS abstraction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the ability to have (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pseudo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concurrent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even when there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 one CPU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</a:p>
          <a:p>
            <a:pPr lvl="1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a 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processes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By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 OS can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computer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more productive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instance of an executing program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the current values  of PC, registers, and variables</a:t>
            </a:r>
          </a:p>
          <a:p>
            <a:pPr lvl="1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is not  a program on the disk (this is just a file). </a:t>
            </a:r>
          </a:p>
          <a:p>
            <a:pPr lvl="2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Compare with a cake recipe (</a:t>
            </a: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and the activity involving reading the recipe, fetching ingredients, and baking the cake! (</a:t>
            </a: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is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sequential stream of execution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its own address space</a:t>
            </a:r>
          </a:p>
        </p:txBody>
      </p:sp>
      <p:sp>
        <p:nvSpPr>
          <p:cNvPr id="6148" name="Rectangle 4"/>
          <p:cNvSpPr>
            <a:spLocks/>
          </p:cNvSpPr>
          <p:nvPr/>
        </p:nvSpPr>
        <p:spPr bwMode="auto">
          <a:xfrm>
            <a:off x="685800" y="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altLang="en-US" sz="28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</p:txBody>
      </p:sp>
      <p:sp>
        <p:nvSpPr>
          <p:cNvPr id="7171" name="Rectangle 3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915400" cy="54102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Early computers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 one program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be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at a time.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or time slice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static (inactive) entity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whereas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one</a:t>
            </a:r>
            <a:r>
              <a:rPr lang="de-DE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is 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some kind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program, input, output, and a state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two parts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of a process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sequential execution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concurrency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inside a process; everything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happens sequentially</a:t>
            </a:r>
            <a:r>
              <a:rPr lang="de-DE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There is only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one CPU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one physical program counter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state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that process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interacts with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(registers, memory, files, etc)</a:t>
            </a: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Rectangle 4"/>
          <p:cNvSpPr>
            <a:spLocks/>
          </p:cNvSpPr>
          <p:nvPr/>
        </p:nvSpPr>
        <p:spPr bwMode="auto">
          <a:xfrm>
            <a:off x="4572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11163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Example</a:t>
            </a:r>
          </a:p>
        </p:txBody>
      </p:sp>
      <p:pic>
        <p:nvPicPr>
          <p:cNvPr id="819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260826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39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914400"/>
            <a:ext cx="381000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397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419600"/>
            <a:ext cx="52578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98" name="Text Box 4"/>
          <p:cNvSpPr txBox="1">
            <a:spLocks noChangeArrowheads="1"/>
          </p:cNvSpPr>
          <p:nvPr/>
        </p:nvSpPr>
        <p:spPr bwMode="auto">
          <a:xfrm>
            <a:off x="838200" y="51816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2-1.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4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model (cont)</a:t>
            </a:r>
            <a:endParaRPr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Single-processor systems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Pseudo-parallelism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Multiprogramming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CPU switches back and forth from process to process)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processor may be shared among several processes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de-D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CPU to another process </a:t>
            </a:r>
            <a:r>
              <a:rPr lang="de-DE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</a:t>
            </a: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the state of</a:t>
            </a: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de-DE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</a:t>
            </a:r>
            <a:r>
              <a:rPr lang="de-DE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loading the save state for</a:t>
            </a: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de-DE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 time is </a:t>
            </a:r>
            <a:r>
              <a:rPr lang="de-DE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overhead </a:t>
            </a: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system does not useful work while switching. It‘s varies depending on the hardware machine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become a </a:t>
            </a:r>
            <a:r>
              <a:rPr lang="de-DE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bottle neck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Process Creation</a:t>
            </a:r>
          </a:p>
        </p:txBody>
      </p:sp>
      <p:sp>
        <p:nvSpPr>
          <p:cNvPr id="142339" name="Rectangle 3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915400" cy="58674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OS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 events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that may cause process creation are: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initialization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a process creation system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call by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running process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request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process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Initiation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batch job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by the system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At system initialization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Foreground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processes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another process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system call for process creation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Situations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doing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some computation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user action –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with the shell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 process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parent process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may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 new processes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(children)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create-process system call: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fork() and execve() in UNIX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CreateProcess in Win32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2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2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2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2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42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423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6858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Process Hierarchies</a:t>
            </a:r>
          </a:p>
        </p:txBody>
      </p:sp>
      <p:sp>
        <p:nvSpPr>
          <p:cNvPr id="11267" name="Rectangle 6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8839200" cy="5791200"/>
          </a:xfrm>
          <a:noFill/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hierarchy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Parent–Child Relationship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child can itself create new processes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Tree of processes 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OS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creates another process,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process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process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 be associated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certain ways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all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its children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further descendants together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process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OS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 processes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are equal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has no concept of process hierarchy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/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de-DE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de-DE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special token (called a </a:t>
            </a:r>
            <a:r>
              <a:rPr lang="de-DE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that it can use to </a:t>
            </a:r>
            <a:r>
              <a:rPr lang="de-DE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de-DE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Process Termination</a:t>
            </a:r>
          </a:p>
        </p:txBody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xfrm>
            <a:off x="304800" y="990600"/>
            <a:ext cx="8839200" cy="58674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 process has been created, it may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usually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following:</a:t>
            </a:r>
          </a:p>
          <a:p>
            <a:pPr lvl="1" algn="just">
              <a:lnSpc>
                <a:spcPct val="9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exit (task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accomplished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(voluntary)</a:t>
            </a:r>
          </a:p>
          <a:p>
            <a:pPr lvl="1" algn="just">
              <a:lnSpc>
                <a:spcPct val="9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exit (voluntary)</a:t>
            </a:r>
          </a:p>
          <a:p>
            <a:pPr lvl="2" algn="just">
              <a:lnSpc>
                <a:spcPct val="9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inexistent files, insufficient or incorrect input</a:t>
            </a:r>
          </a:p>
          <a:p>
            <a:pPr lvl="1" algn="just">
              <a:lnSpc>
                <a:spcPct val="9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 (involuntary)</a:t>
            </a:r>
          </a:p>
          <a:p>
            <a:pPr lvl="2" algn="just">
              <a:lnSpc>
                <a:spcPct val="9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illegal instructions, division by zero etc.</a:t>
            </a:r>
          </a:p>
          <a:p>
            <a:pPr lvl="1" algn="just">
              <a:lnSpc>
                <a:spcPct val="9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another process (involuntary)</a:t>
            </a:r>
          </a:p>
          <a:p>
            <a:pPr lvl="2" algn="just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 system call in Unix, or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TerminateProcess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Win32.(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systems, if the parent terminates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Voluntary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using a special system call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Involuntary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receiving an interruption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Process States</a:t>
            </a:r>
          </a:p>
        </p:txBody>
      </p:sp>
      <p:sp>
        <p:nvSpPr>
          <p:cNvPr id="13315" name="Rectangle 3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8839200" cy="5791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CPU at that instant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by the CPU) (or Instructions are being executed)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Runnable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; temporarily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stopped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let another process run; but the CPU available (or The process is waiting to be assigned to a process)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Unable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run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some external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event happens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(or The process is waiting for some event to occur)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Waiting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same resources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allocated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(or The process is being created)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Terminated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(optional)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same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about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exit state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(or The process has finished execution)</a:t>
            </a:r>
            <a:endParaRPr lang="de-DE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States</a:t>
            </a:r>
          </a:p>
        </p:txBody>
      </p:sp>
      <p:sp>
        <p:nvSpPr>
          <p:cNvPr id="148483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53340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en-US" sz="31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</a:p>
          <a:p>
            <a:pPr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3100" i="1">
                <a:latin typeface="Times New Roman" panose="02020603050405020304" pitchFamily="18" charset="0"/>
                <a:cs typeface="Times New Roman" panose="02020603050405020304" pitchFamily="18" charset="0"/>
              </a:rPr>
              <a:t> (dispatch)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its turn comes again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selected by the scheduler</a:t>
            </a:r>
          </a:p>
          <a:p>
            <a:pPr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en-US" sz="3100" i="1">
                <a:latin typeface="Times New Roman" panose="02020603050405020304" pitchFamily="18" charset="0"/>
                <a:cs typeface="Times New Roman" panose="02020603050405020304" pitchFamily="18" charset="0"/>
              </a:rPr>
              <a:t> (interrupt)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suspended by the scheduler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time slice expired</a:t>
            </a:r>
          </a:p>
          <a:p>
            <a:pPr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  <a:r>
              <a:rPr lang="en-US" altLang="en-US" sz="3100" i="1">
                <a:latin typeface="Times New Roman" panose="02020603050405020304" pitchFamily="18" charset="0"/>
                <a:cs typeface="Times New Roman" panose="02020603050405020304" pitchFamily="18" charset="0"/>
              </a:rPr>
              <a:t> (block)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wait for some event to occur</a:t>
            </a:r>
          </a:p>
          <a:p>
            <a:pPr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  <a:r>
              <a:rPr lang="en-US" alt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31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en-US" sz="3100" i="1">
                <a:latin typeface="Times New Roman" panose="02020603050405020304" pitchFamily="18" charset="0"/>
                <a:cs typeface="Times New Roman" panose="02020603050405020304" pitchFamily="18" charset="0"/>
              </a:rPr>
              <a:t> (ready)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awaited event occurs</a:t>
            </a:r>
          </a:p>
          <a:p>
            <a:pPr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Terminated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(exit)</a:t>
            </a:r>
            <a:endParaRPr lang="de-DE" altLang="en-US" sz="2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Oval 7"/>
          <p:cNvSpPr>
            <a:spLocks noChangeArrowheads="1"/>
          </p:cNvSpPr>
          <p:nvPr/>
        </p:nvSpPr>
        <p:spPr bwMode="auto">
          <a:xfrm>
            <a:off x="5105400" y="2133600"/>
            <a:ext cx="1154113" cy="9080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b="1">
                <a:latin typeface="Times New Roman" panose="02020603050405020304" pitchFamily="18" charset="0"/>
              </a:rPr>
              <a:t>New</a:t>
            </a:r>
          </a:p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b="1">
                <a:latin typeface="Times New Roman" panose="02020603050405020304" pitchFamily="18" charset="0"/>
              </a:rPr>
              <a:t>(optional)</a:t>
            </a:r>
            <a:endParaRPr lang="de-DE" altLang="en-US" sz="1400" b="1">
              <a:latin typeface="Times New Roman" panose="02020603050405020304" pitchFamily="18" charset="0"/>
            </a:endParaRPr>
          </a:p>
        </p:txBody>
      </p:sp>
      <p:sp>
        <p:nvSpPr>
          <p:cNvPr id="14341" name="Oval 8"/>
          <p:cNvSpPr>
            <a:spLocks noChangeArrowheads="1"/>
          </p:cNvSpPr>
          <p:nvPr/>
        </p:nvSpPr>
        <p:spPr bwMode="auto">
          <a:xfrm>
            <a:off x="6546850" y="3046413"/>
            <a:ext cx="1093788" cy="992187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Running</a:t>
            </a:r>
            <a:endParaRPr lang="de-DE" altLang="en-US" b="1">
              <a:latin typeface="Times New Roman" panose="02020603050405020304" pitchFamily="18" charset="0"/>
            </a:endParaRPr>
          </a:p>
        </p:txBody>
      </p:sp>
      <p:cxnSp>
        <p:nvCxnSpPr>
          <p:cNvPr id="148488" name="AutoShape 9"/>
          <p:cNvCxnSpPr>
            <a:cxnSpLocks noChangeShapeType="1"/>
            <a:endCxn id="14341" idx="1"/>
          </p:cNvCxnSpPr>
          <p:nvPr/>
        </p:nvCxnSpPr>
        <p:spPr bwMode="auto">
          <a:xfrm rot="16200000" flipH="1">
            <a:off x="6176962" y="2662238"/>
            <a:ext cx="601663" cy="458788"/>
          </a:xfrm>
          <a:prstGeom prst="curvedConnector3">
            <a:avLst>
              <a:gd name="adj1" fmla="val 37731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3" name="Oval 10"/>
          <p:cNvSpPr>
            <a:spLocks noChangeArrowheads="1"/>
          </p:cNvSpPr>
          <p:nvPr/>
        </p:nvSpPr>
        <p:spPr bwMode="auto">
          <a:xfrm>
            <a:off x="7761288" y="4038600"/>
            <a:ext cx="1093787" cy="9906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Ready</a:t>
            </a:r>
            <a:endParaRPr lang="de-DE" altLang="en-US" b="1">
              <a:latin typeface="Times New Roman" panose="02020603050405020304" pitchFamily="18" charset="0"/>
            </a:endParaRPr>
          </a:p>
        </p:txBody>
      </p:sp>
      <p:sp>
        <p:nvSpPr>
          <p:cNvPr id="14344" name="Oval 11"/>
          <p:cNvSpPr>
            <a:spLocks noChangeArrowheads="1"/>
          </p:cNvSpPr>
          <p:nvPr/>
        </p:nvSpPr>
        <p:spPr bwMode="auto">
          <a:xfrm>
            <a:off x="5394325" y="4038600"/>
            <a:ext cx="1092200" cy="9906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Blocked</a:t>
            </a:r>
            <a:endParaRPr lang="de-DE" altLang="en-US" b="1">
              <a:latin typeface="Times New Roman" panose="02020603050405020304" pitchFamily="18" charset="0"/>
            </a:endParaRPr>
          </a:p>
        </p:txBody>
      </p:sp>
      <p:sp>
        <p:nvSpPr>
          <p:cNvPr id="14345" name="Oval 12"/>
          <p:cNvSpPr>
            <a:spLocks noChangeArrowheads="1"/>
          </p:cNvSpPr>
          <p:nvPr/>
        </p:nvSpPr>
        <p:spPr bwMode="auto">
          <a:xfrm>
            <a:off x="7899400" y="2133600"/>
            <a:ext cx="1092200" cy="9080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b="1">
                <a:latin typeface="Times New Roman" panose="02020603050405020304" pitchFamily="18" charset="0"/>
              </a:rPr>
              <a:t>Terminated</a:t>
            </a:r>
          </a:p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b="1">
                <a:latin typeface="Times New Roman" panose="02020603050405020304" pitchFamily="18" charset="0"/>
              </a:rPr>
              <a:t>(optional)</a:t>
            </a:r>
            <a:endParaRPr lang="de-DE" altLang="en-US" sz="1400" b="1">
              <a:latin typeface="Times New Roman" panose="02020603050405020304" pitchFamily="18" charset="0"/>
            </a:endParaRPr>
          </a:p>
        </p:txBody>
      </p:sp>
      <p:cxnSp>
        <p:nvCxnSpPr>
          <p:cNvPr id="148492" name="AutoShape 13"/>
          <p:cNvCxnSpPr>
            <a:cxnSpLocks noChangeShapeType="1"/>
            <a:stCxn id="14343" idx="0"/>
            <a:endCxn id="14341" idx="6"/>
          </p:cNvCxnSpPr>
          <p:nvPr/>
        </p:nvCxnSpPr>
        <p:spPr bwMode="auto">
          <a:xfrm rot="5400000" flipH="1">
            <a:off x="7727157" y="3456781"/>
            <a:ext cx="495300" cy="6683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8493" name="AutoShape 14"/>
          <p:cNvCxnSpPr>
            <a:cxnSpLocks noChangeShapeType="1"/>
            <a:stCxn id="14341" idx="4"/>
            <a:endCxn id="14343" idx="2"/>
          </p:cNvCxnSpPr>
          <p:nvPr/>
        </p:nvCxnSpPr>
        <p:spPr bwMode="auto">
          <a:xfrm rot="16200000" flipH="1">
            <a:off x="7180263" y="3952875"/>
            <a:ext cx="495300" cy="6667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8494" name="AutoShape 15"/>
          <p:cNvCxnSpPr>
            <a:cxnSpLocks noChangeShapeType="1"/>
            <a:stCxn id="14343" idx="3"/>
            <a:endCxn id="14344" idx="5"/>
          </p:cNvCxnSpPr>
          <p:nvPr/>
        </p:nvCxnSpPr>
        <p:spPr bwMode="auto">
          <a:xfrm rot="5400000">
            <a:off x="7123907" y="4087019"/>
            <a:ext cx="1587" cy="1597025"/>
          </a:xfrm>
          <a:prstGeom prst="curvedConnector3">
            <a:avLst>
              <a:gd name="adj1" fmla="val 22800009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8495" name="AutoShape 16"/>
          <p:cNvCxnSpPr>
            <a:cxnSpLocks noChangeShapeType="1"/>
            <a:stCxn id="14344" idx="0"/>
            <a:endCxn id="14341" idx="2"/>
          </p:cNvCxnSpPr>
          <p:nvPr/>
        </p:nvCxnSpPr>
        <p:spPr bwMode="auto">
          <a:xfrm rot="-5400000">
            <a:off x="5995988" y="3487737"/>
            <a:ext cx="495300" cy="60642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8496" name="AutoShape 17"/>
          <p:cNvCxnSpPr>
            <a:cxnSpLocks noChangeShapeType="1"/>
            <a:stCxn id="14341" idx="7"/>
            <a:endCxn id="14345" idx="2"/>
          </p:cNvCxnSpPr>
          <p:nvPr/>
        </p:nvCxnSpPr>
        <p:spPr bwMode="auto">
          <a:xfrm rot="-5400000">
            <a:off x="7387431" y="2680494"/>
            <a:ext cx="604838" cy="4191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8497" name="AutoShape 22"/>
          <p:cNvCxnSpPr>
            <a:cxnSpLocks noChangeShapeType="1"/>
            <a:stCxn id="14340" idx="2"/>
            <a:endCxn id="14343" idx="4"/>
          </p:cNvCxnSpPr>
          <p:nvPr/>
        </p:nvCxnSpPr>
        <p:spPr bwMode="auto">
          <a:xfrm rot="10800000" flipH="1" flipV="1">
            <a:off x="5105400" y="2587625"/>
            <a:ext cx="3203575" cy="2441575"/>
          </a:xfrm>
          <a:prstGeom prst="curvedConnector4">
            <a:avLst>
              <a:gd name="adj1" fmla="val -4560"/>
              <a:gd name="adj2" fmla="val 12210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4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14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9" dur="5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14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14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48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48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14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148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14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Processes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maintains a process table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is allocate an entry –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(Process Control Block) </a:t>
            </a:r>
            <a:b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process is located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suspended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PCB </a:t>
            </a:r>
            <a:r>
              <a:rPr lang="de-DE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de-DE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needed (varies from system to system)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restarted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if it had never been stopped, such as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(new, ready, running …)</a:t>
            </a:r>
            <a:r>
              <a:rPr lang="de-DE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registers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(PC, Stack Pointer, other register)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information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(process priority etc.)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(pointers etc.)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amount of CPU and real time used, time limits etc.)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status information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(outstanding I/O req., I/O devices allocated, list of open files etc.)</a:t>
            </a:r>
            <a:r>
              <a:rPr lang="de-DE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de-DE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de-DE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de-DE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de-DE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process </a:t>
            </a:r>
            <a:r>
              <a:rPr lang="de-DE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de-DE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Processes (cont)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686800" cy="55626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PCB block</a:t>
            </a:r>
          </a:p>
        </p:txBody>
      </p:sp>
      <p:pic>
        <p:nvPicPr>
          <p:cNvPr id="1638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981200"/>
            <a:ext cx="3624263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Processes (cont)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8915400" cy="457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de-DE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2" t="873" r="4802" b="291"/>
          <a:stretch>
            <a:fillRect/>
          </a:stretch>
        </p:blipFill>
        <p:spPr bwMode="auto">
          <a:xfrm>
            <a:off x="2133600" y="1295400"/>
            <a:ext cx="6629400" cy="54356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Processes (cont)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8915400" cy="457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handling and scheduling are summarized</a:t>
            </a:r>
            <a:endParaRPr lang="de-DE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6" name="Picture 5" descr="02-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8458200" cy="325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0950" name="Text Box 4"/>
          <p:cNvSpPr txBox="1">
            <a:spLocks noChangeArrowheads="1"/>
          </p:cNvSpPr>
          <p:nvPr/>
        </p:nvSpPr>
        <p:spPr bwMode="auto">
          <a:xfrm>
            <a:off x="3276600" y="52578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2-5.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5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br>
              <a:rPr lang="en-US" alt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Degree of multiprogramming</a:t>
            </a:r>
          </a:p>
        </p:txBody>
      </p:sp>
      <p:sp>
        <p:nvSpPr>
          <p:cNvPr id="151555" name="Rectangle 3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686800" cy="55626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Shows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</a:t>
            </a:r>
          </a:p>
          <a:p>
            <a:pPr algn="ctr">
              <a:buClrTx/>
              <a:buSzTx/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= 1 - p</a:t>
            </a:r>
            <a:r>
              <a:rPr lang="en-US" altLang="en-US" b="1" baseline="30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time waiting for I/O to complete</a:t>
            </a:r>
          </a:p>
          <a:p>
            <a:pPr lvl="1" algn="just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processes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computer has 512MB of memory, with OS taking 128 MB and each user program also taking up 128MB with an 80% average I/O wait</a:t>
            </a:r>
          </a:p>
          <a:p>
            <a:pPr lvl="2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= 1 – 80%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((512-128)/128)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= 49%</a:t>
            </a:r>
          </a:p>
          <a:p>
            <a:pPr lvl="1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Adding another 512MB, </a:t>
            </a:r>
          </a:p>
          <a:p>
            <a:pPr lvl="2"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= 1 – 80%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((1024-128)/128)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= 79%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 bldLvl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20483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6868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Threads</a:t>
            </a:r>
          </a:p>
          <a:p>
            <a:pPr>
              <a:buClrTx/>
              <a:buSzTx/>
              <a:buFont typeface="Wingdings" pitchFamily="2" charset="2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6712</TotalTime>
  <Words>1344</Words>
  <Application>Microsoft Office PowerPoint</Application>
  <PresentationFormat>On-screen Show (4:3)</PresentationFormat>
  <Paragraphs>171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Processes &amp; Threads   Processes </vt:lpstr>
      <vt:lpstr>Review</vt:lpstr>
      <vt:lpstr>Review</vt:lpstr>
      <vt:lpstr>Objectives</vt:lpstr>
      <vt:lpstr>Definition</vt:lpstr>
      <vt:lpstr>Processes</vt:lpstr>
      <vt:lpstr> Example</vt:lpstr>
      <vt:lpstr>Processes The process model (cont)</vt:lpstr>
      <vt:lpstr>Processes Process Creation</vt:lpstr>
      <vt:lpstr>Processes Process Hierarchies</vt:lpstr>
      <vt:lpstr>Processes Process Termination</vt:lpstr>
      <vt:lpstr>Processes Process States</vt:lpstr>
      <vt:lpstr>Processes Transition States</vt:lpstr>
      <vt:lpstr>Processes Implementation of Processes</vt:lpstr>
      <vt:lpstr>Processes  Implementation of Processes (cont) </vt:lpstr>
      <vt:lpstr>Processes Implementation of Processes (cont)</vt:lpstr>
      <vt:lpstr>Processes  Implementation of Processes (cont)</vt:lpstr>
      <vt:lpstr>Processes Degree of multiprogramming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1899</cp:revision>
  <dcterms:created xsi:type="dcterms:W3CDTF">2007-08-21T04:43:22Z</dcterms:created>
  <dcterms:modified xsi:type="dcterms:W3CDTF">2022-04-14T06:24:57Z</dcterms:modified>
</cp:coreProperties>
</file>