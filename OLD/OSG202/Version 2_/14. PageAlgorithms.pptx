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4"/>
  </p:notesMasterIdLst>
  <p:sldIdLst>
    <p:sldId id="256" r:id="rId2"/>
    <p:sldId id="482" r:id="rId3"/>
    <p:sldId id="483" r:id="rId4"/>
    <p:sldId id="484" r:id="rId5"/>
    <p:sldId id="481" r:id="rId6"/>
    <p:sldId id="436" r:id="rId7"/>
    <p:sldId id="485" r:id="rId8"/>
    <p:sldId id="437" r:id="rId9"/>
    <p:sldId id="438" r:id="rId10"/>
    <p:sldId id="439" r:id="rId11"/>
    <p:sldId id="475" r:id="rId12"/>
    <p:sldId id="440" r:id="rId13"/>
    <p:sldId id="441" r:id="rId14"/>
    <p:sldId id="476" r:id="rId15"/>
    <p:sldId id="442" r:id="rId16"/>
    <p:sldId id="443" r:id="rId17"/>
    <p:sldId id="444" r:id="rId18"/>
    <p:sldId id="445" r:id="rId19"/>
    <p:sldId id="477" r:id="rId20"/>
    <p:sldId id="446" r:id="rId21"/>
    <p:sldId id="447" r:id="rId22"/>
    <p:sldId id="448" r:id="rId23"/>
    <p:sldId id="459" r:id="rId24"/>
    <p:sldId id="460" r:id="rId25"/>
    <p:sldId id="461" r:id="rId26"/>
    <p:sldId id="462" r:id="rId27"/>
    <p:sldId id="463" r:id="rId28"/>
    <p:sldId id="451" r:id="rId29"/>
    <p:sldId id="452" r:id="rId30"/>
    <p:sldId id="453" r:id="rId31"/>
    <p:sldId id="394" r:id="rId32"/>
    <p:sldId id="473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54" autoAdjust="0"/>
    <p:restoredTop sz="95529" autoAdjust="0"/>
  </p:normalViewPr>
  <p:slideViewPr>
    <p:cSldViewPr>
      <p:cViewPr varScale="1">
        <p:scale>
          <a:sx n="91" d="100"/>
          <a:sy n="91" d="100"/>
        </p:scale>
        <p:origin x="1627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CDC158C-293D-4C00-8B72-8DBFC5DE5DDD}" type="datetimeFigureOut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E8CEC1-75B2-47DF-AA44-3146355604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erating_system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Resource_starvation" TargetMode="External"/><Relationship Id="rId4" Type="http://schemas.openxmlformats.org/officeDocument/2006/relationships/hyperlink" Target="https://en.wikipedia.org/wiki/Scheduling_(computing)" TargetMode="Externa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940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155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5536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0752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Simulated: </a:t>
            </a:r>
            <a:r>
              <a:rPr lang="en-US" altLang="en-US" dirty="0" err="1"/>
              <a:t>mô</a:t>
            </a:r>
            <a:r>
              <a:rPr lang="en-US" altLang="en-US" dirty="0"/>
              <a:t> </a:t>
            </a:r>
            <a:r>
              <a:rPr lang="en-US" altLang="en-US" dirty="0" err="1"/>
              <a:t>phỏng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Page fault?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want to load the page on the memory, and the page is not already on memory, then it is called a page fault. The page fault is also called page miss.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Page Hit?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want to load the page on the memory, and the page is already available on memory, then it is called page hit.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Periodically: </a:t>
            </a:r>
            <a:r>
              <a:rPr lang="en-US" altLang="en-US" dirty="0" err="1"/>
              <a:t>đinh</a:t>
            </a:r>
            <a:r>
              <a:rPr lang="en-US" altLang="en-US" dirty="0"/>
              <a:t> </a:t>
            </a:r>
            <a:r>
              <a:rPr lang="en-US" altLang="en-US" dirty="0" err="1"/>
              <a:t>kỳ</a:t>
            </a:r>
            <a:endParaRPr lang="vi-V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vi-V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/>
              <a:t>xuất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gần</a:t>
            </a:r>
            <a:r>
              <a:rPr lang="en-US" altLang="en-US" dirty="0"/>
              <a:t> </a:t>
            </a:r>
            <a:r>
              <a:rPr lang="en-US" altLang="en-US" dirty="0" err="1"/>
              <a:t>đây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ở </a:t>
            </a:r>
            <a:r>
              <a:rPr lang="en-US" altLang="en-US" dirty="0" err="1"/>
              <a:t>đuôi</a:t>
            </a:r>
            <a:r>
              <a:rPr lang="en-US" altLang="en-US" dirty="0"/>
              <a:t>,</a:t>
            </a:r>
          </a:p>
          <a:p>
            <a:r>
              <a:rPr lang="en-US" altLang="en-US" dirty="0" err="1"/>
              <a:t>sự</a:t>
            </a:r>
            <a:r>
              <a:rPr lang="en-US" altLang="en-US" dirty="0"/>
              <a:t> </a:t>
            </a:r>
            <a:r>
              <a:rPr lang="en-US" altLang="en-US" dirty="0" err="1"/>
              <a:t>xuất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ít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</a:t>
            </a:r>
            <a:r>
              <a:rPr lang="en-US" altLang="en-US" dirty="0" err="1"/>
              <a:t>gần</a:t>
            </a:r>
            <a:r>
              <a:rPr lang="en-US" altLang="en-US" dirty="0"/>
              <a:t> </a:t>
            </a:r>
            <a:r>
              <a:rPr lang="en-US" altLang="en-US" dirty="0" err="1"/>
              <a:t>đây</a:t>
            </a:r>
            <a:r>
              <a:rPr lang="en-US" altLang="en-US" dirty="0"/>
              <a:t>  ở </a:t>
            </a:r>
            <a:r>
              <a:rPr lang="en-US" altLang="en-US" dirty="0" err="1"/>
              <a:t>đầu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vi-V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/>
              <a:t>Constantly:liên</a:t>
            </a:r>
            <a:r>
              <a:rPr lang="en-US" altLang="en-US" dirty="0"/>
              <a:t> </a:t>
            </a:r>
            <a:r>
              <a:rPr lang="en-US" altLang="en-US" dirty="0" err="1"/>
              <a:t>tục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vi-V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Aging: </a:t>
            </a:r>
            <a:r>
              <a:rPr lang="en-US" altLang="en-US" dirty="0" err="1"/>
              <a:t>lão</a:t>
            </a:r>
            <a:r>
              <a:rPr lang="en-US" altLang="en-US" dirty="0"/>
              <a:t> </a:t>
            </a:r>
            <a:r>
              <a:rPr lang="en-US" altLang="en-US" dirty="0" err="1"/>
              <a:t>hóa</a:t>
            </a:r>
            <a:endParaRPr lang="en-US" alt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Operating system"/>
              </a:rPr>
              <a:t>Operating systems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(US English) 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Scheduling (computing)"/>
              </a:rPr>
              <a:t>scheduling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technique used to avoid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Resource starvation"/>
              </a:rPr>
              <a:t>starvation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Thrashing : </a:t>
            </a:r>
            <a:r>
              <a:rPr lang="en-US" altLang="en-US" dirty="0" err="1"/>
              <a:t>đâp</a:t>
            </a:r>
            <a:r>
              <a:rPr lang="en-US" altLang="en-US" dirty="0"/>
              <a:t> </a:t>
            </a:r>
            <a:r>
              <a:rPr lang="en-US" altLang="en-US" dirty="0" err="1"/>
              <a:t>mạnh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Cumbersome: </a:t>
            </a:r>
            <a:r>
              <a:rPr lang="en-US" altLang="en-US" dirty="0" err="1"/>
              <a:t>cồng</a:t>
            </a:r>
            <a:r>
              <a:rPr lang="en-US" altLang="en-US" dirty="0"/>
              <a:t> </a:t>
            </a:r>
            <a:r>
              <a:rPr lang="en-US" altLang="en-US" dirty="0" err="1"/>
              <a:t>kềnh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F30C6-302E-4D52-B808-09B7C9AF3A5B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A554F-00E4-4833-8B30-F3EFB08312B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89753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93616-85D8-4CA2-A5BC-3B8B0F63C0DD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B052F-832B-4582-B81A-B8172363BF2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74601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24311-2368-4C40-B054-1F82462063A9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6D8F-8E2B-414E-B249-F601FBE8F09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80487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8B43-BB1F-4F75-9A35-DDBC2C6CA020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BFCE7-9BDC-46E8-9B68-4726B1158D7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16166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18012-162B-494E-A86A-9DEA12D2F969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A69D46-7981-4B19-9DEF-29C65AE7AB2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1559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DF882-8308-4401-A0EA-7037B8F9E05D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633C4D-0EC6-4F44-847E-9B15FA7F9BD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67415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91299-CF95-40EA-B890-0A3CC4582034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73A317-E48C-49C8-AAC6-4748E689130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037046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B9DCD-8BA7-4294-B0A1-D543675A5790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BDFCA-CDB4-4B7F-8BA6-09DD611ACA9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99169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7C4E1-8C1E-463A-A6A0-A628A6BEA1A2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135073-72BB-4CA3-9016-585C0910DDB4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3585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7C555-CB39-4F8F-9E71-7F9782EA7C10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868479-22AE-4393-A1CB-8E2C9249FF9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78567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124AB-9DD1-4FA0-BCD2-942E802579C0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8F97A6-F8BB-4056-BC79-7DDA676F5904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228107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CEBB6-8AC9-4E9C-B79F-8F0E11F4AA7E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DC91D-547B-4A33-8F02-525FFF199E1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839514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57F5A-23D7-44C3-B3C8-302A2BFE9768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79B7C-0E9E-4EA5-83E0-92D2643CA32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7984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B6AB498C-3F83-4DC8-846C-12EE72248B51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EB7E61B-137F-4805-A80A-0CD69C3F642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the different types of memory are used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memory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areas of main memory to processes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swapping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main memory and disk 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program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OS, only one 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register is used to protection between OS and 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slow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program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OS, many processes locate in memory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fixed size block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programs both reference absolute physical memory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static relocation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31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locate in memory (both primary and secondary)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and Limit Registers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locate in memory and protection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address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process in memory,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process, the process owns private address space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 (Defragment)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Swapping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processes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in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locate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HDD – swap file area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out/ in operator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can not grow in memory and the swap area on the disk is full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data segment upward, stack  segment downward</a:t>
            </a:r>
          </a:p>
        </p:txBody>
      </p:sp>
    </p:spTree>
    <p:extLst>
      <p:ext uri="{BB962C8B-B14F-4D97-AF65-F5344CB8AC3E}">
        <p14:creationId xmlns:p14="http://schemas.microsoft.com/office/powerpoint/2010/main" val="115014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Bitmaps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memory divides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units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same size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that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corresponding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in the bitmap (0: free, 1: occupied)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Slow when searching the bitmap to find a run of k consecutive 0 bits in the map (small)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Internal fragment (large size)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Linked Lists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(P)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 (H)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Allocating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algorithms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First, Next, Best, Worst, Quick Fit</a:t>
            </a:r>
            <a:endParaRPr lang="de-DE" alt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 Process sizes larger than memory</a:t>
            </a:r>
            <a:endParaRPr lang="de-DE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de-DE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splits program to many overlays 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developer‘s knowledge is important</a:t>
            </a:r>
          </a:p>
        </p:txBody>
      </p:sp>
    </p:spTree>
    <p:extLst>
      <p:ext uri="{BB962C8B-B14F-4D97-AF65-F5344CB8AC3E}">
        <p14:creationId xmlns:p14="http://schemas.microsoft.com/office/powerpoint/2010/main" val="204300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endParaRPr lang="de-DE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 up into pages 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memory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divided up into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frames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 vs. Physical address, manage address space with bit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MMU transfers Virtual address </a:t>
            </a: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p, d; then it looks up page table following the index to get the page frame;  the page frame combines with d to determine the physical address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Page fault</a:t>
            </a: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 of its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 physical memory</a:t>
            </a:r>
            <a:endParaRPr lang="de-DE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</a:t>
            </a:r>
            <a:endParaRPr lang="de-DE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 eaLnBrk="1" hangingPunct="1">
              <a:lnSpc>
                <a:spcPct val="90000"/>
              </a:lnSpc>
            </a:pP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collection </a:t>
            </a: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load to </a:t>
            </a: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register</a:t>
            </a: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 </a:t>
            </a: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TLB</a:t>
            </a:r>
          </a:p>
          <a:p>
            <a:pPr lvl="4" algn="just" eaLnBrk="1" hangingPunct="1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large page table: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page, inverted page table, inverted page table with hash or TLB</a:t>
            </a:r>
          </a:p>
          <a:p>
            <a:pPr lvl="4" algn="just" eaLnBrk="1" hangingPunct="1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Caching disabled, Referenced, Modified, Protection, Present/absent, page frame number</a:t>
            </a:r>
            <a:endParaRPr lang="de-DE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</p:txBody>
      </p:sp>
      <p:sp>
        <p:nvSpPr>
          <p:cNvPr id="717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fault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has to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virtual page has to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evicted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from memory</a:t>
            </a:r>
          </a:p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Choosing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evicted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heavily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reduce the number of page faults</a:t>
            </a:r>
          </a:p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page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has to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 was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virtual page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overwrite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virtual page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frame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152400"/>
            <a:ext cx="7924800" cy="9906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ECF563-932C-4596-B418-2A99E3C48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43000"/>
            <a:ext cx="8077200" cy="531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page can be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instructions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be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reference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will be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 between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actually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memory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simple and efficient (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Impossible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implemented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way to know when each page will be referenced next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simulated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information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pages references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first run (but with the same input)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performance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practically used, algorithms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34CBE4-DD05-437F-AF1F-AB88570FFE64}"/>
              </a:ext>
            </a:extLst>
          </p:cNvPr>
          <p:cNvSpPr/>
          <p:nvPr/>
        </p:nvSpPr>
        <p:spPr>
          <a:xfrm>
            <a:off x="3886200" y="4419600"/>
            <a:ext cx="4648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What is Page fault?</a:t>
            </a:r>
          </a:p>
          <a:p>
            <a:r>
              <a:rPr lang="en-US" sz="1400" dirty="0"/>
              <a:t>When we want to load the page on the memory, and the page is not already on memory, then it is called a page fault. The page fault is also called page miss.</a:t>
            </a:r>
          </a:p>
          <a:p>
            <a:br>
              <a:rPr lang="en-US" sz="1400" dirty="0"/>
            </a:br>
            <a:r>
              <a:rPr lang="en-US" sz="1400" dirty="0"/>
              <a:t>What is Page Hit?</a:t>
            </a:r>
          </a:p>
          <a:p>
            <a:r>
              <a:rPr lang="en-US" sz="1400" dirty="0"/>
              <a:t>When we want to load the page on the memory, and the page is already available on memory, then it is called page hit.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AA7B6-7D2A-4DB1-A6DD-28F1EE4D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06648"/>
            <a:ext cx="7696200" cy="381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24D37-71A3-487F-8CEB-E57D0204E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52999"/>
            <a:ext cx="7759117" cy="17607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Not Recently Used (NRU)</a:t>
            </a:r>
          </a:p>
        </p:txBody>
      </p:sp>
      <p:sp>
        <p:nvSpPr>
          <p:cNvPr id="1024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Each page has two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status bits associated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Referenced bit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Modified bit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two bits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by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remain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so until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by OS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can be also simulated in software when the mechanism is not supported by hardware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At process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bits are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to 0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Periodically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(on each clock interrupt)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 bit is cleared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page replacement, pages are classified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Class 0: not referenced, not modified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Class 1: not referenced, modified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Class 2: referenced, not modified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Class 3: referenced, modified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removes a page at random from the lowest numbered nonempty class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to understand, moderately efficient to implement, and gives an adequate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Not Recently Used (NRU) – Example </a:t>
            </a:r>
          </a:p>
        </p:txBody>
      </p:sp>
      <p:sp>
        <p:nvSpPr>
          <p:cNvPr id="6246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371600"/>
            <a:ext cx="89154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has four page frames. The time of loading, time of last access, and the R and M bits for each page are as shown below (the times are in clock ticks). Which page will be replaced?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page 0 is replaced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514600"/>
          <a:ext cx="7543800" cy="2651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76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Page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Loaded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Last Reference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265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270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285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First-In, First-Out (FIFO)</a:t>
            </a:r>
          </a:p>
        </p:txBody>
      </p:sp>
      <p:sp>
        <p:nvSpPr>
          <p:cNvPr id="1229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maintains a list of all pages currently in memory, with 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recent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recent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h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ead</a:t>
            </a:r>
          </a:p>
          <a:p>
            <a:pPr algn="just"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fault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page at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list</a:t>
            </a:r>
          </a:p>
          <a:p>
            <a:pPr algn="just"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rarely used</a:t>
            </a:r>
          </a:p>
          <a:p>
            <a:pPr algn="just"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memory with free three frames</a:t>
            </a:r>
          </a:p>
          <a:p>
            <a:pPr lvl="1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7    0   1   2   0   3    0   4    2   3   0    3   2   1   2   0 1 0   7   0    1</a:t>
            </a:r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0"/>
            <a:ext cx="8001000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Second-Chance</a:t>
            </a:r>
          </a:p>
        </p:txBody>
      </p:sp>
      <p:sp>
        <p:nvSpPr>
          <p:cNvPr id="1331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3733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throwing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out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heavily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 page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Inspect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 b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it of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oldest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page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old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unused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replaced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  page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old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but used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its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 bit = 0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 the page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moved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at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queue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as a new arrived page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Look for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page that has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been not referenced in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previous clock interval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 the pages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have been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FIFO</a:t>
            </a:r>
          </a:p>
        </p:txBody>
      </p:sp>
      <p:pic>
        <p:nvPicPr>
          <p:cNvPr id="13316" name="Picture 5" descr="03-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62484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6781800" y="54102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3-15.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Second-Chance – Example </a:t>
            </a:r>
          </a:p>
        </p:txBody>
      </p:sp>
      <p:sp>
        <p:nvSpPr>
          <p:cNvPr id="6246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371600"/>
            <a:ext cx="89154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has four page frames. The time of loading, time of last access, and the R and M bits for each page are as shown below (the times are in clock ticks). Which page will be replaced?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page 1 is replaced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514600"/>
          <a:ext cx="7543800" cy="2651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76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Page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Loaded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Last Reference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265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270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285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 chance algorithms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it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unnecessarily inefficiency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because it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constantly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moving pages around on its list</a:t>
            </a:r>
          </a:p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all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frames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on a circular list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 the form of a clock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hand points to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oldest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page</a:t>
            </a:r>
          </a:p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How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 work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When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 fault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occurs,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being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pointed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to by the hand is inspected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If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 bit is 0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evicted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new page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inserted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clock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in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place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and the hand is advanced one position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 is 1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it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cleared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is advanced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next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</a:p>
        </p:txBody>
      </p:sp>
      <p:pic>
        <p:nvPicPr>
          <p:cNvPr id="16387" name="Picture 4" descr="03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620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5410200" y="56388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3-16.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Least Recently Used (LRU)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observation that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pages that have been heavily used in the last few instructions will probably be heavily used again in the next few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out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has been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unused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the longest time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a page fault occurs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keeps a linked list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referenced page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moved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 of the list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end of the list is replaced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must be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reference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costly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LRU with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counter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 a 64-bit counter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which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incremented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 each instruction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table entry has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field large enough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 the counter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 the page table entry for the page just referenced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with the lowest value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its counter field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is replaced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LRU with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bits matrix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page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 x N bits matrix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when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virtual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is referenced 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bits of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bits of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column k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page with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lowest value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removed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Least Recently Used (LRU)</a:t>
            </a:r>
          </a:p>
        </p:txBody>
      </p:sp>
      <p:sp>
        <p:nvSpPr>
          <p:cNvPr id="5529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memory with free three frames</a:t>
            </a:r>
          </a:p>
          <a:p>
            <a:pPr lvl="1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7    0    1    2   0    3    0    4   2    3   0    3    2   1    2    0  1 0  7  0 1</a:t>
            </a:r>
          </a:p>
          <a:p>
            <a:pPr lvl="1"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memory with four page frames</a:t>
            </a:r>
          </a:p>
          <a:p>
            <a:pPr lvl="1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0 1 2 3 2 1 0 3 2 3</a:t>
            </a: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38400"/>
            <a:ext cx="7696200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5" descr="03-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038600"/>
            <a:ext cx="4953000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990600" y="54102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3-17.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Least Recently Used (LRU) – Example </a:t>
            </a:r>
          </a:p>
        </p:txBody>
      </p:sp>
      <p:sp>
        <p:nvSpPr>
          <p:cNvPr id="6246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371600"/>
            <a:ext cx="89154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has four page frames. The time of loading, time of last access, and the R and M bits for each page are as shown below (the times are in clock ticks). Which page will be replaced?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page 1 is replaced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514600"/>
          <a:ext cx="7543800" cy="2651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76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Page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Loaded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Last Reference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265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270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91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120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285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Not Frequently Used (NFU)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LRU</a:t>
            </a:r>
          </a:p>
          <a:p>
            <a:pPr algn="just"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counter associated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each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(initially 0)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clock tick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bit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for all the pages in memory;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that the R bits are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reset to 0</a:t>
            </a:r>
          </a:p>
          <a:p>
            <a:pPr algn="just"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counter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fault occurs</a:t>
            </a:r>
          </a:p>
          <a:p>
            <a:pPr algn="just"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pages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evicted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reference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known the order of reference</a:t>
            </a:r>
          </a:p>
          <a:p>
            <a:pPr algn="just" eaLnBrk="1" hangingPunct="1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Aging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LRU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NFU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Shift right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position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bit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leftmost bit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page whose counter is the l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owest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removed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when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fault occurs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from LRU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does not know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which was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referenced first between two ticks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; for example pages 3 and 5 at step (e)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finite number of bits of counters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does not differentiate between pages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with the value 0 of their counter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Tx/>
              <a:buChar char="•"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Aging</a:t>
            </a:r>
          </a:p>
        </p:txBody>
      </p:sp>
      <p:pic>
        <p:nvPicPr>
          <p:cNvPr id="22531" name="Picture 4" descr="03-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0010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3657600" y="6096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3-18.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Thrashing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program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causing page faults every few instructions</a:t>
            </a:r>
          </a:p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allocated enough page frames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 its requirements </a:t>
            </a:r>
          </a:p>
          <a:p>
            <a:pPr lvl="1" algn="just" eaLnBrk="1" hangingPunct="1"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Many processes are located in memory, thus, each process is allocated at least page frames </a:t>
            </a:r>
          </a:p>
          <a:p>
            <a:pPr lvl="1" algn="just" eaLnBrk="1" hangingPunct="1"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The page replacement takes more time (than execution)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 The CPU utilization is decreased and some new process is loaded in the memory</a:t>
            </a:r>
          </a:p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thrashing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on system 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can be hanged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can not continually progress</a:t>
            </a:r>
          </a:p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Allocating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enough page frame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(!?)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the process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page frame in progress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Locality of Reference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 small fraction of its pages in execution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fraction is a set of pages that a process is currently using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moves from small fractions (that is needed in execution in time) to others</a:t>
            </a:r>
          </a:p>
          <a:p>
            <a:pPr algn="just"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many small fractions that can intersected</a:t>
            </a:r>
          </a:p>
          <a:p>
            <a:pPr algn="just" eaLnBrk="1" hangingPunct="1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Demand paging vs. Prepaging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Demand paging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Pages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are loaded only on demand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are started up with none of their pages in memory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CPU tries to fetch the first instruction → page fault</a:t>
            </a:r>
          </a:p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Prepaging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pages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 letting processes run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pages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 resuming the process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Working Set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of pages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that a process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is currently using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entire working set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 memory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the process will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without causing many faults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until it moves into another execution phase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Working set can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changes over time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the available memory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too small to hold the entire working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set, the process will cause many page faults and run slowly →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thrashing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will just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cause page faults until its working set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has been loaded →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waste considerable CPU time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 set model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Working Set Model</a:t>
            </a:r>
          </a:p>
        </p:txBody>
      </p:sp>
      <p:sp>
        <p:nvSpPr>
          <p:cNvPr id="2765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143000"/>
            <a:ext cx="9144000" cy="5943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each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process’s working set and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prepaging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fault rate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thrashing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track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which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working set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fault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set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this page is located in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bit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value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1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virtual time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of last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0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removal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virtual time – its Time of last use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l-G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(span multiple clock ticks).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&gt; </a:t>
            </a:r>
            <a:r>
              <a:rPr lang="el-G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longer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the page is still in the working set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entire table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finding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evict and one or more pages with R = 0 is founds, the one with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greatest age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evicted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chosen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executed (R = 1)</a:t>
            </a:r>
            <a:endParaRPr lang="el-G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WSClock</a:t>
            </a:r>
          </a:p>
        </p:txBody>
      </p:sp>
      <p:sp>
        <p:nvSpPr>
          <p:cNvPr id="2867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838200"/>
            <a:ext cx="91440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Working set algorithm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cumbersome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since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entire page table has to be scanned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page fault until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suitable candidate is located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WSClock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WS algorithm is based on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 algorithm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Simplicity of implementation and good performance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circular list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frames is used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(initially)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it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 a ring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 of last use field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 bit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As with the clock program, at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page fault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pointed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by hand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examined first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page has been used during the current tick,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 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advanced 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next page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 equals 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than </a:t>
            </a:r>
            <a:r>
              <a:rPr lang="el-GR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it is not in working set and a valid copy exists on disk.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frame is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simply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claimed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page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dirty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it cannot claim immediately (clean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is define base on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to disk scheduled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WSClock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699" name="Picture 4" descr="03-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5154613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6477000" y="3429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3-21.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30723" name="Picture 4" descr="03-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8686800" cy="416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3352800" y="5715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3-22.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the Paging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11409</TotalTime>
  <Words>2796</Words>
  <Application>Microsoft Office PowerPoint</Application>
  <PresentationFormat>On-screen Show (4:3)</PresentationFormat>
  <Paragraphs>379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Times New Roman</vt:lpstr>
      <vt:lpstr>Wingdings</vt:lpstr>
      <vt:lpstr>Office Theme</vt:lpstr>
      <vt:lpstr>Memory Management   Page Replacement Algorithms</vt:lpstr>
      <vt:lpstr>Review</vt:lpstr>
      <vt:lpstr>Review</vt:lpstr>
      <vt:lpstr>Review</vt:lpstr>
      <vt:lpstr>Review</vt:lpstr>
      <vt:lpstr>Page replacement algorithms Problems</vt:lpstr>
      <vt:lpstr>Page replacement algorithms </vt:lpstr>
      <vt:lpstr>Page replacement algorithms Optimal</vt:lpstr>
      <vt:lpstr>Page replacement algorithms Optimal</vt:lpstr>
      <vt:lpstr>Page replacement algorithms Not Recently Used (NRU)</vt:lpstr>
      <vt:lpstr>Page replacement algorithms Not Recently Used (NRU) – Example </vt:lpstr>
      <vt:lpstr>Page replacement algorithms First-In, First-Out (FIFO)</vt:lpstr>
      <vt:lpstr>Page replacement algorithms Second-Chance</vt:lpstr>
      <vt:lpstr>Page replacement algorithms Second-Chance – Example </vt:lpstr>
      <vt:lpstr>Page replacement algorithms Clock</vt:lpstr>
      <vt:lpstr>Page replacement algorithms Clock</vt:lpstr>
      <vt:lpstr>Page replacement algorithms Least Recently Used (LRU)</vt:lpstr>
      <vt:lpstr>Page replacement algorithms Least Recently Used (LRU)</vt:lpstr>
      <vt:lpstr>Page replacement algorithms  Least Recently Used (LRU) – Example </vt:lpstr>
      <vt:lpstr>Page replacement algorithms Not Frequently Used (NFU)</vt:lpstr>
      <vt:lpstr>Page replacement algorithms Aging</vt:lpstr>
      <vt:lpstr>Page replacement algorithms Aging</vt:lpstr>
      <vt:lpstr>Page replacement algorithms Thrashing</vt:lpstr>
      <vt:lpstr>Page replacement algorithms Locality of Reference</vt:lpstr>
      <vt:lpstr>Page replacement algorithms Demand paging vs. Prepaging</vt:lpstr>
      <vt:lpstr>Page replacement algorithms Working Set</vt:lpstr>
      <vt:lpstr>Page replacement algorithms Working Set Model</vt:lpstr>
      <vt:lpstr>Page replacement algorithms WSClock</vt:lpstr>
      <vt:lpstr>Page replacement algorithms WSClock</vt:lpstr>
      <vt:lpstr>Page replacement algorithms Summary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2101</cp:revision>
  <dcterms:created xsi:type="dcterms:W3CDTF">2007-08-21T04:43:22Z</dcterms:created>
  <dcterms:modified xsi:type="dcterms:W3CDTF">2022-04-18T14:24:08Z</dcterms:modified>
</cp:coreProperties>
</file>