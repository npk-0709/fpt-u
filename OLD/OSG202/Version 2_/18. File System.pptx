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44"/>
  </p:notesMasterIdLst>
  <p:sldIdLst>
    <p:sldId id="256" r:id="rId2"/>
    <p:sldId id="468" r:id="rId3"/>
    <p:sldId id="414" r:id="rId4"/>
    <p:sldId id="416" r:id="rId5"/>
    <p:sldId id="417" r:id="rId6"/>
    <p:sldId id="427" r:id="rId7"/>
    <p:sldId id="421" r:id="rId8"/>
    <p:sldId id="418" r:id="rId9"/>
    <p:sldId id="382" r:id="rId10"/>
    <p:sldId id="419" r:id="rId11"/>
    <p:sldId id="422" r:id="rId12"/>
    <p:sldId id="377" r:id="rId13"/>
    <p:sldId id="378" r:id="rId14"/>
    <p:sldId id="379" r:id="rId15"/>
    <p:sldId id="462" r:id="rId16"/>
    <p:sldId id="461" r:id="rId17"/>
    <p:sldId id="402" r:id="rId18"/>
    <p:sldId id="424" r:id="rId19"/>
    <p:sldId id="403" r:id="rId20"/>
    <p:sldId id="404" r:id="rId21"/>
    <p:sldId id="405" r:id="rId22"/>
    <p:sldId id="420" r:id="rId23"/>
    <p:sldId id="428" r:id="rId24"/>
    <p:sldId id="430" r:id="rId25"/>
    <p:sldId id="431" r:id="rId26"/>
    <p:sldId id="429" r:id="rId27"/>
    <p:sldId id="432" r:id="rId28"/>
    <p:sldId id="433" r:id="rId29"/>
    <p:sldId id="469" r:id="rId30"/>
    <p:sldId id="470" r:id="rId31"/>
    <p:sldId id="471" r:id="rId32"/>
    <p:sldId id="472" r:id="rId33"/>
    <p:sldId id="465" r:id="rId34"/>
    <p:sldId id="434" r:id="rId35"/>
    <p:sldId id="435" r:id="rId36"/>
    <p:sldId id="436" r:id="rId37"/>
    <p:sldId id="466" r:id="rId38"/>
    <p:sldId id="467" r:id="rId39"/>
    <p:sldId id="437" r:id="rId40"/>
    <p:sldId id="438" r:id="rId41"/>
    <p:sldId id="394" r:id="rId42"/>
    <p:sldId id="464" r:id="rId4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66FFFF"/>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300" autoAdjust="0"/>
    <p:restoredTop sz="77017" autoAdjust="0"/>
  </p:normalViewPr>
  <p:slideViewPr>
    <p:cSldViewPr>
      <p:cViewPr varScale="1">
        <p:scale>
          <a:sx n="68" d="100"/>
          <a:sy n="68" d="100"/>
        </p:scale>
        <p:origin x="1354" y="67"/>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960898B1-4AC5-4F25-A9B6-6B7E70082A4E}" type="datetimeFigureOut">
              <a:rPr lang="en-US"/>
              <a:pPr>
                <a:defRPr/>
              </a:pPr>
              <a:t>21/04/2022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CFF3A08D-7F59-4BD1-ABC3-6BF7FA2420C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en.wikipedia.org/wiki/Computer_science" TargetMode="External"/><Relationship Id="rId2" Type="http://schemas.openxmlformats.org/officeDocument/2006/relationships/slide" Target="../slides/slide26.xml"/><Relationship Id="rId1" Type="http://schemas.openxmlformats.org/officeDocument/2006/relationships/notesMaster" Target="../notesMasters/notesMaster1.xml"/><Relationship Id="rId5" Type="http://schemas.openxmlformats.org/officeDocument/2006/relationships/hyperlink" Target="https://en.wikipedia.org/wiki/Engineering_overhead" TargetMode="External"/><Relationship Id="rId4" Type="http://schemas.openxmlformats.org/officeDocument/2006/relationships/hyperlink" Target="https://en.wikipedia.org/wiki/Task_(computing)"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Sufficient : </a:t>
            </a:r>
            <a:r>
              <a:rPr lang="en-US" altLang="en-US" dirty="0" err="1"/>
              <a:t>họp</a:t>
            </a:r>
            <a:r>
              <a:rPr lang="en-US" altLang="en-US" dirty="0"/>
              <a:t> </a:t>
            </a:r>
            <a:r>
              <a:rPr lang="en-US" altLang="en-US" dirty="0" err="1"/>
              <a:t>lý</a:t>
            </a:r>
            <a:endParaRPr lang="en-US" altLang="en-US" dirty="0"/>
          </a:p>
          <a:p>
            <a:r>
              <a:rPr lang="en-US" altLang="en-US" dirty="0"/>
              <a:t>Merely: đ</a:t>
            </a:r>
            <a:r>
              <a:rPr lang="vi-VN" altLang="en-US" dirty="0"/>
              <a:t>ơ</a:t>
            </a:r>
            <a:r>
              <a:rPr lang="en-US" altLang="en-US" dirty="0"/>
              <a:t>n </a:t>
            </a:r>
            <a:r>
              <a:rPr lang="en-US" altLang="en-US" dirty="0" err="1"/>
              <a:t>thuần,chỉ</a:t>
            </a:r>
            <a:r>
              <a:rPr lang="en-US" altLang="en-US" dirty="0"/>
              <a:t> </a:t>
            </a:r>
            <a:r>
              <a:rPr lang="en-US" altLang="en-US" dirty="0" err="1"/>
              <a:t>là</a:t>
            </a:r>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143000" lvl="2" indent="-228600" algn="just"/>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lvl="1" algn="just">
              <a:lnSpc>
                <a:spcPct val="90000"/>
              </a:lnSpc>
            </a:pPr>
            <a:r>
              <a:rPr lang="en-US" altLang="en-US" sz="2000" dirty="0">
                <a:latin typeface="Times New Roman" panose="02020603050405020304" pitchFamily="18" charset="0"/>
                <a:cs typeface="Times New Roman" panose="02020603050405020304" pitchFamily="18" charset="0"/>
              </a:rPr>
              <a:t>10 direct address with 1KB each block: 10 * 1KB = 10KB</a:t>
            </a:r>
          </a:p>
          <a:p>
            <a:pPr lvl="1" algn="just">
              <a:lnSpc>
                <a:spcPct val="90000"/>
              </a:lnSpc>
            </a:pPr>
            <a:r>
              <a:rPr lang="en-US" altLang="en-US" sz="2000" dirty="0">
                <a:latin typeface="Times New Roman" panose="02020603050405020304" pitchFamily="18" charset="0"/>
                <a:cs typeface="Times New Roman" panose="02020603050405020304" pitchFamily="18" charset="0"/>
              </a:rPr>
              <a:t>1 single </a:t>
            </a:r>
            <a:r>
              <a:rPr lang="en-US" altLang="en-US" sz="2000" dirty="0" err="1">
                <a:latin typeface="Times New Roman" panose="02020603050405020304" pitchFamily="18" charset="0"/>
                <a:cs typeface="Times New Roman" panose="02020603050405020304" pitchFamily="18" charset="0"/>
              </a:rPr>
              <a:t>indirected</a:t>
            </a:r>
            <a:r>
              <a:rPr lang="en-US" altLang="en-US" sz="2000" dirty="0">
                <a:latin typeface="Times New Roman" panose="02020603050405020304" pitchFamily="18" charset="0"/>
                <a:cs typeface="Times New Roman" panose="02020603050405020304" pitchFamily="18" charset="0"/>
              </a:rPr>
              <a:t> address </a:t>
            </a:r>
          </a:p>
          <a:p>
            <a:pPr lvl="2" algn="just">
              <a:lnSpc>
                <a:spcPct val="90000"/>
              </a:lnSpc>
            </a:pPr>
            <a:r>
              <a:rPr lang="en-US" altLang="en-US" sz="1800" dirty="0">
                <a:latin typeface="Times New Roman" panose="02020603050405020304" pitchFamily="18" charset="0"/>
                <a:cs typeface="Times New Roman" panose="02020603050405020304" pitchFamily="18" charset="0"/>
              </a:rPr>
              <a:t>Size 1KB = 1024 byte</a:t>
            </a:r>
          </a:p>
          <a:p>
            <a:pPr lvl="2" algn="just">
              <a:lnSpc>
                <a:spcPct val="90000"/>
              </a:lnSpc>
            </a:pPr>
            <a:r>
              <a:rPr lang="en-US" altLang="en-US" sz="1800" dirty="0">
                <a:latin typeface="Times New Roman" panose="02020603050405020304" pitchFamily="18" charset="0"/>
                <a:cs typeface="Times New Roman" panose="02020603050405020304" pitchFamily="18" charset="0"/>
              </a:rPr>
              <a:t>The pointer is 4 byte → 1024/4 = 256 pointer can point 256 block address with 1K</a:t>
            </a:r>
          </a:p>
          <a:p>
            <a:pPr lvl="2" algn="just">
              <a:lnSpc>
                <a:spcPct val="90000"/>
              </a:lnSpc>
              <a:buFont typeface="Arial" panose="020B0604020202020204" pitchFamily="34" charset="0"/>
              <a:buNone/>
            </a:pPr>
            <a:r>
              <a:rPr lang="en-US" altLang="en-US" sz="1800" dirty="0">
                <a:latin typeface="Times New Roman" panose="02020603050405020304" pitchFamily="18" charset="0"/>
                <a:cs typeface="Times New Roman" panose="02020603050405020304" pitchFamily="18" charset="0"/>
              </a:rPr>
              <a:t>→ 256 * 1KB = 256KB</a:t>
            </a:r>
          </a:p>
          <a:p>
            <a:pPr lvl="1" algn="just">
              <a:lnSpc>
                <a:spcPct val="90000"/>
              </a:lnSpc>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The largest possible file is 10 + 256 = 266 KB</a:t>
            </a:r>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Gap: </a:t>
            </a:r>
            <a:r>
              <a:rPr lang="en-US" altLang="en-US" dirty="0" err="1"/>
              <a:t>khoảng</a:t>
            </a:r>
            <a:r>
              <a:rPr lang="en-US" altLang="en-US" dirty="0"/>
              <a:t> </a:t>
            </a:r>
            <a:r>
              <a:rPr lang="en-US" altLang="en-US" dirty="0" err="1"/>
              <a:t>trống</a:t>
            </a:r>
            <a:r>
              <a:rPr lang="en-US" altLang="en-US" dirty="0"/>
              <a:t>, </a:t>
            </a:r>
            <a:r>
              <a:rPr lang="en-US" altLang="en-US" dirty="0" err="1"/>
              <a:t>lổ</a:t>
            </a:r>
            <a:r>
              <a:rPr lang="en-US" altLang="en-US" dirty="0"/>
              <a:t> </a:t>
            </a:r>
            <a:r>
              <a:rPr lang="en-US" altLang="en-US" dirty="0" err="1"/>
              <a:t>hở</a:t>
            </a:r>
            <a:endParaRPr lang="en-US"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In computer science, a heap is </a:t>
            </a:r>
            <a:r>
              <a:rPr lang="en-US" sz="1200" b="1" i="0" kern="1200" dirty="0">
                <a:solidFill>
                  <a:schemeClr val="tx1"/>
                </a:solidFill>
                <a:effectLst/>
                <a:latin typeface="+mn-lt"/>
                <a:ea typeface="+mn-ea"/>
                <a:cs typeface="+mn-cs"/>
              </a:rPr>
              <a:t>a specialized tree-based data structure</a:t>
            </a:r>
            <a:r>
              <a:rPr lang="en-US" sz="1200" b="0" i="0" kern="1200" dirty="0">
                <a:solidFill>
                  <a:schemeClr val="tx1"/>
                </a:solidFill>
                <a:effectLst/>
                <a:latin typeface="+mn-lt"/>
                <a:ea typeface="+mn-ea"/>
                <a:cs typeface="+mn-cs"/>
              </a:rPr>
              <a:t> which is essentially an almost complete tree that satisfies the heap property: in a max heap, for any given node C, if P is a parent node of C, then the key (the value) of P is greater than or equal to the key of C.</a:t>
            </a:r>
          </a:p>
          <a:p>
            <a:r>
              <a:rPr lang="en-US" altLang="en-US" sz="1200" b="0" i="0" kern="1200" dirty="0">
                <a:solidFill>
                  <a:schemeClr val="tx1"/>
                </a:solidFill>
                <a:effectLst/>
                <a:latin typeface="+mn-lt"/>
                <a:ea typeface="+mn-ea"/>
                <a:cs typeface="+mn-cs"/>
              </a:rPr>
              <a:t>Improvement: </a:t>
            </a:r>
            <a:r>
              <a:rPr lang="en-US" altLang="en-US" sz="1200" b="0" i="0" kern="1200" dirty="0" err="1">
                <a:solidFill>
                  <a:schemeClr val="tx1"/>
                </a:solidFill>
                <a:effectLst/>
                <a:latin typeface="+mn-lt"/>
                <a:ea typeface="+mn-ea"/>
                <a:cs typeface="+mn-cs"/>
              </a:rPr>
              <a:t>sự</a:t>
            </a:r>
            <a:r>
              <a:rPr lang="en-US" altLang="en-US" sz="1200" b="0" i="0" kern="1200" dirty="0">
                <a:solidFill>
                  <a:schemeClr val="tx1"/>
                </a:solidFill>
                <a:effectLst/>
                <a:latin typeface="+mn-lt"/>
                <a:ea typeface="+mn-ea"/>
                <a:cs typeface="+mn-cs"/>
              </a:rPr>
              <a:t> </a:t>
            </a:r>
            <a:r>
              <a:rPr lang="en-US" altLang="en-US" sz="1200" b="0" i="0" kern="1200" dirty="0" err="1">
                <a:solidFill>
                  <a:schemeClr val="tx1"/>
                </a:solidFill>
                <a:effectLst/>
                <a:latin typeface="+mn-lt"/>
                <a:ea typeface="+mn-ea"/>
                <a:cs typeface="+mn-cs"/>
              </a:rPr>
              <a:t>cải</a:t>
            </a:r>
            <a:r>
              <a:rPr lang="en-US" altLang="en-US" sz="1200" b="0" i="0" kern="1200" dirty="0">
                <a:solidFill>
                  <a:schemeClr val="tx1"/>
                </a:solidFill>
                <a:effectLst/>
                <a:latin typeface="+mn-lt"/>
                <a:ea typeface="+mn-ea"/>
                <a:cs typeface="+mn-cs"/>
              </a:rPr>
              <a:t> </a:t>
            </a:r>
            <a:r>
              <a:rPr lang="en-US" altLang="en-US" sz="1200" b="0" i="0" kern="1200" dirty="0" err="1">
                <a:solidFill>
                  <a:schemeClr val="tx1"/>
                </a:solidFill>
                <a:effectLst/>
                <a:latin typeface="+mn-lt"/>
                <a:ea typeface="+mn-ea"/>
                <a:cs typeface="+mn-cs"/>
              </a:rPr>
              <a:t>tiến</a:t>
            </a:r>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In computing, a </a:t>
            </a:r>
            <a:r>
              <a:rPr lang="en-US" sz="1200" b="1" i="0" kern="1200" dirty="0">
                <a:solidFill>
                  <a:schemeClr val="tx1"/>
                </a:solidFill>
                <a:effectLst/>
                <a:latin typeface="+mn-lt"/>
                <a:ea typeface="+mn-ea"/>
                <a:cs typeface="+mn-cs"/>
              </a:rPr>
              <a:t>hash table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hash</a:t>
            </a:r>
            <a:r>
              <a:rPr lang="en-US" sz="1200" b="0" i="0" kern="1200" dirty="0">
                <a:solidFill>
                  <a:schemeClr val="tx1"/>
                </a:solidFill>
                <a:effectLst/>
                <a:latin typeface="+mn-lt"/>
                <a:ea typeface="+mn-ea"/>
                <a:cs typeface="+mn-cs"/>
              </a:rPr>
              <a:t> map) is a data structure that implements an associative array abstract data type, a structure that can map keys to values. A </a:t>
            </a:r>
            <a:r>
              <a:rPr lang="en-US" sz="1200" b="1" i="0" kern="1200" dirty="0">
                <a:solidFill>
                  <a:schemeClr val="tx1"/>
                </a:solidFill>
                <a:effectLst/>
                <a:latin typeface="+mn-lt"/>
                <a:ea typeface="+mn-ea"/>
                <a:cs typeface="+mn-cs"/>
              </a:rPr>
              <a:t>hash table</a:t>
            </a:r>
            <a:r>
              <a:rPr lang="en-US" sz="1200" b="0" i="0" kern="1200" dirty="0">
                <a:solidFill>
                  <a:schemeClr val="tx1"/>
                </a:solidFill>
                <a:effectLst/>
                <a:latin typeface="+mn-lt"/>
                <a:ea typeface="+mn-ea"/>
                <a:cs typeface="+mn-cs"/>
              </a:rPr>
              <a:t> uses a </a:t>
            </a:r>
            <a:r>
              <a:rPr lang="en-US" sz="1200" b="1" i="0" kern="1200" dirty="0">
                <a:solidFill>
                  <a:schemeClr val="tx1"/>
                </a:solidFill>
                <a:effectLst/>
                <a:latin typeface="+mn-lt"/>
                <a:ea typeface="+mn-ea"/>
                <a:cs typeface="+mn-cs"/>
              </a:rPr>
              <a:t>hash</a:t>
            </a:r>
            <a:r>
              <a:rPr lang="en-US" sz="1200" b="0" i="0" kern="1200" dirty="0">
                <a:solidFill>
                  <a:schemeClr val="tx1"/>
                </a:solidFill>
                <a:effectLst/>
                <a:latin typeface="+mn-lt"/>
                <a:ea typeface="+mn-ea"/>
                <a:cs typeface="+mn-cs"/>
              </a:rPr>
              <a:t> function to compute an index, also called a </a:t>
            </a:r>
            <a:r>
              <a:rPr lang="en-US" sz="1200" b="1" i="0" kern="1200" dirty="0">
                <a:solidFill>
                  <a:schemeClr val="tx1"/>
                </a:solidFill>
                <a:effectLst/>
                <a:latin typeface="+mn-lt"/>
                <a:ea typeface="+mn-ea"/>
                <a:cs typeface="+mn-cs"/>
              </a:rPr>
              <a:t>hash</a:t>
            </a:r>
            <a:r>
              <a:rPr lang="en-US" sz="1200" b="0" i="0" kern="1200" dirty="0">
                <a:solidFill>
                  <a:schemeClr val="tx1"/>
                </a:solidFill>
                <a:effectLst/>
                <a:latin typeface="+mn-lt"/>
                <a:ea typeface="+mn-ea"/>
                <a:cs typeface="+mn-cs"/>
              </a:rPr>
              <a:t> code, into an array of buckets or slots, from which the desired value can be found.</a:t>
            </a:r>
            <a:endParaRPr lang="en-US"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Acyclic : </a:t>
            </a:r>
            <a:r>
              <a:rPr lang="en-US" altLang="en-US" dirty="0" err="1"/>
              <a:t>xoay</a:t>
            </a:r>
            <a:r>
              <a:rPr lang="en-US" altLang="en-US" dirty="0"/>
              <a:t> </a:t>
            </a:r>
            <a:r>
              <a:rPr lang="en-US" altLang="en-US" dirty="0" err="1"/>
              <a:t>vòng</a:t>
            </a:r>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in </a:t>
            </a:r>
            <a:r>
              <a:rPr lang="en-US" sz="1200" b="0" i="0" u="none" strike="noStrike" kern="1200" dirty="0">
                <a:solidFill>
                  <a:schemeClr val="tx1"/>
                </a:solidFill>
                <a:effectLst/>
                <a:latin typeface="+mn-lt"/>
                <a:ea typeface="+mn-ea"/>
                <a:cs typeface="+mn-cs"/>
                <a:hlinkClick r:id="rId3" tooltip="Computer science"/>
              </a:rPr>
              <a:t>computer science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overhead</a:t>
            </a:r>
            <a:r>
              <a:rPr lang="en-US" sz="1200" b="0" i="0" kern="1200" dirty="0">
                <a:solidFill>
                  <a:schemeClr val="tx1"/>
                </a:solidFill>
                <a:effectLst/>
                <a:latin typeface="+mn-lt"/>
                <a:ea typeface="+mn-ea"/>
                <a:cs typeface="+mn-cs"/>
              </a:rPr>
              <a:t> is any combination of excess or indirect computation time, memory, bandwidth, or other resources that are required to perform a specific </a:t>
            </a:r>
            <a:r>
              <a:rPr lang="en-US" sz="1200" b="0" i="0" u="none" strike="noStrike" kern="1200" dirty="0">
                <a:solidFill>
                  <a:schemeClr val="tx1"/>
                </a:solidFill>
                <a:effectLst/>
                <a:latin typeface="+mn-lt"/>
                <a:ea typeface="+mn-ea"/>
                <a:cs typeface="+mn-cs"/>
                <a:hlinkClick r:id="rId4" tooltip="Task (computing)"/>
              </a:rPr>
              <a:t>task</a:t>
            </a:r>
            <a:r>
              <a:rPr lang="en-US" sz="1200" b="0" i="0" kern="1200" dirty="0">
                <a:solidFill>
                  <a:schemeClr val="tx1"/>
                </a:solidFill>
                <a:effectLst/>
                <a:latin typeface="+mn-lt"/>
                <a:ea typeface="+mn-ea"/>
                <a:cs typeface="+mn-cs"/>
              </a:rPr>
              <a:t>. It is a special case of </a:t>
            </a:r>
            <a:r>
              <a:rPr lang="en-US" sz="1200" b="0" i="0" u="none" strike="noStrike" kern="1200" dirty="0">
                <a:solidFill>
                  <a:schemeClr val="tx1"/>
                </a:solidFill>
                <a:effectLst/>
                <a:latin typeface="+mn-lt"/>
                <a:ea typeface="+mn-ea"/>
                <a:cs typeface="+mn-cs"/>
                <a:hlinkClick r:id="rId5" tooltip="Engineering overhead"/>
              </a:rPr>
              <a:t>engineering overhead</a:t>
            </a:r>
            <a:endParaRPr lang="en-US" sz="1200" b="0" i="0" u="none" strike="noStrike" kern="1200" dirty="0">
              <a:solidFill>
                <a:schemeClr val="tx1"/>
              </a:solidFill>
              <a:effectLst/>
              <a:latin typeface="+mn-lt"/>
              <a:ea typeface="+mn-ea"/>
              <a:cs typeface="+mn-cs"/>
            </a:endParaRPr>
          </a:p>
          <a:p>
            <a:r>
              <a:rPr lang="en-US" altLang="en-US" sz="1200" b="0" i="0" u="none" strike="noStrike" kern="1200" dirty="0">
                <a:solidFill>
                  <a:schemeClr val="tx1"/>
                </a:solidFill>
                <a:effectLst/>
                <a:latin typeface="+mn-lt"/>
                <a:ea typeface="+mn-ea"/>
                <a:cs typeface="+mn-cs"/>
              </a:rPr>
              <a:t>Inconsistency : </a:t>
            </a:r>
            <a:r>
              <a:rPr lang="en-US" altLang="en-US" sz="1200" b="0" i="0" u="none" strike="noStrike" kern="1200" dirty="0" err="1">
                <a:solidFill>
                  <a:schemeClr val="tx1"/>
                </a:solidFill>
                <a:effectLst/>
                <a:latin typeface="+mn-lt"/>
                <a:ea typeface="+mn-ea"/>
                <a:cs typeface="+mn-cs"/>
              </a:rPr>
              <a:t>khong</a:t>
            </a:r>
            <a:r>
              <a:rPr lang="en-US" altLang="en-US" sz="1200" b="0" i="0" u="none" strike="noStrike" kern="1200" dirty="0">
                <a:solidFill>
                  <a:schemeClr val="tx1"/>
                </a:solidFill>
                <a:effectLst/>
                <a:latin typeface="+mn-lt"/>
                <a:ea typeface="+mn-ea"/>
                <a:cs typeface="+mn-cs"/>
              </a:rPr>
              <a:t> </a:t>
            </a:r>
            <a:r>
              <a:rPr lang="en-US" altLang="en-US" sz="1200" b="0" i="0" u="none" strike="noStrike" kern="1200" dirty="0" err="1">
                <a:solidFill>
                  <a:schemeClr val="tx1"/>
                </a:solidFill>
                <a:effectLst/>
                <a:latin typeface="+mn-lt"/>
                <a:ea typeface="+mn-ea"/>
                <a:cs typeface="+mn-cs"/>
              </a:rPr>
              <a:t>nhat</a:t>
            </a:r>
            <a:r>
              <a:rPr lang="en-US" altLang="en-US" sz="1200" b="0" i="0" u="none" strike="noStrike" kern="1200" dirty="0">
                <a:solidFill>
                  <a:schemeClr val="tx1"/>
                </a:solidFill>
                <a:effectLst/>
                <a:latin typeface="+mn-lt"/>
                <a:ea typeface="+mn-ea"/>
                <a:cs typeface="+mn-cs"/>
              </a:rPr>
              <a:t> </a:t>
            </a:r>
            <a:r>
              <a:rPr lang="en-US" altLang="en-US" sz="1200" b="0" i="0" u="none" strike="noStrike" kern="1200" dirty="0" err="1">
                <a:solidFill>
                  <a:schemeClr val="tx1"/>
                </a:solidFill>
                <a:effectLst/>
                <a:latin typeface="+mn-lt"/>
                <a:ea typeface="+mn-ea"/>
                <a:cs typeface="+mn-cs"/>
              </a:rPr>
              <a:t>quán</a:t>
            </a:r>
            <a:endParaRPr lang="en-US" altLang="en-US" sz="1200" b="0" i="0" u="none" strike="noStrike" kern="1200" dirty="0">
              <a:solidFill>
                <a:schemeClr val="tx1"/>
              </a:solidFill>
              <a:effectLst/>
              <a:latin typeface="+mn-lt"/>
              <a:ea typeface="+mn-ea"/>
              <a:cs typeface="+mn-cs"/>
            </a:endParaRPr>
          </a:p>
          <a:p>
            <a:r>
              <a:rPr lang="en-US" altLang="en-US" sz="1200" b="0" i="0" u="none" strike="noStrike" kern="1200" dirty="0">
                <a:solidFill>
                  <a:schemeClr val="tx1"/>
                </a:solidFill>
                <a:effectLst/>
                <a:latin typeface="+mn-lt"/>
                <a:ea typeface="+mn-ea"/>
                <a:cs typeface="+mn-cs"/>
              </a:rPr>
              <a:t>No inconsistency : </a:t>
            </a:r>
            <a:r>
              <a:rPr lang="en-US" altLang="en-US" sz="1200" b="0" i="0" u="none" strike="noStrike" kern="1200" dirty="0" err="1">
                <a:solidFill>
                  <a:schemeClr val="tx1"/>
                </a:solidFill>
                <a:effectLst/>
                <a:latin typeface="+mn-lt"/>
                <a:ea typeface="+mn-ea"/>
                <a:cs typeface="+mn-cs"/>
              </a:rPr>
              <a:t>không</a:t>
            </a:r>
            <a:r>
              <a:rPr lang="en-US" altLang="en-US" sz="1200" b="0" i="0" u="none" strike="noStrike" kern="1200" dirty="0">
                <a:solidFill>
                  <a:schemeClr val="tx1"/>
                </a:solidFill>
                <a:effectLst/>
                <a:latin typeface="+mn-lt"/>
                <a:ea typeface="+mn-ea"/>
                <a:cs typeface="+mn-cs"/>
              </a:rPr>
              <a:t> </a:t>
            </a:r>
            <a:r>
              <a:rPr lang="en-US" altLang="en-US" sz="1200" b="0" i="0" u="none" strike="noStrike" kern="1200" dirty="0" err="1">
                <a:solidFill>
                  <a:schemeClr val="tx1"/>
                </a:solidFill>
                <a:effectLst/>
                <a:latin typeface="+mn-lt"/>
                <a:ea typeface="+mn-ea"/>
                <a:cs typeface="+mn-cs"/>
              </a:rPr>
              <a:t>mâu</a:t>
            </a:r>
            <a:r>
              <a:rPr lang="en-US" altLang="en-US" sz="1200" b="0" i="0" u="none" strike="noStrike" kern="1200" dirty="0">
                <a:solidFill>
                  <a:schemeClr val="tx1"/>
                </a:solidFill>
                <a:effectLst/>
                <a:latin typeface="+mn-lt"/>
                <a:ea typeface="+mn-ea"/>
                <a:cs typeface="+mn-cs"/>
              </a:rPr>
              <a:t> </a:t>
            </a:r>
            <a:r>
              <a:rPr lang="en-US" altLang="en-US" sz="1200" b="0" i="0" u="none" strike="noStrike" kern="1200" dirty="0" err="1">
                <a:solidFill>
                  <a:schemeClr val="tx1"/>
                </a:solidFill>
                <a:effectLst/>
                <a:latin typeface="+mn-lt"/>
                <a:ea typeface="+mn-ea"/>
                <a:cs typeface="+mn-cs"/>
              </a:rPr>
              <a:t>thuẩn</a:t>
            </a:r>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fontScale="92500" lnSpcReduction="20000"/>
          </a:bodyPr>
          <a:lstStyle/>
          <a:p>
            <a:r>
              <a:rPr lang="en-US" sz="1200" b="1" i="0" kern="1200" dirty="0">
                <a:solidFill>
                  <a:schemeClr val="tx1"/>
                </a:solidFill>
                <a:effectLst/>
                <a:latin typeface="+mn-lt"/>
                <a:ea typeface="+mn-ea"/>
                <a:cs typeface="+mn-cs"/>
              </a:rPr>
              <a:t>Metadata</a:t>
            </a:r>
            <a:r>
              <a:rPr lang="en-US" sz="1200" b="0" i="0" kern="1200" dirty="0">
                <a:solidFill>
                  <a:schemeClr val="tx1"/>
                </a:solidFill>
                <a:effectLst/>
                <a:latin typeface="+mn-lt"/>
                <a:ea typeface="+mn-ea"/>
                <a:cs typeface="+mn-cs"/>
              </a:rPr>
              <a:t> is data that describes other data. ... For example, author, date created, date modified and file size are examples of very basic document </a:t>
            </a:r>
            <a:r>
              <a:rPr lang="en-US" sz="1200" b="1" i="0" kern="1200" dirty="0">
                <a:solidFill>
                  <a:schemeClr val="tx1"/>
                </a:solidFill>
                <a:effectLst/>
                <a:latin typeface="+mn-lt"/>
                <a:ea typeface="+mn-ea"/>
                <a:cs typeface="+mn-cs"/>
              </a:rPr>
              <a:t>metadata</a:t>
            </a:r>
            <a:r>
              <a:rPr lang="en-US" sz="1200" b="0" i="0" kern="1200" dirty="0">
                <a:solidFill>
                  <a:schemeClr val="tx1"/>
                </a:solidFill>
                <a:effectLst/>
                <a:latin typeface="+mn-lt"/>
                <a:ea typeface="+mn-ea"/>
                <a:cs typeface="+mn-cs"/>
              </a:rPr>
              <a:t>. Having the ability to filter through that </a:t>
            </a:r>
            <a:r>
              <a:rPr lang="en-US" sz="1200" b="1" i="0" kern="1200" dirty="0">
                <a:solidFill>
                  <a:schemeClr val="tx1"/>
                </a:solidFill>
                <a:effectLst/>
                <a:latin typeface="+mn-lt"/>
                <a:ea typeface="+mn-ea"/>
                <a:cs typeface="+mn-cs"/>
              </a:rPr>
              <a:t>metadata</a:t>
            </a:r>
            <a:r>
              <a:rPr lang="en-US" sz="1200" b="0" i="0" kern="1200" dirty="0">
                <a:solidFill>
                  <a:schemeClr val="tx1"/>
                </a:solidFill>
                <a:effectLst/>
                <a:latin typeface="+mn-lt"/>
                <a:ea typeface="+mn-ea"/>
                <a:cs typeface="+mn-cs"/>
              </a:rPr>
              <a:t> makes it much easier for someone to locate a specific document.</a:t>
            </a:r>
          </a:p>
          <a:p>
            <a:endParaRPr lang="en-US" alt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The following are the data structures used in the LFS implementation.</a:t>
            </a:r>
          </a:p>
          <a:p>
            <a:pPr fontAlgn="base"/>
            <a:r>
              <a:rPr lang="en-US" sz="1200" b="1" i="0" kern="1200" dirty="0" err="1">
                <a:solidFill>
                  <a:schemeClr val="tx1"/>
                </a:solidFill>
                <a:effectLst/>
                <a:latin typeface="+mn-lt"/>
                <a:ea typeface="+mn-ea"/>
                <a:cs typeface="+mn-cs"/>
              </a:rPr>
              <a:t>Inodes</a:t>
            </a:r>
            <a:r>
              <a:rPr lang="en-US" sz="1200" b="1"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As in Unix, </a:t>
            </a:r>
            <a:r>
              <a:rPr lang="en-US" sz="1200" b="0" i="0" kern="1200" dirty="0" err="1">
                <a:solidFill>
                  <a:schemeClr val="tx1"/>
                </a:solidFill>
                <a:effectLst/>
                <a:latin typeface="+mn-lt"/>
                <a:ea typeface="+mn-ea"/>
                <a:cs typeface="+mn-cs"/>
              </a:rPr>
              <a:t>inodes</a:t>
            </a:r>
            <a:r>
              <a:rPr lang="en-US" sz="1200" b="0" i="0" kern="1200" dirty="0">
                <a:solidFill>
                  <a:schemeClr val="tx1"/>
                </a:solidFill>
                <a:effectLst/>
                <a:latin typeface="+mn-lt"/>
                <a:ea typeface="+mn-ea"/>
                <a:cs typeface="+mn-cs"/>
              </a:rPr>
              <a:t> contain physical block pointers to files.</a:t>
            </a:r>
          </a:p>
          <a:p>
            <a:pPr fontAlgn="base"/>
            <a:r>
              <a:rPr lang="en-US" sz="1200" b="1" i="0" kern="1200" dirty="0" err="1">
                <a:solidFill>
                  <a:schemeClr val="tx1"/>
                </a:solidFill>
                <a:effectLst/>
                <a:latin typeface="+mn-lt"/>
                <a:ea typeface="+mn-ea"/>
                <a:cs typeface="+mn-cs"/>
              </a:rPr>
              <a:t>Inode</a:t>
            </a:r>
            <a:r>
              <a:rPr lang="en-US" sz="1200" b="1" i="0" kern="1200" dirty="0">
                <a:solidFill>
                  <a:schemeClr val="tx1"/>
                </a:solidFill>
                <a:effectLst/>
                <a:latin typeface="+mn-lt"/>
                <a:ea typeface="+mn-ea"/>
                <a:cs typeface="+mn-cs"/>
              </a:rPr>
              <a:t> Map: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table indicates the location of each </a:t>
            </a:r>
            <a:r>
              <a:rPr lang="en-US" sz="1200" b="0" i="0" kern="1200" dirty="0" err="1">
                <a:solidFill>
                  <a:schemeClr val="tx1"/>
                </a:solidFill>
                <a:effectLst/>
                <a:latin typeface="+mn-lt"/>
                <a:ea typeface="+mn-ea"/>
                <a:cs typeface="+mn-cs"/>
              </a:rPr>
              <a:t>inode</a:t>
            </a:r>
            <a:r>
              <a:rPr lang="en-US" sz="1200" b="0" i="0" kern="1200" dirty="0">
                <a:solidFill>
                  <a:schemeClr val="tx1"/>
                </a:solidFill>
                <a:effectLst/>
                <a:latin typeface="+mn-lt"/>
                <a:ea typeface="+mn-ea"/>
                <a:cs typeface="+mn-cs"/>
              </a:rPr>
              <a:t> on the disk. The </a:t>
            </a:r>
            <a:r>
              <a:rPr lang="en-US" sz="1200" b="0" i="0" kern="1200" dirty="0" err="1">
                <a:solidFill>
                  <a:schemeClr val="tx1"/>
                </a:solidFill>
                <a:effectLst/>
                <a:latin typeface="+mn-lt"/>
                <a:ea typeface="+mn-ea"/>
                <a:cs typeface="+mn-cs"/>
              </a:rPr>
              <a:t>inode</a:t>
            </a:r>
            <a:r>
              <a:rPr lang="en-US" sz="1200" b="0" i="0" kern="1200" dirty="0">
                <a:solidFill>
                  <a:schemeClr val="tx1"/>
                </a:solidFill>
                <a:effectLst/>
                <a:latin typeface="+mn-lt"/>
                <a:ea typeface="+mn-ea"/>
                <a:cs typeface="+mn-cs"/>
              </a:rPr>
              <a:t> map is written in the segment itself.</a:t>
            </a:r>
          </a:p>
          <a:p>
            <a:pPr fontAlgn="base"/>
            <a:r>
              <a:rPr lang="en-US" sz="1200" b="1" i="0" kern="1200" dirty="0">
                <a:solidFill>
                  <a:schemeClr val="tx1"/>
                </a:solidFill>
                <a:effectLst/>
                <a:latin typeface="+mn-lt"/>
                <a:ea typeface="+mn-ea"/>
                <a:cs typeface="+mn-cs"/>
              </a:rPr>
              <a:t>Segment Summary: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maintains information about each block in the segment.</a:t>
            </a:r>
          </a:p>
          <a:p>
            <a:pPr fontAlgn="base"/>
            <a:r>
              <a:rPr lang="en-US" sz="1200" b="1" i="0" kern="1200" dirty="0">
                <a:solidFill>
                  <a:schemeClr val="tx1"/>
                </a:solidFill>
                <a:effectLst/>
                <a:latin typeface="+mn-lt"/>
                <a:ea typeface="+mn-ea"/>
                <a:cs typeface="+mn-cs"/>
              </a:rPr>
              <a:t>Segment Usage Table: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tells us the amount of data on a block.</a:t>
            </a:r>
          </a:p>
          <a:p>
            <a:r>
              <a:rPr lang="en-US" sz="1200" b="0" i="0" kern="1200" dirty="0">
                <a:solidFill>
                  <a:schemeClr val="tx1"/>
                </a:solidFill>
                <a:effectLst/>
                <a:latin typeface="+mn-lt"/>
                <a:ea typeface="+mn-ea"/>
                <a:cs typeface="+mn-cs"/>
              </a:rPr>
              <a:t> A log-structured file system writes all modifications to disk sequentially in a log-like structure, thereby speeding up both file writing and crash recovery. The log is the only structure on disk; it contains indexing information so that files can be read back from the log efficiently. In order to maintain large free areas on disk for fast writing, we divide the log into </a:t>
            </a:r>
            <a:r>
              <a:rPr lang="en-US" sz="1200" b="0" i="1" kern="1200" dirty="0">
                <a:solidFill>
                  <a:schemeClr val="tx1"/>
                </a:solidFill>
                <a:effectLst/>
                <a:latin typeface="+mn-lt"/>
                <a:ea typeface="+mn-ea"/>
                <a:cs typeface="+mn-cs"/>
              </a:rPr>
              <a:t>segments</a:t>
            </a:r>
            <a:r>
              <a:rPr lang="en-US" sz="1200" b="0" i="0" kern="1200" dirty="0">
                <a:solidFill>
                  <a:schemeClr val="tx1"/>
                </a:solidFill>
                <a:effectLst/>
                <a:latin typeface="+mn-lt"/>
                <a:ea typeface="+mn-ea"/>
                <a:cs typeface="+mn-cs"/>
              </a:rPr>
              <a:t> and use a </a:t>
            </a:r>
            <a:r>
              <a:rPr lang="en-US" sz="1200" b="0" i="1" kern="1200" dirty="0">
                <a:solidFill>
                  <a:schemeClr val="tx1"/>
                </a:solidFill>
                <a:effectLst/>
                <a:latin typeface="+mn-lt"/>
                <a:ea typeface="+mn-ea"/>
                <a:cs typeface="+mn-cs"/>
              </a:rPr>
              <a:t>segment cleaner</a:t>
            </a:r>
            <a:r>
              <a:rPr lang="en-US" sz="1200" b="0" i="0" kern="1200" dirty="0">
                <a:solidFill>
                  <a:schemeClr val="tx1"/>
                </a:solidFill>
                <a:effectLst/>
                <a:latin typeface="+mn-lt"/>
                <a:ea typeface="+mn-ea"/>
                <a:cs typeface="+mn-cs"/>
              </a:rPr>
              <a:t> to compress the live information from heavily fragmented segments. We present a series of simulations that demonstrate the efficiency of a simple cleaning policy based on cost and benefit</a:t>
            </a:r>
          </a:p>
          <a:p>
            <a:r>
              <a:rPr lang="en-US" altLang="en-US" sz="1200" b="0" i="0" kern="1200" dirty="0">
                <a:solidFill>
                  <a:schemeClr val="tx1"/>
                </a:solidFill>
                <a:effectLst/>
                <a:latin typeface="+mn-lt"/>
                <a:ea typeface="+mn-ea"/>
                <a:cs typeface="+mn-cs"/>
              </a:rPr>
              <a:t> exposes :</a:t>
            </a:r>
            <a:r>
              <a:rPr lang="en-US" altLang="en-US" sz="1200" b="0" i="0" kern="1200" dirty="0" err="1">
                <a:solidFill>
                  <a:schemeClr val="tx1"/>
                </a:solidFill>
                <a:effectLst/>
                <a:latin typeface="+mn-lt"/>
                <a:ea typeface="+mn-ea"/>
                <a:cs typeface="+mn-cs"/>
              </a:rPr>
              <a:t>ph</a:t>
            </a:r>
            <a:r>
              <a:rPr lang="vi-VN" altLang="en-US" sz="1200" b="0" i="0" kern="1200" dirty="0">
                <a:solidFill>
                  <a:schemeClr val="tx1"/>
                </a:solidFill>
                <a:effectLst/>
                <a:latin typeface="+mn-lt"/>
                <a:ea typeface="+mn-ea"/>
                <a:cs typeface="+mn-cs"/>
              </a:rPr>
              <a:t>ơ</a:t>
            </a:r>
            <a:r>
              <a:rPr lang="en-US" altLang="en-US" sz="1200" b="0" i="0" kern="1200" dirty="0" err="1">
                <a:solidFill>
                  <a:schemeClr val="tx1"/>
                </a:solidFill>
                <a:effectLst/>
                <a:latin typeface="+mn-lt"/>
                <a:ea typeface="+mn-ea"/>
                <a:cs typeface="+mn-cs"/>
              </a:rPr>
              <a:t>i</a:t>
            </a:r>
            <a:r>
              <a:rPr lang="en-US" altLang="en-US" sz="1200" b="0" i="0" kern="1200" dirty="0">
                <a:solidFill>
                  <a:schemeClr val="tx1"/>
                </a:solidFill>
                <a:effectLst/>
                <a:latin typeface="+mn-lt"/>
                <a:ea typeface="+mn-ea"/>
                <a:cs typeface="+mn-cs"/>
              </a:rPr>
              <a:t> ra</a:t>
            </a:r>
          </a:p>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log</a:t>
            </a:r>
            <a:r>
              <a:rPr lang="en-US" sz="1200" b="0" i="0" kern="1200" dirty="0">
                <a:solidFill>
                  <a:schemeClr val="tx1"/>
                </a:solidFill>
                <a:effectLst/>
                <a:latin typeface="+mn-lt"/>
                <a:ea typeface="+mn-ea"/>
                <a:cs typeface="+mn-cs"/>
              </a:rPr>
              <a:t>-</a:t>
            </a:r>
            <a:r>
              <a:rPr lang="en-US" sz="1200" b="1" i="0" kern="1200" dirty="0">
                <a:solidFill>
                  <a:schemeClr val="tx1"/>
                </a:solidFill>
                <a:effectLst/>
                <a:latin typeface="+mn-lt"/>
                <a:ea typeface="+mn-ea"/>
                <a:cs typeface="+mn-cs"/>
              </a:rPr>
              <a:t>structured filesystem</a:t>
            </a:r>
            <a:r>
              <a:rPr lang="en-US" sz="1200" b="0" i="0" kern="1200" dirty="0">
                <a:solidFill>
                  <a:schemeClr val="tx1"/>
                </a:solidFill>
                <a:effectLst/>
                <a:latin typeface="+mn-lt"/>
                <a:ea typeface="+mn-ea"/>
                <a:cs typeface="+mn-cs"/>
              </a:rPr>
              <a:t> is a file system in which data and metadata are written sequentially to a circular buffer, called a log. The design was first proposed in ...</a:t>
            </a:r>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The </a:t>
            </a:r>
            <a:r>
              <a:rPr lang="en-US" sz="1200" b="1" i="0" kern="1200" dirty="0" err="1">
                <a:solidFill>
                  <a:schemeClr val="tx1"/>
                </a:solidFill>
                <a:effectLst/>
                <a:latin typeface="+mn-lt"/>
                <a:ea typeface="+mn-ea"/>
                <a:cs typeface="+mn-cs"/>
              </a:rPr>
              <a:t>inode</a:t>
            </a:r>
            <a:r>
              <a:rPr lang="en-US" sz="1200" b="0" i="0" kern="1200" dirty="0">
                <a:solidFill>
                  <a:schemeClr val="tx1"/>
                </a:solidFill>
                <a:effectLst/>
                <a:latin typeface="+mn-lt"/>
                <a:ea typeface="+mn-ea"/>
                <a:cs typeface="+mn-cs"/>
              </a:rPr>
              <a:t> (index node) is a data structure in a Unix-style file system that describes a file-system object such as a file or a directory. Each </a:t>
            </a:r>
            <a:r>
              <a:rPr lang="en-US" sz="1200" b="1" i="0" kern="1200" dirty="0" err="1">
                <a:solidFill>
                  <a:schemeClr val="tx1"/>
                </a:solidFill>
                <a:effectLst/>
                <a:latin typeface="+mn-lt"/>
                <a:ea typeface="+mn-ea"/>
                <a:cs typeface="+mn-cs"/>
              </a:rPr>
              <a:t>inode</a:t>
            </a:r>
            <a:r>
              <a:rPr lang="en-US" sz="1200" b="0" i="0" kern="1200" dirty="0">
                <a:solidFill>
                  <a:schemeClr val="tx1"/>
                </a:solidFill>
                <a:effectLst/>
                <a:latin typeface="+mn-lt"/>
                <a:ea typeface="+mn-ea"/>
                <a:cs typeface="+mn-cs"/>
              </a:rPr>
              <a:t> stores the attributes and disk block locations of the object's data. ... A directory is a list of </a:t>
            </a:r>
            <a:r>
              <a:rPr lang="en-US" sz="1200" b="1" i="0" kern="1200" dirty="0" err="1">
                <a:solidFill>
                  <a:schemeClr val="tx1"/>
                </a:solidFill>
                <a:effectLst/>
                <a:latin typeface="+mn-lt"/>
                <a:ea typeface="+mn-ea"/>
                <a:cs typeface="+mn-cs"/>
              </a:rPr>
              <a:t>inodes</a:t>
            </a:r>
            <a:r>
              <a:rPr lang="en-US" sz="1200" b="0" i="0" kern="1200">
                <a:solidFill>
                  <a:schemeClr val="tx1"/>
                </a:solidFill>
                <a:effectLst/>
                <a:latin typeface="+mn-lt"/>
                <a:ea typeface="+mn-ea"/>
                <a:cs typeface="+mn-cs"/>
              </a:rPr>
              <a:t> with their assigned names.</a:t>
            </a:r>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39948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8535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4368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13324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Times New Roman" panose="02020603050405020304" pitchFamily="18" charset="0"/>
              <a:cs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Times New Roman" panose="02020603050405020304" pitchFamily="18" charset="0"/>
              <a:cs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6DEACF73-2708-4609-93F4-8B697BA1BF3F}" type="datetime1">
              <a:rPr lang="en-US"/>
              <a:pPr>
                <a:defRPr/>
              </a:pPr>
              <a:t>21/04/2022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3F394365-B37F-4534-AE96-B3750C63754B}" type="slidenum">
              <a:rPr lang="en-US" altLang="en-US"/>
              <a:pPr/>
              <a:t>‹#›</a:t>
            </a:fld>
            <a:r>
              <a:rPr lang="en-US" altLang="en-US"/>
              <a:t>/40</a:t>
            </a:r>
          </a:p>
        </p:txBody>
      </p:sp>
    </p:spTree>
    <p:extLst>
      <p:ext uri="{BB962C8B-B14F-4D97-AF65-F5344CB8AC3E}">
        <p14:creationId xmlns:p14="http://schemas.microsoft.com/office/powerpoint/2010/main" val="907301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666918E-F701-4A65-BAC7-84353190A5E6}" type="datetime1">
              <a:rPr lang="en-US"/>
              <a:pPr>
                <a:defRPr/>
              </a:pPr>
              <a:t>21/04/2022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3A6A2D9A-E80B-4871-86D2-88CED1635FD3}" type="slidenum">
              <a:rPr lang="en-US" altLang="en-US"/>
              <a:pPr/>
              <a:t>‹#›</a:t>
            </a:fld>
            <a:r>
              <a:rPr lang="en-US" altLang="en-US"/>
              <a:t>/40</a:t>
            </a:r>
          </a:p>
        </p:txBody>
      </p:sp>
    </p:spTree>
    <p:extLst>
      <p:ext uri="{BB962C8B-B14F-4D97-AF65-F5344CB8AC3E}">
        <p14:creationId xmlns:p14="http://schemas.microsoft.com/office/powerpoint/2010/main" val="35157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57818E0E-9BC2-492D-B813-220A6B235CD2}" type="datetime1">
              <a:rPr lang="en-US"/>
              <a:pPr>
                <a:defRPr/>
              </a:pPr>
              <a:t>21/04/2022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EAB7CF48-44D8-4186-8734-7B45B59C7CF0}" type="slidenum">
              <a:rPr lang="en-US" altLang="en-US"/>
              <a:pPr/>
              <a:t>‹#›</a:t>
            </a:fld>
            <a:r>
              <a:rPr lang="en-US" altLang="en-US"/>
              <a:t>/40</a:t>
            </a:r>
          </a:p>
        </p:txBody>
      </p:sp>
    </p:spTree>
    <p:extLst>
      <p:ext uri="{BB962C8B-B14F-4D97-AF65-F5344CB8AC3E}">
        <p14:creationId xmlns:p14="http://schemas.microsoft.com/office/powerpoint/2010/main" val="3215944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5585EEE8-65F0-43A4-8BDA-F71E8D712B0C}" type="datetime1">
              <a:rPr lang="en-US"/>
              <a:pPr>
                <a:defRPr/>
              </a:pPr>
              <a:t>21/04/2022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B70D411C-0A74-43C3-B798-11EF02E84501}" type="slidenum">
              <a:rPr lang="en-US" altLang="en-US"/>
              <a:pPr/>
              <a:t>‹#›</a:t>
            </a:fld>
            <a:r>
              <a:rPr lang="en-US" altLang="en-US"/>
              <a:t>/40</a:t>
            </a:r>
          </a:p>
        </p:txBody>
      </p:sp>
    </p:spTree>
    <p:extLst>
      <p:ext uri="{BB962C8B-B14F-4D97-AF65-F5344CB8AC3E}">
        <p14:creationId xmlns:p14="http://schemas.microsoft.com/office/powerpoint/2010/main" val="3855485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DDE954E-CFCC-4E8A-B312-5A808CC1F9CB}" type="datetime1">
              <a:rPr lang="en-US"/>
              <a:pPr>
                <a:defRPr/>
              </a:pPr>
              <a:t>21/04/2022</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C65717F2-6B9E-4CFA-8D78-0E85884B7640}" type="slidenum">
              <a:rPr lang="en-US" altLang="en-US"/>
              <a:pPr/>
              <a:t>‹#›</a:t>
            </a:fld>
            <a:r>
              <a:rPr lang="en-US" altLang="en-US"/>
              <a:t>/40</a:t>
            </a:r>
          </a:p>
        </p:txBody>
      </p:sp>
    </p:spTree>
    <p:extLst>
      <p:ext uri="{BB962C8B-B14F-4D97-AF65-F5344CB8AC3E}">
        <p14:creationId xmlns:p14="http://schemas.microsoft.com/office/powerpoint/2010/main" val="4254479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0C1DEC9E-5142-4581-99EB-C0EDB088307C}" type="datetime1">
              <a:rPr lang="en-US"/>
              <a:pPr>
                <a:defRPr/>
              </a:pPr>
              <a:t>21/04/2022</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A39301CC-8211-49F6-A9C4-5B4D0B1D5F9C}" type="slidenum">
              <a:rPr lang="en-US" altLang="en-US"/>
              <a:pPr/>
              <a:t>‹#›</a:t>
            </a:fld>
            <a:r>
              <a:rPr lang="en-US" altLang="en-US"/>
              <a:t>/40</a:t>
            </a:r>
          </a:p>
        </p:txBody>
      </p:sp>
    </p:spTree>
    <p:extLst>
      <p:ext uri="{BB962C8B-B14F-4D97-AF65-F5344CB8AC3E}">
        <p14:creationId xmlns:p14="http://schemas.microsoft.com/office/powerpoint/2010/main" val="278245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6D6B838-028B-47DA-BAAB-6439C787152C}" type="datetime1">
              <a:rPr lang="en-US"/>
              <a:pPr>
                <a:defRPr/>
              </a:pPr>
              <a:t>21/04/2022</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CCA057E1-0D14-423A-85A4-AAFBD2BCA198}" type="slidenum">
              <a:rPr lang="en-US" altLang="en-US"/>
              <a:pPr/>
              <a:t>‹#›</a:t>
            </a:fld>
            <a:r>
              <a:rPr lang="en-US" altLang="en-US"/>
              <a:t>/40</a:t>
            </a:r>
          </a:p>
        </p:txBody>
      </p:sp>
    </p:spTree>
    <p:extLst>
      <p:ext uri="{BB962C8B-B14F-4D97-AF65-F5344CB8AC3E}">
        <p14:creationId xmlns:p14="http://schemas.microsoft.com/office/powerpoint/2010/main" val="3106816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A067D24-EB4C-480D-8931-999D8AEF3DFF}" type="datetime1">
              <a:rPr lang="en-US"/>
              <a:pPr>
                <a:defRPr/>
              </a:pPr>
              <a:t>21/04/2022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A575D4AA-2DD5-4B68-B045-60816ABB1997}" type="slidenum">
              <a:rPr lang="en-US" altLang="en-US"/>
              <a:pPr/>
              <a:t>‹#›</a:t>
            </a:fld>
            <a:r>
              <a:rPr lang="en-US" altLang="en-US"/>
              <a:t>/40</a:t>
            </a:r>
          </a:p>
        </p:txBody>
      </p:sp>
    </p:spTree>
    <p:extLst>
      <p:ext uri="{BB962C8B-B14F-4D97-AF65-F5344CB8AC3E}">
        <p14:creationId xmlns:p14="http://schemas.microsoft.com/office/powerpoint/2010/main" val="798862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B34CE26-3EBA-45FB-9F3A-4D04368C52F1}" type="datetime1">
              <a:rPr lang="en-US"/>
              <a:pPr>
                <a:defRPr/>
              </a:pPr>
              <a:t>21/04/2022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724F808C-6298-4FCD-BCE8-8544E1E43DA0}" type="slidenum">
              <a:rPr lang="en-US" altLang="en-US"/>
              <a:pPr/>
              <a:t>‹#›</a:t>
            </a:fld>
            <a:r>
              <a:rPr lang="en-US" altLang="en-US"/>
              <a:t>/40</a:t>
            </a:r>
          </a:p>
        </p:txBody>
      </p:sp>
    </p:spTree>
    <p:extLst>
      <p:ext uri="{BB962C8B-B14F-4D97-AF65-F5344CB8AC3E}">
        <p14:creationId xmlns:p14="http://schemas.microsoft.com/office/powerpoint/2010/main" val="2887022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3D246E3-55D1-4B75-82BC-B4545DA3DE55}" type="datetime1">
              <a:rPr lang="en-US"/>
              <a:pPr>
                <a:defRPr/>
              </a:pPr>
              <a:t>21/04/2022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7FDA6694-6D4B-4941-ACD8-0DDB782A160A}" type="slidenum">
              <a:rPr lang="en-US" altLang="en-US"/>
              <a:pPr/>
              <a:t>‹#›</a:t>
            </a:fld>
            <a:r>
              <a:rPr lang="en-US" altLang="en-US"/>
              <a:t>/40</a:t>
            </a:r>
          </a:p>
        </p:txBody>
      </p:sp>
    </p:spTree>
    <p:extLst>
      <p:ext uri="{BB962C8B-B14F-4D97-AF65-F5344CB8AC3E}">
        <p14:creationId xmlns:p14="http://schemas.microsoft.com/office/powerpoint/2010/main" val="2297373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9A4F051-49EF-4BFD-AD0B-4092BA91370F}" type="datetime1">
              <a:rPr lang="en-US"/>
              <a:pPr>
                <a:defRPr/>
              </a:pPr>
              <a:t>21/04/2022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AFDAE191-F521-4942-8B3F-E1A5E1DE6B23}" type="slidenum">
              <a:rPr lang="en-US" altLang="en-US"/>
              <a:pPr/>
              <a:t>‹#›</a:t>
            </a:fld>
            <a:r>
              <a:rPr lang="en-US" altLang="en-US"/>
              <a:t>/40</a:t>
            </a:r>
          </a:p>
        </p:txBody>
      </p:sp>
    </p:spTree>
    <p:extLst>
      <p:ext uri="{BB962C8B-B14F-4D97-AF65-F5344CB8AC3E}">
        <p14:creationId xmlns:p14="http://schemas.microsoft.com/office/powerpoint/2010/main" val="6814836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33966E29-9DC8-4FE6-A245-B10B0C557708}" type="datetime1">
              <a:rPr lang="en-US"/>
              <a:pPr>
                <a:defRPr/>
              </a:pPr>
              <a:t>21/04/2022</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EE0763E4-ECBB-4677-8AF2-32FE3F59A15A}" type="slidenum">
              <a:rPr lang="en-US" altLang="en-US"/>
              <a:pPr/>
              <a:t>‹#›</a:t>
            </a:fld>
            <a:r>
              <a:rPr lang="en-US" altLang="en-US"/>
              <a:t>/40</a:t>
            </a:r>
          </a:p>
        </p:txBody>
      </p:sp>
    </p:spTree>
    <p:extLst>
      <p:ext uri="{BB962C8B-B14F-4D97-AF65-F5344CB8AC3E}">
        <p14:creationId xmlns:p14="http://schemas.microsoft.com/office/powerpoint/2010/main" val="5088442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677508F-F990-4235-9099-73C779FCF2E7}" type="datetime1">
              <a:rPr lang="en-US"/>
              <a:pPr>
                <a:defRPr/>
              </a:pPr>
              <a:t>21/04/2022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3C277E21-0ECB-4CBF-BFFD-E7354F61545D}" type="slidenum">
              <a:rPr lang="en-US" altLang="en-US"/>
              <a:pPr/>
              <a:t>‹#›</a:t>
            </a:fld>
            <a:r>
              <a:rPr lang="en-US" altLang="en-US"/>
              <a:t>/40</a:t>
            </a:r>
          </a:p>
        </p:txBody>
      </p:sp>
    </p:spTree>
    <p:extLst>
      <p:ext uri="{BB962C8B-B14F-4D97-AF65-F5344CB8AC3E}">
        <p14:creationId xmlns:p14="http://schemas.microsoft.com/office/powerpoint/2010/main" val="1755214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A10E8AD9-38BF-4008-AC2B-6C5B534F230B}" type="datetime1">
              <a:rPr lang="en-US"/>
              <a:pPr>
                <a:defRPr/>
              </a:pPr>
              <a:t>21/04/2022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E3D92044-7A32-408C-8687-C636CBBD96C8}"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2209800"/>
            <a:ext cx="9144000" cy="2438400"/>
          </a:xfrm>
        </p:spPr>
        <p:txBody>
          <a:bodyPr/>
          <a:lstStyle/>
          <a:p>
            <a:pPr eaLnBrk="1" hangingPunct="1"/>
            <a:r>
              <a:rPr lang="en-US" altLang="en-US" sz="4000">
                <a:latin typeface="Times New Roman" panose="02020603050405020304" pitchFamily="18" charset="0"/>
                <a:cs typeface="Times New Roman" panose="02020603050405020304" pitchFamily="18" charset="0"/>
              </a:rPr>
              <a:t>File System </a:t>
            </a:r>
            <a:br>
              <a:rPr lang="en-US" altLang="en-US" sz="4000">
                <a:latin typeface="Times New Roman" panose="02020603050405020304" pitchFamily="18" charset="0"/>
                <a:cs typeface="Times New Roman" panose="02020603050405020304" pitchFamily="18" charset="0"/>
              </a:rPr>
            </a:br>
            <a:br>
              <a:rPr lang="en-US" altLang="en-US" sz="4000">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File System Implementation</a:t>
            </a:r>
            <a:endParaRPr lang="en-US" altLang="en-US" sz="40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a:xfrm>
            <a:off x="914400" y="0"/>
            <a:ext cx="8229600" cy="685800"/>
          </a:xfrm>
        </p:spPr>
        <p:txBody>
          <a:bodyPr/>
          <a:lstStyle/>
          <a:p>
            <a:r>
              <a:rPr lang="en-US" altLang="en-US" sz="4000" b="1">
                <a:latin typeface="Times New Roman" panose="02020603050405020304" pitchFamily="18" charset="0"/>
                <a:cs typeface="Times New Roman" panose="02020603050405020304" pitchFamily="18" charset="0"/>
              </a:rPr>
              <a:t>Review</a:t>
            </a:r>
          </a:p>
        </p:txBody>
      </p:sp>
      <p:sp>
        <p:nvSpPr>
          <p:cNvPr id="139267" name="Rectangle 3"/>
          <p:cNvSpPr>
            <a:spLocks noGrp="1"/>
          </p:cNvSpPr>
          <p:nvPr>
            <p:ph type="body" idx="1"/>
          </p:nvPr>
        </p:nvSpPr>
        <p:spPr>
          <a:xfrm>
            <a:off x="0" y="762000"/>
            <a:ext cx="9144000" cy="6096000"/>
          </a:xfrm>
        </p:spPr>
        <p:txBody>
          <a:bodyPr/>
          <a:lstStyle/>
          <a:p>
            <a:pPr algn="just">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File System</a:t>
            </a:r>
          </a:p>
          <a:p>
            <a:pPr lvl="1" algn="just">
              <a:lnSpc>
                <a:spcPct val="80000"/>
              </a:lnSpc>
            </a:pPr>
            <a:r>
              <a:rPr lang="en-US" altLang="en-US" sz="2400" dirty="0">
                <a:latin typeface="Times New Roman" panose="02020603050405020304" pitchFamily="18" charset="0"/>
                <a:cs typeface="Times New Roman" panose="02020603050405020304" pitchFamily="18" charset="0"/>
              </a:rPr>
              <a:t>Manages the information </a:t>
            </a:r>
            <a:r>
              <a:rPr lang="en-US" altLang="en-US" sz="2400" b="1" dirty="0">
                <a:latin typeface="Times New Roman" panose="02020603050405020304" pitchFamily="18" charset="0"/>
                <a:cs typeface="Times New Roman" panose="02020603050405020304" pitchFamily="18" charset="0"/>
              </a:rPr>
              <a:t>stored and hides </a:t>
            </a:r>
            <a:r>
              <a:rPr lang="en-US" altLang="en-US" sz="2400" dirty="0">
                <a:latin typeface="Times New Roman" panose="02020603050405020304" pitchFamily="18" charset="0"/>
                <a:cs typeface="Times New Roman" panose="02020603050405020304" pitchFamily="18" charset="0"/>
              </a:rPr>
              <a:t>the complexity on the storage devices</a:t>
            </a:r>
          </a:p>
          <a:p>
            <a:pPr lvl="1" algn="just">
              <a:lnSpc>
                <a:spcPct val="80000"/>
              </a:lnSpc>
            </a:pPr>
            <a:r>
              <a:rPr lang="en-US" altLang="en-US" sz="2400" dirty="0">
                <a:latin typeface="Times New Roman" panose="02020603050405020304" pitchFamily="18" charset="0"/>
                <a:cs typeface="Times New Roman" panose="02020603050405020304" pitchFamily="18" charset="0"/>
              </a:rPr>
              <a:t>Provides the users </a:t>
            </a:r>
            <a:r>
              <a:rPr lang="en-US" altLang="en-US" sz="2400" b="1" dirty="0">
                <a:latin typeface="Times New Roman" panose="02020603050405020304" pitchFamily="18" charset="0"/>
                <a:cs typeface="Times New Roman" panose="02020603050405020304" pitchFamily="18" charset="0"/>
              </a:rPr>
              <a:t>access information </a:t>
            </a:r>
            <a:r>
              <a:rPr lang="en-US" altLang="en-US" sz="2400" dirty="0">
                <a:latin typeface="Times New Roman" panose="02020603050405020304" pitchFamily="18" charset="0"/>
                <a:cs typeface="Times New Roman" panose="02020603050405020304" pitchFamily="18" charset="0"/>
              </a:rPr>
              <a:t>in a convenient way and a uniform logical view </a:t>
            </a:r>
          </a:p>
          <a:p>
            <a:pPr algn="just">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File</a:t>
            </a:r>
          </a:p>
          <a:p>
            <a:pPr lvl="1" algn="just">
              <a:lnSpc>
                <a:spcPct val="80000"/>
              </a:lnSpc>
            </a:pPr>
            <a:r>
              <a:rPr lang="en-US" altLang="en-US" sz="2400" dirty="0">
                <a:latin typeface="Times New Roman" panose="02020603050405020304" pitchFamily="18" charset="0"/>
                <a:cs typeface="Times New Roman" panose="02020603050405020304" pitchFamily="18" charset="0"/>
              </a:rPr>
              <a:t>Abstraction, Object and Mechanism</a:t>
            </a:r>
          </a:p>
          <a:p>
            <a:pPr lvl="1" algn="just">
              <a:lnSpc>
                <a:spcPct val="80000"/>
              </a:lnSpc>
            </a:pPr>
            <a:r>
              <a:rPr lang="en-US" altLang="en-US" sz="2400" dirty="0">
                <a:latin typeface="Times New Roman" panose="02020603050405020304" pitchFamily="18" charset="0"/>
                <a:cs typeface="Times New Roman" panose="02020603050405020304" pitchFamily="18" charset="0"/>
              </a:rPr>
              <a:t>Name, Path (absolute vs. relative), Structure, Type, Access, Attributes, Operations</a:t>
            </a:r>
          </a:p>
          <a:p>
            <a:pPr lvl="1" algn="just">
              <a:lnSpc>
                <a:spcPct val="80000"/>
              </a:lnSpc>
            </a:pPr>
            <a:r>
              <a:rPr lang="en-US" altLang="en-US" sz="2400" dirty="0">
                <a:latin typeface="Times New Roman" panose="02020603050405020304" pitchFamily="18" charset="0"/>
                <a:cs typeface="Times New Roman" panose="02020603050405020304" pitchFamily="18" charset="0"/>
              </a:rPr>
              <a:t>Directory (Single level vs. Hierarchy)</a:t>
            </a:r>
          </a:p>
          <a:p>
            <a:pPr lvl="1" algn="just">
              <a:lnSpc>
                <a:spcPct val="80000"/>
              </a:lnSpc>
            </a:pPr>
            <a:r>
              <a:rPr lang="en-US" altLang="en-US" sz="2400" dirty="0">
                <a:latin typeface="Times New Roman" panose="02020603050405020304" pitchFamily="18" charset="0"/>
                <a:cs typeface="Times New Roman" panose="02020603050405020304" pitchFamily="18" charset="0"/>
              </a:rPr>
              <a:t>Block &amp; Characteristic special File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box(in)">
                                      <p:cBhvr>
                                        <p:cTn id="7" dur="500"/>
                                        <p:tgtEl>
                                          <p:spTgt spid="139267">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39267">
                                            <p:txEl>
                                              <p:pRg st="1" end="1"/>
                                            </p:txEl>
                                          </p:spTgt>
                                        </p:tgtEl>
                                        <p:attrNameLst>
                                          <p:attrName>style.visibility</p:attrName>
                                        </p:attrNameLst>
                                      </p:cBhvr>
                                      <p:to>
                                        <p:strVal val="visible"/>
                                      </p:to>
                                    </p:set>
                                    <p:animEffect transition="in" filter="box(in)">
                                      <p:cBhvr>
                                        <p:cTn id="10" dur="500"/>
                                        <p:tgtEl>
                                          <p:spTgt spid="139267">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39267">
                                            <p:txEl>
                                              <p:pRg st="2" end="2"/>
                                            </p:txEl>
                                          </p:spTgt>
                                        </p:tgtEl>
                                        <p:attrNameLst>
                                          <p:attrName>style.visibility</p:attrName>
                                        </p:attrNameLst>
                                      </p:cBhvr>
                                      <p:to>
                                        <p:strVal val="visible"/>
                                      </p:to>
                                    </p:set>
                                    <p:animEffect transition="in" filter="box(in)">
                                      <p:cBhvr>
                                        <p:cTn id="13" dur="500"/>
                                        <p:tgtEl>
                                          <p:spTgt spid="13926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139267">
                                            <p:txEl>
                                              <p:pRg st="3" end="3"/>
                                            </p:txEl>
                                          </p:spTgt>
                                        </p:tgtEl>
                                        <p:attrNameLst>
                                          <p:attrName>style.visibility</p:attrName>
                                        </p:attrNameLst>
                                      </p:cBhvr>
                                      <p:to>
                                        <p:strVal val="visible"/>
                                      </p:to>
                                    </p:set>
                                    <p:animEffect transition="in" filter="box(in)">
                                      <p:cBhvr>
                                        <p:cTn id="18" dur="500"/>
                                        <p:tgtEl>
                                          <p:spTgt spid="139267">
                                            <p:txEl>
                                              <p:pRg st="3" end="3"/>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139267">
                                            <p:txEl>
                                              <p:pRg st="4" end="4"/>
                                            </p:txEl>
                                          </p:spTgt>
                                        </p:tgtEl>
                                        <p:attrNameLst>
                                          <p:attrName>style.visibility</p:attrName>
                                        </p:attrNameLst>
                                      </p:cBhvr>
                                      <p:to>
                                        <p:strVal val="visible"/>
                                      </p:to>
                                    </p:set>
                                    <p:animEffect transition="in" filter="box(in)">
                                      <p:cBhvr>
                                        <p:cTn id="21" dur="500"/>
                                        <p:tgtEl>
                                          <p:spTgt spid="139267">
                                            <p:txEl>
                                              <p:pRg st="4" end="4"/>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139267">
                                            <p:txEl>
                                              <p:pRg st="5" end="5"/>
                                            </p:txEl>
                                          </p:spTgt>
                                        </p:tgtEl>
                                        <p:attrNameLst>
                                          <p:attrName>style.visibility</p:attrName>
                                        </p:attrNameLst>
                                      </p:cBhvr>
                                      <p:to>
                                        <p:strVal val="visible"/>
                                      </p:to>
                                    </p:set>
                                    <p:animEffect transition="in" filter="box(in)">
                                      <p:cBhvr>
                                        <p:cTn id="24" dur="500"/>
                                        <p:tgtEl>
                                          <p:spTgt spid="139267">
                                            <p:txEl>
                                              <p:pRg st="5" end="5"/>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139267">
                                            <p:txEl>
                                              <p:pRg st="6" end="6"/>
                                            </p:txEl>
                                          </p:spTgt>
                                        </p:tgtEl>
                                        <p:attrNameLst>
                                          <p:attrName>style.visibility</p:attrName>
                                        </p:attrNameLst>
                                      </p:cBhvr>
                                      <p:to>
                                        <p:strVal val="visible"/>
                                      </p:to>
                                    </p:set>
                                    <p:animEffect transition="in" filter="box(in)">
                                      <p:cBhvr>
                                        <p:cTn id="27" dur="500"/>
                                        <p:tgtEl>
                                          <p:spTgt spid="139267">
                                            <p:txEl>
                                              <p:pRg st="6" end="6"/>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139267">
                                            <p:txEl>
                                              <p:pRg st="7" end="7"/>
                                            </p:txEl>
                                          </p:spTgt>
                                        </p:tgtEl>
                                        <p:attrNameLst>
                                          <p:attrName>style.visibility</p:attrName>
                                        </p:attrNameLst>
                                      </p:cBhvr>
                                      <p:to>
                                        <p:strVal val="visible"/>
                                      </p:to>
                                    </p:set>
                                    <p:animEffect transition="in" filter="box(in)">
                                      <p:cBhvr>
                                        <p:cTn id="30" dur="500"/>
                                        <p:tgtEl>
                                          <p:spTgt spid="13926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762000" y="0"/>
            <a:ext cx="8229600" cy="609600"/>
          </a:xfrm>
        </p:spPr>
        <p:txBody>
          <a:bodyPr/>
          <a:lstStyle/>
          <a:p>
            <a:r>
              <a:rPr lang="en-US" altLang="en-US" sz="3600">
                <a:latin typeface="Times New Roman" panose="02020603050405020304" pitchFamily="18" charset="0"/>
                <a:cs typeface="Times New Roman" panose="02020603050405020304" pitchFamily="18" charset="0"/>
              </a:rPr>
              <a:t>Objectives…</a:t>
            </a:r>
          </a:p>
        </p:txBody>
      </p:sp>
      <p:sp>
        <p:nvSpPr>
          <p:cNvPr id="4099" name="Rectangle 3"/>
          <p:cNvSpPr>
            <a:spLocks noGrp="1"/>
          </p:cNvSpPr>
          <p:nvPr>
            <p:ph type="body" idx="1"/>
          </p:nvPr>
        </p:nvSpPr>
        <p:spPr>
          <a:xfrm>
            <a:off x="457200" y="685800"/>
            <a:ext cx="8686800" cy="6172200"/>
          </a:xfrm>
        </p:spPr>
        <p:txBody>
          <a:bodyPr/>
          <a:lstStyle/>
          <a:p>
            <a:pPr>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File System Implementation</a:t>
            </a:r>
          </a:p>
          <a:p>
            <a:pPr lvl="1">
              <a:lnSpc>
                <a:spcPct val="90000"/>
              </a:lnSpc>
            </a:pPr>
            <a:r>
              <a:rPr lang="en-US" altLang="en-US" sz="2400">
                <a:latin typeface="Times New Roman" panose="02020603050405020304" pitchFamily="18" charset="0"/>
                <a:cs typeface="Times New Roman" panose="02020603050405020304" pitchFamily="18" charset="0"/>
              </a:rPr>
              <a:t>File System Layout</a:t>
            </a:r>
          </a:p>
          <a:p>
            <a:pPr lvl="1">
              <a:lnSpc>
                <a:spcPct val="90000"/>
              </a:lnSpc>
            </a:pPr>
            <a:r>
              <a:rPr lang="en-US" altLang="en-US" sz="2400">
                <a:latin typeface="Times New Roman" panose="02020603050405020304" pitchFamily="18" charset="0"/>
                <a:cs typeface="Times New Roman" panose="02020603050405020304" pitchFamily="18" charset="0"/>
              </a:rPr>
              <a:t>Implementing Files</a:t>
            </a:r>
          </a:p>
          <a:p>
            <a:pPr lvl="1">
              <a:lnSpc>
                <a:spcPct val="90000"/>
              </a:lnSpc>
            </a:pPr>
            <a:r>
              <a:rPr lang="en-US" altLang="en-US" sz="2400">
                <a:latin typeface="Times New Roman" panose="02020603050405020304" pitchFamily="18" charset="0"/>
                <a:cs typeface="Times New Roman" panose="02020603050405020304" pitchFamily="18" charset="0"/>
              </a:rPr>
              <a:t>Implementing Directories</a:t>
            </a:r>
          </a:p>
          <a:p>
            <a:pPr lvl="1">
              <a:lnSpc>
                <a:spcPct val="90000"/>
              </a:lnSpc>
            </a:pPr>
            <a:r>
              <a:rPr lang="en-US" altLang="en-US" sz="2400">
                <a:latin typeface="Times New Roman" panose="02020603050405020304" pitchFamily="18" charset="0"/>
                <a:cs typeface="Times New Roman" panose="02020603050405020304" pitchFamily="18" charset="0"/>
              </a:rPr>
              <a:t>Shared Files</a:t>
            </a:r>
          </a:p>
          <a:p>
            <a:pPr lvl="1">
              <a:lnSpc>
                <a:spcPct val="90000"/>
              </a:lnSpc>
            </a:pPr>
            <a:r>
              <a:rPr lang="en-US" altLang="en-US" sz="2400">
                <a:latin typeface="Times New Roman" panose="02020603050405020304" pitchFamily="18" charset="0"/>
                <a:cs typeface="Times New Roman" panose="02020603050405020304" pitchFamily="18" charset="0"/>
              </a:rPr>
              <a:t>Log-Structured File Systems</a:t>
            </a:r>
          </a:p>
          <a:p>
            <a:pPr lvl="1">
              <a:lnSpc>
                <a:spcPct val="90000"/>
              </a:lnSpc>
            </a:pPr>
            <a:r>
              <a:rPr lang="en-US" altLang="en-US" sz="2400">
                <a:latin typeface="Times New Roman" panose="02020603050405020304" pitchFamily="18" charset="0"/>
                <a:cs typeface="Times New Roman" panose="02020603050405020304" pitchFamily="18" charset="0"/>
              </a:rPr>
              <a:t>Journaling File Systems</a:t>
            </a:r>
          </a:p>
          <a:p>
            <a:pPr lvl="1">
              <a:lnSpc>
                <a:spcPct val="90000"/>
              </a:lnSpc>
            </a:pPr>
            <a:r>
              <a:rPr lang="en-US" altLang="en-US" sz="2400">
                <a:latin typeface="Times New Roman" panose="02020603050405020304" pitchFamily="18" charset="0"/>
                <a:cs typeface="Times New Roman" panose="02020603050405020304" pitchFamily="18" charset="0"/>
              </a:rPr>
              <a:t>Virtual File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1447800" y="0"/>
            <a:ext cx="76962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a:t>
            </a:r>
            <a:endParaRPr lang="en-US" altLang="en-US" sz="3600">
              <a:latin typeface="Times New Roman" panose="02020603050405020304" pitchFamily="18" charset="0"/>
              <a:cs typeface="Times New Roman" panose="02020603050405020304" pitchFamily="18" charset="0"/>
            </a:endParaRPr>
          </a:p>
        </p:txBody>
      </p:sp>
      <p:sp>
        <p:nvSpPr>
          <p:cNvPr id="5123" name="Rectangle 3"/>
          <p:cNvSpPr>
            <a:spLocks noGrp="1"/>
          </p:cNvSpPr>
          <p:nvPr>
            <p:ph type="body" idx="1"/>
          </p:nvPr>
        </p:nvSpPr>
        <p:spPr>
          <a:xfrm>
            <a:off x="304800" y="990600"/>
            <a:ext cx="8839200" cy="5867400"/>
          </a:xfrm>
        </p:spPr>
        <p:txBody>
          <a:bodyPr/>
          <a:lstStyle/>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How</a:t>
            </a:r>
            <a:r>
              <a:rPr lang="en-US" altLang="en-US" sz="2800">
                <a:latin typeface="Times New Roman" panose="02020603050405020304" pitchFamily="18" charset="0"/>
                <a:cs typeface="Times New Roman" panose="02020603050405020304" pitchFamily="18" charset="0"/>
              </a:rPr>
              <a:t> files and directories is </a:t>
            </a:r>
            <a:r>
              <a:rPr lang="en-US" altLang="en-US" sz="2800" b="1">
                <a:latin typeface="Times New Roman" panose="02020603050405020304" pitchFamily="18" charset="0"/>
                <a:cs typeface="Times New Roman" panose="02020603050405020304" pitchFamily="18" charset="0"/>
              </a:rPr>
              <a:t>stored</a:t>
            </a:r>
          </a:p>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How</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disk space </a:t>
            </a:r>
            <a:r>
              <a:rPr lang="en-US" altLang="en-US" sz="2800">
                <a:latin typeface="Times New Roman" panose="02020603050405020304" pitchFamily="18" charset="0"/>
                <a:cs typeface="Times New Roman" panose="02020603050405020304" pitchFamily="18" charset="0"/>
              </a:rPr>
              <a:t>is </a:t>
            </a:r>
            <a:r>
              <a:rPr lang="en-US" altLang="en-US" sz="2800" b="1">
                <a:latin typeface="Times New Roman" panose="02020603050405020304" pitchFamily="18" charset="0"/>
                <a:cs typeface="Times New Roman" panose="02020603050405020304" pitchFamily="18" charset="0"/>
              </a:rPr>
              <a:t>managed</a:t>
            </a:r>
          </a:p>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How</a:t>
            </a:r>
            <a:r>
              <a:rPr lang="en-US" altLang="en-US" sz="2800">
                <a:latin typeface="Times New Roman" panose="02020603050405020304" pitchFamily="18" charset="0"/>
                <a:cs typeface="Times New Roman" panose="02020603050405020304" pitchFamily="18" charset="0"/>
              </a:rPr>
              <a:t> to </a:t>
            </a:r>
            <a:r>
              <a:rPr lang="en-US" altLang="en-US" sz="2800" b="1">
                <a:latin typeface="Times New Roman" panose="02020603050405020304" pitchFamily="18" charset="0"/>
                <a:cs typeface="Times New Roman" panose="02020603050405020304" pitchFamily="18" charset="0"/>
              </a:rPr>
              <a:t>make</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everything</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work</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efficiently</a:t>
            </a:r>
            <a:r>
              <a:rPr lang="en-US" altLang="en-US" sz="2800">
                <a:latin typeface="Times New Roman" panose="02020603050405020304" pitchFamily="18" charset="0"/>
                <a:cs typeface="Times New Roman" panose="02020603050405020304" pitchFamily="18" charset="0"/>
              </a:rPr>
              <a:t> and </a:t>
            </a:r>
            <a:r>
              <a:rPr lang="en-US" altLang="en-US" sz="2800" b="1">
                <a:latin typeface="Times New Roman" panose="02020603050405020304" pitchFamily="18" charset="0"/>
                <a:cs typeface="Times New Roman" panose="02020603050405020304" pitchFamily="18" charset="0"/>
              </a:rPr>
              <a:t>reliably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1600200" y="0"/>
            <a:ext cx="7543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File System Layout</a:t>
            </a:r>
          </a:p>
        </p:txBody>
      </p:sp>
      <p:sp>
        <p:nvSpPr>
          <p:cNvPr id="24579" name="Rectangle 3"/>
          <p:cNvSpPr>
            <a:spLocks noGrp="1"/>
          </p:cNvSpPr>
          <p:nvPr>
            <p:ph type="body" idx="1"/>
          </p:nvPr>
        </p:nvSpPr>
        <p:spPr>
          <a:xfrm>
            <a:off x="0" y="838200"/>
            <a:ext cx="9144000" cy="5867400"/>
          </a:xfrm>
        </p:spPr>
        <p:txBody>
          <a:bodyPr/>
          <a:lstStyle/>
          <a:p>
            <a:pPr algn="just">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File Systems </a:t>
            </a:r>
          </a:p>
          <a:p>
            <a:pPr lvl="1" algn="just">
              <a:lnSpc>
                <a:spcPct val="90000"/>
              </a:lnSpc>
            </a:pPr>
            <a:r>
              <a:rPr lang="en-US" altLang="en-US" sz="2400">
                <a:latin typeface="Times New Roman" panose="02020603050405020304" pitchFamily="18" charset="0"/>
                <a:cs typeface="Times New Roman" panose="02020603050405020304" pitchFamily="18" charset="0"/>
              </a:rPr>
              <a:t>Are </a:t>
            </a:r>
            <a:r>
              <a:rPr lang="en-US" altLang="en-US" sz="2400" b="1">
                <a:latin typeface="Times New Roman" panose="02020603050405020304" pitchFamily="18" charset="0"/>
                <a:cs typeface="Times New Roman" panose="02020603050405020304" pitchFamily="18" charset="0"/>
              </a:rPr>
              <a:t>stored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on</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disks</a:t>
            </a:r>
          </a:p>
          <a:p>
            <a:pPr lvl="1" algn="just">
              <a:lnSpc>
                <a:spcPct val="90000"/>
              </a:lnSpc>
            </a:pPr>
            <a:r>
              <a:rPr lang="en-US" altLang="en-US" sz="2400">
                <a:latin typeface="Times New Roman" panose="02020603050405020304" pitchFamily="18" charset="0"/>
                <a:cs typeface="Times New Roman" panose="02020603050405020304" pitchFamily="18" charset="0"/>
              </a:rPr>
              <a:t>Disks can be </a:t>
            </a:r>
            <a:r>
              <a:rPr lang="en-US" altLang="en-US" sz="2400" b="1">
                <a:latin typeface="Times New Roman" panose="02020603050405020304" pitchFamily="18" charset="0"/>
                <a:cs typeface="Times New Roman" panose="02020603050405020304" pitchFamily="18" charset="0"/>
              </a:rPr>
              <a:t>divided up into one or more partitions</a:t>
            </a:r>
            <a:r>
              <a:rPr lang="en-US" altLang="en-US" sz="2400">
                <a:latin typeface="Times New Roman" panose="02020603050405020304" pitchFamily="18" charset="0"/>
                <a:cs typeface="Times New Roman" panose="02020603050405020304" pitchFamily="18" charset="0"/>
              </a:rPr>
              <a:t>, with </a:t>
            </a:r>
            <a:r>
              <a:rPr lang="en-US" altLang="en-US" sz="2400" b="1">
                <a:latin typeface="Times New Roman" panose="02020603050405020304" pitchFamily="18" charset="0"/>
                <a:cs typeface="Times New Roman" panose="02020603050405020304" pitchFamily="18" charset="0"/>
              </a:rPr>
              <a:t>independent</a:t>
            </a:r>
            <a:r>
              <a:rPr lang="en-US" altLang="en-US" sz="2400">
                <a:latin typeface="Times New Roman" panose="02020603050405020304" pitchFamily="18" charset="0"/>
                <a:cs typeface="Times New Roman" panose="02020603050405020304" pitchFamily="18" charset="0"/>
              </a:rPr>
              <a:t> file </a:t>
            </a:r>
            <a:r>
              <a:rPr lang="en-US" altLang="en-US" sz="2400" b="1">
                <a:latin typeface="Times New Roman" panose="02020603050405020304" pitchFamily="18" charset="0"/>
                <a:cs typeface="Times New Roman" panose="02020603050405020304" pitchFamily="18" charset="0"/>
              </a:rPr>
              <a:t>systems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on</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each partition</a:t>
            </a:r>
          </a:p>
          <a:p>
            <a:pPr lvl="2" algn="just">
              <a:lnSpc>
                <a:spcPct val="9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1</a:t>
            </a:r>
            <a:r>
              <a:rPr lang="en-US" altLang="en-US" sz="2000" b="1" baseline="30000">
                <a:latin typeface="Times New Roman" panose="02020603050405020304" pitchFamily="18" charset="0"/>
                <a:cs typeface="Times New Roman" panose="02020603050405020304" pitchFamily="18" charset="0"/>
              </a:rPr>
              <a:t>st</a:t>
            </a:r>
            <a:r>
              <a:rPr lang="en-US" altLang="en-US" sz="2000" b="1">
                <a:latin typeface="Times New Roman" panose="02020603050405020304" pitchFamily="18" charset="0"/>
                <a:cs typeface="Times New Roman" panose="02020603050405020304" pitchFamily="18" charset="0"/>
              </a:rPr>
              <a:t> block </a:t>
            </a:r>
            <a:r>
              <a:rPr lang="en-US" altLang="en-US" sz="2000">
                <a:latin typeface="Times New Roman" panose="02020603050405020304" pitchFamily="18" charset="0"/>
                <a:cs typeface="Times New Roman" panose="02020603050405020304" pitchFamily="18" charset="0"/>
              </a:rPr>
              <a:t>in each partition is called </a:t>
            </a:r>
            <a:r>
              <a:rPr lang="en-US" altLang="en-US" sz="2000" b="1">
                <a:latin typeface="Times New Roman" panose="02020603050405020304" pitchFamily="18" charset="0"/>
                <a:cs typeface="Times New Roman" panose="02020603050405020304" pitchFamily="18" charset="0"/>
              </a:rPr>
              <a:t>boot block </a:t>
            </a:r>
            <a:r>
              <a:rPr lang="en-US" altLang="en-US" sz="2000">
                <a:latin typeface="Times New Roman" panose="02020603050405020304" pitchFamily="18" charset="0"/>
                <a:cs typeface="Times New Roman" panose="02020603050405020304" pitchFamily="18" charset="0"/>
              </a:rPr>
              <a:t>that is existed even if the partition does not contain a bootable OS </a:t>
            </a:r>
          </a:p>
          <a:p>
            <a:pPr lvl="2" algn="just">
              <a:lnSpc>
                <a:spcPct val="9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2</a:t>
            </a:r>
            <a:r>
              <a:rPr lang="en-US" altLang="en-US" sz="2000" b="1" baseline="30000">
                <a:latin typeface="Times New Roman" panose="02020603050405020304" pitchFamily="18" charset="0"/>
                <a:cs typeface="Times New Roman" panose="02020603050405020304" pitchFamily="18" charset="0"/>
              </a:rPr>
              <a:t>nd</a:t>
            </a:r>
            <a:r>
              <a:rPr lang="en-US" altLang="en-US" sz="2000" b="1">
                <a:latin typeface="Times New Roman" panose="02020603050405020304" pitchFamily="18" charset="0"/>
                <a:cs typeface="Times New Roman" panose="02020603050405020304" pitchFamily="18" charset="0"/>
              </a:rPr>
              <a:t> block </a:t>
            </a:r>
            <a:r>
              <a:rPr lang="en-US" altLang="en-US" sz="2000">
                <a:latin typeface="Times New Roman" panose="02020603050405020304" pitchFamily="18" charset="0"/>
                <a:cs typeface="Times New Roman" panose="02020603050405020304" pitchFamily="18" charset="0"/>
              </a:rPr>
              <a:t>is the </a:t>
            </a:r>
            <a:r>
              <a:rPr lang="en-US" altLang="en-US" sz="2000" b="1">
                <a:latin typeface="Times New Roman" panose="02020603050405020304" pitchFamily="18" charset="0"/>
                <a:cs typeface="Times New Roman" panose="02020603050405020304" pitchFamily="18" charset="0"/>
              </a:rPr>
              <a:t>super</a:t>
            </a:r>
            <a:r>
              <a:rPr lang="en-US" altLang="en-US" sz="2000">
                <a:latin typeface="Times New Roman" panose="02020603050405020304" pitchFamily="18" charset="0"/>
                <a:cs typeface="Times New Roman" panose="02020603050405020304" pitchFamily="18" charset="0"/>
              </a:rPr>
              <a:t> block </a:t>
            </a:r>
          </a:p>
          <a:p>
            <a:pPr lvl="3" algn="just">
              <a:lnSpc>
                <a:spcPct val="90000"/>
              </a:lnSpc>
            </a:pPr>
            <a:r>
              <a:rPr lang="en-US" altLang="en-US" sz="1800" b="1">
                <a:latin typeface="Times New Roman" panose="02020603050405020304" pitchFamily="18" charset="0"/>
                <a:cs typeface="Times New Roman" panose="02020603050405020304" pitchFamily="18" charset="0"/>
              </a:rPr>
              <a:t>Contains</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all key parameters </a:t>
            </a:r>
            <a:r>
              <a:rPr lang="en-US" altLang="en-US" sz="1800">
                <a:latin typeface="Times New Roman" panose="02020603050405020304" pitchFamily="18" charset="0"/>
                <a:cs typeface="Times New Roman" panose="02020603050405020304" pitchFamily="18" charset="0"/>
              </a:rPr>
              <a:t>about the file system </a:t>
            </a:r>
            <a:r>
              <a:rPr lang="en-US" altLang="en-US" sz="1800" b="1">
                <a:latin typeface="Times New Roman" panose="02020603050405020304" pitchFamily="18" charset="0"/>
                <a:cs typeface="Times New Roman" panose="02020603050405020304" pitchFamily="18" charset="0"/>
              </a:rPr>
              <a:t>including</a:t>
            </a:r>
            <a:r>
              <a:rPr lang="en-US" altLang="en-US" sz="1800">
                <a:latin typeface="Times New Roman" panose="02020603050405020304" pitchFamily="18" charset="0"/>
                <a:cs typeface="Times New Roman" panose="02020603050405020304" pitchFamily="18" charset="0"/>
              </a:rPr>
              <a:t> magic number (</a:t>
            </a:r>
            <a:r>
              <a:rPr lang="en-US" altLang="en-US" sz="1800" b="1">
                <a:latin typeface="Times New Roman" panose="02020603050405020304" pitchFamily="18" charset="0"/>
                <a:cs typeface="Times New Roman" panose="02020603050405020304" pitchFamily="18" charset="0"/>
              </a:rPr>
              <a:t>file system type</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number of blocks </a:t>
            </a:r>
            <a:r>
              <a:rPr lang="en-US" altLang="en-US" sz="1800">
                <a:latin typeface="Times New Roman" panose="02020603050405020304" pitchFamily="18" charset="0"/>
                <a:cs typeface="Times New Roman" panose="02020603050405020304" pitchFamily="18" charset="0"/>
              </a:rPr>
              <a:t>in the file system, and the </a:t>
            </a:r>
            <a:r>
              <a:rPr lang="en-US" altLang="en-US" sz="1800" b="1">
                <a:latin typeface="Times New Roman" panose="02020603050405020304" pitchFamily="18" charset="0"/>
                <a:cs typeface="Times New Roman" panose="02020603050405020304" pitchFamily="18" charset="0"/>
              </a:rPr>
              <a:t>other key administrative information</a:t>
            </a:r>
          </a:p>
          <a:p>
            <a:pPr lvl="3" algn="just">
              <a:lnSpc>
                <a:spcPct val="90000"/>
              </a:lnSpc>
            </a:pPr>
            <a:r>
              <a:rPr lang="en-US" altLang="en-US" sz="1800">
                <a:latin typeface="Times New Roman" panose="02020603050405020304" pitchFamily="18" charset="0"/>
                <a:cs typeface="Times New Roman" panose="02020603050405020304" pitchFamily="18" charset="0"/>
              </a:rPr>
              <a:t>Is </a:t>
            </a:r>
            <a:r>
              <a:rPr lang="en-US" altLang="en-US" sz="1800" b="1">
                <a:latin typeface="Times New Roman" panose="02020603050405020304" pitchFamily="18" charset="0"/>
                <a:cs typeface="Times New Roman" panose="02020603050405020304" pitchFamily="18" charset="0"/>
              </a:rPr>
              <a:t>read</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into</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memory</a:t>
            </a:r>
            <a:r>
              <a:rPr lang="en-US" altLang="en-US" sz="1800">
                <a:latin typeface="Times New Roman" panose="02020603050405020304" pitchFamily="18" charset="0"/>
                <a:cs typeface="Times New Roman" panose="02020603050405020304" pitchFamily="18" charset="0"/>
              </a:rPr>
              <a:t> when the computer is booted or the file system is first touched</a:t>
            </a:r>
          </a:p>
          <a:p>
            <a:pPr lvl="2" algn="just">
              <a:lnSpc>
                <a:spcPct val="90000"/>
              </a:lnSpc>
            </a:pPr>
            <a:r>
              <a:rPr lang="en-US" altLang="en-US" sz="2000" b="1">
                <a:latin typeface="Times New Roman" panose="02020603050405020304" pitchFamily="18" charset="0"/>
                <a:cs typeface="Times New Roman" panose="02020603050405020304" pitchFamily="18" charset="0"/>
              </a:rPr>
              <a:t>Next</a:t>
            </a:r>
            <a:r>
              <a:rPr lang="en-US" altLang="en-US" sz="2000">
                <a:latin typeface="Times New Roman" panose="02020603050405020304" pitchFamily="18" charset="0"/>
                <a:cs typeface="Times New Roman" panose="02020603050405020304" pitchFamily="18" charset="0"/>
              </a:rPr>
              <a:t> block is </a:t>
            </a:r>
            <a:r>
              <a:rPr lang="en-US" altLang="en-US" sz="2000" b="1">
                <a:latin typeface="Times New Roman" panose="02020603050405020304" pitchFamily="18" charset="0"/>
                <a:cs typeface="Times New Roman" panose="02020603050405020304" pitchFamily="18" charset="0"/>
              </a:rPr>
              <a:t>free</a:t>
            </a:r>
            <a:r>
              <a:rPr lang="en-US" altLang="en-US" sz="2000">
                <a:latin typeface="Times New Roman" panose="02020603050405020304" pitchFamily="18" charset="0"/>
                <a:cs typeface="Times New Roman" panose="02020603050405020304" pitchFamily="18" charset="0"/>
              </a:rPr>
              <a:t> blocks (</a:t>
            </a:r>
            <a:r>
              <a:rPr lang="en-US" altLang="en-US" sz="2000" b="1">
                <a:latin typeface="Times New Roman" panose="02020603050405020304" pitchFamily="18" charset="0"/>
                <a:cs typeface="Times New Roman" panose="02020603050405020304" pitchFamily="18" charset="0"/>
              </a:rPr>
              <a:t>ex</a:t>
            </a:r>
            <a:r>
              <a:rPr lang="en-US" altLang="en-US" sz="2000">
                <a:latin typeface="Times New Roman" panose="02020603050405020304" pitchFamily="18" charset="0"/>
                <a:cs typeface="Times New Roman" panose="02020603050405020304" pitchFamily="18" charset="0"/>
              </a:rPr>
              <a:t>: form of bitmap or a list of pointer)</a:t>
            </a:r>
          </a:p>
          <a:p>
            <a:pPr lvl="2" algn="just">
              <a:lnSpc>
                <a:spcPct val="9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following</a:t>
            </a:r>
            <a:r>
              <a:rPr lang="en-US" altLang="en-US" sz="2000">
                <a:latin typeface="Times New Roman" panose="02020603050405020304" pitchFamily="18" charset="0"/>
                <a:cs typeface="Times New Roman" panose="02020603050405020304" pitchFamily="18" charset="0"/>
              </a:rPr>
              <a:t> block are </a:t>
            </a:r>
            <a:r>
              <a:rPr lang="en-US" altLang="en-US" sz="2000" b="1">
                <a:latin typeface="Times New Roman" panose="02020603050405020304" pitchFamily="18" charset="0"/>
                <a:cs typeface="Times New Roman" panose="02020603050405020304" pitchFamily="18" charset="0"/>
              </a:rPr>
              <a:t>i-nodes, an array data structures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one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per</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file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telling</a:t>
            </a:r>
            <a:r>
              <a:rPr lang="en-US" altLang="en-US" sz="2000">
                <a:latin typeface="Times New Roman" panose="02020603050405020304" pitchFamily="18" charset="0"/>
                <a:cs typeface="Times New Roman" panose="02020603050405020304" pitchFamily="18" charset="0"/>
              </a:rPr>
              <a:t> all </a:t>
            </a:r>
            <a:r>
              <a:rPr lang="en-US" altLang="en-US" sz="2000" b="1">
                <a:latin typeface="Times New Roman" panose="02020603050405020304" pitchFamily="18" charset="0"/>
                <a:cs typeface="Times New Roman" panose="02020603050405020304" pitchFamily="18" charset="0"/>
              </a:rPr>
              <a:t>about the file</a:t>
            </a:r>
          </a:p>
          <a:p>
            <a:pPr lvl="2" algn="just">
              <a:lnSpc>
                <a:spcPct val="90000"/>
              </a:lnSpc>
            </a:pPr>
            <a:r>
              <a:rPr lang="en-US" altLang="en-US" sz="2000" b="1">
                <a:latin typeface="Times New Roman" panose="02020603050405020304" pitchFamily="18" charset="0"/>
                <a:cs typeface="Times New Roman" panose="02020603050405020304" pitchFamily="18" charset="0"/>
              </a:rPr>
              <a:t>After</a:t>
            </a:r>
            <a:r>
              <a:rPr lang="en-US" altLang="en-US" sz="2000">
                <a:latin typeface="Times New Roman" panose="02020603050405020304" pitchFamily="18" charset="0"/>
                <a:cs typeface="Times New Roman" panose="02020603050405020304" pitchFamily="18" charset="0"/>
              </a:rPr>
              <a:t> that might come the </a:t>
            </a:r>
            <a:r>
              <a:rPr lang="en-US" altLang="en-US" sz="2000" b="1">
                <a:latin typeface="Times New Roman" panose="02020603050405020304" pitchFamily="18" charset="0"/>
                <a:cs typeface="Times New Roman" panose="02020603050405020304" pitchFamily="18" charset="0"/>
              </a:rPr>
              <a:t>root directory</a:t>
            </a:r>
            <a:r>
              <a:rPr lang="en-US" altLang="en-US" sz="2000">
                <a:latin typeface="Times New Roman" panose="02020603050405020304" pitchFamily="18" charset="0"/>
                <a:cs typeface="Times New Roman" panose="02020603050405020304" pitchFamily="18" charset="0"/>
              </a:rPr>
              <a:t>, which contains the </a:t>
            </a:r>
            <a:r>
              <a:rPr lang="en-US" altLang="en-US" sz="2000" b="1">
                <a:latin typeface="Times New Roman" panose="02020603050405020304" pitchFamily="18" charset="0"/>
                <a:cs typeface="Times New Roman" panose="02020603050405020304" pitchFamily="18" charset="0"/>
              </a:rPr>
              <a:t>top</a:t>
            </a:r>
            <a:r>
              <a:rPr lang="en-US" altLang="en-US" sz="2000">
                <a:latin typeface="Times New Roman" panose="02020603050405020304" pitchFamily="18" charset="0"/>
                <a:cs typeface="Times New Roman" panose="02020603050405020304" pitchFamily="18" charset="0"/>
              </a:rPr>
              <a:t> of the </a:t>
            </a:r>
            <a:r>
              <a:rPr lang="en-US" altLang="en-US" sz="2000" b="1">
                <a:latin typeface="Times New Roman" panose="02020603050405020304" pitchFamily="18" charset="0"/>
                <a:cs typeface="Times New Roman" panose="02020603050405020304" pitchFamily="18" charset="0"/>
              </a:rPr>
              <a:t>file system tree</a:t>
            </a:r>
          </a:p>
          <a:p>
            <a:pPr lvl="2" algn="just">
              <a:lnSpc>
                <a:spcPct val="90000"/>
              </a:lnSpc>
            </a:pPr>
            <a:r>
              <a:rPr lang="en-US" altLang="en-US" sz="2000" b="1">
                <a:latin typeface="Times New Roman" panose="02020603050405020304" pitchFamily="18" charset="0"/>
                <a:cs typeface="Times New Roman" panose="02020603050405020304" pitchFamily="18" charset="0"/>
              </a:rPr>
              <a:t>Finally</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remainder</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contains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all</a:t>
            </a:r>
            <a:r>
              <a:rPr lang="en-US" altLang="en-US" sz="2000">
                <a:latin typeface="Times New Roman" panose="02020603050405020304" pitchFamily="18" charset="0"/>
                <a:cs typeface="Times New Roman" panose="02020603050405020304" pitchFamily="18" charset="0"/>
              </a:rPr>
              <a:t> the other </a:t>
            </a:r>
            <a:r>
              <a:rPr lang="en-US" altLang="en-US" sz="2000" b="1">
                <a:latin typeface="Times New Roman" panose="02020603050405020304" pitchFamily="18" charset="0"/>
                <a:cs typeface="Times New Roman" panose="02020603050405020304" pitchFamily="18" charset="0"/>
              </a:rPr>
              <a:t>directories and files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Effect transition="in" filter="checkerboard(across)">
                                      <p:cBhvr>
                                        <p:cTn id="7" dur="500"/>
                                        <p:tgtEl>
                                          <p:spTgt spid="24579">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4579">
                                            <p:txEl>
                                              <p:pRg st="2" end="2"/>
                                            </p:txEl>
                                          </p:spTgt>
                                        </p:tgtEl>
                                        <p:attrNameLst>
                                          <p:attrName>style.visibility</p:attrName>
                                        </p:attrNameLst>
                                      </p:cBhvr>
                                      <p:to>
                                        <p:strVal val="visible"/>
                                      </p:to>
                                    </p:set>
                                    <p:animEffect transition="in" filter="checkerboard(across)">
                                      <p:cBhvr>
                                        <p:cTn id="10" dur="500"/>
                                        <p:tgtEl>
                                          <p:spTgt spid="24579">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4579">
                                            <p:txEl>
                                              <p:pRg st="3" end="3"/>
                                            </p:txEl>
                                          </p:spTgt>
                                        </p:tgtEl>
                                        <p:attrNameLst>
                                          <p:attrName>style.visibility</p:attrName>
                                        </p:attrNameLst>
                                      </p:cBhvr>
                                      <p:to>
                                        <p:strVal val="visible"/>
                                      </p:to>
                                    </p:set>
                                    <p:animEffect transition="in" filter="checkerboard(across)">
                                      <p:cBhvr>
                                        <p:cTn id="13" dur="500"/>
                                        <p:tgtEl>
                                          <p:spTgt spid="24579">
                                            <p:txEl>
                                              <p:pRg st="3" end="3"/>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24579">
                                            <p:txEl>
                                              <p:pRg st="4" end="4"/>
                                            </p:txEl>
                                          </p:spTgt>
                                        </p:tgtEl>
                                        <p:attrNameLst>
                                          <p:attrName>style.visibility</p:attrName>
                                        </p:attrNameLst>
                                      </p:cBhvr>
                                      <p:to>
                                        <p:strVal val="visible"/>
                                      </p:to>
                                    </p:set>
                                    <p:animEffect transition="in" filter="checkerboard(across)">
                                      <p:cBhvr>
                                        <p:cTn id="16" dur="500"/>
                                        <p:tgtEl>
                                          <p:spTgt spid="24579">
                                            <p:txEl>
                                              <p:pRg st="4" end="4"/>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24579">
                                            <p:txEl>
                                              <p:pRg st="5" end="5"/>
                                            </p:txEl>
                                          </p:spTgt>
                                        </p:tgtEl>
                                        <p:attrNameLst>
                                          <p:attrName>style.visibility</p:attrName>
                                        </p:attrNameLst>
                                      </p:cBhvr>
                                      <p:to>
                                        <p:strVal val="visible"/>
                                      </p:to>
                                    </p:set>
                                    <p:animEffect transition="in" filter="checkerboard(across)">
                                      <p:cBhvr>
                                        <p:cTn id="19" dur="500"/>
                                        <p:tgtEl>
                                          <p:spTgt spid="24579">
                                            <p:txEl>
                                              <p:pRg st="5" end="5"/>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24579">
                                            <p:txEl>
                                              <p:pRg st="6" end="6"/>
                                            </p:txEl>
                                          </p:spTgt>
                                        </p:tgtEl>
                                        <p:attrNameLst>
                                          <p:attrName>style.visibility</p:attrName>
                                        </p:attrNameLst>
                                      </p:cBhvr>
                                      <p:to>
                                        <p:strVal val="visible"/>
                                      </p:to>
                                    </p:set>
                                    <p:animEffect transition="in" filter="checkerboard(across)">
                                      <p:cBhvr>
                                        <p:cTn id="22" dur="500"/>
                                        <p:tgtEl>
                                          <p:spTgt spid="24579">
                                            <p:txEl>
                                              <p:pRg st="6" end="6"/>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24579">
                                            <p:txEl>
                                              <p:pRg st="7" end="7"/>
                                            </p:txEl>
                                          </p:spTgt>
                                        </p:tgtEl>
                                        <p:attrNameLst>
                                          <p:attrName>style.visibility</p:attrName>
                                        </p:attrNameLst>
                                      </p:cBhvr>
                                      <p:to>
                                        <p:strVal val="visible"/>
                                      </p:to>
                                    </p:set>
                                    <p:animEffect transition="in" filter="checkerboard(across)">
                                      <p:cBhvr>
                                        <p:cTn id="25" dur="500"/>
                                        <p:tgtEl>
                                          <p:spTgt spid="24579">
                                            <p:txEl>
                                              <p:pRg st="7" end="7"/>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24579">
                                            <p:txEl>
                                              <p:pRg st="8" end="8"/>
                                            </p:txEl>
                                          </p:spTgt>
                                        </p:tgtEl>
                                        <p:attrNameLst>
                                          <p:attrName>style.visibility</p:attrName>
                                        </p:attrNameLst>
                                      </p:cBhvr>
                                      <p:to>
                                        <p:strVal val="visible"/>
                                      </p:to>
                                    </p:set>
                                    <p:animEffect transition="in" filter="checkerboard(across)">
                                      <p:cBhvr>
                                        <p:cTn id="28" dur="500"/>
                                        <p:tgtEl>
                                          <p:spTgt spid="24579">
                                            <p:txEl>
                                              <p:pRg st="8" end="8"/>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24579">
                                            <p:txEl>
                                              <p:pRg st="9" end="9"/>
                                            </p:txEl>
                                          </p:spTgt>
                                        </p:tgtEl>
                                        <p:attrNameLst>
                                          <p:attrName>style.visibility</p:attrName>
                                        </p:attrNameLst>
                                      </p:cBhvr>
                                      <p:to>
                                        <p:strVal val="visible"/>
                                      </p:to>
                                    </p:set>
                                    <p:animEffect transition="in" filter="checkerboard(across)">
                                      <p:cBhvr>
                                        <p:cTn id="31" dur="500"/>
                                        <p:tgtEl>
                                          <p:spTgt spid="24579">
                                            <p:txEl>
                                              <p:pRg st="9" end="9"/>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24579">
                                            <p:txEl>
                                              <p:pRg st="10" end="10"/>
                                            </p:txEl>
                                          </p:spTgt>
                                        </p:tgtEl>
                                        <p:attrNameLst>
                                          <p:attrName>style.visibility</p:attrName>
                                        </p:attrNameLst>
                                      </p:cBhvr>
                                      <p:to>
                                        <p:strVal val="visible"/>
                                      </p:to>
                                    </p:set>
                                    <p:animEffect transition="in" filter="checkerboard(across)">
                                      <p:cBhvr>
                                        <p:cTn id="34" dur="500"/>
                                        <p:tgtEl>
                                          <p:spTgt spid="2457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File System Layout</a:t>
            </a:r>
          </a:p>
        </p:txBody>
      </p:sp>
      <p:sp>
        <p:nvSpPr>
          <p:cNvPr id="7171" name="Rectangle 3"/>
          <p:cNvSpPr>
            <a:spLocks noGrp="1"/>
          </p:cNvSpPr>
          <p:nvPr>
            <p:ph type="body" idx="4294967295"/>
          </p:nvPr>
        </p:nvSpPr>
        <p:spPr>
          <a:xfrm>
            <a:off x="0" y="1143000"/>
            <a:ext cx="9144000" cy="5715000"/>
          </a:xfrm>
        </p:spPr>
        <p:txBody>
          <a:bodyPr/>
          <a:lstStyle/>
          <a:p>
            <a:pPr algn="just"/>
            <a:r>
              <a:rPr lang="en-US" altLang="en-US" sz="2800" b="1">
                <a:latin typeface="Times New Roman" panose="02020603050405020304" pitchFamily="18" charset="0"/>
                <a:cs typeface="Times New Roman" panose="02020603050405020304" pitchFamily="18" charset="0"/>
              </a:rPr>
              <a:t>File Systems </a:t>
            </a:r>
            <a:r>
              <a:rPr lang="en-US" altLang="en-US" sz="2800">
                <a:latin typeface="Times New Roman" panose="02020603050405020304" pitchFamily="18" charset="0"/>
                <a:cs typeface="Times New Roman" panose="02020603050405020304" pitchFamily="18" charset="0"/>
              </a:rPr>
              <a:t>(cont)</a:t>
            </a:r>
          </a:p>
          <a:p>
            <a:pPr lvl="1" algn="just"/>
            <a:r>
              <a:rPr lang="en-US" altLang="en-US" sz="2400" b="1">
                <a:latin typeface="Times New Roman" panose="02020603050405020304" pitchFamily="18" charset="0"/>
                <a:cs typeface="Times New Roman" panose="02020603050405020304" pitchFamily="18" charset="0"/>
              </a:rPr>
              <a:t>Sector 0 </a:t>
            </a:r>
            <a:r>
              <a:rPr lang="en-US" altLang="en-US" sz="2400">
                <a:latin typeface="Times New Roman" panose="02020603050405020304" pitchFamily="18" charset="0"/>
                <a:cs typeface="Times New Roman" panose="02020603050405020304" pitchFamily="18" charset="0"/>
              </a:rPr>
              <a:t>of the disk is </a:t>
            </a:r>
            <a:r>
              <a:rPr lang="en-US" altLang="en-US" sz="2400" b="1">
                <a:latin typeface="Times New Roman" panose="02020603050405020304" pitchFamily="18" charset="0"/>
                <a:cs typeface="Times New Roman" panose="02020603050405020304" pitchFamily="18" charset="0"/>
              </a:rPr>
              <a:t>called</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Master Boot Record (MBR) </a:t>
            </a:r>
            <a:r>
              <a:rPr lang="en-US" altLang="en-US" sz="2400">
                <a:latin typeface="Times New Roman" panose="02020603050405020304" pitchFamily="18" charset="0"/>
                <a:cs typeface="Times New Roman" panose="02020603050405020304" pitchFamily="18" charset="0"/>
              </a:rPr>
              <a:t>that is used to boot the computer.</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end</a:t>
            </a:r>
            <a:r>
              <a:rPr lang="en-US" altLang="en-US" sz="2400">
                <a:latin typeface="Times New Roman" panose="02020603050405020304" pitchFamily="18" charset="0"/>
                <a:cs typeface="Times New Roman" panose="02020603050405020304" pitchFamily="18" charset="0"/>
              </a:rPr>
              <a:t> of the </a:t>
            </a:r>
            <a:r>
              <a:rPr lang="en-US" altLang="en-US" sz="2400" b="1">
                <a:latin typeface="Times New Roman" panose="02020603050405020304" pitchFamily="18" charset="0"/>
                <a:cs typeface="Times New Roman" panose="02020603050405020304" pitchFamily="18" charset="0"/>
              </a:rPr>
              <a:t>MBR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contains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the partition table</a:t>
            </a:r>
          </a:p>
          <a:p>
            <a:pPr lvl="2" algn="just"/>
            <a:r>
              <a:rPr lang="en-US" altLang="en-US" sz="2000">
                <a:latin typeface="Times New Roman" panose="02020603050405020304" pitchFamily="18" charset="0"/>
                <a:cs typeface="Times New Roman" panose="02020603050405020304" pitchFamily="18" charset="0"/>
              </a:rPr>
              <a:t>Gives the </a:t>
            </a:r>
            <a:r>
              <a:rPr lang="en-US" altLang="en-US" sz="2000" b="1">
                <a:latin typeface="Times New Roman" panose="02020603050405020304" pitchFamily="18" charset="0"/>
                <a:cs typeface="Times New Roman" panose="02020603050405020304" pitchFamily="18" charset="0"/>
              </a:rPr>
              <a:t>starting</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and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ending</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addresses</a:t>
            </a:r>
            <a:r>
              <a:rPr lang="en-US" altLang="en-US" sz="2000">
                <a:latin typeface="Times New Roman" panose="02020603050405020304" pitchFamily="18" charset="0"/>
                <a:cs typeface="Times New Roman" panose="02020603050405020304" pitchFamily="18" charset="0"/>
              </a:rPr>
              <a:t> of each partition</a:t>
            </a:r>
          </a:p>
          <a:p>
            <a:pPr lvl="2" algn="just"/>
            <a:r>
              <a:rPr lang="en-US" altLang="en-US" sz="2000">
                <a:latin typeface="Times New Roman" panose="02020603050405020304" pitchFamily="18" charset="0"/>
                <a:cs typeface="Times New Roman" panose="02020603050405020304" pitchFamily="18" charset="0"/>
              </a:rPr>
              <a:t>One of the </a:t>
            </a:r>
            <a:r>
              <a:rPr lang="en-US" altLang="en-US" sz="2000" b="1">
                <a:latin typeface="Times New Roman" panose="02020603050405020304" pitchFamily="18" charset="0"/>
                <a:cs typeface="Times New Roman" panose="02020603050405020304" pitchFamily="18" charset="0"/>
              </a:rPr>
              <a:t>partitions</a:t>
            </a:r>
            <a:r>
              <a:rPr lang="en-US" altLang="en-US" sz="2000">
                <a:latin typeface="Times New Roman" panose="02020603050405020304" pitchFamily="18" charset="0"/>
                <a:cs typeface="Times New Roman" panose="02020603050405020304" pitchFamily="18" charset="0"/>
              </a:rPr>
              <a:t> in the table is </a:t>
            </a:r>
            <a:r>
              <a:rPr lang="en-US" altLang="en-US" sz="2000" b="1">
                <a:latin typeface="Times New Roman" panose="02020603050405020304" pitchFamily="18" charset="0"/>
                <a:cs typeface="Times New Roman" panose="02020603050405020304" pitchFamily="18" charset="0"/>
              </a:rPr>
              <a:t>marked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as active</a:t>
            </a:r>
          </a:p>
          <a:p>
            <a:pPr algn="just"/>
            <a:r>
              <a:rPr lang="en-US" altLang="en-US" sz="2800" b="1">
                <a:latin typeface="Times New Roman" panose="02020603050405020304" pitchFamily="18" charset="0"/>
                <a:cs typeface="Times New Roman" panose="02020603050405020304" pitchFamily="18" charset="0"/>
              </a:rPr>
              <a:t>Mechanism</a:t>
            </a:r>
            <a:r>
              <a:rPr lang="en-US" altLang="en-US" sz="2800">
                <a:latin typeface="Times New Roman" panose="02020603050405020304" pitchFamily="18" charset="0"/>
                <a:cs typeface="Times New Roman" panose="02020603050405020304" pitchFamily="18" charset="0"/>
              </a:rPr>
              <a:t> of </a:t>
            </a:r>
            <a:r>
              <a:rPr lang="en-US" altLang="en-US" sz="2800" b="1">
                <a:latin typeface="Times New Roman" panose="02020603050405020304" pitchFamily="18" charset="0"/>
                <a:cs typeface="Times New Roman" panose="02020603050405020304" pitchFamily="18" charset="0"/>
              </a:rPr>
              <a:t>booted</a:t>
            </a:r>
            <a:r>
              <a:rPr lang="en-US" altLang="en-US" sz="2800">
                <a:latin typeface="Times New Roman" panose="02020603050405020304" pitchFamily="18" charset="0"/>
                <a:cs typeface="Times New Roman" panose="02020603050405020304" pitchFamily="18" charset="0"/>
              </a:rPr>
              <a:t> computer</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computer</a:t>
            </a:r>
            <a:r>
              <a:rPr lang="en-US" altLang="en-US" sz="2400">
                <a:latin typeface="Times New Roman" panose="02020603050405020304" pitchFamily="18" charset="0"/>
                <a:cs typeface="Times New Roman" panose="02020603050405020304" pitchFamily="18" charset="0"/>
              </a:rPr>
              <a:t> is </a:t>
            </a:r>
            <a:r>
              <a:rPr lang="en-US" altLang="en-US" sz="2400" b="1">
                <a:latin typeface="Times New Roman" panose="02020603050405020304" pitchFamily="18" charset="0"/>
                <a:cs typeface="Times New Roman" panose="02020603050405020304" pitchFamily="18" charset="0"/>
              </a:rPr>
              <a:t>booted</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BIOS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reads</a:t>
            </a:r>
            <a:r>
              <a:rPr lang="en-US" altLang="en-US" sz="2400">
                <a:latin typeface="Times New Roman" panose="02020603050405020304" pitchFamily="18" charset="0"/>
                <a:cs typeface="Times New Roman" panose="02020603050405020304" pitchFamily="18" charset="0"/>
              </a:rPr>
              <a:t> in </a:t>
            </a:r>
            <a:r>
              <a:rPr lang="en-US" altLang="en-US" sz="2400" b="1">
                <a:latin typeface="Times New Roman" panose="02020603050405020304" pitchFamily="18" charset="0"/>
                <a:cs typeface="Times New Roman" panose="02020603050405020304" pitchFamily="18" charset="0"/>
              </a:rPr>
              <a:t>and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executes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MBR</a:t>
            </a:r>
          </a:p>
          <a:p>
            <a:pPr lvl="1" algn="just"/>
            <a:r>
              <a:rPr lang="en-US" altLang="en-US" sz="2400" b="1">
                <a:latin typeface="Times New Roman" panose="02020603050405020304" pitchFamily="18" charset="0"/>
                <a:cs typeface="Times New Roman" panose="02020603050405020304" pitchFamily="18" charset="0"/>
              </a:rPr>
              <a:t>MBR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locates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active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partition</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reads</a:t>
            </a:r>
            <a:r>
              <a:rPr lang="en-US" altLang="en-US" sz="2400">
                <a:latin typeface="Times New Roman" panose="02020603050405020304" pitchFamily="18" charset="0"/>
                <a:cs typeface="Times New Roman" panose="02020603050405020304" pitchFamily="18" charset="0"/>
              </a:rPr>
              <a:t> in its </a:t>
            </a:r>
            <a:r>
              <a:rPr lang="en-US" altLang="en-US" sz="2400" b="1">
                <a:latin typeface="Times New Roman" panose="02020603050405020304" pitchFamily="18" charset="0"/>
                <a:cs typeface="Times New Roman" panose="02020603050405020304" pitchFamily="18" charset="0"/>
              </a:rPr>
              <a:t>boot</a:t>
            </a:r>
            <a:r>
              <a:rPr lang="en-US" altLang="en-US" sz="2400">
                <a:latin typeface="Times New Roman" panose="02020603050405020304" pitchFamily="18" charset="0"/>
                <a:cs typeface="Times New Roman" panose="02020603050405020304" pitchFamily="18" charset="0"/>
              </a:rPr>
              <a:t> block </a:t>
            </a:r>
            <a:r>
              <a:rPr lang="en-US" altLang="en-US" sz="2400" b="1">
                <a:latin typeface="Times New Roman" panose="02020603050405020304" pitchFamily="18" charset="0"/>
                <a:cs typeface="Times New Roman" panose="02020603050405020304" pitchFamily="18" charset="0"/>
              </a:rPr>
              <a:t>and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executes</a:t>
            </a:r>
            <a:r>
              <a:rPr lang="en-US" altLang="en-US" sz="2400">
                <a:latin typeface="Times New Roman" panose="02020603050405020304" pitchFamily="18" charset="0"/>
                <a:cs typeface="Times New Roman" panose="02020603050405020304" pitchFamily="18" charset="0"/>
              </a:rPr>
              <a:t> it</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program</a:t>
            </a:r>
            <a:r>
              <a:rPr lang="en-US" altLang="en-US" sz="2400">
                <a:latin typeface="Times New Roman" panose="02020603050405020304" pitchFamily="18" charset="0"/>
                <a:cs typeface="Times New Roman" panose="02020603050405020304" pitchFamily="18" charset="0"/>
              </a:rPr>
              <a:t> in boot block </a:t>
            </a:r>
            <a:r>
              <a:rPr lang="en-US" altLang="en-US" sz="2400" b="1">
                <a:latin typeface="Times New Roman" panose="02020603050405020304" pitchFamily="18" charset="0"/>
                <a:cs typeface="Times New Roman" panose="02020603050405020304" pitchFamily="18" charset="0"/>
              </a:rPr>
              <a:t>loads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OS</a:t>
            </a:r>
            <a:r>
              <a:rPr lang="en-US" altLang="en-US" sz="2400">
                <a:latin typeface="Times New Roman" panose="02020603050405020304" pitchFamily="18" charset="0"/>
                <a:cs typeface="Times New Roman" panose="02020603050405020304" pitchFamily="18" charset="0"/>
              </a:rPr>
              <a:t> contained in that partition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File System Layout</a:t>
            </a:r>
          </a:p>
        </p:txBody>
      </p:sp>
      <p:pic>
        <p:nvPicPr>
          <p:cNvPr id="8195" name="Picture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24000"/>
            <a:ext cx="82296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6" name="Text Box 4"/>
          <p:cNvSpPr txBox="1">
            <a:spLocks noChangeArrowheads="1"/>
          </p:cNvSpPr>
          <p:nvPr/>
        </p:nvSpPr>
        <p:spPr bwMode="auto">
          <a:xfrm>
            <a:off x="3810000" y="4876800"/>
            <a:ext cx="180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4-9.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3606"/>
                                        </p:tgtEl>
                                        <p:attrNameLst>
                                          <p:attrName>style.visibility</p:attrName>
                                        </p:attrNameLst>
                                      </p:cBhvr>
                                      <p:to>
                                        <p:strVal val="visible"/>
                                      </p:to>
                                    </p:set>
                                    <p:animEffect transition="in" filter="box(in)">
                                      <p:cBhvr>
                                        <p:cTn id="7" dur="500"/>
                                        <p:tgtEl>
                                          <p:spTgt spid="153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Files</a:t>
            </a:r>
          </a:p>
        </p:txBody>
      </p:sp>
      <p:sp>
        <p:nvSpPr>
          <p:cNvPr id="27651" name="Rectangle 3"/>
          <p:cNvSpPr>
            <a:spLocks noGrp="1"/>
          </p:cNvSpPr>
          <p:nvPr>
            <p:ph type="body" idx="1"/>
          </p:nvPr>
        </p:nvSpPr>
        <p:spPr>
          <a:xfrm>
            <a:off x="0" y="1219200"/>
            <a:ext cx="9144000" cy="5638800"/>
          </a:xfrm>
        </p:spPr>
        <p:txBody>
          <a:bodyPr/>
          <a:lstStyle/>
          <a:p>
            <a:pPr algn="just">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Contiguous</a:t>
            </a:r>
            <a:r>
              <a:rPr lang="en-US" altLang="en-US">
                <a:latin typeface="Times New Roman" panose="02020603050405020304" pitchFamily="18" charset="0"/>
                <a:cs typeface="Times New Roman" panose="02020603050405020304" pitchFamily="18" charset="0"/>
              </a:rPr>
              <a:t> Allocation</a:t>
            </a:r>
          </a:p>
          <a:p>
            <a:pPr lvl="1" algn="just"/>
            <a:r>
              <a:rPr lang="en-US" altLang="en-US" b="1">
                <a:latin typeface="Times New Roman" panose="02020603050405020304" pitchFamily="18" charset="0"/>
                <a:cs typeface="Times New Roman" panose="02020603050405020304" pitchFamily="18" charset="0"/>
              </a:rPr>
              <a:t>Store</a:t>
            </a:r>
            <a:r>
              <a:rPr lang="en-US" altLang="en-US">
                <a:latin typeface="Times New Roman" panose="02020603050405020304" pitchFamily="18" charset="0"/>
                <a:cs typeface="Times New Roman" panose="02020603050405020304" pitchFamily="18" charset="0"/>
              </a:rPr>
              <a:t> each </a:t>
            </a:r>
            <a:r>
              <a:rPr lang="en-US" altLang="en-US" b="1">
                <a:latin typeface="Times New Roman" panose="02020603050405020304" pitchFamily="18" charset="0"/>
                <a:cs typeface="Times New Roman" panose="02020603050405020304" pitchFamily="18" charset="0"/>
              </a:rPr>
              <a:t>file</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as</a:t>
            </a:r>
            <a:r>
              <a:rPr lang="en-US" altLang="en-US">
                <a:latin typeface="Times New Roman" panose="02020603050405020304" pitchFamily="18" charset="0"/>
                <a:cs typeface="Times New Roman" panose="02020603050405020304" pitchFamily="18" charset="0"/>
              </a:rPr>
              <a:t> a </a:t>
            </a:r>
            <a:r>
              <a:rPr lang="en-US" altLang="en-US" b="1">
                <a:latin typeface="Times New Roman" panose="02020603050405020304" pitchFamily="18" charset="0"/>
                <a:cs typeface="Times New Roman" panose="02020603050405020304" pitchFamily="18" charset="0"/>
              </a:rPr>
              <a:t>contiguous</a:t>
            </a:r>
            <a:r>
              <a:rPr lang="en-US" altLang="en-US">
                <a:latin typeface="Times New Roman" panose="02020603050405020304" pitchFamily="18" charset="0"/>
                <a:cs typeface="Times New Roman" panose="02020603050405020304" pitchFamily="18" charset="0"/>
              </a:rPr>
              <a:t> run of disk blocks</a:t>
            </a:r>
          </a:p>
          <a:p>
            <a:pPr lvl="1" algn="just"/>
            <a:r>
              <a:rPr lang="en-US" altLang="en-US"/>
              <a:t> </a:t>
            </a:r>
            <a:r>
              <a:rPr lang="en-US" altLang="en-US" b="1">
                <a:latin typeface="Times New Roman" panose="02020603050405020304" pitchFamily="18" charset="0"/>
                <a:cs typeface="Times New Roman" panose="02020603050405020304" pitchFamily="18" charset="0"/>
              </a:rPr>
              <a:t>Advantages</a:t>
            </a:r>
          </a:p>
          <a:p>
            <a:pPr lvl="2" algn="just"/>
            <a:r>
              <a:rPr lang="en-US" altLang="en-US" b="1">
                <a:latin typeface="Times New Roman" panose="02020603050405020304" pitchFamily="18" charset="0"/>
                <a:cs typeface="Times New Roman" panose="02020603050405020304" pitchFamily="18" charset="0"/>
              </a:rPr>
              <a:t>Simple</a:t>
            </a:r>
            <a:r>
              <a:rPr lang="en-US" altLang="en-US">
                <a:latin typeface="Times New Roman" panose="02020603050405020304" pitchFamily="18" charset="0"/>
                <a:cs typeface="Times New Roman" panose="02020603050405020304" pitchFamily="18" charset="0"/>
              </a:rPr>
              <a:t> to implement</a:t>
            </a:r>
          </a:p>
          <a:p>
            <a:pPr lvl="3" algn="just"/>
            <a:r>
              <a:rPr lang="en-US" altLang="en-US" b="1">
                <a:latin typeface="Times New Roman" panose="02020603050405020304" pitchFamily="18" charset="0"/>
                <a:cs typeface="Times New Roman" panose="02020603050405020304" pitchFamily="18" charset="0"/>
              </a:rPr>
              <a:t>Keeping</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track</a:t>
            </a:r>
            <a:r>
              <a:rPr lang="en-US" altLang="en-US">
                <a:latin typeface="Times New Roman" panose="02020603050405020304" pitchFamily="18" charset="0"/>
                <a:cs typeface="Times New Roman" panose="02020603050405020304" pitchFamily="18" charset="0"/>
              </a:rPr>
              <a:t> of </a:t>
            </a:r>
            <a:r>
              <a:rPr lang="en-US" altLang="en-US" b="1">
                <a:latin typeface="Times New Roman" panose="02020603050405020304" pitchFamily="18" charset="0"/>
                <a:cs typeface="Times New Roman" panose="02020603050405020304" pitchFamily="18" charset="0"/>
              </a:rPr>
              <a:t>files</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blocks</a:t>
            </a:r>
            <a:r>
              <a:rPr lang="en-US" altLang="en-US">
                <a:latin typeface="Times New Roman" panose="02020603050405020304" pitchFamily="18" charset="0"/>
                <a:cs typeface="Times New Roman" panose="02020603050405020304" pitchFamily="18" charset="0"/>
              </a:rPr>
              <a:t> needs </a:t>
            </a:r>
          </a:p>
          <a:p>
            <a:pPr lvl="4" algn="just"/>
            <a:r>
              <a:rPr lang="en-US" altLang="en-US">
                <a:latin typeface="Times New Roman" panose="02020603050405020304" pitchFamily="18" charset="0"/>
                <a:cs typeface="Times New Roman" panose="02020603050405020304" pitchFamily="18" charset="0"/>
              </a:rPr>
              <a:t>disk address of first block</a:t>
            </a:r>
          </a:p>
          <a:p>
            <a:pPr lvl="4" algn="just"/>
            <a:r>
              <a:rPr lang="en-US" altLang="en-US">
                <a:latin typeface="Times New Roman" panose="02020603050405020304" pitchFamily="18" charset="0"/>
                <a:cs typeface="Times New Roman" panose="02020603050405020304" pitchFamily="18" charset="0"/>
              </a:rPr>
              <a:t>the number of allocated blocks</a:t>
            </a:r>
          </a:p>
          <a:p>
            <a:pPr lvl="2" algn="just"/>
            <a:r>
              <a:rPr lang="en-US" altLang="en-US" b="1">
                <a:latin typeface="Times New Roman" panose="02020603050405020304" pitchFamily="18" charset="0"/>
                <a:cs typeface="Times New Roman" panose="02020603050405020304" pitchFamily="18" charset="0"/>
              </a:rPr>
              <a:t>High performance</a:t>
            </a:r>
            <a:r>
              <a:rPr lang="en-US" altLang="en-US">
                <a:latin typeface="Times New Roman" panose="02020603050405020304" pitchFamily="18" charset="0"/>
                <a:cs typeface="Times New Roman" panose="02020603050405020304" pitchFamily="18" charset="0"/>
              </a:rPr>
              <a:t>: get entire file from disk in one operation (only seek to first block)</a:t>
            </a:r>
          </a:p>
          <a:p>
            <a:pPr lvl="1" algn="just"/>
            <a:r>
              <a:rPr lang="en-US" altLang="en-US" b="1">
                <a:latin typeface="Times New Roman" panose="02020603050405020304" pitchFamily="18" charset="0"/>
                <a:cs typeface="Times New Roman" panose="02020603050405020304" pitchFamily="18" charset="0"/>
              </a:rPr>
              <a:t>Disadvantages</a:t>
            </a:r>
          </a:p>
          <a:p>
            <a:pPr lvl="2" algn="just"/>
            <a:r>
              <a:rPr lang="en-US" altLang="en-US">
                <a:latin typeface="Times New Roman" panose="02020603050405020304" pitchFamily="18" charset="0"/>
                <a:cs typeface="Times New Roman" panose="02020603050405020304" pitchFamily="18" charset="0"/>
              </a:rPr>
              <a:t>Fragmentation (</a:t>
            </a:r>
            <a:r>
              <a:rPr lang="en-US" altLang="en-US" b="1">
                <a:latin typeface="Times New Roman" panose="02020603050405020304" pitchFamily="18" charset="0"/>
                <a:cs typeface="Times New Roman" panose="02020603050405020304" pitchFamily="18" charset="0"/>
              </a:rPr>
              <a:t>internal and external</a:t>
            </a:r>
            <a:r>
              <a:rPr lang="en-US" altLang="en-US">
                <a:latin typeface="Times New Roman" panose="02020603050405020304" pitchFamily="18" charset="0"/>
                <a:cs typeface="Times New Roman" panose="02020603050405020304" pitchFamily="18" charset="0"/>
              </a:rPr>
              <a:t>)</a:t>
            </a:r>
          </a:p>
          <a:p>
            <a:pPr lvl="2" algn="just"/>
            <a:r>
              <a:rPr lang="en-US" altLang="en-US" b="1">
                <a:latin typeface="Times New Roman" panose="02020603050405020304" pitchFamily="18" charset="0"/>
                <a:cs typeface="Times New Roman" panose="02020603050405020304" pitchFamily="18" charset="0"/>
              </a:rPr>
              <a:t>Difficult</a:t>
            </a:r>
            <a:r>
              <a:rPr lang="en-US" altLang="en-US">
                <a:latin typeface="Times New Roman" panose="02020603050405020304" pitchFamily="18" charset="0"/>
                <a:cs typeface="Times New Roman" panose="02020603050405020304" pitchFamily="18" charset="0"/>
              </a:rPr>
              <a:t> to </a:t>
            </a:r>
            <a:r>
              <a:rPr lang="en-US" altLang="en-US" b="1">
                <a:latin typeface="Times New Roman" panose="02020603050405020304" pitchFamily="18" charset="0"/>
                <a:cs typeface="Times New Roman" panose="02020603050405020304" pitchFamily="18" charset="0"/>
              </a:rPr>
              <a:t>increase</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file’s size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7651">
                                            <p:txEl>
                                              <p:pRg st="1" end="1"/>
                                            </p:txEl>
                                          </p:spTgt>
                                        </p:tgtEl>
                                        <p:attrNameLst>
                                          <p:attrName>style.visibility</p:attrName>
                                        </p:attrNameLst>
                                      </p:cBhvr>
                                      <p:to>
                                        <p:strVal val="visible"/>
                                      </p:to>
                                    </p:set>
                                    <p:animEffect transition="in" filter="box(in)">
                                      <p:cBhvr>
                                        <p:cTn id="7" dur="500"/>
                                        <p:tgtEl>
                                          <p:spTgt spid="27651">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7651">
                                            <p:txEl>
                                              <p:pRg st="2" end="2"/>
                                            </p:txEl>
                                          </p:spTgt>
                                        </p:tgtEl>
                                        <p:attrNameLst>
                                          <p:attrName>style.visibility</p:attrName>
                                        </p:attrNameLst>
                                      </p:cBhvr>
                                      <p:to>
                                        <p:strVal val="visible"/>
                                      </p:to>
                                    </p:set>
                                    <p:animEffect transition="in" filter="box(in)">
                                      <p:cBhvr>
                                        <p:cTn id="10" dur="500"/>
                                        <p:tgtEl>
                                          <p:spTgt spid="27651">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7651">
                                            <p:txEl>
                                              <p:pRg st="3" end="3"/>
                                            </p:txEl>
                                          </p:spTgt>
                                        </p:tgtEl>
                                        <p:attrNameLst>
                                          <p:attrName>style.visibility</p:attrName>
                                        </p:attrNameLst>
                                      </p:cBhvr>
                                      <p:to>
                                        <p:strVal val="visible"/>
                                      </p:to>
                                    </p:set>
                                    <p:animEffect transition="in" filter="box(in)">
                                      <p:cBhvr>
                                        <p:cTn id="13" dur="500"/>
                                        <p:tgtEl>
                                          <p:spTgt spid="27651">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7651">
                                            <p:txEl>
                                              <p:pRg st="4" end="4"/>
                                            </p:txEl>
                                          </p:spTgt>
                                        </p:tgtEl>
                                        <p:attrNameLst>
                                          <p:attrName>style.visibility</p:attrName>
                                        </p:attrNameLst>
                                      </p:cBhvr>
                                      <p:to>
                                        <p:strVal val="visible"/>
                                      </p:to>
                                    </p:set>
                                    <p:animEffect transition="in" filter="box(in)">
                                      <p:cBhvr>
                                        <p:cTn id="16" dur="500"/>
                                        <p:tgtEl>
                                          <p:spTgt spid="27651">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7651">
                                            <p:txEl>
                                              <p:pRg st="5" end="5"/>
                                            </p:txEl>
                                          </p:spTgt>
                                        </p:tgtEl>
                                        <p:attrNameLst>
                                          <p:attrName>style.visibility</p:attrName>
                                        </p:attrNameLst>
                                      </p:cBhvr>
                                      <p:to>
                                        <p:strVal val="visible"/>
                                      </p:to>
                                    </p:set>
                                    <p:animEffect transition="in" filter="box(in)">
                                      <p:cBhvr>
                                        <p:cTn id="19" dur="500"/>
                                        <p:tgtEl>
                                          <p:spTgt spid="27651">
                                            <p:txEl>
                                              <p:pRg st="5" end="5"/>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27651">
                                            <p:txEl>
                                              <p:pRg st="6" end="6"/>
                                            </p:txEl>
                                          </p:spTgt>
                                        </p:tgtEl>
                                        <p:attrNameLst>
                                          <p:attrName>style.visibility</p:attrName>
                                        </p:attrNameLst>
                                      </p:cBhvr>
                                      <p:to>
                                        <p:strVal val="visible"/>
                                      </p:to>
                                    </p:set>
                                    <p:animEffect transition="in" filter="box(in)">
                                      <p:cBhvr>
                                        <p:cTn id="22" dur="500"/>
                                        <p:tgtEl>
                                          <p:spTgt spid="27651">
                                            <p:txEl>
                                              <p:pRg st="6" end="6"/>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27651">
                                            <p:txEl>
                                              <p:pRg st="7" end="7"/>
                                            </p:txEl>
                                          </p:spTgt>
                                        </p:tgtEl>
                                        <p:attrNameLst>
                                          <p:attrName>style.visibility</p:attrName>
                                        </p:attrNameLst>
                                      </p:cBhvr>
                                      <p:to>
                                        <p:strVal val="visible"/>
                                      </p:to>
                                    </p:set>
                                    <p:animEffect transition="in" filter="box(in)">
                                      <p:cBhvr>
                                        <p:cTn id="25" dur="500"/>
                                        <p:tgtEl>
                                          <p:spTgt spid="27651">
                                            <p:txEl>
                                              <p:pRg st="7" end="7"/>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27651">
                                            <p:txEl>
                                              <p:pRg st="8" end="8"/>
                                            </p:txEl>
                                          </p:spTgt>
                                        </p:tgtEl>
                                        <p:attrNameLst>
                                          <p:attrName>style.visibility</p:attrName>
                                        </p:attrNameLst>
                                      </p:cBhvr>
                                      <p:to>
                                        <p:strVal val="visible"/>
                                      </p:to>
                                    </p:set>
                                    <p:animEffect transition="in" filter="box(in)">
                                      <p:cBhvr>
                                        <p:cTn id="28" dur="500"/>
                                        <p:tgtEl>
                                          <p:spTgt spid="27651">
                                            <p:txEl>
                                              <p:pRg st="8" end="8"/>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27651">
                                            <p:txEl>
                                              <p:pRg st="9" end="9"/>
                                            </p:txEl>
                                          </p:spTgt>
                                        </p:tgtEl>
                                        <p:attrNameLst>
                                          <p:attrName>style.visibility</p:attrName>
                                        </p:attrNameLst>
                                      </p:cBhvr>
                                      <p:to>
                                        <p:strVal val="visible"/>
                                      </p:to>
                                    </p:set>
                                    <p:animEffect transition="in" filter="box(in)">
                                      <p:cBhvr>
                                        <p:cTn id="31" dur="500"/>
                                        <p:tgtEl>
                                          <p:spTgt spid="27651">
                                            <p:txEl>
                                              <p:pRg st="9" end="9"/>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27651">
                                            <p:txEl>
                                              <p:pRg st="10" end="10"/>
                                            </p:txEl>
                                          </p:spTgt>
                                        </p:tgtEl>
                                        <p:attrNameLst>
                                          <p:attrName>style.visibility</p:attrName>
                                        </p:attrNameLst>
                                      </p:cBhvr>
                                      <p:to>
                                        <p:strVal val="visible"/>
                                      </p:to>
                                    </p:set>
                                    <p:animEffect transition="in" filter="box(in)">
                                      <p:cBhvr>
                                        <p:cTn id="34" dur="500"/>
                                        <p:tgtEl>
                                          <p:spTgt spid="2765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914400" y="76200"/>
            <a:ext cx="8229600" cy="762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Files</a:t>
            </a:r>
          </a:p>
        </p:txBody>
      </p:sp>
      <p:sp>
        <p:nvSpPr>
          <p:cNvPr id="160370" name="Text Box 4"/>
          <p:cNvSpPr txBox="1">
            <a:spLocks noChangeArrowheads="1"/>
          </p:cNvSpPr>
          <p:nvPr/>
        </p:nvSpPr>
        <p:spPr bwMode="auto">
          <a:xfrm>
            <a:off x="3810000" y="6019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4-10.</a:t>
            </a:r>
          </a:p>
        </p:txBody>
      </p:sp>
      <p:pic>
        <p:nvPicPr>
          <p:cNvPr id="10244" name="Picture 7" descr="04-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8458200" cy="437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Files</a:t>
            </a:r>
          </a:p>
        </p:txBody>
      </p:sp>
      <p:sp>
        <p:nvSpPr>
          <p:cNvPr id="29699" name="Rectangle 3"/>
          <p:cNvSpPr>
            <a:spLocks noGrp="1"/>
          </p:cNvSpPr>
          <p:nvPr>
            <p:ph type="body" idx="1"/>
          </p:nvPr>
        </p:nvSpPr>
        <p:spPr>
          <a:xfrm>
            <a:off x="0" y="1219200"/>
            <a:ext cx="9144000" cy="5638800"/>
          </a:xfrm>
        </p:spPr>
        <p:txBody>
          <a:bodyPr/>
          <a:lstStyle/>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Linked List </a:t>
            </a:r>
            <a:r>
              <a:rPr lang="en-US" altLang="en-US" sz="2800">
                <a:latin typeface="Times New Roman" panose="02020603050405020304" pitchFamily="18" charset="0"/>
                <a:cs typeface="Times New Roman" panose="02020603050405020304" pitchFamily="18" charset="0"/>
              </a:rPr>
              <a:t>Allocation</a:t>
            </a:r>
          </a:p>
          <a:p>
            <a:pPr lvl="1" algn="just"/>
            <a:r>
              <a:rPr lang="en-US" altLang="en-US" sz="2400" b="1">
                <a:latin typeface="Times New Roman" panose="02020603050405020304" pitchFamily="18" charset="0"/>
                <a:cs typeface="Times New Roman" panose="02020603050405020304" pitchFamily="18" charset="0"/>
              </a:rPr>
              <a:t>Storing</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files</a:t>
            </a:r>
            <a:r>
              <a:rPr lang="en-US" altLang="en-US" sz="2400">
                <a:latin typeface="Times New Roman" panose="02020603050405020304" pitchFamily="18" charset="0"/>
                <a:cs typeface="Times New Roman" panose="02020603050405020304" pitchFamily="18" charset="0"/>
              </a:rPr>
              <a:t> is to keep each </a:t>
            </a:r>
            <a:r>
              <a:rPr lang="en-US" altLang="en-US" sz="2400" b="1">
                <a:latin typeface="Times New Roman" panose="02020603050405020304" pitchFamily="18" charset="0"/>
                <a:cs typeface="Times New Roman" panose="02020603050405020304" pitchFamily="18" charset="0"/>
              </a:rPr>
              <a:t>one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as a linked list </a:t>
            </a:r>
            <a:r>
              <a:rPr lang="en-US" altLang="en-US" sz="2400">
                <a:latin typeface="Times New Roman" panose="02020603050405020304" pitchFamily="18" charset="0"/>
                <a:cs typeface="Times New Roman" panose="02020603050405020304" pitchFamily="18" charset="0"/>
              </a:rPr>
              <a:t>of disk blocks</a:t>
            </a:r>
          </a:p>
          <a:p>
            <a:pPr lvl="1" algn="just"/>
            <a:r>
              <a:rPr lang="en-US" altLang="en-US" sz="2400" b="1">
                <a:latin typeface="Times New Roman" panose="02020603050405020304" pitchFamily="18" charset="0"/>
                <a:cs typeface="Times New Roman" panose="02020603050405020304" pitchFamily="18" charset="0"/>
              </a:rPr>
              <a:t>First</a:t>
            </a:r>
            <a:r>
              <a:rPr lang="en-US" altLang="en-US" sz="2400">
                <a:latin typeface="Times New Roman" panose="02020603050405020304" pitchFamily="18" charset="0"/>
                <a:cs typeface="Times New Roman" panose="02020603050405020304" pitchFamily="18" charset="0"/>
              </a:rPr>
              <a:t> word of each block is </a:t>
            </a:r>
            <a:r>
              <a:rPr lang="en-US" altLang="en-US" sz="2400" b="1">
                <a:latin typeface="Times New Roman" panose="02020603050405020304" pitchFamily="18" charset="0"/>
                <a:cs typeface="Times New Roman" panose="02020603050405020304" pitchFamily="18" charset="0"/>
              </a:rPr>
              <a:t>used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as pointer to </a:t>
            </a:r>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next</a:t>
            </a:r>
            <a:r>
              <a:rPr lang="en-US" altLang="en-US" sz="2400">
                <a:latin typeface="Times New Roman" panose="02020603050405020304" pitchFamily="18" charset="0"/>
                <a:cs typeface="Times New Roman" panose="02020603050405020304" pitchFamily="18" charset="0"/>
              </a:rPr>
              <a:t> one </a:t>
            </a:r>
            <a:r>
              <a:rPr lang="en-US" altLang="en-US" sz="2400" b="1">
                <a:latin typeface="Times New Roman" panose="02020603050405020304" pitchFamily="18" charset="0"/>
                <a:cs typeface="Times New Roman" panose="02020603050405020304" pitchFamily="18" charset="0"/>
              </a:rPr>
              <a:t>and</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rest</a:t>
            </a:r>
            <a:r>
              <a:rPr lang="en-US" altLang="en-US" sz="2400">
                <a:latin typeface="Times New Roman" panose="02020603050405020304" pitchFamily="18" charset="0"/>
                <a:cs typeface="Times New Roman" panose="02020603050405020304" pitchFamily="18" charset="0"/>
              </a:rPr>
              <a:t> of the </a:t>
            </a:r>
            <a:r>
              <a:rPr lang="en-US" altLang="en-US" sz="2400" b="1">
                <a:latin typeface="Times New Roman" panose="02020603050405020304" pitchFamily="18" charset="0"/>
                <a:cs typeface="Times New Roman" panose="02020603050405020304" pitchFamily="18" charset="0"/>
              </a:rPr>
              <a:t>block is for data</a:t>
            </a:r>
          </a:p>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Advantages</a:t>
            </a:r>
          </a:p>
          <a:p>
            <a:pPr lvl="1" algn="just"/>
            <a:r>
              <a:rPr lang="en-US" altLang="en-US" sz="2400" b="1">
                <a:latin typeface="Times New Roman" panose="02020603050405020304" pitchFamily="18" charset="0"/>
                <a:cs typeface="Times New Roman" panose="02020603050405020304" pitchFamily="18" charset="0"/>
              </a:rPr>
              <a:t>No external </a:t>
            </a:r>
            <a:r>
              <a:rPr lang="en-US" altLang="en-US" sz="2400">
                <a:latin typeface="Times New Roman" panose="02020603050405020304" pitchFamily="18" charset="0"/>
                <a:cs typeface="Times New Roman" panose="02020603050405020304" pitchFamily="18" charset="0"/>
              </a:rPr>
              <a:t>fragmentation (</a:t>
            </a:r>
            <a:r>
              <a:rPr lang="en-US" altLang="en-US" sz="2400" b="1">
                <a:latin typeface="Times New Roman" panose="02020603050405020304" pitchFamily="18" charset="0"/>
                <a:cs typeface="Times New Roman" panose="02020603050405020304" pitchFamily="18" charset="0"/>
              </a:rPr>
              <a:t>still</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internal</a:t>
            </a:r>
            <a:r>
              <a:rPr lang="en-US" altLang="en-US" sz="2400">
                <a:latin typeface="Times New Roman" panose="02020603050405020304" pitchFamily="18" charset="0"/>
                <a:cs typeface="Times New Roman" panose="02020603050405020304" pitchFamily="18" charset="0"/>
              </a:rPr>
              <a:t> fragmentation)</a:t>
            </a:r>
          </a:p>
          <a:p>
            <a:pPr lvl="1" algn="just"/>
            <a:r>
              <a:rPr lang="en-US" altLang="en-US" sz="2400">
                <a:latin typeface="Times New Roman" panose="02020603050405020304" pitchFamily="18" charset="0"/>
                <a:cs typeface="Times New Roman" panose="02020603050405020304" pitchFamily="18" charset="0"/>
              </a:rPr>
              <a:t>It is </a:t>
            </a:r>
            <a:r>
              <a:rPr lang="en-US" altLang="en-US" sz="2400" b="1">
                <a:latin typeface="Times New Roman" panose="02020603050405020304" pitchFamily="18" charset="0"/>
                <a:cs typeface="Times New Roman" panose="02020603050405020304" pitchFamily="18" charset="0"/>
              </a:rPr>
              <a:t>sufficient</a:t>
            </a:r>
            <a:r>
              <a:rPr lang="en-US" altLang="en-US" sz="2400">
                <a:latin typeface="Times New Roman" panose="02020603050405020304" pitchFamily="18" charset="0"/>
                <a:cs typeface="Times New Roman" panose="02020603050405020304" pitchFamily="18" charset="0"/>
              </a:rPr>
              <a:t> for the </a:t>
            </a:r>
            <a:r>
              <a:rPr lang="en-US" altLang="en-US" sz="2400" b="1">
                <a:latin typeface="Times New Roman" panose="02020603050405020304" pitchFamily="18" charset="0"/>
                <a:cs typeface="Times New Roman" panose="02020603050405020304" pitchFamily="18" charset="0"/>
              </a:rPr>
              <a:t>directory</a:t>
            </a:r>
            <a:r>
              <a:rPr lang="en-US" altLang="en-US" sz="2400">
                <a:latin typeface="Times New Roman" panose="02020603050405020304" pitchFamily="18" charset="0"/>
                <a:cs typeface="Times New Roman" panose="02020603050405020304" pitchFamily="18" charset="0"/>
              </a:rPr>
              <a:t> entry to merely </a:t>
            </a:r>
            <a:r>
              <a:rPr lang="en-US" altLang="en-US" sz="2400" b="1">
                <a:latin typeface="Times New Roman" panose="02020603050405020304" pitchFamily="18" charset="0"/>
                <a:cs typeface="Times New Roman" panose="02020603050405020304" pitchFamily="18" charset="0"/>
              </a:rPr>
              <a:t>store</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disk</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address</a:t>
            </a:r>
            <a:r>
              <a:rPr lang="en-US" altLang="en-US" sz="2400">
                <a:latin typeface="Times New Roman" panose="02020603050405020304" pitchFamily="18" charset="0"/>
                <a:cs typeface="Times New Roman" panose="02020603050405020304" pitchFamily="18" charset="0"/>
              </a:rPr>
              <a:t> of the </a:t>
            </a:r>
            <a:r>
              <a:rPr lang="en-US" altLang="en-US" sz="2400" b="1">
                <a:latin typeface="Times New Roman" panose="02020603050405020304" pitchFamily="18" charset="0"/>
                <a:cs typeface="Times New Roman" panose="02020603050405020304" pitchFamily="18" charset="0"/>
              </a:rPr>
              <a:t>first</a:t>
            </a:r>
            <a:r>
              <a:rPr lang="en-US" altLang="en-US" sz="2400">
                <a:latin typeface="Times New Roman" panose="02020603050405020304" pitchFamily="18" charset="0"/>
                <a:cs typeface="Times New Roman" panose="02020603050405020304" pitchFamily="18" charset="0"/>
              </a:rPr>
              <a:t> block</a:t>
            </a:r>
          </a:p>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Disadvantages</a:t>
            </a:r>
          </a:p>
          <a:p>
            <a:pPr lvl="1" algn="just"/>
            <a:r>
              <a:rPr lang="en-US" altLang="en-US" sz="2400" b="1">
                <a:latin typeface="Times New Roman" panose="02020603050405020304" pitchFamily="18" charset="0"/>
                <a:cs typeface="Times New Roman" panose="02020603050405020304" pitchFamily="18" charset="0"/>
              </a:rPr>
              <a:t>Random</a:t>
            </a:r>
            <a:r>
              <a:rPr lang="en-US" altLang="en-US" sz="2400">
                <a:latin typeface="Times New Roman" panose="02020603050405020304" pitchFamily="18" charset="0"/>
                <a:cs typeface="Times New Roman" panose="02020603050405020304" pitchFamily="18" charset="0"/>
              </a:rPr>
              <a:t> access is </a:t>
            </a:r>
            <a:r>
              <a:rPr lang="en-US" altLang="en-US" sz="2400" b="1">
                <a:latin typeface="Times New Roman" panose="02020603050405020304" pitchFamily="18" charset="0"/>
                <a:cs typeface="Times New Roman" panose="02020603050405020304" pitchFamily="18" charset="0"/>
              </a:rPr>
              <a:t>extremely slow</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amount</a:t>
            </a:r>
            <a:r>
              <a:rPr lang="en-US" altLang="en-US" sz="2400">
                <a:latin typeface="Times New Roman" panose="02020603050405020304" pitchFamily="18" charset="0"/>
                <a:cs typeface="Times New Roman" panose="02020603050405020304" pitchFamily="18" charset="0"/>
              </a:rPr>
              <a:t> of </a:t>
            </a:r>
            <a:r>
              <a:rPr lang="en-US" altLang="en-US" sz="2400" b="1">
                <a:latin typeface="Times New Roman" panose="02020603050405020304" pitchFamily="18" charset="0"/>
                <a:cs typeface="Times New Roman" panose="02020603050405020304" pitchFamily="18" charset="0"/>
              </a:rPr>
              <a:t>data storage </a:t>
            </a:r>
            <a:r>
              <a:rPr lang="en-US" altLang="en-US" sz="2400">
                <a:latin typeface="Times New Roman" panose="02020603050405020304" pitchFamily="18" charset="0"/>
                <a:cs typeface="Times New Roman" panose="02020603050405020304" pitchFamily="18" charset="0"/>
              </a:rPr>
              <a:t>in a block </a:t>
            </a:r>
            <a:r>
              <a:rPr lang="en-US" altLang="en-US" sz="2400" b="1">
                <a:latin typeface="Times New Roman" panose="02020603050405020304" pitchFamily="18" charset="0"/>
                <a:cs typeface="Times New Roman" panose="02020603050405020304" pitchFamily="18" charset="0"/>
              </a:rPr>
              <a:t>is not a power of two </a:t>
            </a:r>
            <a:r>
              <a:rPr lang="en-US" altLang="en-US" sz="2400">
                <a:latin typeface="Times New Roman" panose="02020603050405020304" pitchFamily="18" charset="0"/>
                <a:cs typeface="Times New Roman" panose="02020603050405020304" pitchFamily="18" charset="0"/>
              </a:rPr>
              <a:t>because the pointer takes up a few bytes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box(in)">
                                      <p:cBhvr>
                                        <p:cTn id="7" dur="500"/>
                                        <p:tgtEl>
                                          <p:spTgt spid="29699">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9699">
                                            <p:txEl>
                                              <p:pRg st="2" end="2"/>
                                            </p:txEl>
                                          </p:spTgt>
                                        </p:tgtEl>
                                        <p:attrNameLst>
                                          <p:attrName>style.visibility</p:attrName>
                                        </p:attrNameLst>
                                      </p:cBhvr>
                                      <p:to>
                                        <p:strVal val="visible"/>
                                      </p:to>
                                    </p:set>
                                    <p:animEffect transition="in" filter="box(in)">
                                      <p:cBhvr>
                                        <p:cTn id="10" dur="500"/>
                                        <p:tgtEl>
                                          <p:spTgt spid="29699">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animEffect transition="in" filter="box(in)">
                                      <p:cBhvr>
                                        <p:cTn id="13" dur="500"/>
                                        <p:tgtEl>
                                          <p:spTgt spid="29699">
                                            <p:txEl>
                                              <p:pRg st="3" end="3"/>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9699">
                                            <p:txEl>
                                              <p:pRg st="4" end="4"/>
                                            </p:txEl>
                                          </p:spTgt>
                                        </p:tgtEl>
                                        <p:attrNameLst>
                                          <p:attrName>style.visibility</p:attrName>
                                        </p:attrNameLst>
                                      </p:cBhvr>
                                      <p:to>
                                        <p:strVal val="visible"/>
                                      </p:to>
                                    </p:set>
                                    <p:animEffect transition="in" filter="box(in)">
                                      <p:cBhvr>
                                        <p:cTn id="16" dur="500"/>
                                        <p:tgtEl>
                                          <p:spTgt spid="29699">
                                            <p:txEl>
                                              <p:pRg st="4" end="4"/>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9699">
                                            <p:txEl>
                                              <p:pRg st="5" end="5"/>
                                            </p:txEl>
                                          </p:spTgt>
                                        </p:tgtEl>
                                        <p:attrNameLst>
                                          <p:attrName>style.visibility</p:attrName>
                                        </p:attrNameLst>
                                      </p:cBhvr>
                                      <p:to>
                                        <p:strVal val="visible"/>
                                      </p:to>
                                    </p:set>
                                    <p:animEffect transition="in" filter="box(in)">
                                      <p:cBhvr>
                                        <p:cTn id="19" dur="500"/>
                                        <p:tgtEl>
                                          <p:spTgt spid="29699">
                                            <p:txEl>
                                              <p:pRg st="5" end="5"/>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29699">
                                            <p:txEl>
                                              <p:pRg st="6" end="6"/>
                                            </p:txEl>
                                          </p:spTgt>
                                        </p:tgtEl>
                                        <p:attrNameLst>
                                          <p:attrName>style.visibility</p:attrName>
                                        </p:attrNameLst>
                                      </p:cBhvr>
                                      <p:to>
                                        <p:strVal val="visible"/>
                                      </p:to>
                                    </p:set>
                                    <p:animEffect transition="in" filter="box(in)">
                                      <p:cBhvr>
                                        <p:cTn id="22" dur="500"/>
                                        <p:tgtEl>
                                          <p:spTgt spid="29699">
                                            <p:txEl>
                                              <p:pRg st="6" end="6"/>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29699">
                                            <p:txEl>
                                              <p:pRg st="7" end="7"/>
                                            </p:txEl>
                                          </p:spTgt>
                                        </p:tgtEl>
                                        <p:attrNameLst>
                                          <p:attrName>style.visibility</p:attrName>
                                        </p:attrNameLst>
                                      </p:cBhvr>
                                      <p:to>
                                        <p:strVal val="visible"/>
                                      </p:to>
                                    </p:set>
                                    <p:animEffect transition="in" filter="box(in)">
                                      <p:cBhvr>
                                        <p:cTn id="25" dur="500"/>
                                        <p:tgtEl>
                                          <p:spTgt spid="29699">
                                            <p:txEl>
                                              <p:pRg st="7" end="7"/>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29699">
                                            <p:txEl>
                                              <p:pRg st="8" end="8"/>
                                            </p:txEl>
                                          </p:spTgt>
                                        </p:tgtEl>
                                        <p:attrNameLst>
                                          <p:attrName>style.visibility</p:attrName>
                                        </p:attrNameLst>
                                      </p:cBhvr>
                                      <p:to>
                                        <p:strVal val="visible"/>
                                      </p:to>
                                    </p:set>
                                    <p:animEffect transition="in" filter="box(in)">
                                      <p:cBhvr>
                                        <p:cTn id="28" dur="500"/>
                                        <p:tgtEl>
                                          <p:spTgt spid="296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Files</a:t>
            </a:r>
          </a:p>
        </p:txBody>
      </p:sp>
      <p:pic>
        <p:nvPicPr>
          <p:cNvPr id="12291" name="Picture 6" descr="04-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143000"/>
            <a:ext cx="6781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370" name="Text Box 4"/>
          <p:cNvSpPr txBox="1">
            <a:spLocks noChangeArrowheads="1"/>
          </p:cNvSpPr>
          <p:nvPr/>
        </p:nvSpPr>
        <p:spPr bwMode="auto">
          <a:xfrm>
            <a:off x="3810000" y="6019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4-11.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60370"/>
                                        </p:tgtEl>
                                        <p:attrNameLst>
                                          <p:attrName>style.visibility</p:attrName>
                                        </p:attrNameLst>
                                      </p:cBhvr>
                                      <p:to>
                                        <p:strVal val="visible"/>
                                      </p:to>
                                    </p:set>
                                    <p:animEffect transition="in" filter="box(in)">
                                      <p:cBhvr>
                                        <p:cTn id="7" dur="500"/>
                                        <p:tgtEl>
                                          <p:spTgt spid="1603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37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914400" y="0"/>
            <a:ext cx="8229600" cy="9144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Files</a:t>
            </a:r>
          </a:p>
        </p:txBody>
      </p:sp>
      <p:sp>
        <p:nvSpPr>
          <p:cNvPr id="31747" name="Rectangle 3"/>
          <p:cNvSpPr>
            <a:spLocks noGrp="1"/>
          </p:cNvSpPr>
          <p:nvPr>
            <p:ph type="body" idx="1"/>
          </p:nvPr>
        </p:nvSpPr>
        <p:spPr>
          <a:xfrm>
            <a:off x="0" y="914400"/>
            <a:ext cx="9144000" cy="5943600"/>
          </a:xfrm>
        </p:spPr>
        <p:txBody>
          <a:bodyPr/>
          <a:lstStyle/>
          <a:p>
            <a:pPr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Linked List Allocation </a:t>
            </a:r>
            <a:r>
              <a:rPr lang="en-US" altLang="en-US" sz="2800" b="1">
                <a:latin typeface="Times New Roman" panose="02020603050405020304" pitchFamily="18" charset="0"/>
                <a:cs typeface="Times New Roman" panose="02020603050405020304" pitchFamily="18" charset="0"/>
              </a:rPr>
              <a:t>using a Table in Memory</a:t>
            </a:r>
          </a:p>
          <a:p>
            <a:pPr lvl="1" algn="just">
              <a:lnSpc>
                <a:spcPct val="90000"/>
              </a:lnSpc>
            </a:pPr>
            <a:r>
              <a:rPr lang="en-US" altLang="en-US" sz="2400">
                <a:latin typeface="Times New Roman" panose="02020603050405020304" pitchFamily="18" charset="0"/>
                <a:cs typeface="Times New Roman" panose="02020603050405020304" pitchFamily="18" charset="0"/>
              </a:rPr>
              <a:t>Both the disadvantages of the linked list allocation can be </a:t>
            </a:r>
            <a:r>
              <a:rPr lang="en-US" altLang="en-US" sz="2400" b="1">
                <a:latin typeface="Times New Roman" panose="02020603050405020304" pitchFamily="18" charset="0"/>
                <a:cs typeface="Times New Roman" panose="02020603050405020304" pitchFamily="18" charset="0"/>
              </a:rPr>
              <a:t>eliminated</a:t>
            </a:r>
            <a:r>
              <a:rPr lang="en-US" altLang="en-US" sz="2400">
                <a:latin typeface="Times New Roman" panose="02020603050405020304" pitchFamily="18" charset="0"/>
                <a:cs typeface="Times New Roman" panose="02020603050405020304" pitchFamily="18" charset="0"/>
              </a:rPr>
              <a:t> by </a:t>
            </a:r>
            <a:r>
              <a:rPr lang="en-US" altLang="en-US" sz="2400" b="1">
                <a:latin typeface="Times New Roman" panose="02020603050405020304" pitchFamily="18" charset="0"/>
                <a:cs typeface="Times New Roman" panose="02020603050405020304" pitchFamily="18" charset="0"/>
              </a:rPr>
              <a:t>taking the pointer word from</a:t>
            </a:r>
            <a:r>
              <a:rPr lang="en-US" altLang="en-US" sz="2400">
                <a:latin typeface="Times New Roman" panose="02020603050405020304" pitchFamily="18" charset="0"/>
                <a:cs typeface="Times New Roman" panose="02020603050405020304" pitchFamily="18" charset="0"/>
              </a:rPr>
              <a:t> each </a:t>
            </a:r>
            <a:r>
              <a:rPr lang="en-US" altLang="en-US" sz="2400" b="1">
                <a:latin typeface="Times New Roman" panose="02020603050405020304" pitchFamily="18" charset="0"/>
                <a:cs typeface="Times New Roman" panose="02020603050405020304" pitchFamily="18" charset="0"/>
              </a:rPr>
              <a:t>disk block and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putting</a:t>
            </a:r>
            <a:r>
              <a:rPr lang="en-US" altLang="en-US" sz="2400">
                <a:latin typeface="Times New Roman" panose="02020603050405020304" pitchFamily="18" charset="0"/>
                <a:cs typeface="Times New Roman" panose="02020603050405020304" pitchFamily="18" charset="0"/>
              </a:rPr>
              <a:t> it </a:t>
            </a:r>
            <a:r>
              <a:rPr lang="en-US" altLang="en-US" sz="2400" b="1">
                <a:latin typeface="Times New Roman" panose="02020603050405020304" pitchFamily="18" charset="0"/>
                <a:cs typeface="Times New Roman" panose="02020603050405020304" pitchFamily="18" charset="0"/>
              </a:rPr>
              <a:t>in</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table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in memory</a:t>
            </a:r>
          </a:p>
          <a:p>
            <a:pPr lvl="1" algn="just">
              <a:lnSpc>
                <a:spcPct val="90000"/>
              </a:lnSpc>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File Allocation Table – FAT</a:t>
            </a:r>
            <a:r>
              <a:rPr lang="en-US" altLang="en-US" sz="2400">
                <a:latin typeface="Times New Roman" panose="02020603050405020304" pitchFamily="18" charset="0"/>
                <a:cs typeface="Times New Roman" panose="02020603050405020304" pitchFamily="18" charset="0"/>
              </a:rPr>
              <a:t>)</a:t>
            </a:r>
          </a:p>
          <a:p>
            <a:pPr algn="just">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Advantages</a:t>
            </a:r>
          </a:p>
          <a:p>
            <a:pPr lvl="1" algn="just">
              <a:lnSpc>
                <a:spcPct val="90000"/>
              </a:lnSpc>
            </a:pPr>
            <a:r>
              <a:rPr lang="en-US" altLang="en-US" sz="2400">
                <a:latin typeface="Times New Roman" panose="02020603050405020304" pitchFamily="18" charset="0"/>
                <a:cs typeface="Times New Roman" panose="02020603050405020304" pitchFamily="18" charset="0"/>
              </a:rPr>
              <a:t>The same advantages as linked list allocation</a:t>
            </a:r>
          </a:p>
          <a:p>
            <a:pPr lvl="1" algn="just">
              <a:lnSpc>
                <a:spcPct val="90000"/>
              </a:lnSpc>
            </a:pPr>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entire block </a:t>
            </a:r>
            <a:r>
              <a:rPr lang="en-US" altLang="en-US" sz="2400">
                <a:latin typeface="Times New Roman" panose="02020603050405020304" pitchFamily="18" charset="0"/>
                <a:cs typeface="Times New Roman" panose="02020603050405020304" pitchFamily="18" charset="0"/>
              </a:rPr>
              <a:t>is </a:t>
            </a:r>
            <a:r>
              <a:rPr lang="en-US" altLang="en-US" sz="2400" b="1">
                <a:latin typeface="Times New Roman" panose="02020603050405020304" pitchFamily="18" charset="0"/>
                <a:cs typeface="Times New Roman" panose="02020603050405020304" pitchFamily="18" charset="0"/>
              </a:rPr>
              <a:t>available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for data</a:t>
            </a:r>
          </a:p>
          <a:p>
            <a:pPr lvl="1" algn="just">
              <a:lnSpc>
                <a:spcPct val="90000"/>
              </a:lnSpc>
            </a:pPr>
            <a:r>
              <a:rPr lang="en-US" altLang="en-US" sz="2400" b="1">
                <a:latin typeface="Times New Roman" panose="02020603050405020304" pitchFamily="18" charset="0"/>
                <a:cs typeface="Times New Roman" panose="02020603050405020304" pitchFamily="18" charset="0"/>
              </a:rPr>
              <a:t>Random access </a:t>
            </a:r>
            <a:r>
              <a:rPr lang="en-US" altLang="en-US" sz="2400">
                <a:latin typeface="Times New Roman" panose="02020603050405020304" pitchFamily="18" charset="0"/>
                <a:cs typeface="Times New Roman" panose="02020603050405020304" pitchFamily="18" charset="0"/>
              </a:rPr>
              <a:t>is relatively fast</a:t>
            </a:r>
          </a:p>
          <a:p>
            <a:pPr algn="just">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Disadvantages</a:t>
            </a:r>
          </a:p>
          <a:p>
            <a:pPr lvl="1" algn="just">
              <a:lnSpc>
                <a:spcPct val="90000"/>
              </a:lnSpc>
            </a:pPr>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entire table must</a:t>
            </a:r>
            <a:r>
              <a:rPr lang="en-US" altLang="en-US" sz="2400">
                <a:latin typeface="Times New Roman" panose="02020603050405020304" pitchFamily="18" charset="0"/>
                <a:cs typeface="Times New Roman" panose="02020603050405020304" pitchFamily="18" charset="0"/>
              </a:rPr>
              <a:t> be </a:t>
            </a:r>
            <a:r>
              <a:rPr lang="en-US" altLang="en-US" sz="2400" b="1">
                <a:latin typeface="Times New Roman" panose="02020603050405020304" pitchFamily="18" charset="0"/>
                <a:cs typeface="Times New Roman" panose="02020603050405020304" pitchFamily="18" charset="0"/>
              </a:rPr>
              <a:t>kept</a:t>
            </a:r>
            <a:r>
              <a:rPr lang="en-US" altLang="en-US" sz="2400">
                <a:latin typeface="Times New Roman" panose="02020603050405020304" pitchFamily="18" charset="0"/>
                <a:cs typeface="Times New Roman" panose="02020603050405020304" pitchFamily="18" charset="0"/>
              </a:rPr>
              <a:t> for efficiency </a:t>
            </a:r>
            <a:r>
              <a:rPr lang="en-US" altLang="en-US" sz="2400" b="1">
                <a:latin typeface="Times New Roman" panose="02020603050405020304" pitchFamily="18" charset="0"/>
                <a:cs typeface="Times New Roman" panose="02020603050405020304" pitchFamily="18" charset="0"/>
              </a:rPr>
              <a:t>in memory</a:t>
            </a:r>
          </a:p>
          <a:p>
            <a:pPr lvl="1" algn="just">
              <a:lnSpc>
                <a:spcPct val="90000"/>
              </a:lnSpc>
            </a:pPr>
            <a:r>
              <a:rPr lang="en-US" altLang="en-US" sz="2400" b="1">
                <a:latin typeface="Times New Roman" panose="02020603050405020304" pitchFamily="18" charset="0"/>
                <a:cs typeface="Times New Roman" panose="02020603050405020304" pitchFamily="18" charset="0"/>
              </a:rPr>
              <a:t>Ex</a:t>
            </a:r>
            <a:r>
              <a:rPr lang="en-US" altLang="en-US" sz="2400">
                <a:latin typeface="Times New Roman" panose="02020603050405020304" pitchFamily="18" charset="0"/>
                <a:cs typeface="Times New Roman" panose="02020603050405020304" pitchFamily="18" charset="0"/>
              </a:rPr>
              <a:t>: for a 200GB HDD, 1KB Block-size, 4 bytes for an entry </a:t>
            </a:r>
            <a:r>
              <a:rPr lang="en-US" altLang="en-US" sz="240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a:latin typeface="Times New Roman" panose="02020603050405020304" pitchFamily="18" charset="0"/>
                <a:cs typeface="Times New Roman" panose="02020603050405020304" pitchFamily="18" charset="0"/>
              </a:rPr>
              <a:t> 200 mil. entries </a:t>
            </a:r>
            <a:r>
              <a:rPr lang="en-US" altLang="en-US" sz="240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a:latin typeface="Times New Roman" panose="02020603050405020304" pitchFamily="18" charset="0"/>
                <a:cs typeface="Times New Roman" panose="02020603050405020304" pitchFamily="18" charset="0"/>
              </a:rPr>
              <a:t> 600MB – 800MB of memory for FAT</a:t>
            </a:r>
          </a:p>
          <a:p>
            <a:pPr lvl="1" algn="just">
              <a:lnSpc>
                <a:spcPct val="90000"/>
              </a:lnSpc>
            </a:pPr>
            <a:r>
              <a:rPr lang="en-US" altLang="en-US" sz="2400" b="1">
                <a:latin typeface="Times New Roman" panose="02020603050405020304" pitchFamily="18" charset="0"/>
                <a:cs typeface="Times New Roman" panose="02020603050405020304" pitchFamily="18" charset="0"/>
              </a:rPr>
              <a:t>Not wildly practical and</a:t>
            </a:r>
            <a:r>
              <a:rPr lang="en-US" altLang="en-US" sz="2400">
                <a:latin typeface="Times New Roman" panose="02020603050405020304" pitchFamily="18" charset="0"/>
                <a:cs typeface="Times New Roman" panose="02020603050405020304" pitchFamily="18" charset="0"/>
              </a:rPr>
              <a:t> does </a:t>
            </a:r>
            <a:r>
              <a:rPr lang="en-US" altLang="en-US" sz="2400" b="1">
                <a:latin typeface="Times New Roman" panose="02020603050405020304" pitchFamily="18" charset="0"/>
                <a:cs typeface="Times New Roman" panose="02020603050405020304" pitchFamily="18" charset="0"/>
              </a:rPr>
              <a:t>not scale </a:t>
            </a:r>
            <a:r>
              <a:rPr lang="en-US" altLang="en-US" sz="2400">
                <a:latin typeface="Times New Roman" panose="02020603050405020304" pitchFamily="18" charset="0"/>
                <a:cs typeface="Times New Roman" panose="02020603050405020304" pitchFamily="18" charset="0"/>
              </a:rPr>
              <a:t>well to large disks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1747">
                                            <p:txEl>
                                              <p:pRg st="1" end="1"/>
                                            </p:txEl>
                                          </p:spTgt>
                                        </p:tgtEl>
                                        <p:attrNameLst>
                                          <p:attrName>style.visibility</p:attrName>
                                        </p:attrNameLst>
                                      </p:cBhvr>
                                      <p:to>
                                        <p:strVal val="visible"/>
                                      </p:to>
                                    </p:set>
                                    <p:animEffect transition="in" filter="checkerboard(across)">
                                      <p:cBhvr>
                                        <p:cTn id="7" dur="500"/>
                                        <p:tgtEl>
                                          <p:spTgt spid="31747">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1747">
                                            <p:txEl>
                                              <p:pRg st="2" end="2"/>
                                            </p:txEl>
                                          </p:spTgt>
                                        </p:tgtEl>
                                        <p:attrNameLst>
                                          <p:attrName>style.visibility</p:attrName>
                                        </p:attrNameLst>
                                      </p:cBhvr>
                                      <p:to>
                                        <p:strVal val="visible"/>
                                      </p:to>
                                    </p:set>
                                    <p:animEffect transition="in" filter="checkerboard(across)">
                                      <p:cBhvr>
                                        <p:cTn id="10" dur="500"/>
                                        <p:tgtEl>
                                          <p:spTgt spid="31747">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1747">
                                            <p:txEl>
                                              <p:pRg st="3" end="3"/>
                                            </p:txEl>
                                          </p:spTgt>
                                        </p:tgtEl>
                                        <p:attrNameLst>
                                          <p:attrName>style.visibility</p:attrName>
                                        </p:attrNameLst>
                                      </p:cBhvr>
                                      <p:to>
                                        <p:strVal val="visible"/>
                                      </p:to>
                                    </p:set>
                                    <p:animEffect transition="in" filter="checkerboard(across)">
                                      <p:cBhvr>
                                        <p:cTn id="13" dur="500"/>
                                        <p:tgtEl>
                                          <p:spTgt spid="31747">
                                            <p:txEl>
                                              <p:pRg st="3" end="3"/>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1747">
                                            <p:txEl>
                                              <p:pRg st="4" end="4"/>
                                            </p:txEl>
                                          </p:spTgt>
                                        </p:tgtEl>
                                        <p:attrNameLst>
                                          <p:attrName>style.visibility</p:attrName>
                                        </p:attrNameLst>
                                      </p:cBhvr>
                                      <p:to>
                                        <p:strVal val="visible"/>
                                      </p:to>
                                    </p:set>
                                    <p:animEffect transition="in" filter="checkerboard(across)">
                                      <p:cBhvr>
                                        <p:cTn id="16" dur="500"/>
                                        <p:tgtEl>
                                          <p:spTgt spid="31747">
                                            <p:txEl>
                                              <p:pRg st="4" end="4"/>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31747">
                                            <p:txEl>
                                              <p:pRg st="5" end="5"/>
                                            </p:txEl>
                                          </p:spTgt>
                                        </p:tgtEl>
                                        <p:attrNameLst>
                                          <p:attrName>style.visibility</p:attrName>
                                        </p:attrNameLst>
                                      </p:cBhvr>
                                      <p:to>
                                        <p:strVal val="visible"/>
                                      </p:to>
                                    </p:set>
                                    <p:animEffect transition="in" filter="checkerboard(across)">
                                      <p:cBhvr>
                                        <p:cTn id="19" dur="500"/>
                                        <p:tgtEl>
                                          <p:spTgt spid="31747">
                                            <p:txEl>
                                              <p:pRg st="5" end="5"/>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31747">
                                            <p:txEl>
                                              <p:pRg st="6" end="6"/>
                                            </p:txEl>
                                          </p:spTgt>
                                        </p:tgtEl>
                                        <p:attrNameLst>
                                          <p:attrName>style.visibility</p:attrName>
                                        </p:attrNameLst>
                                      </p:cBhvr>
                                      <p:to>
                                        <p:strVal val="visible"/>
                                      </p:to>
                                    </p:set>
                                    <p:animEffect transition="in" filter="checkerboard(across)">
                                      <p:cBhvr>
                                        <p:cTn id="22" dur="500"/>
                                        <p:tgtEl>
                                          <p:spTgt spid="31747">
                                            <p:txEl>
                                              <p:pRg st="6" end="6"/>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31747">
                                            <p:txEl>
                                              <p:pRg st="7" end="7"/>
                                            </p:txEl>
                                          </p:spTgt>
                                        </p:tgtEl>
                                        <p:attrNameLst>
                                          <p:attrName>style.visibility</p:attrName>
                                        </p:attrNameLst>
                                      </p:cBhvr>
                                      <p:to>
                                        <p:strVal val="visible"/>
                                      </p:to>
                                    </p:set>
                                    <p:animEffect transition="in" filter="checkerboard(across)">
                                      <p:cBhvr>
                                        <p:cTn id="25" dur="500"/>
                                        <p:tgtEl>
                                          <p:spTgt spid="31747">
                                            <p:txEl>
                                              <p:pRg st="7" end="7"/>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31747">
                                            <p:txEl>
                                              <p:pRg st="8" end="8"/>
                                            </p:txEl>
                                          </p:spTgt>
                                        </p:tgtEl>
                                        <p:attrNameLst>
                                          <p:attrName>style.visibility</p:attrName>
                                        </p:attrNameLst>
                                      </p:cBhvr>
                                      <p:to>
                                        <p:strVal val="visible"/>
                                      </p:to>
                                    </p:set>
                                    <p:animEffect transition="in" filter="checkerboard(across)">
                                      <p:cBhvr>
                                        <p:cTn id="28" dur="500"/>
                                        <p:tgtEl>
                                          <p:spTgt spid="31747">
                                            <p:txEl>
                                              <p:pRg st="8" end="8"/>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31747">
                                            <p:txEl>
                                              <p:pRg st="9" end="9"/>
                                            </p:txEl>
                                          </p:spTgt>
                                        </p:tgtEl>
                                        <p:attrNameLst>
                                          <p:attrName>style.visibility</p:attrName>
                                        </p:attrNameLst>
                                      </p:cBhvr>
                                      <p:to>
                                        <p:strVal val="visible"/>
                                      </p:to>
                                    </p:set>
                                    <p:animEffect transition="in" filter="checkerboard(across)">
                                      <p:cBhvr>
                                        <p:cTn id="31" dur="500"/>
                                        <p:tgtEl>
                                          <p:spTgt spid="31747">
                                            <p:txEl>
                                              <p:pRg st="9" end="9"/>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31747">
                                            <p:txEl>
                                              <p:pRg st="10" end="10"/>
                                            </p:txEl>
                                          </p:spTgt>
                                        </p:tgtEl>
                                        <p:attrNameLst>
                                          <p:attrName>style.visibility</p:attrName>
                                        </p:attrNameLst>
                                      </p:cBhvr>
                                      <p:to>
                                        <p:strVal val="visible"/>
                                      </p:to>
                                    </p:set>
                                    <p:animEffect transition="in" filter="checkerboard(across)">
                                      <p:cBhvr>
                                        <p:cTn id="34" dur="500"/>
                                        <p:tgtEl>
                                          <p:spTgt spid="3174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914400" y="0"/>
            <a:ext cx="8229600" cy="9906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Files</a:t>
            </a:r>
          </a:p>
        </p:txBody>
      </p:sp>
      <p:pic>
        <p:nvPicPr>
          <p:cNvPr id="2" name="Picture 1">
            <a:extLst>
              <a:ext uri="{FF2B5EF4-FFF2-40B4-BE49-F238E27FC236}">
                <a16:creationId xmlns:a16="http://schemas.microsoft.com/office/drawing/2014/main" id="{0181F140-6195-42F5-9CDB-C13DA8231505}"/>
              </a:ext>
            </a:extLst>
          </p:cNvPr>
          <p:cNvPicPr>
            <a:picLocks noChangeAspect="1"/>
          </p:cNvPicPr>
          <p:nvPr/>
        </p:nvPicPr>
        <p:blipFill>
          <a:blip r:embed="rId3"/>
          <a:stretch>
            <a:fillRect/>
          </a:stretch>
        </p:blipFill>
        <p:spPr>
          <a:xfrm>
            <a:off x="1728787" y="990600"/>
            <a:ext cx="5686425" cy="4724400"/>
          </a:xfrm>
          <a:prstGeom prst="rect">
            <a:avLst/>
          </a:prstGeom>
        </p:spPr>
      </p:pic>
      <p:pic>
        <p:nvPicPr>
          <p:cNvPr id="3" name="Picture 2">
            <a:extLst>
              <a:ext uri="{FF2B5EF4-FFF2-40B4-BE49-F238E27FC236}">
                <a16:creationId xmlns:a16="http://schemas.microsoft.com/office/drawing/2014/main" id="{A2FB3F5A-F6F4-40FF-9CBF-C207C21E7CC5}"/>
              </a:ext>
            </a:extLst>
          </p:cNvPr>
          <p:cNvPicPr>
            <a:picLocks noChangeAspect="1"/>
          </p:cNvPicPr>
          <p:nvPr/>
        </p:nvPicPr>
        <p:blipFill>
          <a:blip r:embed="rId4"/>
          <a:stretch>
            <a:fillRect/>
          </a:stretch>
        </p:blipFill>
        <p:spPr>
          <a:xfrm>
            <a:off x="609600" y="5715000"/>
            <a:ext cx="8001000" cy="11430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6" descr="04-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2133600"/>
            <a:ext cx="3962400" cy="366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i-nodes</a:t>
            </a:r>
          </a:p>
        </p:txBody>
      </p:sp>
      <p:sp>
        <p:nvSpPr>
          <p:cNvPr id="15364" name="Rectangle 3"/>
          <p:cNvSpPr>
            <a:spLocks noGrp="1"/>
          </p:cNvSpPr>
          <p:nvPr>
            <p:ph type="body" sz="half" idx="1"/>
          </p:nvPr>
        </p:nvSpPr>
        <p:spPr>
          <a:xfrm>
            <a:off x="0" y="990600"/>
            <a:ext cx="5638800" cy="5867400"/>
          </a:xfrm>
        </p:spPr>
        <p:txBody>
          <a:bodyPr/>
          <a:lstStyle/>
          <a:p>
            <a:pPr algn="just"/>
            <a:r>
              <a:rPr lang="en-US" altLang="en-US" sz="2800">
                <a:latin typeface="Times New Roman" panose="02020603050405020304" pitchFamily="18" charset="0"/>
                <a:cs typeface="Times New Roman" panose="02020603050405020304" pitchFamily="18" charset="0"/>
              </a:rPr>
              <a:t>Is briefcase of index-nodes</a:t>
            </a:r>
          </a:p>
          <a:p>
            <a:pPr algn="just"/>
            <a:r>
              <a:rPr lang="en-US" altLang="en-US" sz="2800">
                <a:latin typeface="Times New Roman" panose="02020603050405020304" pitchFamily="18" charset="0"/>
                <a:cs typeface="Times New Roman" panose="02020603050405020304" pitchFamily="18" charset="0"/>
              </a:rPr>
              <a:t>A data structure (involve </a:t>
            </a:r>
            <a:r>
              <a:rPr lang="en-US" altLang="en-US" sz="2800" b="1">
                <a:latin typeface="Times New Roman" panose="02020603050405020304" pitchFamily="18" charset="0"/>
                <a:cs typeface="Times New Roman" panose="02020603050405020304" pitchFamily="18" charset="0"/>
              </a:rPr>
              <a:t>2 parts</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associates</a:t>
            </a:r>
            <a:r>
              <a:rPr lang="en-US" altLang="en-US" sz="2800">
                <a:latin typeface="Times New Roman" panose="02020603050405020304" pitchFamily="18" charset="0"/>
                <a:cs typeface="Times New Roman" panose="02020603050405020304" pitchFamily="18" charset="0"/>
              </a:rPr>
              <a:t> with </a:t>
            </a:r>
            <a:r>
              <a:rPr lang="en-US" altLang="en-US" sz="2800" b="1">
                <a:latin typeface="Times New Roman" panose="02020603050405020304" pitchFamily="18" charset="0"/>
                <a:cs typeface="Times New Roman" panose="02020603050405020304" pitchFamily="18" charset="0"/>
              </a:rPr>
              <a:t>every file</a:t>
            </a:r>
          </a:p>
          <a:p>
            <a:pPr lvl="1" algn="just"/>
            <a:r>
              <a:rPr lang="en-US" altLang="en-US" sz="2400" b="1">
                <a:latin typeface="Times New Roman" panose="02020603050405020304" pitchFamily="18" charset="0"/>
                <a:cs typeface="Times New Roman" panose="02020603050405020304" pitchFamily="18" charset="0"/>
              </a:rPr>
              <a:t>Part 1</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Lists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attributes</a:t>
            </a:r>
            <a:r>
              <a:rPr lang="en-US" altLang="en-US" sz="2400">
                <a:latin typeface="Times New Roman" panose="02020603050405020304" pitchFamily="18" charset="0"/>
                <a:cs typeface="Times New Roman" panose="02020603050405020304" pitchFamily="18" charset="0"/>
              </a:rPr>
              <a:t> </a:t>
            </a:r>
          </a:p>
          <a:p>
            <a:pPr lvl="1" algn="just"/>
            <a:r>
              <a:rPr lang="en-US" altLang="en-US" sz="2400" b="1">
                <a:latin typeface="Times New Roman" panose="02020603050405020304" pitchFamily="18" charset="0"/>
                <a:cs typeface="Times New Roman" panose="02020603050405020304" pitchFamily="18" charset="0"/>
              </a:rPr>
              <a:t>Part 2</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Disk addresses </a:t>
            </a:r>
            <a:r>
              <a:rPr lang="en-US" altLang="en-US" sz="2400">
                <a:latin typeface="Times New Roman" panose="02020603050405020304" pitchFamily="18" charset="0"/>
                <a:cs typeface="Times New Roman" panose="02020603050405020304" pitchFamily="18" charset="0"/>
              </a:rPr>
              <a:t>of the </a:t>
            </a:r>
            <a:r>
              <a:rPr lang="en-US" altLang="en-US" sz="2400" b="1">
                <a:latin typeface="Times New Roman" panose="02020603050405020304" pitchFamily="18" charset="0"/>
                <a:cs typeface="Times New Roman" panose="02020603050405020304" pitchFamily="18" charset="0"/>
              </a:rPr>
              <a:t>file’s block</a:t>
            </a:r>
            <a:r>
              <a:rPr lang="en-US" altLang="en-US" sz="2400">
                <a:latin typeface="Times New Roman" panose="02020603050405020304" pitchFamily="18" charset="0"/>
                <a:cs typeface="Times New Roman" panose="02020603050405020304" pitchFamily="18" charset="0"/>
              </a:rPr>
              <a:t>. It divides </a:t>
            </a:r>
            <a:r>
              <a:rPr lang="en-US" altLang="en-US" sz="2400" b="1">
                <a:latin typeface="Times New Roman" panose="02020603050405020304" pitchFamily="18" charset="0"/>
                <a:cs typeface="Times New Roman" panose="02020603050405020304" pitchFamily="18" charset="0"/>
              </a:rPr>
              <a:t>2 sub parts</a:t>
            </a:r>
          </a:p>
          <a:p>
            <a:pPr lvl="2" algn="just"/>
            <a:r>
              <a:rPr lang="en-US" altLang="en-US" sz="2000" b="1">
                <a:latin typeface="Times New Roman" panose="02020603050405020304" pitchFamily="18" charset="0"/>
                <a:cs typeface="Times New Roman" panose="02020603050405020304" pitchFamily="18" charset="0"/>
              </a:rPr>
              <a:t>Sub part 1</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contain</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address</a:t>
            </a:r>
            <a:r>
              <a:rPr lang="en-US" altLang="en-US" sz="2000">
                <a:latin typeface="Times New Roman" panose="02020603050405020304" pitchFamily="18" charset="0"/>
                <a:cs typeface="Times New Roman" panose="02020603050405020304" pitchFamily="18" charset="0"/>
              </a:rPr>
              <a:t> of disk </a:t>
            </a:r>
            <a:r>
              <a:rPr lang="en-US" altLang="en-US" sz="2000" b="1">
                <a:latin typeface="Times New Roman" panose="02020603050405020304" pitchFamily="18" charset="0"/>
                <a:cs typeface="Times New Roman" panose="02020603050405020304" pitchFamily="18" charset="0"/>
              </a:rPr>
              <a:t>block i</a:t>
            </a:r>
            <a:r>
              <a:rPr lang="en-US" altLang="en-US" sz="2000" b="1" baseline="30000">
                <a:latin typeface="Times New Roman" panose="02020603050405020304" pitchFamily="18" charset="0"/>
                <a:cs typeface="Times New Roman" panose="02020603050405020304" pitchFamily="18" charset="0"/>
              </a:rPr>
              <a:t>th</a:t>
            </a:r>
            <a:r>
              <a:rPr lang="en-US" altLang="en-US" sz="2000" b="1">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in </a:t>
            </a:r>
            <a:r>
              <a:rPr lang="en-US" altLang="en-US" sz="2000" b="1">
                <a:latin typeface="Times New Roman" panose="02020603050405020304" pitchFamily="18" charset="0"/>
                <a:cs typeface="Times New Roman" panose="02020603050405020304" pitchFamily="18" charset="0"/>
              </a:rPr>
              <a:t>directly</a:t>
            </a:r>
          </a:p>
          <a:p>
            <a:pPr lvl="2" algn="just"/>
            <a:r>
              <a:rPr lang="en-US" altLang="en-US" sz="2000" b="1">
                <a:latin typeface="Times New Roman" panose="02020603050405020304" pitchFamily="18" charset="0"/>
                <a:cs typeface="Times New Roman" panose="02020603050405020304" pitchFamily="18" charset="0"/>
              </a:rPr>
              <a:t>Sub part 2</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contain</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address</a:t>
            </a:r>
            <a:r>
              <a:rPr lang="en-US" altLang="en-US" sz="2000">
                <a:latin typeface="Times New Roman" panose="02020603050405020304" pitchFamily="18" charset="0"/>
                <a:cs typeface="Times New Roman" panose="02020603050405020304" pitchFamily="18" charset="0"/>
              </a:rPr>
              <a:t> of block of </a:t>
            </a:r>
            <a:r>
              <a:rPr lang="en-US" altLang="en-US" sz="2000" b="1">
                <a:latin typeface="Times New Roman" panose="02020603050405020304" pitchFamily="18" charset="0"/>
                <a:cs typeface="Times New Roman" panose="02020603050405020304" pitchFamily="18" charset="0"/>
              </a:rPr>
              <a:t>pointers</a:t>
            </a:r>
            <a:r>
              <a:rPr lang="en-US" altLang="en-US" sz="2000">
                <a:latin typeface="Times New Roman" panose="02020603050405020304" pitchFamily="18" charset="0"/>
                <a:cs typeface="Times New Roman" panose="02020603050405020304" pitchFamily="18" charset="0"/>
              </a:rPr>
              <a:t> that is used </a:t>
            </a:r>
            <a:r>
              <a:rPr lang="en-US" altLang="en-US" sz="2000" b="1">
                <a:latin typeface="Times New Roman" panose="02020603050405020304" pitchFamily="18" charset="0"/>
                <a:cs typeface="Times New Roman" panose="02020603050405020304" pitchFamily="18" charset="0"/>
              </a:rPr>
              <a:t>with</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large file </a:t>
            </a:r>
            <a:r>
              <a:rPr lang="en-US" altLang="en-US" sz="2000">
                <a:latin typeface="Times New Roman" panose="02020603050405020304" pitchFamily="18" charset="0"/>
                <a:cs typeface="Times New Roman" panose="02020603050405020304" pitchFamily="18" charset="0"/>
              </a:rPr>
              <a:t>(multilevel index) </a:t>
            </a:r>
          </a:p>
          <a:p>
            <a:pPr lvl="1" algn="just"/>
            <a:r>
              <a:rPr lang="en-US" altLang="en-US" sz="2400">
                <a:latin typeface="Times New Roman" panose="02020603050405020304" pitchFamily="18" charset="0"/>
                <a:cs typeface="Times New Roman" panose="02020603050405020304" pitchFamily="18" charset="0"/>
              </a:rPr>
              <a:t>Given the i-node, it is then possible to find all the blocks of the file</a:t>
            </a:r>
          </a:p>
        </p:txBody>
      </p:sp>
      <p:sp>
        <p:nvSpPr>
          <p:cNvPr id="155653" name="Text Box 4"/>
          <p:cNvSpPr txBox="1">
            <a:spLocks noChangeArrowheads="1"/>
          </p:cNvSpPr>
          <p:nvPr/>
        </p:nvSpPr>
        <p:spPr bwMode="auto">
          <a:xfrm>
            <a:off x="6553200" y="6172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4-13.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5653"/>
                                        </p:tgtEl>
                                        <p:attrNameLst>
                                          <p:attrName>style.visibility</p:attrName>
                                        </p:attrNameLst>
                                      </p:cBhvr>
                                      <p:to>
                                        <p:strVal val="visible"/>
                                      </p:to>
                                    </p:set>
                                    <p:animEffect transition="in" filter="box(in)">
                                      <p:cBhvr>
                                        <p:cTn id="7" dur="500"/>
                                        <p:tgtEl>
                                          <p:spTgt spid="155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idx="4294967295"/>
          </p:nvPr>
        </p:nvSpPr>
        <p:spPr>
          <a:xfrm>
            <a:off x="1219200" y="0"/>
            <a:ext cx="7924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i-nodes – Example</a:t>
            </a:r>
          </a:p>
        </p:txBody>
      </p:sp>
      <p:pic>
        <p:nvPicPr>
          <p:cNvPr id="16387" name="Picture 6" descr="04-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143000"/>
            <a:ext cx="8229600" cy="512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i-nodes</a:t>
            </a:r>
          </a:p>
        </p:txBody>
      </p:sp>
      <p:sp>
        <p:nvSpPr>
          <p:cNvPr id="34819" name="Rectangle 3"/>
          <p:cNvSpPr>
            <a:spLocks noGrp="1"/>
          </p:cNvSpPr>
          <p:nvPr>
            <p:ph type="body" sz="half" idx="4294967295"/>
          </p:nvPr>
        </p:nvSpPr>
        <p:spPr>
          <a:xfrm>
            <a:off x="0" y="685800"/>
            <a:ext cx="9144000" cy="6172200"/>
          </a:xfrm>
        </p:spPr>
        <p:txBody>
          <a:bodyPr/>
          <a:lstStyle/>
          <a:p>
            <a:pPr algn="just">
              <a:lnSpc>
                <a:spcPct val="90000"/>
              </a:lnSpc>
            </a:pPr>
            <a:r>
              <a:rPr lang="en-US" altLang="en-US" sz="2400" b="1" dirty="0">
                <a:latin typeface="Times New Roman" panose="02020603050405020304" pitchFamily="18" charset="0"/>
                <a:cs typeface="Times New Roman" panose="02020603050405020304" pitchFamily="18" charset="0"/>
              </a:rPr>
              <a:t>Advantages</a:t>
            </a:r>
          </a:p>
          <a:p>
            <a:pPr lvl="1" algn="just">
              <a:lnSpc>
                <a:spcPct val="90000"/>
              </a:lnSpc>
            </a:pPr>
            <a:r>
              <a:rPr lang="en-US" altLang="en-US" sz="2000" dirty="0">
                <a:latin typeface="Times New Roman" panose="02020603050405020304" pitchFamily="18" charset="0"/>
                <a:cs typeface="Times New Roman" panose="02020603050405020304" pitchFamily="18" charset="0"/>
              </a:rPr>
              <a:t>The </a:t>
            </a:r>
            <a:r>
              <a:rPr lang="en-US" altLang="en-US" sz="2000" b="1" dirty="0">
                <a:latin typeface="Times New Roman" panose="02020603050405020304" pitchFamily="18" charset="0"/>
                <a:cs typeface="Times New Roman" panose="02020603050405020304" pitchFamily="18" charset="0"/>
              </a:rPr>
              <a:t>space</a:t>
            </a:r>
            <a:r>
              <a:rPr lang="en-US" altLang="en-US" sz="2000" dirty="0">
                <a:latin typeface="Times New Roman" panose="02020603050405020304" pitchFamily="18" charset="0"/>
                <a:cs typeface="Times New Roman" panose="02020603050405020304" pitchFamily="18" charset="0"/>
              </a:rPr>
              <a:t> is </a:t>
            </a:r>
            <a:r>
              <a:rPr lang="en-US" altLang="en-US" sz="2000" b="1" dirty="0">
                <a:latin typeface="Times New Roman" panose="02020603050405020304" pitchFamily="18" charset="0"/>
                <a:cs typeface="Times New Roman" panose="02020603050405020304" pitchFamily="18" charset="0"/>
              </a:rPr>
              <a:t>reserved</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because</a:t>
            </a:r>
            <a:r>
              <a:rPr lang="en-US" altLang="en-US" sz="2000" dirty="0">
                <a:latin typeface="Times New Roman" panose="02020603050405020304" pitchFamily="18" charset="0"/>
                <a:cs typeface="Times New Roman" panose="02020603050405020304" pitchFamily="18" charset="0"/>
              </a:rPr>
              <a:t> </a:t>
            </a:r>
            <a:r>
              <a:rPr lang="en-US" altLang="en-US" sz="2000" b="1" dirty="0" err="1">
                <a:latin typeface="Times New Roman" panose="02020603050405020304" pitchFamily="18" charset="0"/>
                <a:cs typeface="Times New Roman" panose="02020603050405020304" pitchFamily="18" charset="0"/>
              </a:rPr>
              <a:t>i</a:t>
            </a:r>
            <a:r>
              <a:rPr lang="en-US" altLang="en-US" sz="2000" b="1" dirty="0">
                <a:latin typeface="Times New Roman" panose="02020603050405020304" pitchFamily="18" charset="0"/>
                <a:cs typeface="Times New Roman" panose="02020603050405020304" pitchFamily="18" charset="0"/>
              </a:rPr>
              <a:t>-node need only </a:t>
            </a:r>
            <a:r>
              <a:rPr lang="en-US" altLang="en-US" sz="2000" dirty="0">
                <a:latin typeface="Times New Roman" panose="02020603050405020304" pitchFamily="18" charset="0"/>
                <a:cs typeface="Times New Roman" panose="02020603050405020304" pitchFamily="18" charset="0"/>
              </a:rPr>
              <a:t>be </a:t>
            </a:r>
            <a:r>
              <a:rPr lang="en-US" altLang="en-US" sz="2000" b="1" dirty="0">
                <a:latin typeface="Times New Roman" panose="02020603050405020304" pitchFamily="18" charset="0"/>
                <a:cs typeface="Times New Roman" panose="02020603050405020304" pitchFamily="18" charset="0"/>
              </a:rPr>
              <a:t>in memory when</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corresponding file is open</a:t>
            </a:r>
          </a:p>
          <a:p>
            <a:pPr lvl="1" algn="just">
              <a:lnSpc>
                <a:spcPct val="90000"/>
              </a:lnSpc>
            </a:pPr>
            <a:r>
              <a:rPr lang="en-US" altLang="en-US" sz="2000" b="1" dirty="0">
                <a:latin typeface="Times New Roman" panose="02020603050405020304" pitchFamily="18" charset="0"/>
                <a:cs typeface="Times New Roman" panose="02020603050405020304" pitchFamily="18" charset="0"/>
              </a:rPr>
              <a:t>Allows</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maximum number files that</a:t>
            </a:r>
            <a:r>
              <a:rPr lang="en-US" altLang="en-US" sz="2000" dirty="0">
                <a:latin typeface="Times New Roman" panose="02020603050405020304" pitchFamily="18" charset="0"/>
                <a:cs typeface="Times New Roman" panose="02020603050405020304" pitchFamily="18" charset="0"/>
              </a:rPr>
              <a:t> may be </a:t>
            </a:r>
            <a:r>
              <a:rPr lang="en-US" altLang="en-US" sz="2000" b="1" dirty="0">
                <a:latin typeface="Times New Roman" panose="02020603050405020304" pitchFamily="18" charset="0"/>
                <a:cs typeface="Times New Roman" panose="02020603050405020304" pitchFamily="18" charset="0"/>
              </a:rPr>
              <a:t>opened at once</a:t>
            </a:r>
          </a:p>
          <a:p>
            <a:pPr lvl="1" algn="just">
              <a:lnSpc>
                <a:spcPct val="90000"/>
              </a:lnSpc>
            </a:pPr>
            <a:r>
              <a:rPr lang="en-US" altLang="en-US" sz="2000" dirty="0">
                <a:latin typeface="Times New Roman" panose="02020603050405020304" pitchFamily="18" charset="0"/>
                <a:cs typeface="Times New Roman" panose="02020603050405020304" pitchFamily="18" charset="0"/>
              </a:rPr>
              <a:t>Is </a:t>
            </a:r>
            <a:r>
              <a:rPr lang="en-US" altLang="en-US" sz="2000" b="1" dirty="0">
                <a:latin typeface="Times New Roman" panose="02020603050405020304" pitchFamily="18" charset="0"/>
                <a:cs typeface="Times New Roman" panose="02020603050405020304" pitchFamily="18" charset="0"/>
              </a:rPr>
              <a:t>smaller</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than</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space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occupied</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by</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file table</a:t>
            </a:r>
          </a:p>
          <a:p>
            <a:pPr algn="just">
              <a:lnSpc>
                <a:spcPct val="90000"/>
              </a:lnSpc>
            </a:pPr>
            <a:r>
              <a:rPr lang="en-US" altLang="en-US" sz="2400" b="1" dirty="0">
                <a:latin typeface="Times New Roman" panose="02020603050405020304" pitchFamily="18" charset="0"/>
                <a:cs typeface="Times New Roman" panose="02020603050405020304" pitchFamily="18" charset="0"/>
              </a:rPr>
              <a:t>Disadvantages</a:t>
            </a:r>
          </a:p>
          <a:p>
            <a:pPr lvl="1" algn="just">
              <a:lnSpc>
                <a:spcPct val="90000"/>
              </a:lnSpc>
            </a:pPr>
            <a:r>
              <a:rPr lang="en-US" altLang="en-US" sz="2000" dirty="0">
                <a:latin typeface="Times New Roman" panose="02020603050405020304" pitchFamily="18" charset="0"/>
                <a:cs typeface="Times New Roman" panose="02020603050405020304" pitchFamily="18" charset="0"/>
              </a:rPr>
              <a:t>Each </a:t>
            </a:r>
            <a:r>
              <a:rPr lang="en-US" altLang="en-US" sz="2000" dirty="0" err="1">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-nodes has room for a fixed number of disk addresses (not flexibility) → reserve the last disk not for data block, but it is used to contains more disk block address</a:t>
            </a:r>
          </a:p>
          <a:p>
            <a:pPr algn="just">
              <a:lnSpc>
                <a:spcPct val="90000"/>
              </a:lnSpc>
            </a:pPr>
            <a:r>
              <a:rPr lang="en-US" altLang="en-US" sz="2400" b="1" dirty="0">
                <a:latin typeface="Times New Roman" panose="02020603050405020304" pitchFamily="18" charset="0"/>
                <a:cs typeface="Times New Roman" panose="02020603050405020304" pitchFamily="18" charset="0"/>
              </a:rPr>
              <a:t>Ex</a:t>
            </a:r>
            <a:r>
              <a:rPr lang="en-US" altLang="en-US" sz="2400" dirty="0">
                <a:latin typeface="Times New Roman" panose="02020603050405020304" pitchFamily="18" charset="0"/>
                <a:cs typeface="Times New Roman" panose="02020603050405020304" pitchFamily="18" charset="0"/>
              </a:rPr>
              <a:t>: An </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-nodes has contain 10 direct addresses and 1 single </a:t>
            </a:r>
            <a:r>
              <a:rPr lang="en-US" altLang="en-US" sz="2400" dirty="0" err="1">
                <a:latin typeface="Times New Roman" panose="02020603050405020304" pitchFamily="18" charset="0"/>
                <a:cs typeface="Times New Roman" panose="02020603050405020304" pitchFamily="18" charset="0"/>
              </a:rPr>
              <a:t>indirected</a:t>
            </a:r>
            <a:r>
              <a:rPr lang="en-US" altLang="en-US" sz="2400" dirty="0">
                <a:latin typeface="Times New Roman" panose="02020603050405020304" pitchFamily="18" charset="0"/>
                <a:cs typeface="Times New Roman" panose="02020603050405020304" pitchFamily="18" charset="0"/>
              </a:rPr>
              <a:t> addresses of 4 bytes each and all disk blocks are 1KB. </a:t>
            </a:r>
            <a:r>
              <a:rPr lang="en-US" altLang="en-US" sz="2400" b="1" dirty="0">
                <a:latin typeface="Times New Roman" panose="02020603050405020304" pitchFamily="18" charset="0"/>
                <a:cs typeface="Times New Roman" panose="02020603050405020304" pitchFamily="18" charset="0"/>
              </a:rPr>
              <a:t>What is the largest possible file?</a:t>
            </a:r>
          </a:p>
          <a:p>
            <a:pPr lvl="1" algn="just">
              <a:lnSpc>
                <a:spcPct val="90000"/>
              </a:lnSpc>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Directories</a:t>
            </a:r>
          </a:p>
        </p:txBody>
      </p:sp>
      <p:sp>
        <p:nvSpPr>
          <p:cNvPr id="36867" name="Rectangle 3"/>
          <p:cNvSpPr>
            <a:spLocks noGrp="1"/>
          </p:cNvSpPr>
          <p:nvPr>
            <p:ph type="body" sz="half" idx="1"/>
          </p:nvPr>
        </p:nvSpPr>
        <p:spPr>
          <a:xfrm>
            <a:off x="228600" y="1066800"/>
            <a:ext cx="8915400" cy="5791200"/>
          </a:xfrm>
        </p:spPr>
        <p:txBody>
          <a:bodyPr/>
          <a:lstStyle/>
          <a:p>
            <a:pPr algn="just">
              <a:lnSpc>
                <a:spcPct val="90000"/>
              </a:lnSpc>
            </a:pPr>
            <a:r>
              <a:rPr lang="en-US" altLang="en-US" sz="2800">
                <a:latin typeface="Times New Roman" panose="02020603050405020304" pitchFamily="18" charset="0"/>
                <a:cs typeface="Times New Roman" panose="02020603050405020304" pitchFamily="18" charset="0"/>
              </a:rPr>
              <a:t>The main function of the directory system is to map the ASCII name of a file onto the information needed to locate the data of that file</a:t>
            </a:r>
          </a:p>
          <a:p>
            <a:pPr algn="just">
              <a:lnSpc>
                <a:spcPct val="90000"/>
              </a:lnSpc>
            </a:pPr>
            <a:r>
              <a:rPr lang="en-US" altLang="en-US" sz="2800">
                <a:latin typeface="Times New Roman" panose="02020603050405020304" pitchFamily="18" charset="0"/>
                <a:cs typeface="Times New Roman" panose="02020603050405020304" pitchFamily="18" charset="0"/>
              </a:rPr>
              <a:t>When a file is opened, the OS used the path name to locate </a:t>
            </a:r>
            <a:r>
              <a:rPr lang="en-US" altLang="en-US" sz="2800" b="1">
                <a:latin typeface="Times New Roman" panose="02020603050405020304" pitchFamily="18" charset="0"/>
                <a:cs typeface="Times New Roman" panose="02020603050405020304" pitchFamily="18" charset="0"/>
              </a:rPr>
              <a:t>the directory entry that contains</a:t>
            </a:r>
          </a:p>
          <a:p>
            <a:pPr lvl="1" algn="just">
              <a:lnSpc>
                <a:spcPct val="90000"/>
              </a:lnSpc>
            </a:pPr>
            <a:r>
              <a:rPr lang="en-US" altLang="en-US" sz="2400">
                <a:latin typeface="Times New Roman" panose="02020603050405020304" pitchFamily="18" charset="0"/>
                <a:cs typeface="Times New Roman" panose="02020603050405020304" pitchFamily="18" charset="0"/>
              </a:rPr>
              <a:t>The information needed to find the disk blocked such as disk address of entire file, or the number of the first block, or the number of the i-node</a:t>
            </a:r>
          </a:p>
          <a:p>
            <a:pPr lvl="1" algn="just">
              <a:lnSpc>
                <a:spcPct val="90000"/>
              </a:lnSpc>
            </a:pPr>
            <a:r>
              <a:rPr lang="en-US" altLang="en-US" sz="2400">
                <a:latin typeface="Times New Roman" panose="02020603050405020304" pitchFamily="18" charset="0"/>
                <a:cs typeface="Times New Roman" panose="02020603050405020304" pitchFamily="18" charset="0"/>
              </a:rPr>
              <a:t>Some file attributes</a:t>
            </a:r>
          </a:p>
          <a:p>
            <a:pPr algn="just">
              <a:lnSpc>
                <a:spcPct val="90000"/>
              </a:lnSpc>
            </a:pPr>
            <a:r>
              <a:rPr lang="en-US" altLang="en-US" sz="2800">
                <a:latin typeface="Times New Roman" panose="02020603050405020304" pitchFamily="18" charset="0"/>
                <a:cs typeface="Times New Roman" panose="02020603050405020304" pitchFamily="18" charset="0"/>
              </a:rPr>
              <a:t>In simple design, a </a:t>
            </a:r>
            <a:r>
              <a:rPr lang="en-US" altLang="en-US" sz="2800" b="1">
                <a:latin typeface="Times New Roman" panose="02020603050405020304" pitchFamily="18" charset="0"/>
                <a:cs typeface="Times New Roman" panose="02020603050405020304" pitchFamily="18" charset="0"/>
              </a:rPr>
              <a:t>directory</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consists</a:t>
            </a:r>
            <a:r>
              <a:rPr lang="en-US" altLang="en-US" sz="2800">
                <a:latin typeface="Times New Roman" panose="02020603050405020304" pitchFamily="18" charset="0"/>
                <a:cs typeface="Times New Roman" panose="02020603050405020304" pitchFamily="18" charset="0"/>
              </a:rPr>
              <a:t> of</a:t>
            </a:r>
          </a:p>
          <a:p>
            <a:pPr lvl="1" algn="just">
              <a:lnSpc>
                <a:spcPct val="90000"/>
              </a:lnSpc>
            </a:pPr>
            <a:r>
              <a:rPr lang="en-US" altLang="en-US" sz="2400">
                <a:latin typeface="Times New Roman" panose="02020603050405020304" pitchFamily="18" charset="0"/>
                <a:cs typeface="Times New Roman" panose="02020603050405020304" pitchFamily="18" charset="0"/>
              </a:rPr>
              <a:t>A </a:t>
            </a:r>
            <a:r>
              <a:rPr lang="en-US" altLang="en-US" sz="2400" b="1">
                <a:latin typeface="Times New Roman" panose="02020603050405020304" pitchFamily="18" charset="0"/>
                <a:cs typeface="Times New Roman" panose="02020603050405020304" pitchFamily="18" charset="0"/>
              </a:rPr>
              <a:t>list of fixed size entries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one per file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containing</a:t>
            </a:r>
            <a:r>
              <a:rPr lang="en-US" altLang="en-US" sz="2400">
                <a:latin typeface="Times New Roman" panose="02020603050405020304" pitchFamily="18" charset="0"/>
                <a:cs typeface="Times New Roman" panose="02020603050405020304" pitchFamily="18" charset="0"/>
              </a:rPr>
              <a:t> a (fixed-length) </a:t>
            </a:r>
            <a:r>
              <a:rPr lang="en-US" altLang="en-US" sz="2400" b="1">
                <a:latin typeface="Times New Roman" panose="02020603050405020304" pitchFamily="18" charset="0"/>
                <a:cs typeface="Times New Roman" panose="02020603050405020304" pitchFamily="18" charset="0"/>
              </a:rPr>
              <a:t>file name, structure of the file attributes</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one or more disk addresses</a:t>
            </a:r>
          </a:p>
          <a:p>
            <a:pPr lvl="1" algn="just">
              <a:lnSpc>
                <a:spcPct val="90000"/>
              </a:lnSpc>
            </a:pPr>
            <a:r>
              <a:rPr lang="en-US" altLang="en-US" sz="2400" b="1">
                <a:latin typeface="Times New Roman" panose="02020603050405020304" pitchFamily="18" charset="0"/>
                <a:cs typeface="Times New Roman" panose="02020603050405020304" pitchFamily="18" charset="0"/>
              </a:rPr>
              <a:t>Or</a:t>
            </a:r>
            <a:r>
              <a:rPr lang="en-US" altLang="en-US" sz="2400">
                <a:latin typeface="Times New Roman" panose="02020603050405020304" pitchFamily="18" charset="0"/>
                <a:cs typeface="Times New Roman" panose="02020603050405020304" pitchFamily="18" charset="0"/>
              </a:rPr>
              <a:t> just a </a:t>
            </a:r>
            <a:r>
              <a:rPr lang="en-US" altLang="en-US" sz="2400" b="1">
                <a:latin typeface="Times New Roman" panose="02020603050405020304" pitchFamily="18" charset="0"/>
                <a:cs typeface="Times New Roman" panose="02020603050405020304" pitchFamily="18" charset="0"/>
              </a:rPr>
              <a:t>file name and i-node number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6867">
                                            <p:txEl>
                                              <p:pRg st="4" end="4"/>
                                            </p:txEl>
                                          </p:spTgt>
                                        </p:tgtEl>
                                        <p:attrNameLst>
                                          <p:attrName>style.visibility</p:attrName>
                                        </p:attrNameLst>
                                      </p:cBhvr>
                                      <p:to>
                                        <p:strVal val="visible"/>
                                      </p:to>
                                    </p:set>
                                    <p:animEffect transition="in" filter="box(in)">
                                      <p:cBhvr>
                                        <p:cTn id="7" dur="500"/>
                                        <p:tgtEl>
                                          <p:spTgt spid="36867">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6867">
                                            <p:txEl>
                                              <p:pRg st="5" end="5"/>
                                            </p:txEl>
                                          </p:spTgt>
                                        </p:tgtEl>
                                        <p:attrNameLst>
                                          <p:attrName>style.visibility</p:attrName>
                                        </p:attrNameLst>
                                      </p:cBhvr>
                                      <p:to>
                                        <p:strVal val="visible"/>
                                      </p:to>
                                    </p:set>
                                    <p:animEffect transition="in" filter="box(in)">
                                      <p:cBhvr>
                                        <p:cTn id="10" dur="500"/>
                                        <p:tgtEl>
                                          <p:spTgt spid="36867">
                                            <p:txEl>
                                              <p:pRg st="5" end="5"/>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6867">
                                            <p:txEl>
                                              <p:pRg st="6" end="6"/>
                                            </p:txEl>
                                          </p:spTgt>
                                        </p:tgtEl>
                                        <p:attrNameLst>
                                          <p:attrName>style.visibility</p:attrName>
                                        </p:attrNameLst>
                                      </p:cBhvr>
                                      <p:to>
                                        <p:strVal val="visible"/>
                                      </p:to>
                                    </p:set>
                                    <p:animEffect transition="in" filter="box(in)">
                                      <p:cBhvr>
                                        <p:cTn id="13" dur="500"/>
                                        <p:tgtEl>
                                          <p:spTgt spid="368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Directories</a:t>
            </a:r>
          </a:p>
        </p:txBody>
      </p:sp>
      <p:pic>
        <p:nvPicPr>
          <p:cNvPr id="2" name="Picture 1">
            <a:extLst>
              <a:ext uri="{FF2B5EF4-FFF2-40B4-BE49-F238E27FC236}">
                <a16:creationId xmlns:a16="http://schemas.microsoft.com/office/drawing/2014/main" id="{AB1786B0-FC80-49FA-B4DD-4BDA1E30D405}"/>
              </a:ext>
            </a:extLst>
          </p:cNvPr>
          <p:cNvPicPr>
            <a:picLocks noChangeAspect="1"/>
          </p:cNvPicPr>
          <p:nvPr/>
        </p:nvPicPr>
        <p:blipFill>
          <a:blip r:embed="rId3"/>
          <a:stretch>
            <a:fillRect/>
          </a:stretch>
        </p:blipFill>
        <p:spPr>
          <a:xfrm>
            <a:off x="914400" y="1757362"/>
            <a:ext cx="7418839" cy="365283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Directories</a:t>
            </a:r>
          </a:p>
        </p:txBody>
      </p:sp>
      <p:sp>
        <p:nvSpPr>
          <p:cNvPr id="38915" name="Rectangle 3"/>
          <p:cNvSpPr>
            <a:spLocks noGrp="1"/>
          </p:cNvSpPr>
          <p:nvPr>
            <p:ph type="body" sz="half" idx="1"/>
          </p:nvPr>
        </p:nvSpPr>
        <p:spPr>
          <a:xfrm>
            <a:off x="0" y="1066800"/>
            <a:ext cx="9144000" cy="5791200"/>
          </a:xfrm>
        </p:spPr>
        <p:txBody>
          <a:bodyPr/>
          <a:lstStyle/>
          <a:p>
            <a:pPr algn="just"/>
            <a:r>
              <a:rPr lang="en-US" altLang="en-US" sz="2800" b="1">
                <a:latin typeface="Times New Roman" panose="02020603050405020304" pitchFamily="18" charset="0"/>
                <a:cs typeface="Times New Roman" panose="02020603050405020304" pitchFamily="18" charset="0"/>
              </a:rPr>
              <a:t>Long</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and</a:t>
            </a:r>
            <a:r>
              <a:rPr lang="en-US" altLang="en-US" sz="2800">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rPr>
              <a:t>variable-length</a:t>
            </a:r>
            <a:r>
              <a:rPr lang="en-US" altLang="en-US" sz="2800">
                <a:latin typeface="Times New Roman" panose="02020603050405020304" pitchFamily="18" charset="0"/>
                <a:cs typeface="Times New Roman" panose="02020603050405020304" pitchFamily="18" charset="0"/>
              </a:rPr>
              <a:t> file name</a:t>
            </a:r>
          </a:p>
          <a:p>
            <a:pPr lvl="1" algn="just"/>
            <a:r>
              <a:rPr lang="en-US" altLang="en-US" sz="2400" b="1">
                <a:latin typeface="Times New Roman" panose="02020603050405020304" pitchFamily="18" charset="0"/>
                <a:cs typeface="Times New Roman" panose="02020603050405020304" pitchFamily="18" charset="0"/>
              </a:rPr>
              <a:t>First</a:t>
            </a:r>
            <a:r>
              <a:rPr lang="en-US" altLang="en-US" sz="2400">
                <a:latin typeface="Times New Roman" panose="02020603050405020304" pitchFamily="18" charset="0"/>
                <a:cs typeface="Times New Roman" panose="02020603050405020304" pitchFamily="18" charset="0"/>
              </a:rPr>
              <a:t> approach (simplest)</a:t>
            </a:r>
          </a:p>
          <a:p>
            <a:pPr lvl="2" algn="just"/>
            <a:r>
              <a:rPr lang="en-US" altLang="en-US" sz="2000">
                <a:latin typeface="Times New Roman" panose="02020603050405020304" pitchFamily="18" charset="0"/>
                <a:cs typeface="Times New Roman" panose="02020603050405020304" pitchFamily="18" charset="0"/>
              </a:rPr>
              <a:t>Set a </a:t>
            </a:r>
            <a:r>
              <a:rPr lang="en-US" altLang="en-US" sz="2000" b="1">
                <a:latin typeface="Times New Roman" panose="02020603050405020304" pitchFamily="18" charset="0"/>
                <a:cs typeface="Times New Roman" panose="02020603050405020304" pitchFamily="18" charset="0"/>
              </a:rPr>
              <a:t>limit</a:t>
            </a:r>
            <a:r>
              <a:rPr lang="en-US" altLang="en-US" sz="2000">
                <a:latin typeface="Times New Roman" panose="02020603050405020304" pitchFamily="18" charset="0"/>
                <a:cs typeface="Times New Roman" panose="02020603050405020304" pitchFamily="18" charset="0"/>
              </a:rPr>
              <a:t> on </a:t>
            </a:r>
            <a:r>
              <a:rPr lang="en-US" altLang="en-US" sz="2000" b="1">
                <a:latin typeface="Times New Roman" panose="02020603050405020304" pitchFamily="18" charset="0"/>
                <a:cs typeface="Times New Roman" panose="02020603050405020304" pitchFamily="18" charset="0"/>
              </a:rPr>
              <a:t>file name length</a:t>
            </a:r>
            <a:r>
              <a:rPr lang="en-US" altLang="en-US" sz="2000">
                <a:latin typeface="Times New Roman" panose="02020603050405020304" pitchFamily="18" charset="0"/>
                <a:cs typeface="Times New Roman" panose="02020603050405020304" pitchFamily="18" charset="0"/>
              </a:rPr>
              <a:t>, typically 255 characters</a:t>
            </a:r>
          </a:p>
          <a:p>
            <a:pPr lvl="2" algn="just"/>
            <a:r>
              <a:rPr lang="en-US" altLang="en-US" sz="2000" b="1">
                <a:latin typeface="Times New Roman" panose="02020603050405020304" pitchFamily="18" charset="0"/>
                <a:cs typeface="Times New Roman" panose="02020603050405020304" pitchFamily="18" charset="0"/>
              </a:rPr>
              <a:t>Disadvantages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wastes</a:t>
            </a:r>
            <a:r>
              <a:rPr lang="en-US" altLang="en-US" sz="2000">
                <a:latin typeface="Times New Roman" panose="02020603050405020304" pitchFamily="18" charset="0"/>
                <a:cs typeface="Times New Roman" panose="02020603050405020304" pitchFamily="18" charset="0"/>
              </a:rPr>
              <a:t> a great deal of directory space</a:t>
            </a:r>
          </a:p>
          <a:p>
            <a:pPr lvl="1" algn="just"/>
            <a:r>
              <a:rPr lang="en-US" altLang="en-US" sz="2400" b="1">
                <a:latin typeface="Times New Roman" panose="02020603050405020304" pitchFamily="18" charset="0"/>
                <a:cs typeface="Times New Roman" panose="02020603050405020304" pitchFamily="18" charset="0"/>
              </a:rPr>
              <a:t>Second approach</a:t>
            </a:r>
            <a:r>
              <a:rPr lang="en-US" altLang="en-US" sz="2400">
                <a:latin typeface="Times New Roman" panose="02020603050405020304" pitchFamily="18" charset="0"/>
                <a:cs typeface="Times New Roman" panose="02020603050405020304" pitchFamily="18" charset="0"/>
              </a:rPr>
              <a:t>: All directories entries are </a:t>
            </a:r>
            <a:r>
              <a:rPr lang="en-US" altLang="en-US" sz="2400" b="1">
                <a:latin typeface="Times New Roman" panose="02020603050405020304" pitchFamily="18" charset="0"/>
                <a:cs typeface="Times New Roman" panose="02020603050405020304" pitchFamily="18" charset="0"/>
              </a:rPr>
              <a:t>same size contains</a:t>
            </a:r>
          </a:p>
          <a:p>
            <a:pPr lvl="2" algn="just"/>
            <a:r>
              <a:rPr lang="en-US" altLang="en-US" sz="2000" b="1">
                <a:latin typeface="Times New Roman" panose="02020603050405020304" pitchFamily="18" charset="0"/>
                <a:cs typeface="Times New Roman" panose="02020603050405020304" pitchFamily="18" charset="0"/>
              </a:rPr>
              <a:t>Starting</a:t>
            </a:r>
            <a:r>
              <a:rPr lang="en-US" altLang="en-US" sz="2000">
                <a:latin typeface="Times New Roman" panose="02020603050405020304" pitchFamily="18" charset="0"/>
                <a:cs typeface="Times New Roman" panose="02020603050405020304" pitchFamily="18" charset="0"/>
              </a:rPr>
              <a:t> with the </a:t>
            </a:r>
            <a:r>
              <a:rPr lang="en-US" altLang="en-US" sz="2000" b="1">
                <a:latin typeface="Times New Roman" panose="02020603050405020304" pitchFamily="18" charset="0"/>
                <a:cs typeface="Times New Roman" panose="02020603050405020304" pitchFamily="18" charset="0"/>
              </a:rPr>
              <a:t>length</a:t>
            </a:r>
            <a:r>
              <a:rPr lang="en-US" altLang="en-US" sz="2000">
                <a:latin typeface="Times New Roman" panose="02020603050405020304" pitchFamily="18" charset="0"/>
                <a:cs typeface="Times New Roman" panose="02020603050405020304" pitchFamily="18" charset="0"/>
              </a:rPr>
              <a:t> of the entry</a:t>
            </a:r>
          </a:p>
          <a:p>
            <a:pPr lvl="2" algn="just"/>
            <a:r>
              <a:rPr lang="en-US" altLang="en-US" sz="2000" b="1">
                <a:latin typeface="Times New Roman" panose="02020603050405020304" pitchFamily="18" charset="0"/>
                <a:cs typeface="Times New Roman" panose="02020603050405020304" pitchFamily="18" charset="0"/>
              </a:rPr>
              <a:t>Following</a:t>
            </a:r>
            <a:r>
              <a:rPr lang="en-US" altLang="en-US" sz="2000">
                <a:latin typeface="Times New Roman" panose="02020603050405020304" pitchFamily="18" charset="0"/>
                <a:cs typeface="Times New Roman" panose="02020603050405020304" pitchFamily="18" charset="0"/>
              </a:rPr>
              <a:t> with the file </a:t>
            </a:r>
            <a:r>
              <a:rPr lang="en-US" altLang="en-US" sz="2000" b="1">
                <a:latin typeface="Times New Roman" panose="02020603050405020304" pitchFamily="18" charset="0"/>
                <a:cs typeface="Times New Roman" panose="02020603050405020304" pitchFamily="18" charset="0"/>
              </a:rPr>
              <a:t>attributes</a:t>
            </a:r>
          </a:p>
          <a:p>
            <a:pPr lvl="2" algn="just"/>
            <a:r>
              <a:rPr lang="en-US" altLang="en-US" sz="2000" b="1">
                <a:latin typeface="Times New Roman" panose="02020603050405020304" pitchFamily="18" charset="0"/>
                <a:cs typeface="Times New Roman" panose="02020603050405020304" pitchFamily="18" charset="0"/>
              </a:rPr>
              <a:t>Lasting</a:t>
            </a:r>
            <a:r>
              <a:rPr lang="en-US" altLang="en-US" sz="2000">
                <a:latin typeface="Times New Roman" panose="02020603050405020304" pitchFamily="18" charset="0"/>
                <a:cs typeface="Times New Roman" panose="02020603050405020304" pitchFamily="18" charset="0"/>
              </a:rPr>
              <a:t> is </a:t>
            </a:r>
            <a:r>
              <a:rPr lang="en-US" altLang="en-US" sz="2000" b="1">
                <a:latin typeface="Times New Roman" panose="02020603050405020304" pitchFamily="18" charset="0"/>
                <a:cs typeface="Times New Roman" panose="02020603050405020304" pitchFamily="18" charset="0"/>
              </a:rPr>
              <a:t>actual file name </a:t>
            </a:r>
            <a:r>
              <a:rPr lang="en-US" altLang="en-US" sz="2000">
                <a:latin typeface="Times New Roman" panose="02020603050405020304" pitchFamily="18" charset="0"/>
                <a:cs typeface="Times New Roman" panose="02020603050405020304" pitchFamily="18" charset="0"/>
              </a:rPr>
              <a:t>with long it may be (each file name is terminated by special character)</a:t>
            </a:r>
          </a:p>
          <a:p>
            <a:pPr lvl="2" algn="just"/>
            <a:r>
              <a:rPr lang="en-US" altLang="en-US" sz="2000">
                <a:latin typeface="Times New Roman" panose="02020603050405020304" pitchFamily="18" charset="0"/>
                <a:cs typeface="Times New Roman" panose="02020603050405020304" pitchFamily="18" charset="0"/>
              </a:rPr>
              <a:t>To allow each directory entry begin on word boundary, each </a:t>
            </a:r>
            <a:r>
              <a:rPr lang="en-US" altLang="en-US" sz="2000" b="1">
                <a:latin typeface="Times New Roman" panose="02020603050405020304" pitchFamily="18" charset="0"/>
                <a:cs typeface="Times New Roman" panose="02020603050405020304" pitchFamily="18" charset="0"/>
              </a:rPr>
              <a:t>file name </a:t>
            </a:r>
            <a:r>
              <a:rPr lang="en-US" altLang="en-US" sz="2000">
                <a:latin typeface="Times New Roman" panose="02020603050405020304" pitchFamily="18" charset="0"/>
                <a:cs typeface="Times New Roman" panose="02020603050405020304" pitchFamily="18" charset="0"/>
              </a:rPr>
              <a:t>is </a:t>
            </a:r>
            <a:r>
              <a:rPr lang="en-US" altLang="en-US" sz="2000" b="1">
                <a:latin typeface="Times New Roman" panose="02020603050405020304" pitchFamily="18" charset="0"/>
                <a:cs typeface="Times New Roman" panose="02020603050405020304" pitchFamily="18" charset="0"/>
              </a:rPr>
              <a:t>filled out </a:t>
            </a:r>
            <a:r>
              <a:rPr lang="en-US" altLang="en-US" sz="2000">
                <a:latin typeface="Times New Roman" panose="02020603050405020304" pitchFamily="18" charset="0"/>
                <a:cs typeface="Times New Roman" panose="02020603050405020304" pitchFamily="18" charset="0"/>
              </a:rPr>
              <a:t>to an </a:t>
            </a:r>
            <a:r>
              <a:rPr lang="en-US" altLang="en-US" sz="2000" b="1">
                <a:latin typeface="Times New Roman" panose="02020603050405020304" pitchFamily="18" charset="0"/>
                <a:cs typeface="Times New Roman" panose="02020603050405020304" pitchFamily="18" charset="0"/>
              </a:rPr>
              <a:t>integral number of words</a:t>
            </a:r>
          </a:p>
          <a:p>
            <a:pPr lvl="2" algn="just"/>
            <a:r>
              <a:rPr lang="en-US" altLang="en-US" sz="2000" b="1">
                <a:latin typeface="Times New Roman" panose="02020603050405020304" pitchFamily="18" charset="0"/>
                <a:cs typeface="Times New Roman" panose="02020603050405020304" pitchFamily="18" charset="0"/>
              </a:rPr>
              <a:t>Disadvantages</a:t>
            </a:r>
          </a:p>
          <a:p>
            <a:pPr lvl="3" algn="just"/>
            <a:r>
              <a:rPr lang="en-US" altLang="en-US" sz="1800">
                <a:latin typeface="Times New Roman" panose="02020603050405020304" pitchFamily="18" charset="0"/>
                <a:cs typeface="Times New Roman" panose="02020603050405020304" pitchFamily="18" charset="0"/>
              </a:rPr>
              <a:t>When a </a:t>
            </a:r>
            <a:r>
              <a:rPr lang="en-US" altLang="en-US" sz="1800" b="1">
                <a:latin typeface="Times New Roman" panose="02020603050405020304" pitchFamily="18" charset="0"/>
                <a:cs typeface="Times New Roman" panose="02020603050405020304" pitchFamily="18" charset="0"/>
              </a:rPr>
              <a:t>file</a:t>
            </a:r>
            <a:r>
              <a:rPr lang="en-US" altLang="en-US" sz="1800">
                <a:latin typeface="Times New Roman" panose="02020603050405020304" pitchFamily="18" charset="0"/>
                <a:cs typeface="Times New Roman" panose="02020603050405020304" pitchFamily="18" charset="0"/>
              </a:rPr>
              <a:t> is </a:t>
            </a:r>
            <a:r>
              <a:rPr lang="en-US" altLang="en-US" sz="1800" b="1">
                <a:latin typeface="Times New Roman" panose="02020603050405020304" pitchFamily="18" charset="0"/>
                <a:cs typeface="Times New Roman" panose="02020603050405020304" pitchFamily="18" charset="0"/>
              </a:rPr>
              <a:t>removed</a:t>
            </a:r>
            <a:r>
              <a:rPr lang="en-US" altLang="en-US" sz="1800">
                <a:latin typeface="Times New Roman" panose="02020603050405020304" pitchFamily="18" charset="0"/>
                <a:cs typeface="Times New Roman" panose="02020603050405020304" pitchFamily="18" charset="0"/>
              </a:rPr>
              <a:t>, a </a:t>
            </a:r>
            <a:r>
              <a:rPr lang="en-US" altLang="en-US" sz="1800" b="1">
                <a:latin typeface="Times New Roman" panose="02020603050405020304" pitchFamily="18" charset="0"/>
                <a:cs typeface="Times New Roman" panose="02020603050405020304" pitchFamily="18" charset="0"/>
              </a:rPr>
              <a:t>variable-sized gap </a:t>
            </a:r>
            <a:r>
              <a:rPr lang="en-US" altLang="en-US" sz="1800">
                <a:latin typeface="Times New Roman" panose="02020603050405020304" pitchFamily="18" charset="0"/>
                <a:cs typeface="Times New Roman" panose="02020603050405020304" pitchFamily="18" charset="0"/>
              </a:rPr>
              <a:t>is introduced into the directory into which the next file to be entered may not fit → </a:t>
            </a:r>
            <a:r>
              <a:rPr lang="en-US" altLang="en-US" sz="1800" b="1">
                <a:latin typeface="Times New Roman" panose="02020603050405020304" pitchFamily="18" charset="0"/>
                <a:cs typeface="Times New Roman" panose="02020603050405020304" pitchFamily="18" charset="0"/>
              </a:rPr>
              <a:t>fragmentation</a:t>
            </a:r>
          </a:p>
          <a:p>
            <a:pPr lvl="3" algn="just"/>
            <a:r>
              <a:rPr lang="en-US" altLang="en-US" sz="1800">
                <a:latin typeface="Times New Roman" panose="02020603050405020304" pitchFamily="18" charset="0"/>
                <a:cs typeface="Times New Roman" panose="02020603050405020304" pitchFamily="18" charset="0"/>
              </a:rPr>
              <a:t>A single </a:t>
            </a:r>
            <a:r>
              <a:rPr lang="en-US" altLang="en-US" sz="1800" b="1">
                <a:latin typeface="Times New Roman" panose="02020603050405020304" pitchFamily="18" charset="0"/>
                <a:cs typeface="Times New Roman" panose="02020603050405020304" pitchFamily="18" charset="0"/>
              </a:rPr>
              <a:t>directory</a:t>
            </a:r>
            <a:r>
              <a:rPr lang="en-US" altLang="en-US" sz="1800">
                <a:latin typeface="Times New Roman" panose="02020603050405020304" pitchFamily="18" charset="0"/>
                <a:cs typeface="Times New Roman" panose="02020603050405020304" pitchFamily="18" charset="0"/>
              </a:rPr>
              <a:t> entry </a:t>
            </a:r>
            <a:r>
              <a:rPr lang="en-US" altLang="en-US" sz="1800" b="1">
                <a:latin typeface="Times New Roman" panose="02020603050405020304" pitchFamily="18" charset="0"/>
                <a:cs typeface="Times New Roman" panose="02020603050405020304" pitchFamily="18" charset="0"/>
              </a:rPr>
              <a:t>may span multiple pages </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page fault </a:t>
            </a:r>
            <a:r>
              <a:rPr lang="en-US" altLang="en-US" sz="1800">
                <a:latin typeface="Times New Roman" panose="02020603050405020304" pitchFamily="18" charset="0"/>
                <a:cs typeface="Times New Roman" panose="02020603050405020304" pitchFamily="18" charset="0"/>
              </a:rPr>
              <a:t>occurs </a:t>
            </a:r>
            <a:r>
              <a:rPr lang="en-US" altLang="en-US" sz="1800" b="1">
                <a:latin typeface="Times New Roman" panose="02020603050405020304" pitchFamily="18" charset="0"/>
                <a:cs typeface="Times New Roman" panose="02020603050405020304" pitchFamily="18" charset="0"/>
              </a:rPr>
              <a:t>when</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reading</a:t>
            </a:r>
            <a:r>
              <a:rPr lang="en-US" altLang="en-US" sz="1800">
                <a:latin typeface="Times New Roman" panose="02020603050405020304" pitchFamily="18" charset="0"/>
                <a:cs typeface="Times New Roman" panose="02020603050405020304" pitchFamily="18" charset="0"/>
              </a:rPr>
              <a:t> a </a:t>
            </a:r>
            <a:r>
              <a:rPr lang="en-US" altLang="en-US" sz="1800" b="1">
                <a:latin typeface="Times New Roman" panose="02020603050405020304" pitchFamily="18" charset="0"/>
                <a:cs typeface="Times New Roman" panose="02020603050405020304" pitchFamily="18" charset="0"/>
              </a:rPr>
              <a:t>file name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animEffect transition="in" filter="checkerboard(across)">
                                      <p:cBhvr>
                                        <p:cTn id="7" dur="500"/>
                                        <p:tgtEl>
                                          <p:spTgt spid="38915">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8915">
                                            <p:txEl>
                                              <p:pRg st="2" end="2"/>
                                            </p:txEl>
                                          </p:spTgt>
                                        </p:tgtEl>
                                        <p:attrNameLst>
                                          <p:attrName>style.visibility</p:attrName>
                                        </p:attrNameLst>
                                      </p:cBhvr>
                                      <p:to>
                                        <p:strVal val="visible"/>
                                      </p:to>
                                    </p:set>
                                    <p:animEffect transition="in" filter="checkerboard(across)">
                                      <p:cBhvr>
                                        <p:cTn id="10" dur="500"/>
                                        <p:tgtEl>
                                          <p:spTgt spid="38915">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8915">
                                            <p:txEl>
                                              <p:pRg st="3" end="3"/>
                                            </p:txEl>
                                          </p:spTgt>
                                        </p:tgtEl>
                                        <p:attrNameLst>
                                          <p:attrName>style.visibility</p:attrName>
                                        </p:attrNameLst>
                                      </p:cBhvr>
                                      <p:to>
                                        <p:strVal val="visible"/>
                                      </p:to>
                                    </p:set>
                                    <p:animEffect transition="in" filter="checkerboard(across)">
                                      <p:cBhvr>
                                        <p:cTn id="13" dur="500"/>
                                        <p:tgtEl>
                                          <p:spTgt spid="38915">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8915">
                                            <p:txEl>
                                              <p:pRg st="4" end="4"/>
                                            </p:txEl>
                                          </p:spTgt>
                                        </p:tgtEl>
                                        <p:attrNameLst>
                                          <p:attrName>style.visibility</p:attrName>
                                        </p:attrNameLst>
                                      </p:cBhvr>
                                      <p:to>
                                        <p:strVal val="visible"/>
                                      </p:to>
                                    </p:set>
                                    <p:animEffect transition="in" filter="blinds(horizontal)">
                                      <p:cBhvr>
                                        <p:cTn id="18" dur="500"/>
                                        <p:tgtEl>
                                          <p:spTgt spid="38915">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8915">
                                            <p:txEl>
                                              <p:pRg st="5" end="5"/>
                                            </p:txEl>
                                          </p:spTgt>
                                        </p:tgtEl>
                                        <p:attrNameLst>
                                          <p:attrName>style.visibility</p:attrName>
                                        </p:attrNameLst>
                                      </p:cBhvr>
                                      <p:to>
                                        <p:strVal val="visible"/>
                                      </p:to>
                                    </p:set>
                                    <p:animEffect transition="in" filter="blinds(horizontal)">
                                      <p:cBhvr>
                                        <p:cTn id="21" dur="500"/>
                                        <p:tgtEl>
                                          <p:spTgt spid="38915">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8915">
                                            <p:txEl>
                                              <p:pRg st="6" end="6"/>
                                            </p:txEl>
                                          </p:spTgt>
                                        </p:tgtEl>
                                        <p:attrNameLst>
                                          <p:attrName>style.visibility</p:attrName>
                                        </p:attrNameLst>
                                      </p:cBhvr>
                                      <p:to>
                                        <p:strVal val="visible"/>
                                      </p:to>
                                    </p:set>
                                    <p:animEffect transition="in" filter="blinds(horizontal)">
                                      <p:cBhvr>
                                        <p:cTn id="24" dur="500"/>
                                        <p:tgtEl>
                                          <p:spTgt spid="38915">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38915">
                                            <p:txEl>
                                              <p:pRg st="7" end="7"/>
                                            </p:txEl>
                                          </p:spTgt>
                                        </p:tgtEl>
                                        <p:attrNameLst>
                                          <p:attrName>style.visibility</p:attrName>
                                        </p:attrNameLst>
                                      </p:cBhvr>
                                      <p:to>
                                        <p:strVal val="visible"/>
                                      </p:to>
                                    </p:set>
                                    <p:animEffect transition="in" filter="blinds(horizontal)">
                                      <p:cBhvr>
                                        <p:cTn id="27" dur="500"/>
                                        <p:tgtEl>
                                          <p:spTgt spid="38915">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8915">
                                            <p:txEl>
                                              <p:pRg st="8" end="8"/>
                                            </p:txEl>
                                          </p:spTgt>
                                        </p:tgtEl>
                                        <p:attrNameLst>
                                          <p:attrName>style.visibility</p:attrName>
                                        </p:attrNameLst>
                                      </p:cBhvr>
                                      <p:to>
                                        <p:strVal val="visible"/>
                                      </p:to>
                                    </p:set>
                                    <p:animEffect transition="in" filter="blinds(horizontal)">
                                      <p:cBhvr>
                                        <p:cTn id="30" dur="500"/>
                                        <p:tgtEl>
                                          <p:spTgt spid="38915">
                                            <p:txEl>
                                              <p:pRg st="8" end="8"/>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8915">
                                            <p:txEl>
                                              <p:pRg st="9" end="9"/>
                                            </p:txEl>
                                          </p:spTgt>
                                        </p:tgtEl>
                                        <p:attrNameLst>
                                          <p:attrName>style.visibility</p:attrName>
                                        </p:attrNameLst>
                                      </p:cBhvr>
                                      <p:to>
                                        <p:strVal val="visible"/>
                                      </p:to>
                                    </p:set>
                                    <p:animEffect transition="in" filter="blinds(horizontal)">
                                      <p:cBhvr>
                                        <p:cTn id="33" dur="500"/>
                                        <p:tgtEl>
                                          <p:spTgt spid="38915">
                                            <p:txEl>
                                              <p:pRg st="9" end="9"/>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38915">
                                            <p:txEl>
                                              <p:pRg st="10" end="10"/>
                                            </p:txEl>
                                          </p:spTgt>
                                        </p:tgtEl>
                                        <p:attrNameLst>
                                          <p:attrName>style.visibility</p:attrName>
                                        </p:attrNameLst>
                                      </p:cBhvr>
                                      <p:to>
                                        <p:strVal val="visible"/>
                                      </p:to>
                                    </p:set>
                                    <p:animEffect transition="in" filter="blinds(horizontal)">
                                      <p:cBhvr>
                                        <p:cTn id="36" dur="500"/>
                                        <p:tgtEl>
                                          <p:spTgt spid="38915">
                                            <p:txEl>
                                              <p:pRg st="10" end="10"/>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38915">
                                            <p:txEl>
                                              <p:pRg st="11" end="11"/>
                                            </p:txEl>
                                          </p:spTgt>
                                        </p:tgtEl>
                                        <p:attrNameLst>
                                          <p:attrName>style.visibility</p:attrName>
                                        </p:attrNameLst>
                                      </p:cBhvr>
                                      <p:to>
                                        <p:strVal val="visible"/>
                                      </p:to>
                                    </p:set>
                                    <p:animEffect transition="in" filter="blinds(horizontal)">
                                      <p:cBhvr>
                                        <p:cTn id="39" dur="500"/>
                                        <p:tgtEl>
                                          <p:spTgt spid="3891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Directories</a:t>
            </a:r>
          </a:p>
        </p:txBody>
      </p:sp>
      <p:sp>
        <p:nvSpPr>
          <p:cNvPr id="204807" name="Text Box 4"/>
          <p:cNvSpPr txBox="1">
            <a:spLocks noChangeArrowheads="1"/>
          </p:cNvSpPr>
          <p:nvPr/>
        </p:nvSpPr>
        <p:spPr bwMode="auto">
          <a:xfrm>
            <a:off x="5257800" y="3124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4-15.</a:t>
            </a:r>
          </a:p>
        </p:txBody>
      </p:sp>
      <p:pic>
        <p:nvPicPr>
          <p:cNvPr id="2150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219200"/>
            <a:ext cx="32131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F98A3D14-DEE0-4CF1-9D92-FEF92F6856EA}"/>
              </a:ext>
            </a:extLst>
          </p:cNvPr>
          <p:cNvPicPr>
            <a:picLocks noChangeAspect="1"/>
          </p:cNvPicPr>
          <p:nvPr/>
        </p:nvPicPr>
        <p:blipFill>
          <a:blip r:embed="rId4"/>
          <a:stretch>
            <a:fillRect/>
          </a:stretch>
        </p:blipFill>
        <p:spPr>
          <a:xfrm>
            <a:off x="3462890" y="6172200"/>
            <a:ext cx="5528709" cy="5192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Directories</a:t>
            </a:r>
          </a:p>
        </p:txBody>
      </p:sp>
      <p:sp>
        <p:nvSpPr>
          <p:cNvPr id="40963" name="Rectangle 3"/>
          <p:cNvSpPr>
            <a:spLocks noGrp="1"/>
          </p:cNvSpPr>
          <p:nvPr>
            <p:ph type="body" sz="half" idx="1"/>
          </p:nvPr>
        </p:nvSpPr>
        <p:spPr>
          <a:xfrm>
            <a:off x="0" y="1066800"/>
            <a:ext cx="5334000" cy="5791200"/>
          </a:xfrm>
        </p:spPr>
        <p:txBody>
          <a:bodyPr/>
          <a:lstStyle/>
          <a:p>
            <a:pPr algn="just"/>
            <a:r>
              <a:rPr lang="en-US" altLang="en-US" sz="2800" dirty="0">
                <a:latin typeface="Times New Roman" panose="02020603050405020304" pitchFamily="18" charset="0"/>
                <a:cs typeface="Times New Roman" panose="02020603050405020304" pitchFamily="18" charset="0"/>
              </a:rPr>
              <a:t>Long and variable-length file name (</a:t>
            </a:r>
            <a:r>
              <a:rPr lang="en-US" altLang="en-US" sz="2800" dirty="0" err="1">
                <a:latin typeface="Times New Roman" panose="02020603050405020304" pitchFamily="18" charset="0"/>
                <a:cs typeface="Times New Roman" panose="02020603050405020304" pitchFamily="18" charset="0"/>
              </a:rPr>
              <a:t>cont</a:t>
            </a:r>
            <a:r>
              <a:rPr lang="en-US" altLang="en-US" sz="2800" dirty="0">
                <a:latin typeface="Times New Roman" panose="02020603050405020304" pitchFamily="18" charset="0"/>
                <a:cs typeface="Times New Roman" panose="02020603050405020304" pitchFamily="18" charset="0"/>
              </a:rPr>
              <a:t>)</a:t>
            </a:r>
          </a:p>
          <a:p>
            <a:pPr lvl="1" algn="just"/>
            <a:r>
              <a:rPr lang="en-US" altLang="en-US" sz="2400" b="1" dirty="0">
                <a:latin typeface="Times New Roman" panose="02020603050405020304" pitchFamily="18" charset="0"/>
                <a:cs typeface="Times New Roman" panose="02020603050405020304" pitchFamily="18" charset="0"/>
              </a:rPr>
              <a:t>Third</a:t>
            </a:r>
            <a:r>
              <a:rPr lang="en-US" altLang="en-US" sz="2400" dirty="0">
                <a:latin typeface="Times New Roman" panose="02020603050405020304" pitchFamily="18" charset="0"/>
                <a:cs typeface="Times New Roman" panose="02020603050405020304" pitchFamily="18" charset="0"/>
              </a:rPr>
              <a:t> approach (</a:t>
            </a:r>
            <a:r>
              <a:rPr lang="en-US" altLang="en-US" sz="2400" b="1" dirty="0">
                <a:latin typeface="Times New Roman" panose="02020603050405020304" pitchFamily="18" charset="0"/>
                <a:cs typeface="Times New Roman" panose="02020603050405020304" pitchFamily="18" charset="0"/>
              </a:rPr>
              <a:t>Improvement</a:t>
            </a:r>
            <a:r>
              <a:rPr lang="en-US" altLang="en-US" sz="2400" dirty="0">
                <a:latin typeface="Times New Roman" panose="02020603050405020304" pitchFamily="18" charset="0"/>
                <a:cs typeface="Times New Roman" panose="02020603050405020304" pitchFamily="18" charset="0"/>
              </a:rPr>
              <a:t>)</a:t>
            </a:r>
          </a:p>
          <a:p>
            <a:pPr lvl="2" algn="just"/>
            <a:r>
              <a:rPr lang="en-US" altLang="en-US" sz="2000" dirty="0">
                <a:latin typeface="Times New Roman" panose="02020603050405020304" pitchFamily="18" charset="0"/>
                <a:cs typeface="Times New Roman" panose="02020603050405020304" pitchFamily="18" charset="0"/>
              </a:rPr>
              <a:t>Making the </a:t>
            </a:r>
            <a:r>
              <a:rPr lang="en-US" altLang="en-US" sz="2000" b="1" dirty="0">
                <a:latin typeface="Times New Roman" panose="02020603050405020304" pitchFamily="18" charset="0"/>
                <a:cs typeface="Times New Roman" panose="02020603050405020304" pitchFamily="18" charset="0"/>
              </a:rPr>
              <a:t>directory</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entries</a:t>
            </a:r>
            <a:r>
              <a:rPr lang="en-US" altLang="en-US" sz="2000" dirty="0">
                <a:latin typeface="Times New Roman" panose="02020603050405020304" pitchFamily="18" charset="0"/>
                <a:cs typeface="Times New Roman" panose="02020603050405020304" pitchFamily="18" charset="0"/>
              </a:rPr>
              <a:t> themselves all </a:t>
            </a:r>
            <a:r>
              <a:rPr lang="en-US" altLang="en-US" sz="2000" b="1" dirty="0">
                <a:latin typeface="Times New Roman" panose="02020603050405020304" pitchFamily="18" charset="0"/>
                <a:cs typeface="Times New Roman" panose="02020603050405020304" pitchFamily="18" charset="0"/>
              </a:rPr>
              <a:t>fixed length and</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keep</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file</a:t>
            </a:r>
            <a:r>
              <a:rPr lang="en-US" altLang="en-US" sz="2000" dirty="0">
                <a:latin typeface="Times New Roman" panose="02020603050405020304" pitchFamily="18" charset="0"/>
                <a:cs typeface="Times New Roman" panose="02020603050405020304" pitchFamily="18" charset="0"/>
              </a:rPr>
              <a:t> names </a:t>
            </a:r>
            <a:r>
              <a:rPr lang="en-US" altLang="en-US" sz="2000" b="1" dirty="0">
                <a:latin typeface="Times New Roman" panose="02020603050405020304" pitchFamily="18" charset="0"/>
                <a:cs typeface="Times New Roman" panose="02020603050405020304" pitchFamily="18" charset="0"/>
              </a:rPr>
              <a:t>together</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in</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heap</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at</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end</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of</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directory</a:t>
            </a:r>
          </a:p>
          <a:p>
            <a:pPr lvl="2" algn="just"/>
            <a:r>
              <a:rPr lang="en-US" altLang="en-US" sz="2000" b="1" dirty="0">
                <a:latin typeface="Times New Roman" panose="02020603050405020304" pitchFamily="18" charset="0"/>
                <a:cs typeface="Times New Roman" panose="02020603050405020304" pitchFamily="18" charset="0"/>
              </a:rPr>
              <a:t>Advantages</a:t>
            </a:r>
          </a:p>
          <a:p>
            <a:pPr lvl="3" algn="just"/>
            <a:r>
              <a:rPr lang="en-US" altLang="en-US" sz="1800" dirty="0">
                <a:latin typeface="Times New Roman" panose="02020603050405020304" pitchFamily="18" charset="0"/>
                <a:cs typeface="Times New Roman" panose="02020603050405020304" pitchFamily="18" charset="0"/>
              </a:rPr>
              <a:t>When an </a:t>
            </a:r>
            <a:r>
              <a:rPr lang="en-US" altLang="en-US" sz="1800" b="1" dirty="0">
                <a:latin typeface="Times New Roman" panose="02020603050405020304" pitchFamily="18" charset="0"/>
                <a:cs typeface="Times New Roman" panose="02020603050405020304" pitchFamily="18" charset="0"/>
              </a:rPr>
              <a:t>entry</a:t>
            </a:r>
            <a:r>
              <a:rPr lang="en-US" altLang="en-US" sz="1800" dirty="0">
                <a:latin typeface="Times New Roman" panose="02020603050405020304" pitchFamily="18" charset="0"/>
                <a:cs typeface="Times New Roman" panose="02020603050405020304" pitchFamily="18" charset="0"/>
              </a:rPr>
              <a:t> is </a:t>
            </a:r>
            <a:r>
              <a:rPr lang="en-US" altLang="en-US" sz="1800" b="1" dirty="0">
                <a:latin typeface="Times New Roman" panose="02020603050405020304" pitchFamily="18" charset="0"/>
                <a:cs typeface="Times New Roman" panose="02020603050405020304" pitchFamily="18" charset="0"/>
              </a:rPr>
              <a:t>removed</a:t>
            </a:r>
            <a:r>
              <a:rPr lang="en-US" altLang="en-US" sz="1800" dirty="0">
                <a:latin typeface="Times New Roman" panose="02020603050405020304" pitchFamily="18" charset="0"/>
                <a:cs typeface="Times New Roman" panose="02020603050405020304" pitchFamily="18" charset="0"/>
              </a:rPr>
              <a:t>, the </a:t>
            </a:r>
            <a:r>
              <a:rPr lang="en-US" altLang="en-US" sz="1800" b="1" dirty="0">
                <a:latin typeface="Times New Roman" panose="02020603050405020304" pitchFamily="18" charset="0"/>
                <a:cs typeface="Times New Roman" panose="02020603050405020304" pitchFamily="18" charset="0"/>
              </a:rPr>
              <a:t>next</a:t>
            </a:r>
            <a:r>
              <a:rPr lang="en-US" altLang="en-US" sz="1800" dirty="0">
                <a:latin typeface="Times New Roman" panose="02020603050405020304" pitchFamily="18" charset="0"/>
                <a:cs typeface="Times New Roman" panose="02020603050405020304" pitchFamily="18" charset="0"/>
              </a:rPr>
              <a:t> file </a:t>
            </a:r>
            <a:r>
              <a:rPr lang="en-US" altLang="en-US" sz="1800" b="1" dirty="0">
                <a:latin typeface="Times New Roman" panose="02020603050405020304" pitchFamily="18" charset="0"/>
                <a:cs typeface="Times New Roman" panose="02020603050405020304" pitchFamily="18" charset="0"/>
              </a:rPr>
              <a:t>entered</a:t>
            </a:r>
            <a:r>
              <a:rPr lang="en-US" altLang="en-US" sz="1800" dirty="0">
                <a:latin typeface="Times New Roman" panose="02020603050405020304" pitchFamily="18" charset="0"/>
                <a:cs typeface="Times New Roman" panose="02020603050405020304" pitchFamily="18" charset="0"/>
              </a:rPr>
              <a:t> will always </a:t>
            </a:r>
            <a:r>
              <a:rPr lang="en-US" altLang="en-US" sz="1800" b="1" dirty="0">
                <a:latin typeface="Times New Roman" panose="02020603050405020304" pitchFamily="18" charset="0"/>
                <a:cs typeface="Times New Roman" panose="02020603050405020304" pitchFamily="18" charset="0"/>
              </a:rPr>
              <a:t>fit there</a:t>
            </a:r>
          </a:p>
          <a:p>
            <a:pPr lvl="3" algn="just"/>
            <a:r>
              <a:rPr lang="en-US" altLang="en-US" sz="1800" b="1" dirty="0">
                <a:latin typeface="Times New Roman" panose="02020603050405020304" pitchFamily="18" charset="0"/>
                <a:cs typeface="Times New Roman" panose="02020603050405020304" pitchFamily="18" charset="0"/>
              </a:rPr>
              <a:t>No filler character </a:t>
            </a:r>
            <a:r>
              <a:rPr lang="en-US" altLang="en-US" sz="1800" dirty="0">
                <a:latin typeface="Times New Roman" panose="02020603050405020304" pitchFamily="18" charset="0"/>
                <a:cs typeface="Times New Roman" panose="02020603050405020304" pitchFamily="18" charset="0"/>
              </a:rPr>
              <a:t>after the file name</a:t>
            </a:r>
          </a:p>
        </p:txBody>
      </p:sp>
      <p:pic>
        <p:nvPicPr>
          <p:cNvPr id="2253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6863" y="1219200"/>
            <a:ext cx="3767137"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7" name="Text Box 4"/>
          <p:cNvSpPr txBox="1">
            <a:spLocks noChangeArrowheads="1"/>
          </p:cNvSpPr>
          <p:nvPr/>
        </p:nvSpPr>
        <p:spPr bwMode="auto">
          <a:xfrm>
            <a:off x="6248400" y="6400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4-15.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40963">
                                            <p:txEl>
                                              <p:pRg st="2" end="2"/>
                                            </p:txEl>
                                          </p:spTgt>
                                        </p:tgtEl>
                                        <p:attrNameLst>
                                          <p:attrName>style.visibility</p:attrName>
                                        </p:attrNameLst>
                                      </p:cBhvr>
                                      <p:to>
                                        <p:strVal val="visible"/>
                                      </p:to>
                                    </p:set>
                                    <p:animEffect transition="in" filter="checkerboard(across)">
                                      <p:cBhvr>
                                        <p:cTn id="12" dur="500"/>
                                        <p:tgtEl>
                                          <p:spTgt spid="40963">
                                            <p:txEl>
                                              <p:pRg st="2" end="2"/>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40963">
                                            <p:txEl>
                                              <p:pRg st="3" end="3"/>
                                            </p:txEl>
                                          </p:spTgt>
                                        </p:tgtEl>
                                        <p:attrNameLst>
                                          <p:attrName>style.visibility</p:attrName>
                                        </p:attrNameLst>
                                      </p:cBhvr>
                                      <p:to>
                                        <p:strVal val="visible"/>
                                      </p:to>
                                    </p:set>
                                    <p:animEffect transition="in" filter="checkerboard(across)">
                                      <p:cBhvr>
                                        <p:cTn id="15" dur="500"/>
                                        <p:tgtEl>
                                          <p:spTgt spid="40963">
                                            <p:txEl>
                                              <p:pRg st="3" end="3"/>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40963">
                                            <p:txEl>
                                              <p:pRg st="4" end="4"/>
                                            </p:txEl>
                                          </p:spTgt>
                                        </p:tgtEl>
                                        <p:attrNameLst>
                                          <p:attrName>style.visibility</p:attrName>
                                        </p:attrNameLst>
                                      </p:cBhvr>
                                      <p:to>
                                        <p:strVal val="visible"/>
                                      </p:to>
                                    </p:set>
                                    <p:animEffect transition="in" filter="checkerboard(across)">
                                      <p:cBhvr>
                                        <p:cTn id="18" dur="500"/>
                                        <p:tgtEl>
                                          <p:spTgt spid="40963">
                                            <p:txEl>
                                              <p:pRg st="4" end="4"/>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40963">
                                            <p:txEl>
                                              <p:pRg st="5" end="5"/>
                                            </p:txEl>
                                          </p:spTgt>
                                        </p:tgtEl>
                                        <p:attrNameLst>
                                          <p:attrName>style.visibility</p:attrName>
                                        </p:attrNameLst>
                                      </p:cBhvr>
                                      <p:to>
                                        <p:strVal val="visible"/>
                                      </p:to>
                                    </p:set>
                                    <p:animEffect transition="in" filter="checkerboard(across)">
                                      <p:cBhvr>
                                        <p:cTn id="21" dur="500"/>
                                        <p:tgtEl>
                                          <p:spTgt spid="409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Implementing Directories</a:t>
            </a:r>
          </a:p>
        </p:txBody>
      </p:sp>
      <p:sp>
        <p:nvSpPr>
          <p:cNvPr id="41987" name="Rectangle 3"/>
          <p:cNvSpPr>
            <a:spLocks noGrp="1"/>
          </p:cNvSpPr>
          <p:nvPr>
            <p:ph type="body" sz="half" idx="1"/>
          </p:nvPr>
        </p:nvSpPr>
        <p:spPr>
          <a:xfrm>
            <a:off x="0" y="1066800"/>
            <a:ext cx="9144000" cy="5791200"/>
          </a:xfrm>
        </p:spPr>
        <p:txBody>
          <a:bodyPr/>
          <a:lstStyle/>
          <a:p>
            <a:pPr algn="just"/>
            <a:r>
              <a:rPr lang="en-US" altLang="en-US" b="1" dirty="0">
                <a:latin typeface="Times New Roman" panose="02020603050405020304" pitchFamily="18" charset="0"/>
                <a:cs typeface="Times New Roman" panose="02020603050405020304" pitchFamily="18" charset="0"/>
              </a:rPr>
              <a:t>Searching Directories</a:t>
            </a:r>
          </a:p>
          <a:p>
            <a:pPr lvl="1" algn="just"/>
            <a:r>
              <a:rPr lang="en-US" altLang="en-US" dirty="0">
                <a:latin typeface="Times New Roman" panose="02020603050405020304" pitchFamily="18" charset="0"/>
                <a:cs typeface="Times New Roman" panose="02020603050405020304" pitchFamily="18" charset="0"/>
              </a:rPr>
              <a:t>Search </a:t>
            </a:r>
            <a:r>
              <a:rPr lang="en-US" altLang="en-US" b="1" dirty="0">
                <a:latin typeface="Times New Roman" panose="02020603050405020304" pitchFamily="18" charset="0"/>
                <a:cs typeface="Times New Roman" panose="02020603050405020304" pitchFamily="18" charset="0"/>
              </a:rPr>
              <a:t>linearly</a:t>
            </a:r>
            <a:r>
              <a:rPr lang="en-US" altLang="en-US" dirty="0">
                <a:latin typeface="Times New Roman" panose="02020603050405020304" pitchFamily="18" charset="0"/>
                <a:cs typeface="Times New Roman" panose="02020603050405020304" pitchFamily="18" charset="0"/>
              </a:rPr>
              <a:t> from beginning to end when a file name has to be looked up → slow with extreme long directories</a:t>
            </a:r>
          </a:p>
          <a:p>
            <a:pPr lvl="1" algn="just"/>
            <a:r>
              <a:rPr lang="en-US" altLang="en-US" dirty="0">
                <a:latin typeface="Times New Roman" panose="02020603050405020304" pitchFamily="18" charset="0"/>
                <a:cs typeface="Times New Roman" panose="02020603050405020304" pitchFamily="18" charset="0"/>
              </a:rPr>
              <a:t>To </a:t>
            </a:r>
            <a:r>
              <a:rPr lang="en-US" altLang="en-US" b="1" dirty="0">
                <a:latin typeface="Times New Roman" panose="02020603050405020304" pitchFamily="18" charset="0"/>
                <a:cs typeface="Times New Roman" panose="02020603050405020304" pitchFamily="18" charset="0"/>
              </a:rPr>
              <a:t>speed up</a:t>
            </a:r>
            <a:r>
              <a:rPr lang="en-US" altLang="en-US" dirty="0">
                <a:latin typeface="Times New Roman" panose="02020603050405020304" pitchFamily="18" charset="0"/>
                <a:cs typeface="Times New Roman" panose="02020603050405020304" pitchFamily="18" charset="0"/>
              </a:rPr>
              <a:t>, the </a:t>
            </a:r>
            <a:r>
              <a:rPr lang="en-US" altLang="en-US" b="1" dirty="0">
                <a:latin typeface="Times New Roman" panose="02020603050405020304" pitchFamily="18" charset="0"/>
                <a:cs typeface="Times New Roman" panose="02020603050405020304" pitchFamily="18" charset="0"/>
              </a:rPr>
              <a:t>hash table </a:t>
            </a:r>
            <a:r>
              <a:rPr lang="en-US" altLang="en-US" dirty="0">
                <a:latin typeface="Times New Roman" panose="02020603050405020304" pitchFamily="18" charset="0"/>
                <a:cs typeface="Times New Roman" panose="02020603050405020304" pitchFamily="18" charset="0"/>
              </a:rPr>
              <a:t>is used</a:t>
            </a:r>
          </a:p>
          <a:p>
            <a:pPr marL="457200" lvl="1" indent="0" algn="just">
              <a:buNone/>
            </a:pPr>
            <a:r>
              <a:rPr lang="en-US" sz="1400" dirty="0"/>
              <a:t>In computing, a </a:t>
            </a:r>
            <a:r>
              <a:rPr lang="en-US" sz="1400" b="1" dirty="0"/>
              <a:t>hash table</a:t>
            </a:r>
            <a:r>
              <a:rPr lang="en-US" sz="1400" dirty="0"/>
              <a:t> (</a:t>
            </a:r>
            <a:r>
              <a:rPr lang="en-US" sz="1400" b="1" dirty="0"/>
              <a:t>hash</a:t>
            </a:r>
            <a:r>
              <a:rPr lang="en-US" sz="1400" dirty="0"/>
              <a:t> map) is a data structure that implements an associative array abstract data type</a:t>
            </a:r>
            <a:endParaRPr lang="en-US" altLang="en-US" sz="1400" dirty="0">
              <a:latin typeface="Times New Roman" panose="02020603050405020304" pitchFamily="18" charset="0"/>
              <a:cs typeface="Times New Roman" panose="02020603050405020304" pitchFamily="18" charset="0"/>
            </a:endParaRPr>
          </a:p>
          <a:p>
            <a:pPr lvl="2" algn="just"/>
            <a:r>
              <a:rPr lang="en-US" altLang="en-US" b="1" dirty="0">
                <a:latin typeface="Times New Roman" panose="02020603050405020304" pitchFamily="18" charset="0"/>
                <a:cs typeface="Times New Roman" panose="02020603050405020304" pitchFamily="18" charset="0"/>
              </a:rPr>
              <a:t>Advantage</a:t>
            </a:r>
            <a:r>
              <a:rPr lang="en-US" altLang="en-US" dirty="0">
                <a:latin typeface="Times New Roman" panose="02020603050405020304" pitchFamily="18" charset="0"/>
                <a:cs typeface="Times New Roman" panose="02020603050405020304" pitchFamily="18" charset="0"/>
              </a:rPr>
              <a:t>: faster lookup</a:t>
            </a:r>
          </a:p>
          <a:p>
            <a:pPr lvl="2" algn="just"/>
            <a:r>
              <a:rPr lang="en-US" altLang="en-US" b="1" dirty="0">
                <a:latin typeface="Times New Roman" panose="02020603050405020304" pitchFamily="18" charset="0"/>
                <a:cs typeface="Times New Roman" panose="02020603050405020304" pitchFamily="18" charset="0"/>
              </a:rPr>
              <a:t>Disadvantages</a:t>
            </a:r>
            <a:r>
              <a:rPr lang="en-US" altLang="en-US" dirty="0">
                <a:latin typeface="Times New Roman" panose="02020603050405020304" pitchFamily="18" charset="0"/>
                <a:cs typeface="Times New Roman" panose="02020603050405020304" pitchFamily="18" charset="0"/>
              </a:rPr>
              <a:t>: more complex administrator</a:t>
            </a:r>
          </a:p>
          <a:p>
            <a:pPr lvl="1" algn="just"/>
            <a:r>
              <a:rPr lang="en-US" altLang="en-US" dirty="0">
                <a:latin typeface="Times New Roman" panose="02020603050405020304" pitchFamily="18" charset="0"/>
                <a:cs typeface="Times New Roman" panose="02020603050405020304" pitchFamily="18" charset="0"/>
              </a:rPr>
              <a:t>Applying to the large directories, the searching </a:t>
            </a:r>
            <a:r>
              <a:rPr lang="en-US" altLang="en-US" b="1" dirty="0">
                <a:latin typeface="Times New Roman" panose="02020603050405020304" pitchFamily="18" charset="0"/>
                <a:cs typeface="Times New Roman" panose="02020603050405020304" pitchFamily="18" charset="0"/>
              </a:rPr>
              <a:t>result is cached</a:t>
            </a:r>
          </a:p>
          <a:p>
            <a:pPr lvl="2" algn="just"/>
            <a:r>
              <a:rPr lang="en-US" altLang="en-US" dirty="0">
                <a:latin typeface="Times New Roman" panose="02020603050405020304" pitchFamily="18" charset="0"/>
                <a:cs typeface="Times New Roman" panose="02020603050405020304" pitchFamily="18" charset="0"/>
              </a:rPr>
              <a:t>Before </a:t>
            </a:r>
            <a:r>
              <a:rPr lang="en-US" altLang="en-US" b="1" dirty="0">
                <a:latin typeface="Times New Roman" panose="02020603050405020304" pitchFamily="18" charset="0"/>
                <a:cs typeface="Times New Roman" panose="02020603050405020304" pitchFamily="18" charset="0"/>
              </a:rPr>
              <a:t>starting</a:t>
            </a:r>
            <a:r>
              <a:rPr lang="en-US" altLang="en-US" dirty="0">
                <a:latin typeface="Times New Roman" panose="02020603050405020304" pitchFamily="18" charset="0"/>
                <a:cs typeface="Times New Roman" panose="02020603050405020304" pitchFamily="18" charset="0"/>
              </a:rPr>
              <a:t> a </a:t>
            </a:r>
            <a:r>
              <a:rPr lang="en-US" altLang="en-US" b="1" dirty="0">
                <a:latin typeface="Times New Roman" panose="02020603050405020304" pitchFamily="18" charset="0"/>
                <a:cs typeface="Times New Roman" panose="02020603050405020304" pitchFamily="18" charset="0"/>
              </a:rPr>
              <a:t>search</a:t>
            </a:r>
            <a:r>
              <a:rPr lang="en-US" altLang="en-US" dirty="0">
                <a:latin typeface="Times New Roman" panose="02020603050405020304" pitchFamily="18" charset="0"/>
                <a:cs typeface="Times New Roman" panose="02020603050405020304" pitchFamily="18" charset="0"/>
              </a:rPr>
              <a:t>, a </a:t>
            </a:r>
            <a:r>
              <a:rPr lang="en-US" altLang="en-US" b="1" dirty="0">
                <a:latin typeface="Times New Roman" panose="02020603050405020304" pitchFamily="18" charset="0"/>
                <a:cs typeface="Times New Roman" panose="02020603050405020304" pitchFamily="18" charset="0"/>
              </a:rPr>
              <a:t>check</a:t>
            </a:r>
            <a:r>
              <a:rPr lang="en-US" altLang="en-US" dirty="0">
                <a:latin typeface="Times New Roman" panose="02020603050405020304" pitchFamily="18" charset="0"/>
                <a:cs typeface="Times New Roman" panose="02020603050405020304" pitchFamily="18" charset="0"/>
              </a:rPr>
              <a:t> is </a:t>
            </a:r>
            <a:r>
              <a:rPr lang="en-US" altLang="en-US" b="1" dirty="0">
                <a:latin typeface="Times New Roman" panose="02020603050405020304" pitchFamily="18" charset="0"/>
                <a:cs typeface="Times New Roman" panose="02020603050405020304" pitchFamily="18" charset="0"/>
              </a:rPr>
              <a:t>first</a:t>
            </a:r>
            <a:r>
              <a:rPr lang="en-US" altLang="en-US" dirty="0">
                <a:latin typeface="Times New Roman" panose="02020603050405020304" pitchFamily="18" charset="0"/>
                <a:cs typeface="Times New Roman" panose="02020603050405020304" pitchFamily="18" charset="0"/>
              </a:rPr>
              <a:t> made in the </a:t>
            </a:r>
            <a:r>
              <a:rPr lang="en-US" altLang="en-US" b="1" dirty="0">
                <a:latin typeface="Times New Roman" panose="02020603050405020304" pitchFamily="18" charset="0"/>
                <a:cs typeface="Times New Roman" panose="02020603050405020304" pitchFamily="18" charset="0"/>
              </a:rPr>
              <a:t>cache</a:t>
            </a:r>
          </a:p>
          <a:p>
            <a:pPr lvl="2" algn="just"/>
            <a:r>
              <a:rPr lang="en-US" altLang="en-US" dirty="0">
                <a:latin typeface="Times New Roman" panose="02020603050405020304" pitchFamily="18" charset="0"/>
                <a:cs typeface="Times New Roman" panose="02020603050405020304" pitchFamily="18" charset="0"/>
              </a:rPr>
              <a:t>If </a:t>
            </a:r>
            <a:r>
              <a:rPr lang="en-US" altLang="en-US" b="1" dirty="0">
                <a:latin typeface="Times New Roman" panose="02020603050405020304" pitchFamily="18" charset="0"/>
                <a:cs typeface="Times New Roman" panose="02020603050405020304" pitchFamily="18" charset="0"/>
              </a:rPr>
              <a:t>so</a:t>
            </a:r>
            <a:r>
              <a:rPr lang="en-US" altLang="en-US" dirty="0">
                <a:latin typeface="Times New Roman" panose="02020603050405020304" pitchFamily="18" charset="0"/>
                <a:cs typeface="Times New Roman" panose="02020603050405020304" pitchFamily="18" charset="0"/>
              </a:rPr>
              <a:t>, it can be </a:t>
            </a:r>
            <a:r>
              <a:rPr lang="en-US" altLang="en-US" b="1" dirty="0">
                <a:latin typeface="Times New Roman" panose="02020603050405020304" pitchFamily="18" charset="0"/>
                <a:cs typeface="Times New Roman" panose="02020603050405020304" pitchFamily="18" charset="0"/>
              </a:rPr>
              <a:t>located</a:t>
            </a:r>
            <a:r>
              <a:rPr lang="en-US" altLang="en-US" dirty="0">
                <a:latin typeface="Times New Roman" panose="02020603050405020304" pitchFamily="18" charset="0"/>
                <a:cs typeface="Times New Roman" panose="02020603050405020304" pitchFamily="18" charset="0"/>
              </a:rPr>
              <a:t> immediately</a:t>
            </a:r>
          </a:p>
          <a:p>
            <a:pPr lvl="2" algn="just"/>
            <a:r>
              <a:rPr lang="en-US" altLang="en-US" b="1" dirty="0">
                <a:latin typeface="Times New Roman" panose="02020603050405020304" pitchFamily="18" charset="0"/>
                <a:cs typeface="Times New Roman" panose="02020603050405020304" pitchFamily="18" charset="0"/>
              </a:rPr>
              <a:t>Otherwise</a:t>
            </a:r>
            <a:r>
              <a:rPr lang="en-US" altLang="en-US" dirty="0">
                <a:latin typeface="Times New Roman" panose="02020603050405020304" pitchFamily="18" charset="0"/>
                <a:cs typeface="Times New Roman" panose="02020603050405020304" pitchFamily="18" charset="0"/>
              </a:rPr>
              <a:t>, the </a:t>
            </a:r>
            <a:r>
              <a:rPr lang="en-US" altLang="en-US" b="1" dirty="0">
                <a:latin typeface="Times New Roman" panose="02020603050405020304" pitchFamily="18" charset="0"/>
                <a:cs typeface="Times New Roman" panose="02020603050405020304" pitchFamily="18" charset="0"/>
              </a:rPr>
              <a:t>searching</a:t>
            </a:r>
            <a:r>
              <a:rPr lang="en-US" altLang="en-US" dirty="0">
                <a:latin typeface="Times New Roman" panose="02020603050405020304" pitchFamily="18" charset="0"/>
                <a:cs typeface="Times New Roman" panose="02020603050405020304" pitchFamily="18" charset="0"/>
              </a:rPr>
              <a:t> is </a:t>
            </a:r>
            <a:r>
              <a:rPr lang="en-US" altLang="en-US" b="1" dirty="0">
                <a:latin typeface="Times New Roman" panose="02020603050405020304" pitchFamily="18" charset="0"/>
                <a:cs typeface="Times New Roman" panose="02020603050405020304" pitchFamily="18" charset="0"/>
              </a:rPr>
              <a:t>started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animEffect transition="in" filter="checkerboard(across)">
                                      <p:cBhvr>
                                        <p:cTn id="7" dur="500"/>
                                        <p:tgtEl>
                                          <p:spTgt spid="41987">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1987">
                                            <p:txEl>
                                              <p:pRg st="2" end="2"/>
                                            </p:txEl>
                                          </p:spTgt>
                                        </p:tgtEl>
                                        <p:attrNameLst>
                                          <p:attrName>style.visibility</p:attrName>
                                        </p:attrNameLst>
                                      </p:cBhvr>
                                      <p:to>
                                        <p:strVal val="visible"/>
                                      </p:to>
                                    </p:set>
                                    <p:animEffect transition="in" filter="checkerboard(across)">
                                      <p:cBhvr>
                                        <p:cTn id="10" dur="500"/>
                                        <p:tgtEl>
                                          <p:spTgt spid="41987">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1987">
                                            <p:txEl>
                                              <p:pRg st="3" end="3"/>
                                            </p:txEl>
                                          </p:spTgt>
                                        </p:tgtEl>
                                        <p:attrNameLst>
                                          <p:attrName>style.visibility</p:attrName>
                                        </p:attrNameLst>
                                      </p:cBhvr>
                                      <p:to>
                                        <p:strVal val="visible"/>
                                      </p:to>
                                    </p:set>
                                    <p:animEffect transition="in" filter="checkerboard(across)">
                                      <p:cBhvr>
                                        <p:cTn id="13" dur="500"/>
                                        <p:tgtEl>
                                          <p:spTgt spid="41987">
                                            <p:txEl>
                                              <p:pRg st="3" end="3"/>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41987">
                                            <p:txEl>
                                              <p:pRg st="4" end="4"/>
                                            </p:txEl>
                                          </p:spTgt>
                                        </p:tgtEl>
                                        <p:attrNameLst>
                                          <p:attrName>style.visibility</p:attrName>
                                        </p:attrNameLst>
                                      </p:cBhvr>
                                      <p:to>
                                        <p:strVal val="visible"/>
                                      </p:to>
                                    </p:set>
                                    <p:animEffect transition="in" filter="checkerboard(across)">
                                      <p:cBhvr>
                                        <p:cTn id="16" dur="500"/>
                                        <p:tgtEl>
                                          <p:spTgt spid="41987">
                                            <p:txEl>
                                              <p:pRg st="4" end="4"/>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41987">
                                            <p:txEl>
                                              <p:pRg st="5" end="5"/>
                                            </p:txEl>
                                          </p:spTgt>
                                        </p:tgtEl>
                                        <p:attrNameLst>
                                          <p:attrName>style.visibility</p:attrName>
                                        </p:attrNameLst>
                                      </p:cBhvr>
                                      <p:to>
                                        <p:strVal val="visible"/>
                                      </p:to>
                                    </p:set>
                                    <p:animEffect transition="in" filter="checkerboard(across)">
                                      <p:cBhvr>
                                        <p:cTn id="19" dur="500"/>
                                        <p:tgtEl>
                                          <p:spTgt spid="41987">
                                            <p:txEl>
                                              <p:pRg st="5" end="5"/>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41987">
                                            <p:txEl>
                                              <p:pRg st="6" end="6"/>
                                            </p:txEl>
                                          </p:spTgt>
                                        </p:tgtEl>
                                        <p:attrNameLst>
                                          <p:attrName>style.visibility</p:attrName>
                                        </p:attrNameLst>
                                      </p:cBhvr>
                                      <p:to>
                                        <p:strVal val="visible"/>
                                      </p:to>
                                    </p:set>
                                    <p:animEffect transition="in" filter="checkerboard(across)">
                                      <p:cBhvr>
                                        <p:cTn id="22" dur="500"/>
                                        <p:tgtEl>
                                          <p:spTgt spid="41987">
                                            <p:txEl>
                                              <p:pRg st="6" end="6"/>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41987">
                                            <p:txEl>
                                              <p:pRg st="7" end="7"/>
                                            </p:txEl>
                                          </p:spTgt>
                                        </p:tgtEl>
                                        <p:attrNameLst>
                                          <p:attrName>style.visibility</p:attrName>
                                        </p:attrNameLst>
                                      </p:cBhvr>
                                      <p:to>
                                        <p:strVal val="visible"/>
                                      </p:to>
                                    </p:set>
                                    <p:animEffect transition="in" filter="checkerboard(across)">
                                      <p:cBhvr>
                                        <p:cTn id="25" dur="500"/>
                                        <p:tgtEl>
                                          <p:spTgt spid="41987">
                                            <p:txEl>
                                              <p:pRg st="7" end="7"/>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41987">
                                            <p:txEl>
                                              <p:pRg st="8" end="8"/>
                                            </p:txEl>
                                          </p:spTgt>
                                        </p:tgtEl>
                                        <p:attrNameLst>
                                          <p:attrName>style.visibility</p:attrName>
                                        </p:attrNameLst>
                                      </p:cBhvr>
                                      <p:to>
                                        <p:strVal val="visible"/>
                                      </p:to>
                                    </p:set>
                                    <p:animEffect transition="in" filter="checkerboard(across)">
                                      <p:cBhvr>
                                        <p:cTn id="28" dur="500"/>
                                        <p:tgtEl>
                                          <p:spTgt spid="41987">
                                            <p:txEl>
                                              <p:pRg st="8" end="8"/>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41987">
                                            <p:txEl>
                                              <p:pRg st="9" end="9"/>
                                            </p:txEl>
                                          </p:spTgt>
                                        </p:tgtEl>
                                        <p:attrNameLst>
                                          <p:attrName>style.visibility</p:attrName>
                                        </p:attrNameLst>
                                      </p:cBhvr>
                                      <p:to>
                                        <p:strVal val="visible"/>
                                      </p:to>
                                    </p:set>
                                    <p:animEffect transition="in" filter="checkerboard(across)">
                                      <p:cBhvr>
                                        <p:cTn id="31" dur="500"/>
                                        <p:tgtEl>
                                          <p:spTgt spid="4198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Shared Files</a:t>
            </a:r>
          </a:p>
        </p:txBody>
      </p:sp>
      <p:sp>
        <p:nvSpPr>
          <p:cNvPr id="43011" name="Rectangle 3"/>
          <p:cNvSpPr>
            <a:spLocks noGrp="1"/>
          </p:cNvSpPr>
          <p:nvPr>
            <p:ph type="body" sz="half" idx="4294967295"/>
          </p:nvPr>
        </p:nvSpPr>
        <p:spPr>
          <a:xfrm>
            <a:off x="0" y="1066800"/>
            <a:ext cx="9144000" cy="5791200"/>
          </a:xfrm>
        </p:spPr>
        <p:txBody>
          <a:bodyPr/>
          <a:lstStyle/>
          <a:p>
            <a:pPr algn="just"/>
            <a:r>
              <a:rPr lang="en-US" altLang="en-US" sz="2400">
                <a:latin typeface="Times New Roman" panose="02020603050405020304" pitchFamily="18" charset="0"/>
                <a:cs typeface="Times New Roman" panose="02020603050405020304" pitchFamily="18" charset="0"/>
              </a:rPr>
              <a:t>Sharing file is useful in working together on a project</a:t>
            </a:r>
          </a:p>
          <a:p>
            <a:pPr algn="just"/>
            <a:r>
              <a:rPr lang="en-US" altLang="en-US" sz="2400">
                <a:latin typeface="Times New Roman" panose="02020603050405020304" pitchFamily="18" charset="0"/>
                <a:cs typeface="Times New Roman" panose="02020603050405020304" pitchFamily="18" charset="0"/>
              </a:rPr>
              <a:t>A shared file appear simultaneously in different directories belonging to different users</a:t>
            </a:r>
          </a:p>
          <a:p>
            <a:pPr algn="just"/>
            <a:r>
              <a:rPr lang="en-US" altLang="en-US" sz="2400" b="1">
                <a:latin typeface="Times New Roman" panose="02020603050405020304" pitchFamily="18" charset="0"/>
                <a:cs typeface="Times New Roman" panose="02020603050405020304" pitchFamily="18" charset="0"/>
              </a:rPr>
              <a:t>Problems</a:t>
            </a:r>
          </a:p>
          <a:p>
            <a:pPr lvl="1" algn="just"/>
            <a:r>
              <a:rPr lang="en-US" altLang="en-US" sz="2000">
                <a:latin typeface="Times New Roman" panose="02020603050405020304" pitchFamily="18" charset="0"/>
                <a:cs typeface="Times New Roman" panose="02020603050405020304" pitchFamily="18" charset="0"/>
              </a:rPr>
              <a:t>The changing of the shared file is listed in the directory of user doing the executing (</a:t>
            </a:r>
            <a:r>
              <a:rPr lang="en-US" altLang="en-US" sz="2000" b="1">
                <a:latin typeface="Times New Roman" panose="02020603050405020304" pitchFamily="18" charset="0"/>
                <a:cs typeface="Times New Roman" panose="02020603050405020304" pitchFamily="18" charset="0"/>
              </a:rPr>
              <a:t>not visible to other users</a:t>
            </a:r>
            <a:r>
              <a:rPr lang="en-US" altLang="en-US" sz="2000">
                <a:latin typeface="Times New Roman" panose="02020603050405020304" pitchFamily="18" charset="0"/>
                <a:cs typeface="Times New Roman" panose="02020603050405020304" pitchFamily="18" charset="0"/>
              </a:rPr>
              <a:t>)</a:t>
            </a:r>
          </a:p>
          <a:p>
            <a:pPr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first solution </a:t>
            </a:r>
            <a:r>
              <a:rPr lang="en-US" altLang="en-US" sz="2400">
                <a:latin typeface="Times New Roman" panose="02020603050405020304" pitchFamily="18" charset="0"/>
                <a:cs typeface="Times New Roman" panose="02020603050405020304" pitchFamily="18" charset="0"/>
              </a:rPr>
              <a:t>(traditional/ hard linking)</a:t>
            </a:r>
          </a:p>
          <a:p>
            <a:pPr lvl="1" algn="just"/>
            <a:r>
              <a:rPr lang="en-US" altLang="en-US" sz="2000" b="1">
                <a:latin typeface="Times New Roman" panose="02020603050405020304" pitchFamily="18" charset="0"/>
                <a:cs typeface="Times New Roman" panose="02020603050405020304" pitchFamily="18" charset="0"/>
              </a:rPr>
              <a:t>Disk blocks </a:t>
            </a:r>
            <a:r>
              <a:rPr lang="en-US" altLang="en-US" sz="2000">
                <a:latin typeface="Times New Roman" panose="02020603050405020304" pitchFamily="18" charset="0"/>
                <a:cs typeface="Times New Roman" panose="02020603050405020304" pitchFamily="18" charset="0"/>
              </a:rPr>
              <a:t>are </a:t>
            </a:r>
            <a:r>
              <a:rPr lang="en-US" altLang="en-US" sz="2000" b="1">
                <a:latin typeface="Times New Roman" panose="02020603050405020304" pitchFamily="18" charset="0"/>
                <a:cs typeface="Times New Roman" panose="02020603050405020304" pitchFamily="18" charset="0"/>
              </a:rPr>
              <a:t>not listed in directories</a:t>
            </a:r>
            <a:r>
              <a:rPr lang="en-US" altLang="en-US" sz="2000">
                <a:latin typeface="Times New Roman" panose="02020603050405020304" pitchFamily="18" charset="0"/>
                <a:cs typeface="Times New Roman" panose="02020603050405020304" pitchFamily="18" charset="0"/>
              </a:rPr>
              <a:t>, but </a:t>
            </a:r>
            <a:r>
              <a:rPr lang="en-US" altLang="en-US" sz="2000" b="1">
                <a:latin typeface="Times New Roman" panose="02020603050405020304" pitchFamily="18" charset="0"/>
                <a:cs typeface="Times New Roman" panose="02020603050405020304" pitchFamily="18" charset="0"/>
              </a:rPr>
              <a:t>in a little data structure </a:t>
            </a:r>
            <a:r>
              <a:rPr lang="en-US" altLang="en-US" sz="2000">
                <a:latin typeface="Times New Roman" panose="02020603050405020304" pitchFamily="18" charset="0"/>
                <a:cs typeface="Times New Roman" panose="02020603050405020304" pitchFamily="18" charset="0"/>
              </a:rPr>
              <a:t>(i-node) associated with the file itself. The </a:t>
            </a:r>
            <a:r>
              <a:rPr lang="en-US" altLang="en-US" sz="2000" b="1">
                <a:latin typeface="Times New Roman" panose="02020603050405020304" pitchFamily="18" charset="0"/>
                <a:cs typeface="Times New Roman" panose="02020603050405020304" pitchFamily="18" charset="0"/>
              </a:rPr>
              <a:t>directories</a:t>
            </a:r>
            <a:r>
              <a:rPr lang="en-US" altLang="en-US" sz="2000">
                <a:latin typeface="Times New Roman" panose="02020603050405020304" pitchFamily="18" charset="0"/>
                <a:cs typeface="Times New Roman" panose="02020603050405020304" pitchFamily="18" charset="0"/>
              </a:rPr>
              <a:t> would then </a:t>
            </a:r>
            <a:r>
              <a:rPr lang="en-US" altLang="en-US" sz="2000" b="1">
                <a:latin typeface="Times New Roman" panose="02020603050405020304" pitchFamily="18" charset="0"/>
                <a:cs typeface="Times New Roman" panose="02020603050405020304" pitchFamily="18" charset="0"/>
              </a:rPr>
              <a:t>point</a:t>
            </a:r>
            <a:r>
              <a:rPr lang="en-US" altLang="en-US" sz="2000">
                <a:latin typeface="Times New Roman" panose="02020603050405020304" pitchFamily="18" charset="0"/>
                <a:cs typeface="Times New Roman" panose="02020603050405020304" pitchFamily="18" charset="0"/>
              </a:rPr>
              <a:t> just to the </a:t>
            </a:r>
            <a:r>
              <a:rPr lang="en-US" altLang="en-US" sz="2000" b="1">
                <a:latin typeface="Times New Roman" panose="02020603050405020304" pitchFamily="18" charset="0"/>
                <a:cs typeface="Times New Roman" panose="02020603050405020304" pitchFamily="18" charset="0"/>
              </a:rPr>
              <a:t>little data structure</a:t>
            </a:r>
          </a:p>
          <a:p>
            <a:pPr lvl="2" algn="just"/>
            <a:r>
              <a:rPr lang="en-US" altLang="en-US" sz="1800" b="1">
                <a:latin typeface="Times New Roman" panose="02020603050405020304" pitchFamily="18" charset="0"/>
                <a:cs typeface="Times New Roman" panose="02020603050405020304" pitchFamily="18" charset="0"/>
              </a:rPr>
              <a:t>Advantages</a:t>
            </a:r>
          </a:p>
          <a:p>
            <a:pPr lvl="3" algn="just"/>
            <a:r>
              <a:rPr lang="en-US" altLang="en-US" sz="1600">
                <a:latin typeface="Times New Roman" panose="02020603050405020304" pitchFamily="18" charset="0"/>
                <a:cs typeface="Times New Roman" panose="02020603050405020304" pitchFamily="18" charset="0"/>
              </a:rPr>
              <a:t>One  i-node</a:t>
            </a:r>
          </a:p>
          <a:p>
            <a:pPr lvl="3" algn="just"/>
            <a:r>
              <a:rPr lang="en-US" altLang="en-US" sz="1600">
                <a:latin typeface="Times New Roman" panose="02020603050405020304" pitchFamily="18" charset="0"/>
                <a:cs typeface="Times New Roman" panose="02020603050405020304" pitchFamily="18" charset="0"/>
              </a:rPr>
              <a:t>No new blocks allocated</a:t>
            </a:r>
          </a:p>
          <a:p>
            <a:pPr lvl="2" algn="just"/>
            <a:r>
              <a:rPr lang="en-US" altLang="en-US" sz="1800" b="1">
                <a:latin typeface="Times New Roman" panose="02020603050405020304" pitchFamily="18" charset="0"/>
                <a:cs typeface="Times New Roman" panose="02020603050405020304" pitchFamily="18" charset="0"/>
              </a:rPr>
              <a:t>Disadvantages</a:t>
            </a:r>
            <a:r>
              <a:rPr lang="en-US" altLang="en-US" sz="1800">
                <a:latin typeface="Times New Roman" panose="02020603050405020304" pitchFamily="18" charset="0"/>
                <a:cs typeface="Times New Roman" panose="02020603050405020304" pitchFamily="18" charset="0"/>
              </a:rPr>
              <a:t>:</a:t>
            </a:r>
          </a:p>
          <a:p>
            <a:pPr lvl="3"/>
            <a:r>
              <a:rPr lang="en-US" altLang="en-US" sz="1600">
                <a:latin typeface="Times New Roman" panose="02020603050405020304" pitchFamily="18" charset="0"/>
                <a:cs typeface="Times New Roman" panose="02020603050405020304" pitchFamily="18" charset="0"/>
              </a:rPr>
              <a:t>Can introduce inconsistency </a:t>
            </a:r>
          </a:p>
          <a:p>
            <a:pPr lvl="3"/>
            <a:r>
              <a:rPr lang="en-US" altLang="en-US" sz="1600">
                <a:latin typeface="Times New Roman" panose="02020603050405020304" pitchFamily="18" charset="0"/>
                <a:cs typeface="Times New Roman" panose="02020603050405020304" pitchFamily="18" charset="0"/>
              </a:rPr>
              <a:t>A user can be billed for a “removed file”</a:t>
            </a:r>
          </a:p>
        </p:txBody>
      </p:sp>
      <p:pic>
        <p:nvPicPr>
          <p:cNvPr id="43012" name="Picture 4"/>
          <p:cNvPicPr>
            <a:picLocks noChangeAspect="1" noChangeArrowheads="1"/>
          </p:cNvPicPr>
          <p:nvPr/>
        </p:nvPicPr>
        <p:blipFill>
          <a:blip r:embed="rId3">
            <a:lum bright="-6000" contrast="30000"/>
            <a:extLst>
              <a:ext uri="{28A0092B-C50C-407E-A947-70E740481C1C}">
                <a14:useLocalDpi xmlns:a14="http://schemas.microsoft.com/office/drawing/2010/main" val="0"/>
              </a:ext>
            </a:extLst>
          </a:blip>
          <a:srcRect/>
          <a:stretch>
            <a:fillRect/>
          </a:stretch>
        </p:blipFill>
        <p:spPr bwMode="auto">
          <a:xfrm>
            <a:off x="5410200" y="4876800"/>
            <a:ext cx="3581400" cy="164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3011">
                                            <p:txEl>
                                              <p:pRg st="5" end="5"/>
                                            </p:txEl>
                                          </p:spTgt>
                                        </p:tgtEl>
                                        <p:attrNameLst>
                                          <p:attrName>style.visibility</p:attrName>
                                        </p:attrNameLst>
                                      </p:cBhvr>
                                      <p:to>
                                        <p:strVal val="visible"/>
                                      </p:to>
                                    </p:set>
                                    <p:animEffect transition="in" filter="checkerboard(across)">
                                      <p:cBhvr>
                                        <p:cTn id="7" dur="500"/>
                                        <p:tgtEl>
                                          <p:spTgt spid="43011">
                                            <p:txEl>
                                              <p:pRg st="5" end="5"/>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3011">
                                            <p:txEl>
                                              <p:pRg st="6" end="6"/>
                                            </p:txEl>
                                          </p:spTgt>
                                        </p:tgtEl>
                                        <p:attrNameLst>
                                          <p:attrName>style.visibility</p:attrName>
                                        </p:attrNameLst>
                                      </p:cBhvr>
                                      <p:to>
                                        <p:strVal val="visible"/>
                                      </p:to>
                                    </p:set>
                                    <p:animEffect transition="in" filter="checkerboard(across)">
                                      <p:cBhvr>
                                        <p:cTn id="10" dur="500"/>
                                        <p:tgtEl>
                                          <p:spTgt spid="43011">
                                            <p:txEl>
                                              <p:pRg st="6" end="6"/>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3011">
                                            <p:txEl>
                                              <p:pRg st="7" end="7"/>
                                            </p:txEl>
                                          </p:spTgt>
                                        </p:tgtEl>
                                        <p:attrNameLst>
                                          <p:attrName>style.visibility</p:attrName>
                                        </p:attrNameLst>
                                      </p:cBhvr>
                                      <p:to>
                                        <p:strVal val="visible"/>
                                      </p:to>
                                    </p:set>
                                    <p:animEffect transition="in" filter="checkerboard(across)">
                                      <p:cBhvr>
                                        <p:cTn id="13" dur="500"/>
                                        <p:tgtEl>
                                          <p:spTgt spid="43011">
                                            <p:txEl>
                                              <p:pRg st="7" end="7"/>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43011">
                                            <p:txEl>
                                              <p:pRg st="8" end="8"/>
                                            </p:txEl>
                                          </p:spTgt>
                                        </p:tgtEl>
                                        <p:attrNameLst>
                                          <p:attrName>style.visibility</p:attrName>
                                        </p:attrNameLst>
                                      </p:cBhvr>
                                      <p:to>
                                        <p:strVal val="visible"/>
                                      </p:to>
                                    </p:set>
                                    <p:animEffect transition="in" filter="checkerboard(across)">
                                      <p:cBhvr>
                                        <p:cTn id="16" dur="500"/>
                                        <p:tgtEl>
                                          <p:spTgt spid="43011">
                                            <p:txEl>
                                              <p:pRg st="8" end="8"/>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43011">
                                            <p:txEl>
                                              <p:pRg st="9" end="9"/>
                                            </p:txEl>
                                          </p:spTgt>
                                        </p:tgtEl>
                                        <p:attrNameLst>
                                          <p:attrName>style.visibility</p:attrName>
                                        </p:attrNameLst>
                                      </p:cBhvr>
                                      <p:to>
                                        <p:strVal val="visible"/>
                                      </p:to>
                                    </p:set>
                                    <p:animEffect transition="in" filter="checkerboard(across)">
                                      <p:cBhvr>
                                        <p:cTn id="19" dur="500"/>
                                        <p:tgtEl>
                                          <p:spTgt spid="43011">
                                            <p:txEl>
                                              <p:pRg st="9" end="9"/>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43011">
                                            <p:txEl>
                                              <p:pRg st="10" end="10"/>
                                            </p:txEl>
                                          </p:spTgt>
                                        </p:tgtEl>
                                        <p:attrNameLst>
                                          <p:attrName>style.visibility</p:attrName>
                                        </p:attrNameLst>
                                      </p:cBhvr>
                                      <p:to>
                                        <p:strVal val="visible"/>
                                      </p:to>
                                    </p:set>
                                    <p:animEffect transition="in" filter="checkerboard(across)">
                                      <p:cBhvr>
                                        <p:cTn id="22" dur="500"/>
                                        <p:tgtEl>
                                          <p:spTgt spid="43011">
                                            <p:txEl>
                                              <p:pRg st="10" end="10"/>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43011">
                                            <p:txEl>
                                              <p:pRg st="11" end="11"/>
                                            </p:txEl>
                                          </p:spTgt>
                                        </p:tgtEl>
                                        <p:attrNameLst>
                                          <p:attrName>style.visibility</p:attrName>
                                        </p:attrNameLst>
                                      </p:cBhvr>
                                      <p:to>
                                        <p:strVal val="visible"/>
                                      </p:to>
                                    </p:set>
                                    <p:animEffect transition="in" filter="checkerboard(across)">
                                      <p:cBhvr>
                                        <p:cTn id="25" dur="500"/>
                                        <p:tgtEl>
                                          <p:spTgt spid="43011">
                                            <p:txEl>
                                              <p:pRg st="11" end="1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nodeType="clickEffect">
                                  <p:stCondLst>
                                    <p:cond delay="0"/>
                                  </p:stCondLst>
                                  <p:childTnLst>
                                    <p:set>
                                      <p:cBhvr>
                                        <p:cTn id="29" dur="1" fill="hold">
                                          <p:stCondLst>
                                            <p:cond delay="0"/>
                                          </p:stCondLst>
                                        </p:cTn>
                                        <p:tgtEl>
                                          <p:spTgt spid="43012"/>
                                        </p:tgtEl>
                                        <p:attrNameLst>
                                          <p:attrName>style.visibility</p:attrName>
                                        </p:attrNameLst>
                                      </p:cBhvr>
                                      <p:to>
                                        <p:strVal val="visible"/>
                                      </p:to>
                                    </p:set>
                                    <p:animEffect transition="in" filter="checkerboard(across)">
                                      <p:cBhvr>
                                        <p:cTn id="30" dur="500"/>
                                        <p:tgtEl>
                                          <p:spTgt spid="43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idx="4294967295"/>
          </p:nvPr>
        </p:nvSpPr>
        <p:spPr>
          <a:xfrm>
            <a:off x="914400" y="0"/>
            <a:ext cx="8229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Shared Files</a:t>
            </a:r>
          </a:p>
        </p:txBody>
      </p:sp>
      <p:sp>
        <p:nvSpPr>
          <p:cNvPr id="204807" name="Text Box 4"/>
          <p:cNvSpPr txBox="1">
            <a:spLocks noChangeArrowheads="1"/>
          </p:cNvSpPr>
          <p:nvPr/>
        </p:nvSpPr>
        <p:spPr bwMode="auto">
          <a:xfrm>
            <a:off x="6400800" y="58674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4-16.</a:t>
            </a:r>
          </a:p>
        </p:txBody>
      </p:sp>
      <p:pic>
        <p:nvPicPr>
          <p:cNvPr id="25604" name="Picture 5" descr="04-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447800"/>
            <a:ext cx="4457700"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Text Box 6"/>
          <p:cNvSpPr txBox="1">
            <a:spLocks noChangeArrowheads="1"/>
          </p:cNvSpPr>
          <p:nvPr/>
        </p:nvSpPr>
        <p:spPr bwMode="auto">
          <a:xfrm>
            <a:off x="990600" y="57912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a:latin typeface="Times New Roman" panose="02020603050405020304" pitchFamily="18" charset="0"/>
                <a:cs typeface="Times New Roman" panose="02020603050405020304" pitchFamily="18" charset="0"/>
              </a:rPr>
              <a:t>Directed Acyclic Graph - DAG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idx="4294967295"/>
          </p:nvPr>
        </p:nvSpPr>
        <p:spPr>
          <a:xfrm>
            <a:off x="1981200" y="0"/>
            <a:ext cx="7162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800" b="1">
                <a:latin typeface="Times New Roman" panose="02020603050405020304" pitchFamily="18" charset="0"/>
                <a:cs typeface="Times New Roman" panose="02020603050405020304" pitchFamily="18" charset="0"/>
              </a:rPr>
            </a:br>
            <a:r>
              <a:rPr lang="en-US" altLang="en-US" sz="3600">
                <a:latin typeface="Times New Roman" panose="02020603050405020304" pitchFamily="18" charset="0"/>
                <a:cs typeface="Times New Roman" panose="02020603050405020304" pitchFamily="18" charset="0"/>
              </a:rPr>
              <a:t>Shared Files</a:t>
            </a:r>
          </a:p>
        </p:txBody>
      </p:sp>
      <p:sp>
        <p:nvSpPr>
          <p:cNvPr id="204807" name="Text Box 4"/>
          <p:cNvSpPr txBox="1">
            <a:spLocks noChangeArrowheads="1"/>
          </p:cNvSpPr>
          <p:nvPr/>
        </p:nvSpPr>
        <p:spPr bwMode="auto">
          <a:xfrm>
            <a:off x="3581400" y="6019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4-17.</a:t>
            </a:r>
          </a:p>
        </p:txBody>
      </p:sp>
      <p:pic>
        <p:nvPicPr>
          <p:cNvPr id="26628" name="Picture 5" descr="04-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371600"/>
            <a:ext cx="6848475"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 Box 6"/>
          <p:cNvSpPr txBox="1">
            <a:spLocks noChangeArrowheads="1"/>
          </p:cNvSpPr>
          <p:nvPr/>
        </p:nvSpPr>
        <p:spPr bwMode="auto">
          <a:xfrm>
            <a:off x="2743200" y="52578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2400">
                <a:latin typeface="Times New Roman" panose="02020603050405020304" pitchFamily="18" charset="0"/>
                <a:cs typeface="Times New Roman" panose="02020603050405020304" pitchFamily="18" charset="0"/>
              </a:rPr>
              <a:t>Traditional/ Hard Linking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idx="4294967295"/>
          </p:nvPr>
        </p:nvSpPr>
        <p:spPr>
          <a:xfrm>
            <a:off x="1828800" y="0"/>
            <a:ext cx="73152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a:t>
            </a:r>
            <a:r>
              <a:rPr lang="en-US" altLang="en-US" b="1">
                <a:latin typeface="Times New Roman" panose="02020603050405020304" pitchFamily="18" charset="0"/>
                <a:cs typeface="Times New Roman" panose="02020603050405020304" pitchFamily="18" charset="0"/>
              </a:rPr>
              <a:t> </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Shared Files</a:t>
            </a:r>
          </a:p>
        </p:txBody>
      </p:sp>
      <p:sp>
        <p:nvSpPr>
          <p:cNvPr id="46083" name="Rectangle 3"/>
          <p:cNvSpPr>
            <a:spLocks noGrp="1"/>
          </p:cNvSpPr>
          <p:nvPr>
            <p:ph type="body" sz="half" idx="4294967295"/>
          </p:nvPr>
        </p:nvSpPr>
        <p:spPr>
          <a:xfrm>
            <a:off x="0" y="1066800"/>
            <a:ext cx="9144000" cy="5791200"/>
          </a:xfrm>
        </p:spPr>
        <p:txBody>
          <a:bodyPr/>
          <a:lstStyle/>
          <a:p>
            <a:pPr algn="just">
              <a:lnSpc>
                <a:spcPct val="90000"/>
              </a:lnSpc>
            </a:pPr>
            <a:r>
              <a:rPr lang="en-US" altLang="en-US" sz="2800" b="1" dirty="0">
                <a:latin typeface="Times New Roman" panose="02020603050405020304" pitchFamily="18" charset="0"/>
                <a:cs typeface="Times New Roman" panose="02020603050405020304" pitchFamily="18" charset="0"/>
              </a:rPr>
              <a:t>Second</a:t>
            </a:r>
            <a:r>
              <a:rPr lang="en-US" altLang="en-US" sz="2800" dirty="0">
                <a:latin typeface="Times New Roman" panose="02020603050405020304" pitchFamily="18" charset="0"/>
                <a:cs typeface="Times New Roman" panose="02020603050405020304" pitchFamily="18" charset="0"/>
              </a:rPr>
              <a:t> solution (symbolic linking)</a:t>
            </a:r>
          </a:p>
          <a:p>
            <a:pPr lvl="1" algn="just">
              <a:lnSpc>
                <a:spcPct val="90000"/>
              </a:lnSpc>
            </a:pPr>
            <a:r>
              <a:rPr lang="en-US" altLang="en-US" sz="2400" dirty="0">
                <a:latin typeface="Times New Roman" panose="02020603050405020304" pitchFamily="18" charset="0"/>
                <a:cs typeface="Times New Roman" panose="02020603050405020304" pitchFamily="18" charset="0"/>
              </a:rPr>
              <a:t>By having the system </a:t>
            </a:r>
            <a:r>
              <a:rPr lang="en-US" altLang="en-US" sz="2400" b="1" dirty="0">
                <a:latin typeface="Times New Roman" panose="02020603050405020304" pitchFamily="18" charset="0"/>
                <a:cs typeface="Times New Roman" panose="02020603050405020304" pitchFamily="18" charset="0"/>
              </a:rPr>
              <a:t>create a new file </a:t>
            </a:r>
            <a:r>
              <a:rPr lang="en-US" altLang="en-US" sz="2400" dirty="0">
                <a:latin typeface="Times New Roman" panose="02020603050405020304" pitchFamily="18" charset="0"/>
                <a:cs typeface="Times New Roman" panose="02020603050405020304" pitchFamily="18" charset="0"/>
              </a:rPr>
              <a:t>(</a:t>
            </a:r>
            <a:r>
              <a:rPr lang="en-US" altLang="en-US" sz="2400" b="1" dirty="0">
                <a:latin typeface="Times New Roman" panose="02020603050405020304" pitchFamily="18" charset="0"/>
                <a:cs typeface="Times New Roman" panose="02020603050405020304" pitchFamily="18" charset="0"/>
              </a:rPr>
              <a:t>contains</a:t>
            </a:r>
            <a:r>
              <a:rPr lang="en-US" altLang="en-US" sz="2400" dirty="0">
                <a:latin typeface="Times New Roman" panose="02020603050405020304" pitchFamily="18" charset="0"/>
                <a:cs typeface="Times New Roman" panose="02020603050405020304" pitchFamily="18" charset="0"/>
              </a:rPr>
              <a:t> only </a:t>
            </a:r>
            <a:r>
              <a:rPr lang="en-US" altLang="en-US" sz="2400" b="1" dirty="0">
                <a:latin typeface="Times New Roman" panose="02020603050405020304" pitchFamily="18" charset="0"/>
                <a:cs typeface="Times New Roman" panose="02020603050405020304" pitchFamily="18" charset="0"/>
              </a:rPr>
              <a:t>path name</a:t>
            </a:r>
            <a:r>
              <a:rPr lang="en-US" altLang="en-US" sz="2400" dirty="0">
                <a:latin typeface="Times New Roman" panose="02020603050405020304" pitchFamily="18" charset="0"/>
                <a:cs typeface="Times New Roman" panose="02020603050405020304" pitchFamily="18" charset="0"/>
              </a:rPr>
              <a:t>), of type LINK, and entering that file in B’s directory.</a:t>
            </a:r>
          </a:p>
          <a:p>
            <a:pPr lvl="1" algn="just">
              <a:lnSpc>
                <a:spcPct val="90000"/>
              </a:lnSpc>
            </a:pPr>
            <a:r>
              <a:rPr lang="en-US" altLang="en-US" sz="2400" dirty="0">
                <a:latin typeface="Times New Roman" panose="02020603050405020304" pitchFamily="18" charset="0"/>
                <a:cs typeface="Times New Roman" panose="02020603050405020304" pitchFamily="18" charset="0"/>
              </a:rPr>
              <a:t>When </a:t>
            </a:r>
            <a:r>
              <a:rPr lang="en-US" altLang="en-US" sz="2400" b="1" dirty="0">
                <a:latin typeface="Times New Roman" panose="02020603050405020304" pitchFamily="18" charset="0"/>
                <a:cs typeface="Times New Roman" panose="02020603050405020304" pitchFamily="18" charset="0"/>
              </a:rPr>
              <a:t>B reads </a:t>
            </a:r>
            <a:r>
              <a:rPr lang="en-US" altLang="en-US" sz="2400" dirty="0">
                <a:latin typeface="Times New Roman" panose="02020603050405020304" pitchFamily="18" charset="0"/>
                <a:cs typeface="Times New Roman" panose="02020603050405020304" pitchFamily="18" charset="0"/>
              </a:rPr>
              <a:t>from the </a:t>
            </a:r>
            <a:r>
              <a:rPr lang="en-US" altLang="en-US" sz="2400" b="1" dirty="0">
                <a:latin typeface="Times New Roman" panose="02020603050405020304" pitchFamily="18" charset="0"/>
                <a:cs typeface="Times New Roman" panose="02020603050405020304" pitchFamily="18" charset="0"/>
              </a:rPr>
              <a:t>linked file</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OS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looks up name </a:t>
            </a:r>
            <a:r>
              <a:rPr lang="en-US" altLang="en-US" sz="2400" dirty="0">
                <a:latin typeface="Times New Roman" panose="02020603050405020304" pitchFamily="18" charset="0"/>
                <a:cs typeface="Times New Roman" panose="02020603050405020304" pitchFamily="18" charset="0"/>
              </a:rPr>
              <a:t>of the </a:t>
            </a:r>
            <a:r>
              <a:rPr lang="en-US" altLang="en-US" sz="2400" b="1" dirty="0">
                <a:latin typeface="Times New Roman" panose="02020603050405020304" pitchFamily="18" charset="0"/>
                <a:cs typeface="Times New Roman" panose="02020603050405020304" pitchFamily="18" charset="0"/>
              </a:rPr>
              <a:t>file</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read that file</a:t>
            </a:r>
          </a:p>
          <a:p>
            <a:pPr lvl="1" algn="just">
              <a:lnSpc>
                <a:spcPct val="90000"/>
              </a:lnSpc>
            </a:pPr>
            <a:r>
              <a:rPr lang="en-US" altLang="en-US" sz="2400" b="1" dirty="0">
                <a:latin typeface="Times New Roman" panose="02020603050405020304" pitchFamily="18" charset="0"/>
                <a:cs typeface="Times New Roman" panose="02020603050405020304" pitchFamily="18" charset="0"/>
              </a:rPr>
              <a:t>Advantages</a:t>
            </a:r>
            <a:r>
              <a:rPr lang="en-US" altLang="en-US" sz="2400" dirty="0">
                <a:latin typeface="Times New Roman" panose="02020603050405020304" pitchFamily="18" charset="0"/>
                <a:cs typeface="Times New Roman" panose="02020603050405020304" pitchFamily="18" charset="0"/>
              </a:rPr>
              <a:t>:</a:t>
            </a:r>
          </a:p>
          <a:p>
            <a:pPr lvl="2" algn="just">
              <a:lnSpc>
                <a:spcPct val="90000"/>
              </a:lnSpc>
            </a:pPr>
            <a:r>
              <a:rPr lang="en-US" altLang="en-US" sz="2000" dirty="0">
                <a:latin typeface="Times New Roman" panose="02020603050405020304" pitchFamily="18" charset="0"/>
                <a:cs typeface="Times New Roman" panose="02020603050405020304" pitchFamily="18" charset="0"/>
              </a:rPr>
              <a:t>No inconsistency(creating link does not change the ownership)</a:t>
            </a:r>
          </a:p>
          <a:p>
            <a:pPr lvl="2" algn="just">
              <a:lnSpc>
                <a:spcPct val="90000"/>
              </a:lnSpc>
            </a:pPr>
            <a:r>
              <a:rPr lang="en-US" altLang="en-US" sz="2000" dirty="0">
                <a:latin typeface="Times New Roman" panose="02020603050405020304" pitchFamily="18" charset="0"/>
                <a:cs typeface="Times New Roman" panose="02020603050405020304" pitchFamily="18" charset="0"/>
              </a:rPr>
              <a:t>Can be used to link to files in a network (only using path name)</a:t>
            </a:r>
          </a:p>
          <a:p>
            <a:pPr lvl="1" algn="just">
              <a:lnSpc>
                <a:spcPct val="90000"/>
              </a:lnSpc>
            </a:pPr>
            <a:r>
              <a:rPr lang="en-US" altLang="en-US" sz="2400" b="1" dirty="0">
                <a:latin typeface="Times New Roman" panose="02020603050405020304" pitchFamily="18" charset="0"/>
                <a:cs typeface="Times New Roman" panose="02020603050405020304" pitchFamily="18" charset="0"/>
              </a:rPr>
              <a:t>Disadvantages</a:t>
            </a:r>
            <a:r>
              <a:rPr lang="en-US" altLang="en-US" sz="2400" dirty="0">
                <a:latin typeface="Times New Roman" panose="02020603050405020304" pitchFamily="18" charset="0"/>
                <a:cs typeface="Times New Roman" panose="02020603050405020304" pitchFamily="18" charset="0"/>
              </a:rPr>
              <a:t>:</a:t>
            </a:r>
          </a:p>
          <a:p>
            <a:pPr lvl="2" algn="just">
              <a:lnSpc>
                <a:spcPct val="90000"/>
              </a:lnSpc>
            </a:pPr>
            <a:r>
              <a:rPr lang="en-US" altLang="en-US" sz="2000" dirty="0">
                <a:latin typeface="Times New Roman" panose="02020603050405020304" pitchFamily="18" charset="0"/>
                <a:cs typeface="Times New Roman" panose="02020603050405020304" pitchFamily="18" charset="0"/>
              </a:rPr>
              <a:t>Extra overhead for getting the file </a:t>
            </a:r>
            <a:r>
              <a:rPr lang="en-US" altLang="en-US" sz="2000" dirty="0" err="1">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-node</a:t>
            </a:r>
          </a:p>
          <a:p>
            <a:pPr lvl="2" algn="just">
              <a:lnSpc>
                <a:spcPct val="90000"/>
              </a:lnSpc>
            </a:pPr>
            <a:r>
              <a:rPr lang="en-US" altLang="en-US" sz="2000" dirty="0">
                <a:latin typeface="Times New Roman" panose="02020603050405020304" pitchFamily="18" charset="0"/>
                <a:cs typeface="Times New Roman" panose="02020603050405020304" pitchFamily="18" charset="0"/>
              </a:rPr>
              <a:t>Extra </a:t>
            </a:r>
            <a:r>
              <a:rPr lang="en-US" altLang="en-US" sz="2000" dirty="0" err="1">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-node needed for each symbolic link</a:t>
            </a:r>
          </a:p>
          <a:p>
            <a:pPr algn="just">
              <a:lnSpc>
                <a:spcPct val="90000"/>
              </a:lnSpc>
            </a:pPr>
            <a:r>
              <a:rPr lang="en-US" altLang="en-US" sz="2800" b="1" dirty="0">
                <a:latin typeface="Times New Roman" panose="02020603050405020304" pitchFamily="18" charset="0"/>
                <a:cs typeface="Times New Roman" panose="02020603050405020304" pitchFamily="18" charset="0"/>
              </a:rPr>
              <a:t>Problems</a:t>
            </a:r>
          </a:p>
          <a:p>
            <a:pPr lvl="1" algn="just">
              <a:lnSpc>
                <a:spcPct val="90000"/>
              </a:lnSpc>
            </a:pPr>
            <a:r>
              <a:rPr lang="en-US" altLang="en-US" sz="2400" dirty="0">
                <a:latin typeface="Times New Roman" panose="02020603050405020304" pitchFamily="18" charset="0"/>
                <a:cs typeface="Times New Roman" panose="02020603050405020304" pitchFamily="18" charset="0"/>
              </a:rPr>
              <a:t>When links are allowed, files can have </a:t>
            </a:r>
          </a:p>
          <a:p>
            <a:pPr lvl="1" algn="just">
              <a:lnSpc>
                <a:spcPct val="90000"/>
              </a:lnSpc>
              <a:buFont typeface="Arial" panose="020B0604020202020204" pitchFamily="34" charset="0"/>
              <a:buNone/>
            </a:pPr>
            <a:r>
              <a:rPr lang="en-US" altLang="en-US" sz="2400" dirty="0">
                <a:latin typeface="Times New Roman" panose="02020603050405020304" pitchFamily="18" charset="0"/>
                <a:cs typeface="Times New Roman" panose="02020603050405020304" pitchFamily="18" charset="0"/>
              </a:rPr>
              <a:t>two or more paths → execute one more actions</a:t>
            </a:r>
          </a:p>
        </p:txBody>
      </p:sp>
      <p:pic>
        <p:nvPicPr>
          <p:cNvPr id="46084" name="Picture 4"/>
          <p:cNvPicPr>
            <a:picLocks noChangeAspect="1" noChangeArrowheads="1"/>
          </p:cNvPicPr>
          <p:nvPr/>
        </p:nvPicPr>
        <p:blipFill>
          <a:blip r:embed="rId3">
            <a:lum bright="-12000" contrast="42000"/>
            <a:extLst>
              <a:ext uri="{28A0092B-C50C-407E-A947-70E740481C1C}">
                <a14:useLocalDpi xmlns:a14="http://schemas.microsoft.com/office/drawing/2010/main" val="0"/>
              </a:ext>
            </a:extLst>
          </a:blip>
          <a:srcRect/>
          <a:stretch>
            <a:fillRect/>
          </a:stretch>
        </p:blipFill>
        <p:spPr bwMode="auto">
          <a:xfrm>
            <a:off x="5791200" y="4038600"/>
            <a:ext cx="3352800" cy="205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checkerboard(across)">
                                      <p:cBhvr>
                                        <p:cTn id="7" dur="500"/>
                                        <p:tgtEl>
                                          <p:spTgt spid="46083">
                                            <p:txEl>
                                              <p:pRg st="1" end="1"/>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46083">
                                            <p:txEl>
                                              <p:pRg st="2" end="2"/>
                                            </p:txEl>
                                          </p:spTgt>
                                        </p:tgtEl>
                                        <p:attrNameLst>
                                          <p:attrName>style.visibility</p:attrName>
                                        </p:attrNameLst>
                                      </p:cBhvr>
                                      <p:to>
                                        <p:strVal val="visible"/>
                                      </p:to>
                                    </p:set>
                                    <p:animEffect transition="in" filter="checkerboard(across)">
                                      <p:cBhvr>
                                        <p:cTn id="10" dur="500"/>
                                        <p:tgtEl>
                                          <p:spTgt spid="46083">
                                            <p:txEl>
                                              <p:pRg st="2" end="2"/>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46083">
                                            <p:txEl>
                                              <p:pRg st="3" end="3"/>
                                            </p:txEl>
                                          </p:spTgt>
                                        </p:tgtEl>
                                        <p:attrNameLst>
                                          <p:attrName>style.visibility</p:attrName>
                                        </p:attrNameLst>
                                      </p:cBhvr>
                                      <p:to>
                                        <p:strVal val="visible"/>
                                      </p:to>
                                    </p:set>
                                    <p:animEffect transition="in" filter="checkerboard(across)">
                                      <p:cBhvr>
                                        <p:cTn id="13" dur="500"/>
                                        <p:tgtEl>
                                          <p:spTgt spid="46083">
                                            <p:txEl>
                                              <p:pRg st="3" end="3"/>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46083">
                                            <p:txEl>
                                              <p:pRg st="4" end="4"/>
                                            </p:txEl>
                                          </p:spTgt>
                                        </p:tgtEl>
                                        <p:attrNameLst>
                                          <p:attrName>style.visibility</p:attrName>
                                        </p:attrNameLst>
                                      </p:cBhvr>
                                      <p:to>
                                        <p:strVal val="visible"/>
                                      </p:to>
                                    </p:set>
                                    <p:animEffect transition="in" filter="checkerboard(across)">
                                      <p:cBhvr>
                                        <p:cTn id="16" dur="500"/>
                                        <p:tgtEl>
                                          <p:spTgt spid="46083">
                                            <p:txEl>
                                              <p:pRg st="4" end="4"/>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46083">
                                            <p:txEl>
                                              <p:pRg st="5" end="5"/>
                                            </p:txEl>
                                          </p:spTgt>
                                        </p:tgtEl>
                                        <p:attrNameLst>
                                          <p:attrName>style.visibility</p:attrName>
                                        </p:attrNameLst>
                                      </p:cBhvr>
                                      <p:to>
                                        <p:strVal val="visible"/>
                                      </p:to>
                                    </p:set>
                                    <p:animEffect transition="in" filter="checkerboard(across)">
                                      <p:cBhvr>
                                        <p:cTn id="19" dur="500"/>
                                        <p:tgtEl>
                                          <p:spTgt spid="46083">
                                            <p:txEl>
                                              <p:pRg st="5" end="5"/>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46083">
                                            <p:txEl>
                                              <p:pRg st="6" end="6"/>
                                            </p:txEl>
                                          </p:spTgt>
                                        </p:tgtEl>
                                        <p:attrNameLst>
                                          <p:attrName>style.visibility</p:attrName>
                                        </p:attrNameLst>
                                      </p:cBhvr>
                                      <p:to>
                                        <p:strVal val="visible"/>
                                      </p:to>
                                    </p:set>
                                    <p:animEffect transition="in" filter="checkerboard(across)">
                                      <p:cBhvr>
                                        <p:cTn id="22" dur="500"/>
                                        <p:tgtEl>
                                          <p:spTgt spid="46083">
                                            <p:txEl>
                                              <p:pRg st="6" end="6"/>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46083">
                                            <p:txEl>
                                              <p:pRg st="7" end="7"/>
                                            </p:txEl>
                                          </p:spTgt>
                                        </p:tgtEl>
                                        <p:attrNameLst>
                                          <p:attrName>style.visibility</p:attrName>
                                        </p:attrNameLst>
                                      </p:cBhvr>
                                      <p:to>
                                        <p:strVal val="visible"/>
                                      </p:to>
                                    </p:set>
                                    <p:animEffect transition="in" filter="checkerboard(across)">
                                      <p:cBhvr>
                                        <p:cTn id="25" dur="500"/>
                                        <p:tgtEl>
                                          <p:spTgt spid="46083">
                                            <p:txEl>
                                              <p:pRg st="7" end="7"/>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46083">
                                            <p:txEl>
                                              <p:pRg st="8" end="8"/>
                                            </p:txEl>
                                          </p:spTgt>
                                        </p:tgtEl>
                                        <p:attrNameLst>
                                          <p:attrName>style.visibility</p:attrName>
                                        </p:attrNameLst>
                                      </p:cBhvr>
                                      <p:to>
                                        <p:strVal val="visible"/>
                                      </p:to>
                                    </p:set>
                                    <p:animEffect transition="in" filter="checkerboard(across)">
                                      <p:cBhvr>
                                        <p:cTn id="28" dur="500"/>
                                        <p:tgtEl>
                                          <p:spTgt spid="46083">
                                            <p:txEl>
                                              <p:pRg st="8" end="8"/>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46084"/>
                                        </p:tgtEl>
                                        <p:attrNameLst>
                                          <p:attrName>style.visibility</p:attrName>
                                        </p:attrNameLst>
                                      </p:cBhvr>
                                      <p:to>
                                        <p:strVal val="visible"/>
                                      </p:to>
                                    </p:set>
                                    <p:animEffect transition="in" filter="blinds(horizontal)">
                                      <p:cBhvr>
                                        <p:cTn id="31" dur="500"/>
                                        <p:tgtEl>
                                          <p:spTgt spid="4608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nodeType="clickEffect">
                                  <p:stCondLst>
                                    <p:cond delay="0"/>
                                  </p:stCondLst>
                                  <p:childTnLst>
                                    <p:set>
                                      <p:cBhvr>
                                        <p:cTn id="35" dur="1" fill="hold">
                                          <p:stCondLst>
                                            <p:cond delay="0"/>
                                          </p:stCondLst>
                                        </p:cTn>
                                        <p:tgtEl>
                                          <p:spTgt spid="46083">
                                            <p:txEl>
                                              <p:pRg st="9" end="9"/>
                                            </p:txEl>
                                          </p:spTgt>
                                        </p:tgtEl>
                                        <p:attrNameLst>
                                          <p:attrName>style.visibility</p:attrName>
                                        </p:attrNameLst>
                                      </p:cBhvr>
                                      <p:to>
                                        <p:strVal val="visible"/>
                                      </p:to>
                                    </p:set>
                                    <p:animEffect transition="in" filter="box(in)">
                                      <p:cBhvr>
                                        <p:cTn id="36" dur="500"/>
                                        <p:tgtEl>
                                          <p:spTgt spid="46083">
                                            <p:txEl>
                                              <p:pRg st="9" end="9"/>
                                            </p:txEl>
                                          </p:spTgt>
                                        </p:tgtEl>
                                      </p:cBhvr>
                                    </p:animEffect>
                                  </p:childTnLst>
                                </p:cTn>
                              </p:par>
                              <p:par>
                                <p:cTn id="37" presetID="4" presetClass="entr" presetSubtype="16" fill="hold" nodeType="withEffect">
                                  <p:stCondLst>
                                    <p:cond delay="0"/>
                                  </p:stCondLst>
                                  <p:childTnLst>
                                    <p:set>
                                      <p:cBhvr>
                                        <p:cTn id="38" dur="1" fill="hold">
                                          <p:stCondLst>
                                            <p:cond delay="0"/>
                                          </p:stCondLst>
                                        </p:cTn>
                                        <p:tgtEl>
                                          <p:spTgt spid="46083">
                                            <p:txEl>
                                              <p:pRg st="10" end="10"/>
                                            </p:txEl>
                                          </p:spTgt>
                                        </p:tgtEl>
                                        <p:attrNameLst>
                                          <p:attrName>style.visibility</p:attrName>
                                        </p:attrNameLst>
                                      </p:cBhvr>
                                      <p:to>
                                        <p:strVal val="visible"/>
                                      </p:to>
                                    </p:set>
                                    <p:animEffect transition="in" filter="box(in)">
                                      <p:cBhvr>
                                        <p:cTn id="39" dur="500"/>
                                        <p:tgtEl>
                                          <p:spTgt spid="46083">
                                            <p:txEl>
                                              <p:pRg st="10" end="10"/>
                                            </p:txEl>
                                          </p:spTgt>
                                        </p:tgtEl>
                                      </p:cBhvr>
                                    </p:animEffect>
                                  </p:childTnLst>
                                </p:cTn>
                              </p:par>
                              <p:par>
                                <p:cTn id="40" presetID="4" presetClass="entr" presetSubtype="16" fill="hold" nodeType="withEffect">
                                  <p:stCondLst>
                                    <p:cond delay="0"/>
                                  </p:stCondLst>
                                  <p:childTnLst>
                                    <p:set>
                                      <p:cBhvr>
                                        <p:cTn id="41" dur="1" fill="hold">
                                          <p:stCondLst>
                                            <p:cond delay="0"/>
                                          </p:stCondLst>
                                        </p:cTn>
                                        <p:tgtEl>
                                          <p:spTgt spid="46083">
                                            <p:txEl>
                                              <p:pRg st="11" end="11"/>
                                            </p:txEl>
                                          </p:spTgt>
                                        </p:tgtEl>
                                        <p:attrNameLst>
                                          <p:attrName>style.visibility</p:attrName>
                                        </p:attrNameLst>
                                      </p:cBhvr>
                                      <p:to>
                                        <p:strVal val="visible"/>
                                      </p:to>
                                    </p:set>
                                    <p:animEffect transition="in" filter="box(in)">
                                      <p:cBhvr>
                                        <p:cTn id="42" dur="500"/>
                                        <p:tgtEl>
                                          <p:spTgt spid="4608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idx="4294967295"/>
          </p:nvPr>
        </p:nvSpPr>
        <p:spPr>
          <a:xfrm>
            <a:off x="1600200" y="0"/>
            <a:ext cx="7543800" cy="1143000"/>
          </a:xfrm>
        </p:spPr>
        <p:txBody>
          <a:bodyPr/>
          <a:lstStyle/>
          <a:p>
            <a:r>
              <a:rPr lang="en-US" altLang="en-US" sz="4000" b="1" dirty="0">
                <a:latin typeface="Times New Roman" panose="02020603050405020304" pitchFamily="18" charset="0"/>
                <a:cs typeface="Times New Roman" panose="02020603050405020304" pitchFamily="18" charset="0"/>
              </a:rPr>
              <a:t>File System Implementation </a:t>
            </a:r>
            <a:br>
              <a:rPr lang="en-US" altLang="en-US" sz="4000" b="1"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Log-Structured File Systems (LFS)</a:t>
            </a:r>
          </a:p>
        </p:txBody>
      </p:sp>
      <p:sp>
        <p:nvSpPr>
          <p:cNvPr id="28675" name="Rectangle 3"/>
          <p:cNvSpPr>
            <a:spLocks noGrp="1"/>
          </p:cNvSpPr>
          <p:nvPr>
            <p:ph type="body" sz="half" idx="4294967295"/>
          </p:nvPr>
        </p:nvSpPr>
        <p:spPr>
          <a:xfrm>
            <a:off x="0" y="1066800"/>
            <a:ext cx="9144000" cy="5791200"/>
          </a:xfrm>
        </p:spPr>
        <p:txBody>
          <a:bodyPr/>
          <a:lstStyle/>
          <a:p>
            <a:pPr algn="just"/>
            <a:r>
              <a:rPr lang="en-US" altLang="en-US" b="1">
                <a:latin typeface="Times New Roman" panose="02020603050405020304" pitchFamily="18" charset="0"/>
                <a:cs typeface="Times New Roman" panose="02020603050405020304" pitchFamily="18" charset="0"/>
              </a:rPr>
              <a:t>Problem</a:t>
            </a:r>
            <a:r>
              <a:rPr lang="en-US" altLang="en-US">
                <a:latin typeface="Times New Roman" panose="02020603050405020304" pitchFamily="18" charset="0"/>
                <a:cs typeface="Times New Roman" panose="02020603050405020304" pitchFamily="18" charset="0"/>
              </a:rPr>
              <a:t> </a:t>
            </a:r>
          </a:p>
          <a:p>
            <a:pPr lvl="1" algn="just"/>
            <a:r>
              <a:rPr lang="en-US" altLang="en-US">
                <a:latin typeface="Times New Roman" panose="02020603050405020304" pitchFamily="18" charset="0"/>
                <a:cs typeface="Times New Roman" panose="02020603050405020304" pitchFamily="18" charset="0"/>
              </a:rPr>
              <a:t>In most file system, writes are done is very small chunks (highly inefficient)</a:t>
            </a:r>
          </a:p>
          <a:p>
            <a:pPr lvl="1" algn="just"/>
            <a:r>
              <a:rPr lang="en-US" altLang="en-US">
                <a:latin typeface="Times New Roman" panose="02020603050405020304" pitchFamily="18" charset="0"/>
                <a:cs typeface="Times New Roman" panose="02020603050405020304" pitchFamily="18" charset="0"/>
              </a:rPr>
              <a:t>In UNIX</a:t>
            </a:r>
          </a:p>
          <a:p>
            <a:pPr lvl="2" algn="just"/>
            <a:r>
              <a:rPr lang="en-US" altLang="en-US">
                <a:latin typeface="Times New Roman" panose="02020603050405020304" pitchFamily="18" charset="0"/>
                <a:cs typeface="Times New Roman" panose="02020603050405020304" pitchFamily="18" charset="0"/>
              </a:rPr>
              <a:t>To </a:t>
            </a:r>
            <a:r>
              <a:rPr lang="en-US" altLang="en-US" b="1">
                <a:latin typeface="Times New Roman" panose="02020603050405020304" pitchFamily="18" charset="0"/>
                <a:cs typeface="Times New Roman" panose="02020603050405020304" pitchFamily="18" charset="0"/>
              </a:rPr>
              <a:t>write new file</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i-node</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for</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directory</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directory block</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i-node for the file</a:t>
            </a:r>
            <a:r>
              <a:rPr lang="en-US" altLang="en-US">
                <a:latin typeface="Times New Roman" panose="02020603050405020304" pitchFamily="18" charset="0"/>
                <a:cs typeface="Times New Roman" panose="02020603050405020304" pitchFamily="18" charset="0"/>
              </a:rPr>
              <a:t>, and </a:t>
            </a:r>
            <a:r>
              <a:rPr lang="en-US" altLang="en-US" b="1">
                <a:latin typeface="Times New Roman" panose="02020603050405020304" pitchFamily="18" charset="0"/>
                <a:cs typeface="Times New Roman" panose="02020603050405020304" pitchFamily="18" charset="0"/>
              </a:rPr>
              <a:t>the file itself </a:t>
            </a:r>
            <a:r>
              <a:rPr lang="en-US" altLang="en-US">
                <a:latin typeface="Times New Roman" panose="02020603050405020304" pitchFamily="18" charset="0"/>
                <a:cs typeface="Times New Roman" panose="02020603050405020304" pitchFamily="18" charset="0"/>
              </a:rPr>
              <a:t>must all be </a:t>
            </a:r>
            <a:r>
              <a:rPr lang="en-US" altLang="en-US" b="1">
                <a:latin typeface="Times New Roman" panose="02020603050405020304" pitchFamily="18" charset="0"/>
                <a:cs typeface="Times New Roman" panose="02020603050405020304" pitchFamily="18" charset="0"/>
              </a:rPr>
              <a:t>written</a:t>
            </a:r>
          </a:p>
          <a:p>
            <a:pPr lvl="2" algn="just"/>
            <a:r>
              <a:rPr lang="en-US" altLang="en-US">
                <a:latin typeface="Times New Roman" panose="02020603050405020304" pitchFamily="18" charset="0"/>
                <a:cs typeface="Times New Roman" panose="02020603050405020304" pitchFamily="18" charset="0"/>
              </a:rPr>
              <a:t>If a </a:t>
            </a:r>
            <a:r>
              <a:rPr lang="en-US" altLang="en-US" b="1">
                <a:latin typeface="Times New Roman" panose="02020603050405020304" pitchFamily="18" charset="0"/>
                <a:cs typeface="Times New Roman" panose="02020603050405020304" pitchFamily="18" charset="0"/>
              </a:rPr>
              <a:t>crash occurs before</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write done, </a:t>
            </a:r>
            <a:r>
              <a:rPr lang="en-US" altLang="en-US">
                <a:latin typeface="Times New Roman" panose="02020603050405020304" pitchFamily="18" charset="0"/>
                <a:cs typeface="Times New Roman" panose="02020603050405020304" pitchFamily="18" charset="0"/>
              </a:rPr>
              <a:t>the file system </a:t>
            </a:r>
            <a:r>
              <a:rPr lang="en-US" altLang="en-US" b="1">
                <a:latin typeface="Times New Roman" panose="02020603050405020304" pitchFamily="18" charset="0"/>
                <a:cs typeface="Times New Roman" panose="02020603050405020304" pitchFamily="18" charset="0"/>
              </a:rPr>
              <a:t>exposes</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serious consistency problems</a:t>
            </a:r>
            <a:r>
              <a:rPr lang="en-US" altLang="en-US">
                <a:latin typeface="Times New Roman" panose="02020603050405020304" pitchFamily="18" charset="0"/>
                <a:cs typeface="Times New Roman" panose="02020603050405020304" pitchFamily="18" charset="0"/>
              </a:rPr>
              <a:t>. Thus, all the writing task can be delayed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p:cNvSpPr>
          <p:nvPr>
            <p:ph type="title" idx="4294967295"/>
          </p:nvPr>
        </p:nvSpPr>
        <p:spPr>
          <a:xfrm>
            <a:off x="1600200" y="0"/>
            <a:ext cx="7543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Log-Structured File Systems (LFS)</a:t>
            </a:r>
          </a:p>
        </p:txBody>
      </p:sp>
      <p:sp>
        <p:nvSpPr>
          <p:cNvPr id="29699" name="Rectangle 3"/>
          <p:cNvSpPr>
            <a:spLocks noGrp="1"/>
          </p:cNvSpPr>
          <p:nvPr>
            <p:ph type="body" sz="half" idx="4294967295"/>
          </p:nvPr>
        </p:nvSpPr>
        <p:spPr>
          <a:xfrm>
            <a:off x="0" y="1143000"/>
            <a:ext cx="9144000" cy="5715000"/>
          </a:xfrm>
        </p:spPr>
        <p:txBody>
          <a:bodyPr/>
          <a:lstStyle/>
          <a:p>
            <a:pPr algn="just">
              <a:lnSpc>
                <a:spcPct val="90000"/>
              </a:lnSpc>
            </a:pPr>
            <a:r>
              <a:rPr lang="en-US" altLang="en-US" sz="2400" b="1">
                <a:latin typeface="Times New Roman" panose="02020603050405020304" pitchFamily="18" charset="0"/>
                <a:cs typeface="Times New Roman" panose="02020603050405020304" pitchFamily="18" charset="0"/>
              </a:rPr>
              <a:t>Solutions</a:t>
            </a:r>
            <a:r>
              <a:rPr lang="en-US" altLang="en-US" sz="2400">
                <a:latin typeface="Times New Roman" panose="02020603050405020304" pitchFamily="18" charset="0"/>
                <a:cs typeface="Times New Roman" panose="02020603050405020304" pitchFamily="18" charset="0"/>
              </a:rPr>
              <a:t>: using LFS</a:t>
            </a:r>
          </a:p>
          <a:p>
            <a:pPr lvl="1" algn="just">
              <a:lnSpc>
                <a:spcPct val="90000"/>
              </a:lnSpc>
            </a:pPr>
            <a:r>
              <a:rPr lang="en-US" altLang="en-US" sz="2000" b="1">
                <a:latin typeface="Times New Roman" panose="02020603050405020304" pitchFamily="18" charset="0"/>
                <a:cs typeface="Times New Roman" panose="02020603050405020304" pitchFamily="18" charset="0"/>
              </a:rPr>
              <a:t>Structure</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entire disk as a log</a:t>
            </a:r>
          </a:p>
          <a:p>
            <a:pPr lvl="1" algn="just">
              <a:lnSpc>
                <a:spcPct val="90000"/>
              </a:lnSpc>
            </a:pPr>
            <a:r>
              <a:rPr lang="en-US" altLang="en-US" sz="2000">
                <a:latin typeface="Times New Roman" panose="02020603050405020304" pitchFamily="18" charset="0"/>
                <a:cs typeface="Times New Roman" panose="02020603050405020304" pitchFamily="18" charset="0"/>
              </a:rPr>
              <a:t>All writes are </a:t>
            </a:r>
            <a:r>
              <a:rPr lang="en-US" altLang="en-US" sz="2000" b="1">
                <a:latin typeface="Times New Roman" panose="02020603050405020304" pitchFamily="18" charset="0"/>
                <a:cs typeface="Times New Roman" panose="02020603050405020304" pitchFamily="18" charset="0"/>
              </a:rPr>
              <a:t>initially</a:t>
            </a:r>
            <a:r>
              <a:rPr lang="en-US" altLang="en-US" sz="2000">
                <a:latin typeface="Times New Roman" panose="02020603050405020304" pitchFamily="18" charset="0"/>
                <a:cs typeface="Times New Roman" panose="02020603050405020304" pitchFamily="18" charset="0"/>
              </a:rPr>
              <a:t> buffe</a:t>
            </a:r>
            <a:r>
              <a:rPr lang="en-US" altLang="en-US" sz="2000" b="1">
                <a:latin typeface="Times New Roman" panose="02020603050405020304" pitchFamily="18" charset="0"/>
                <a:cs typeface="Times New Roman" panose="02020603050405020304" pitchFamily="18" charset="0"/>
              </a:rPr>
              <a:t>r</a:t>
            </a:r>
            <a:r>
              <a:rPr lang="en-US" altLang="en-US" sz="2000">
                <a:latin typeface="Times New Roman" panose="02020603050405020304" pitchFamily="18" charset="0"/>
                <a:cs typeface="Times New Roman" panose="02020603050405020304" pitchFamily="18" charset="0"/>
              </a:rPr>
              <a:t>ed in </a:t>
            </a:r>
            <a:r>
              <a:rPr lang="en-US" altLang="en-US" sz="2000" b="1">
                <a:latin typeface="Times New Roman" panose="02020603050405020304" pitchFamily="18" charset="0"/>
                <a:cs typeface="Times New Roman" panose="02020603050405020304" pitchFamily="18" charset="0"/>
              </a:rPr>
              <a:t>memory</a:t>
            </a:r>
            <a:r>
              <a:rPr lang="en-US" altLang="en-US" sz="2000">
                <a:latin typeface="Times New Roman" panose="02020603050405020304" pitchFamily="18" charset="0"/>
                <a:cs typeface="Times New Roman" panose="02020603050405020304" pitchFamily="18" charset="0"/>
              </a:rPr>
              <a:t>, and </a:t>
            </a:r>
            <a:r>
              <a:rPr lang="en-US" altLang="en-US" sz="2000" b="1">
                <a:latin typeface="Times New Roman" panose="02020603050405020304" pitchFamily="18" charset="0"/>
                <a:cs typeface="Times New Roman" panose="02020603050405020304" pitchFamily="18" charset="0"/>
              </a:rPr>
              <a:t>periodically</a:t>
            </a:r>
            <a:r>
              <a:rPr lang="en-US" altLang="en-US" sz="2000">
                <a:latin typeface="Times New Roman" panose="02020603050405020304" pitchFamily="18" charset="0"/>
                <a:cs typeface="Times New Roman" panose="02020603050405020304" pitchFamily="18" charset="0"/>
              </a:rPr>
              <a:t>, all the </a:t>
            </a:r>
            <a:r>
              <a:rPr lang="en-US" altLang="en-US" sz="2000" b="1">
                <a:latin typeface="Times New Roman" panose="02020603050405020304" pitchFamily="18" charset="0"/>
                <a:cs typeface="Times New Roman" panose="02020603050405020304" pitchFamily="18" charset="0"/>
              </a:rPr>
              <a:t>buffered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writes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to the disk in a single segment </a:t>
            </a:r>
            <a:r>
              <a:rPr lang="en-US" altLang="en-US" sz="2000">
                <a:latin typeface="Times New Roman" panose="02020603050405020304" pitchFamily="18" charset="0"/>
                <a:cs typeface="Times New Roman" panose="02020603050405020304" pitchFamily="18" charset="0"/>
              </a:rPr>
              <a:t>at the </a:t>
            </a:r>
            <a:r>
              <a:rPr lang="en-US" altLang="en-US" sz="2000" b="1">
                <a:latin typeface="Times New Roman" panose="02020603050405020304" pitchFamily="18" charset="0"/>
                <a:cs typeface="Times New Roman" panose="02020603050405020304" pitchFamily="18" charset="0"/>
              </a:rPr>
              <a:t>end of the log</a:t>
            </a:r>
          </a:p>
          <a:p>
            <a:pPr lvl="1" algn="just">
              <a:lnSpc>
                <a:spcPct val="90000"/>
              </a:lnSpc>
            </a:pPr>
            <a:r>
              <a:rPr lang="en-US" altLang="en-US" sz="2000">
                <a:latin typeface="Times New Roman" panose="02020603050405020304" pitchFamily="18" charset="0"/>
                <a:cs typeface="Times New Roman" panose="02020603050405020304" pitchFamily="18" charset="0"/>
              </a:rPr>
              <a:t>A </a:t>
            </a:r>
            <a:r>
              <a:rPr lang="en-US" altLang="en-US" sz="2000" b="1">
                <a:latin typeface="Times New Roman" panose="02020603050405020304" pitchFamily="18" charset="0"/>
                <a:cs typeface="Times New Roman" panose="02020603050405020304" pitchFamily="18" charset="0"/>
              </a:rPr>
              <a:t>single segment </a:t>
            </a:r>
          </a:p>
          <a:p>
            <a:pPr lvl="2" algn="just">
              <a:lnSpc>
                <a:spcPct val="90000"/>
              </a:lnSpc>
            </a:pPr>
            <a:r>
              <a:rPr lang="en-US" altLang="en-US" sz="1800" b="1">
                <a:latin typeface="Times New Roman" panose="02020603050405020304" pitchFamily="18" charset="0"/>
                <a:cs typeface="Times New Roman" panose="02020603050405020304" pitchFamily="18" charset="0"/>
              </a:rPr>
              <a:t>Contains</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i-nodes, directory blocks, and data blocks</a:t>
            </a:r>
            <a:r>
              <a:rPr lang="en-US" altLang="en-US" sz="1800">
                <a:latin typeface="Times New Roman" panose="02020603050405020304" pitchFamily="18" charset="0"/>
                <a:cs typeface="Times New Roman" panose="02020603050405020304" pitchFamily="18" charset="0"/>
              </a:rPr>
              <a:t>, all mixed together</a:t>
            </a:r>
          </a:p>
          <a:p>
            <a:pPr lvl="2" algn="just">
              <a:lnSpc>
                <a:spcPct val="90000"/>
              </a:lnSpc>
            </a:pPr>
            <a:r>
              <a:rPr lang="en-US" altLang="en-US" sz="1800">
                <a:latin typeface="Times New Roman" panose="02020603050405020304" pitchFamily="18" charset="0"/>
                <a:cs typeface="Times New Roman" panose="02020603050405020304" pitchFamily="18" charset="0"/>
              </a:rPr>
              <a:t>At the </a:t>
            </a:r>
            <a:r>
              <a:rPr lang="en-US" altLang="en-US" sz="1800" b="1">
                <a:latin typeface="Times New Roman" panose="02020603050405020304" pitchFamily="18" charset="0"/>
                <a:cs typeface="Times New Roman" panose="02020603050405020304" pitchFamily="18" charset="0"/>
              </a:rPr>
              <a:t>start</a:t>
            </a:r>
            <a:r>
              <a:rPr lang="en-US" altLang="en-US" sz="1800">
                <a:latin typeface="Times New Roman" panose="02020603050405020304" pitchFamily="18" charset="0"/>
                <a:cs typeface="Times New Roman" panose="02020603050405020304" pitchFamily="18" charset="0"/>
              </a:rPr>
              <a:t> of </a:t>
            </a:r>
            <a:r>
              <a:rPr lang="en-US" altLang="en-US" sz="1800" b="1">
                <a:latin typeface="Times New Roman" panose="02020603050405020304" pitchFamily="18" charset="0"/>
                <a:cs typeface="Times New Roman" panose="02020603050405020304" pitchFamily="18" charset="0"/>
              </a:rPr>
              <a:t>each segment </a:t>
            </a:r>
            <a:r>
              <a:rPr lang="en-US" altLang="en-US" sz="1800">
                <a:latin typeface="Times New Roman" panose="02020603050405020304" pitchFamily="18" charset="0"/>
                <a:cs typeface="Times New Roman" panose="02020603050405020304" pitchFamily="18" charset="0"/>
              </a:rPr>
              <a:t>is a segment summary </a:t>
            </a:r>
            <a:r>
              <a:rPr lang="en-US" altLang="en-US" sz="1800" b="1">
                <a:latin typeface="Times New Roman" panose="02020603050405020304" pitchFamily="18" charset="0"/>
                <a:cs typeface="Times New Roman" panose="02020603050405020304" pitchFamily="18" charset="0"/>
              </a:rPr>
              <a:t>telling</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what</a:t>
            </a:r>
            <a:r>
              <a:rPr lang="en-US" altLang="en-US" sz="1800">
                <a:latin typeface="Times New Roman" panose="02020603050405020304" pitchFamily="18" charset="0"/>
                <a:cs typeface="Times New Roman" panose="02020603050405020304" pitchFamily="18" charset="0"/>
              </a:rPr>
              <a:t> can </a:t>
            </a:r>
            <a:r>
              <a:rPr lang="en-US" altLang="en-US" sz="1800" b="1">
                <a:latin typeface="Times New Roman" panose="02020603050405020304" pitchFamily="18" charset="0"/>
                <a:cs typeface="Times New Roman" panose="02020603050405020304" pitchFamily="18" charset="0"/>
              </a:rPr>
              <a:t>be found </a:t>
            </a:r>
          </a:p>
          <a:p>
            <a:pPr lvl="1" algn="just">
              <a:lnSpc>
                <a:spcPct val="90000"/>
              </a:lnSpc>
            </a:pPr>
            <a:r>
              <a:rPr lang="en-US" altLang="en-US" sz="2000" b="1">
                <a:latin typeface="Times New Roman" panose="02020603050405020304" pitchFamily="18" charset="0"/>
                <a:cs typeface="Times New Roman" panose="02020603050405020304" pitchFamily="18" charset="0"/>
              </a:rPr>
              <a:t>i-nodes</a:t>
            </a:r>
            <a:r>
              <a:rPr lang="en-US" altLang="en-US" sz="2000">
                <a:latin typeface="Times New Roman" panose="02020603050405020304" pitchFamily="18" charset="0"/>
                <a:cs typeface="Times New Roman" panose="02020603050405020304" pitchFamily="18" charset="0"/>
              </a:rPr>
              <a:t> are </a:t>
            </a:r>
            <a:r>
              <a:rPr lang="en-US" altLang="en-US" sz="2000" b="1">
                <a:latin typeface="Times New Roman" panose="02020603050405020304" pitchFamily="18" charset="0"/>
                <a:cs typeface="Times New Roman" panose="02020603050405020304" pitchFamily="18" charset="0"/>
              </a:rPr>
              <a:t>scattered</a:t>
            </a:r>
            <a:r>
              <a:rPr lang="en-US" altLang="en-US" sz="2000">
                <a:latin typeface="Times New Roman" panose="02020603050405020304" pitchFamily="18" charset="0"/>
                <a:cs typeface="Times New Roman" panose="02020603050405020304" pitchFamily="18" charset="0"/>
              </a:rPr>
              <a:t> all over the log (</a:t>
            </a:r>
            <a:r>
              <a:rPr lang="en-US" altLang="en-US" sz="2000" i="1">
                <a:latin typeface="Times New Roman" panose="02020603050405020304" pitchFamily="18" charset="0"/>
                <a:cs typeface="Times New Roman" panose="02020603050405020304" pitchFamily="18" charset="0"/>
              </a:rPr>
              <a:t>the blocks are located in the usual way when an i-node is located</a:t>
            </a:r>
            <a:r>
              <a:rPr lang="en-US" altLang="en-US" sz="2000">
                <a:latin typeface="Times New Roman" panose="02020603050405020304" pitchFamily="18" charset="0"/>
                <a:cs typeface="Times New Roman" panose="02020603050405020304" pitchFamily="18" charset="0"/>
              </a:rPr>
              <a:t>)</a:t>
            </a:r>
          </a:p>
          <a:p>
            <a:pPr lvl="1" algn="just">
              <a:lnSpc>
                <a:spcPct val="90000"/>
              </a:lnSpc>
            </a:pPr>
            <a:r>
              <a:rPr lang="en-US" altLang="en-US" sz="2000" b="1">
                <a:latin typeface="Times New Roman" panose="02020603050405020304" pitchFamily="18" charset="0"/>
                <a:cs typeface="Times New Roman" panose="02020603050405020304" pitchFamily="18" charset="0"/>
              </a:rPr>
              <a:t>Finding</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i-node</a:t>
            </a:r>
            <a:r>
              <a:rPr lang="en-US" altLang="en-US" sz="2000">
                <a:latin typeface="Times New Roman" panose="02020603050405020304" pitchFamily="18" charset="0"/>
                <a:cs typeface="Times New Roman" panose="02020603050405020304" pitchFamily="18" charset="0"/>
              </a:rPr>
              <a:t> is much </a:t>
            </a:r>
            <a:r>
              <a:rPr lang="en-US" altLang="en-US" sz="2000" b="1">
                <a:latin typeface="Times New Roman" panose="02020603050405020304" pitchFamily="18" charset="0"/>
                <a:cs typeface="Times New Roman" panose="02020603050405020304" pitchFamily="18" charset="0"/>
              </a:rPr>
              <a:t>harder</a:t>
            </a:r>
            <a:r>
              <a:rPr lang="en-US" altLang="en-US" sz="2000">
                <a:latin typeface="Times New Roman" panose="02020603050405020304" pitchFamily="18" charset="0"/>
                <a:cs typeface="Times New Roman" panose="02020603050405020304" pitchFamily="18" charset="0"/>
              </a:rPr>
              <a:t>, since its address cannot simply calculated from its i-number. </a:t>
            </a:r>
          </a:p>
          <a:p>
            <a:pPr lvl="2" algn="just">
              <a:lnSpc>
                <a:spcPct val="90000"/>
              </a:lnSpc>
            </a:pPr>
            <a:r>
              <a:rPr lang="en-US" altLang="en-US" sz="1800">
                <a:latin typeface="Times New Roman" panose="02020603050405020304" pitchFamily="18" charset="0"/>
                <a:cs typeface="Times New Roman" panose="02020603050405020304" pitchFamily="18" charset="0"/>
              </a:rPr>
              <a:t>Thus, an i-node map, </a:t>
            </a:r>
            <a:r>
              <a:rPr lang="en-US" altLang="en-US" sz="1800" b="1">
                <a:latin typeface="Times New Roman" panose="02020603050405020304" pitchFamily="18" charset="0"/>
                <a:cs typeface="Times New Roman" panose="02020603050405020304" pitchFamily="18" charset="0"/>
              </a:rPr>
              <a:t>indexed</a:t>
            </a:r>
            <a:r>
              <a:rPr lang="en-US" altLang="en-US" sz="1800">
                <a:latin typeface="Times New Roman" panose="02020603050405020304" pitchFamily="18" charset="0"/>
                <a:cs typeface="Times New Roman" panose="02020603050405020304" pitchFamily="18" charset="0"/>
              </a:rPr>
              <a:t> by </a:t>
            </a:r>
            <a:r>
              <a:rPr lang="en-US" altLang="en-US" sz="1800" b="1">
                <a:latin typeface="Times New Roman" panose="02020603050405020304" pitchFamily="18" charset="0"/>
                <a:cs typeface="Times New Roman" panose="02020603050405020304" pitchFamily="18" charset="0"/>
              </a:rPr>
              <a:t>i-number</a:t>
            </a:r>
            <a:r>
              <a:rPr lang="en-US" altLang="en-US" sz="1800">
                <a:latin typeface="Times New Roman" panose="02020603050405020304" pitchFamily="18" charset="0"/>
                <a:cs typeface="Times New Roman" panose="02020603050405020304" pitchFamily="18" charset="0"/>
              </a:rPr>
              <a:t> is </a:t>
            </a:r>
            <a:r>
              <a:rPr lang="en-US" altLang="en-US" sz="1800" b="1">
                <a:latin typeface="Times New Roman" panose="02020603050405020304" pitchFamily="18" charset="0"/>
                <a:cs typeface="Times New Roman" panose="02020603050405020304" pitchFamily="18" charset="0"/>
              </a:rPr>
              <a:t>maintained</a:t>
            </a:r>
          </a:p>
          <a:p>
            <a:pPr lvl="2" algn="just">
              <a:lnSpc>
                <a:spcPct val="90000"/>
              </a:lnSpc>
            </a:pPr>
            <a:r>
              <a:rPr lang="en-US" altLang="en-US" sz="1800" b="1">
                <a:latin typeface="Times New Roman" panose="02020603050405020304" pitchFamily="18" charset="0"/>
                <a:cs typeface="Times New Roman" panose="02020603050405020304" pitchFamily="18" charset="0"/>
              </a:rPr>
              <a:t>Entry</a:t>
            </a:r>
            <a:r>
              <a:rPr lang="en-US" altLang="en-US" sz="1800">
                <a:latin typeface="Times New Roman" panose="02020603050405020304" pitchFamily="18" charset="0"/>
                <a:cs typeface="Times New Roman" panose="02020603050405020304" pitchFamily="18" charset="0"/>
              </a:rPr>
              <a:t> i in this map </a:t>
            </a:r>
            <a:r>
              <a:rPr lang="en-US" altLang="en-US" sz="1800" b="1">
                <a:latin typeface="Times New Roman" panose="02020603050405020304" pitchFamily="18" charset="0"/>
                <a:cs typeface="Times New Roman" panose="02020603050405020304" pitchFamily="18" charset="0"/>
              </a:rPr>
              <a:t>points</a:t>
            </a:r>
            <a:r>
              <a:rPr lang="en-US" altLang="en-US" sz="1800">
                <a:latin typeface="Times New Roman" panose="02020603050405020304" pitchFamily="18" charset="0"/>
                <a:cs typeface="Times New Roman" panose="02020603050405020304" pitchFamily="18" charset="0"/>
              </a:rPr>
              <a:t> to </a:t>
            </a:r>
            <a:r>
              <a:rPr lang="en-US" altLang="en-US" sz="1800" b="1">
                <a:latin typeface="Times New Roman" panose="02020603050405020304" pitchFamily="18" charset="0"/>
                <a:cs typeface="Times New Roman" panose="02020603050405020304" pitchFamily="18" charset="0"/>
              </a:rPr>
              <a:t>i-node</a:t>
            </a:r>
            <a:r>
              <a:rPr lang="en-US" altLang="en-US" sz="1800">
                <a:latin typeface="Times New Roman" panose="02020603050405020304" pitchFamily="18" charset="0"/>
                <a:cs typeface="Times New Roman" panose="02020603050405020304" pitchFamily="18" charset="0"/>
              </a:rPr>
              <a:t> i </a:t>
            </a:r>
            <a:r>
              <a:rPr lang="en-US" altLang="en-US" sz="1800" b="1">
                <a:latin typeface="Times New Roman" panose="02020603050405020304" pitchFamily="18" charset="0"/>
                <a:cs typeface="Times New Roman" panose="02020603050405020304" pitchFamily="18" charset="0"/>
              </a:rPr>
              <a:t>on the disk</a:t>
            </a:r>
          </a:p>
          <a:p>
            <a:pPr lvl="2" algn="just">
              <a:lnSpc>
                <a:spcPct val="90000"/>
              </a:lnSpc>
            </a:pPr>
            <a:r>
              <a:rPr lang="en-US" altLang="en-US" sz="1800">
                <a:latin typeface="Times New Roman" panose="02020603050405020304" pitchFamily="18" charset="0"/>
                <a:cs typeface="Times New Roman" panose="02020603050405020304" pitchFamily="18" charset="0"/>
              </a:rPr>
              <a:t>The map is kept on disk, but it is also cached → the most heavily used parts will be in memory most of the time</a:t>
            </a:r>
          </a:p>
          <a:p>
            <a:pPr lvl="1" algn="just">
              <a:lnSpc>
                <a:spcPct val="90000"/>
              </a:lnSpc>
            </a:pPr>
            <a:r>
              <a:rPr lang="en-US" altLang="en-US" sz="2000">
                <a:latin typeface="Times New Roman" panose="02020603050405020304" pitchFamily="18" charset="0"/>
                <a:cs typeface="Times New Roman" panose="02020603050405020304" pitchFamily="18" charset="0"/>
              </a:rPr>
              <a:t>Opening a file consists of using the map to locate the i-node for file. Once the i-node has been located, the addresses of the blocks can be found from it. All of the blocks will themselves be in segments somewhere in the log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1600200" y="0"/>
            <a:ext cx="7543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Log-Structured File Systems (LFS)</a:t>
            </a:r>
          </a:p>
        </p:txBody>
      </p:sp>
      <p:grpSp>
        <p:nvGrpSpPr>
          <p:cNvPr id="30723" name="Group 13"/>
          <p:cNvGrpSpPr>
            <a:grpSpLocks/>
          </p:cNvGrpSpPr>
          <p:nvPr/>
        </p:nvGrpSpPr>
        <p:grpSpPr bwMode="auto">
          <a:xfrm>
            <a:off x="2209800" y="1524000"/>
            <a:ext cx="6172200" cy="381000"/>
            <a:chOff x="1600200" y="1524000"/>
            <a:chExt cx="6172200" cy="381000"/>
          </a:xfrm>
        </p:grpSpPr>
        <p:sp>
          <p:nvSpPr>
            <p:cNvPr id="5" name="Rectangle 4"/>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4" name="Rectangle 13"/>
          <p:cNvSpPr/>
          <p:nvPr/>
        </p:nvSpPr>
        <p:spPr>
          <a:xfrm>
            <a:off x="228600" y="15240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Cache - Buffer</a:t>
            </a:r>
          </a:p>
        </p:txBody>
      </p:sp>
      <p:sp>
        <p:nvSpPr>
          <p:cNvPr id="15" name="Oval 14"/>
          <p:cNvSpPr/>
          <p:nvPr/>
        </p:nvSpPr>
        <p:spPr>
          <a:xfrm>
            <a:off x="3352800" y="2895600"/>
            <a:ext cx="3048000" cy="304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Oval 15"/>
          <p:cNvSpPr/>
          <p:nvPr/>
        </p:nvSpPr>
        <p:spPr>
          <a:xfrm>
            <a:off x="4343400" y="3886200"/>
            <a:ext cx="1066800" cy="10668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8" name="Straight Arrow Connector 17"/>
          <p:cNvCxnSpPr>
            <a:stCxn id="16" idx="7"/>
            <a:endCxn id="15" idx="7"/>
          </p:cNvCxnSpPr>
          <p:nvPr/>
        </p:nvCxnSpPr>
        <p:spPr>
          <a:xfrm rot="5400000" flipH="1" flipV="1">
            <a:off x="5254625" y="3341688"/>
            <a:ext cx="700087" cy="700088"/>
          </a:xfrm>
          <a:prstGeom prst="straightConnector1">
            <a:avLst/>
          </a:prstGeom>
          <a:ln w="2540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867400" y="30480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Start Disk</a:t>
            </a:r>
          </a:p>
        </p:txBody>
      </p:sp>
      <p:cxnSp>
        <p:nvCxnSpPr>
          <p:cNvPr id="21" name="Straight Arrow Connector 20"/>
          <p:cNvCxnSpPr>
            <a:stCxn id="16" idx="4"/>
            <a:endCxn id="15" idx="4"/>
          </p:cNvCxnSpPr>
          <p:nvPr/>
        </p:nvCxnSpPr>
        <p:spPr>
          <a:xfrm rot="5400000">
            <a:off x="4381501" y="5448300"/>
            <a:ext cx="990600" cy="3175"/>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4114800" y="6019800"/>
            <a:ext cx="2209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Last Data stored</a:t>
            </a:r>
          </a:p>
        </p:txBody>
      </p:sp>
    </p:spTree>
    <p:extLst>
      <p:ext uri="{BB962C8B-B14F-4D97-AF65-F5344CB8AC3E}">
        <p14:creationId xmlns:p14="http://schemas.microsoft.com/office/powerpoint/2010/main" val="167909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1600200" y="0"/>
            <a:ext cx="7543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Log-Structured File Systems (LFS)</a:t>
            </a:r>
          </a:p>
        </p:txBody>
      </p:sp>
      <p:grpSp>
        <p:nvGrpSpPr>
          <p:cNvPr id="30723" name="Group 13"/>
          <p:cNvGrpSpPr>
            <a:grpSpLocks/>
          </p:cNvGrpSpPr>
          <p:nvPr/>
        </p:nvGrpSpPr>
        <p:grpSpPr bwMode="auto">
          <a:xfrm>
            <a:off x="2209800" y="1524000"/>
            <a:ext cx="6172200" cy="381000"/>
            <a:chOff x="1600200" y="1524000"/>
            <a:chExt cx="6172200" cy="381000"/>
          </a:xfrm>
        </p:grpSpPr>
        <p:sp>
          <p:nvSpPr>
            <p:cNvPr id="5" name="Rectangle 4"/>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4" name="Rectangle 13"/>
          <p:cNvSpPr/>
          <p:nvPr/>
        </p:nvSpPr>
        <p:spPr>
          <a:xfrm>
            <a:off x="228600" y="15240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Cache - Buffer</a:t>
            </a:r>
          </a:p>
        </p:txBody>
      </p:sp>
      <p:sp>
        <p:nvSpPr>
          <p:cNvPr id="15" name="Oval 14"/>
          <p:cNvSpPr/>
          <p:nvPr/>
        </p:nvSpPr>
        <p:spPr>
          <a:xfrm>
            <a:off x="3352800" y="2895600"/>
            <a:ext cx="3048000" cy="304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Oval 15"/>
          <p:cNvSpPr/>
          <p:nvPr/>
        </p:nvSpPr>
        <p:spPr>
          <a:xfrm>
            <a:off x="4343400" y="3886200"/>
            <a:ext cx="1066800" cy="10668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8" name="Straight Arrow Connector 17"/>
          <p:cNvCxnSpPr>
            <a:stCxn id="16" idx="7"/>
            <a:endCxn id="15" idx="7"/>
          </p:cNvCxnSpPr>
          <p:nvPr/>
        </p:nvCxnSpPr>
        <p:spPr>
          <a:xfrm rot="5400000" flipH="1" flipV="1">
            <a:off x="5254625" y="3341688"/>
            <a:ext cx="700087" cy="700088"/>
          </a:xfrm>
          <a:prstGeom prst="straightConnector1">
            <a:avLst/>
          </a:prstGeom>
          <a:ln w="2540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867400" y="30480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Start Disk</a:t>
            </a:r>
          </a:p>
        </p:txBody>
      </p:sp>
      <p:cxnSp>
        <p:nvCxnSpPr>
          <p:cNvPr id="21" name="Straight Arrow Connector 20"/>
          <p:cNvCxnSpPr>
            <a:stCxn id="16" idx="4"/>
            <a:endCxn id="15" idx="4"/>
          </p:cNvCxnSpPr>
          <p:nvPr/>
        </p:nvCxnSpPr>
        <p:spPr>
          <a:xfrm rot="5400000">
            <a:off x="4381501" y="5448300"/>
            <a:ext cx="990600" cy="3175"/>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4114800" y="6019800"/>
            <a:ext cx="2209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Last Data stored</a:t>
            </a:r>
          </a:p>
        </p:txBody>
      </p:sp>
      <p:sp>
        <p:nvSpPr>
          <p:cNvPr id="23" name="Freeform 22"/>
          <p:cNvSpPr/>
          <p:nvPr/>
        </p:nvSpPr>
        <p:spPr>
          <a:xfrm>
            <a:off x="4782343" y="3239335"/>
            <a:ext cx="1712913" cy="2782888"/>
          </a:xfrm>
          <a:custGeom>
            <a:avLst/>
            <a:gdLst>
              <a:gd name="connsiteX0" fmla="*/ 373487 w 1712890"/>
              <a:gd name="connsiteY0" fmla="*/ 785611 h 2781837"/>
              <a:gd name="connsiteX1" fmla="*/ 1184856 w 1712890"/>
              <a:gd name="connsiteY1" fmla="*/ 0 h 2781837"/>
              <a:gd name="connsiteX2" fmla="*/ 1635617 w 1712890"/>
              <a:gd name="connsiteY2" fmla="*/ 618186 h 2781837"/>
              <a:gd name="connsiteX3" fmla="*/ 1712890 w 1712890"/>
              <a:gd name="connsiteY3" fmla="*/ 1545465 h 2781837"/>
              <a:gd name="connsiteX4" fmla="*/ 1326524 w 1712890"/>
              <a:gd name="connsiteY4" fmla="*/ 2253803 h 2781837"/>
              <a:gd name="connsiteX5" fmla="*/ 643944 w 1712890"/>
              <a:gd name="connsiteY5" fmla="*/ 2730321 h 2781837"/>
              <a:gd name="connsiteX6" fmla="*/ 0 w 1712890"/>
              <a:gd name="connsiteY6" fmla="*/ 2781837 h 2781837"/>
              <a:gd name="connsiteX7" fmla="*/ 0 w 1712890"/>
              <a:gd name="connsiteY7" fmla="*/ 1635617 h 2781837"/>
              <a:gd name="connsiteX8" fmla="*/ 373487 w 1712890"/>
              <a:gd name="connsiteY8" fmla="*/ 785611 h 2781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890" h="2781837">
                <a:moveTo>
                  <a:pt x="373487" y="785611"/>
                </a:moveTo>
                <a:lnTo>
                  <a:pt x="1184856" y="0"/>
                </a:lnTo>
                <a:lnTo>
                  <a:pt x="1635617" y="618186"/>
                </a:lnTo>
                <a:lnTo>
                  <a:pt x="1712890" y="1545465"/>
                </a:lnTo>
                <a:lnTo>
                  <a:pt x="1326524" y="2253803"/>
                </a:lnTo>
                <a:lnTo>
                  <a:pt x="643944" y="2730321"/>
                </a:lnTo>
                <a:lnTo>
                  <a:pt x="0" y="2781837"/>
                </a:lnTo>
                <a:lnTo>
                  <a:pt x="0" y="1635617"/>
                </a:lnTo>
                <a:lnTo>
                  <a:pt x="373487" y="785611"/>
                </a:ln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Rectangle 24"/>
          <p:cNvSpPr/>
          <p:nvPr/>
        </p:nvSpPr>
        <p:spPr>
          <a:xfrm rot="17593730">
            <a:off x="4900973" y="4633826"/>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latin typeface="Times New Roman" pitchFamily="18" charset="0"/>
                <a:cs typeface="Times New Roman" pitchFamily="18" charset="0"/>
              </a:rPr>
              <a:t>Log</a:t>
            </a:r>
          </a:p>
        </p:txBody>
      </p:sp>
    </p:spTree>
    <p:extLst>
      <p:ext uri="{BB962C8B-B14F-4D97-AF65-F5344CB8AC3E}">
        <p14:creationId xmlns:p14="http://schemas.microsoft.com/office/powerpoint/2010/main" val="1358581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1600200" y="0"/>
            <a:ext cx="7543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Log-Structured File Systems (LFS)</a:t>
            </a:r>
          </a:p>
        </p:txBody>
      </p:sp>
      <p:grpSp>
        <p:nvGrpSpPr>
          <p:cNvPr id="30723" name="Group 13"/>
          <p:cNvGrpSpPr>
            <a:grpSpLocks/>
          </p:cNvGrpSpPr>
          <p:nvPr/>
        </p:nvGrpSpPr>
        <p:grpSpPr bwMode="auto">
          <a:xfrm>
            <a:off x="2209800" y="1524000"/>
            <a:ext cx="6172200" cy="381000"/>
            <a:chOff x="1600200" y="1524000"/>
            <a:chExt cx="6172200" cy="381000"/>
          </a:xfrm>
        </p:grpSpPr>
        <p:sp>
          <p:nvSpPr>
            <p:cNvPr id="5" name="Rectangle 4"/>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4" name="Rectangle 13"/>
          <p:cNvSpPr/>
          <p:nvPr/>
        </p:nvSpPr>
        <p:spPr>
          <a:xfrm>
            <a:off x="228600" y="15240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Cache - Buffer</a:t>
            </a:r>
          </a:p>
        </p:txBody>
      </p:sp>
      <p:sp>
        <p:nvSpPr>
          <p:cNvPr id="15" name="Oval 14"/>
          <p:cNvSpPr/>
          <p:nvPr/>
        </p:nvSpPr>
        <p:spPr>
          <a:xfrm>
            <a:off x="3352800" y="2895600"/>
            <a:ext cx="3048000" cy="304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Oval 15"/>
          <p:cNvSpPr/>
          <p:nvPr/>
        </p:nvSpPr>
        <p:spPr>
          <a:xfrm>
            <a:off x="4343400" y="3886200"/>
            <a:ext cx="1066800" cy="10668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8" name="Straight Arrow Connector 17"/>
          <p:cNvCxnSpPr>
            <a:stCxn id="16" idx="7"/>
            <a:endCxn id="15" idx="7"/>
          </p:cNvCxnSpPr>
          <p:nvPr/>
        </p:nvCxnSpPr>
        <p:spPr>
          <a:xfrm rot="5400000" flipH="1" flipV="1">
            <a:off x="5254625" y="3341688"/>
            <a:ext cx="700087" cy="700088"/>
          </a:xfrm>
          <a:prstGeom prst="straightConnector1">
            <a:avLst/>
          </a:prstGeom>
          <a:ln w="2540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867400" y="30480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Start Disk</a:t>
            </a:r>
          </a:p>
        </p:txBody>
      </p:sp>
      <p:cxnSp>
        <p:nvCxnSpPr>
          <p:cNvPr id="21" name="Straight Arrow Connector 20"/>
          <p:cNvCxnSpPr>
            <a:stCxn id="16" idx="4"/>
            <a:endCxn id="15" idx="4"/>
          </p:cNvCxnSpPr>
          <p:nvPr/>
        </p:nvCxnSpPr>
        <p:spPr>
          <a:xfrm rot="5400000">
            <a:off x="4381501" y="5448300"/>
            <a:ext cx="990600" cy="3175"/>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4114800" y="6019800"/>
            <a:ext cx="2209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Last Data stored</a:t>
            </a:r>
          </a:p>
        </p:txBody>
      </p:sp>
      <p:sp>
        <p:nvSpPr>
          <p:cNvPr id="25" name="Rectangle 24"/>
          <p:cNvSpPr/>
          <p:nvPr/>
        </p:nvSpPr>
        <p:spPr>
          <a:xfrm rot="17593730">
            <a:off x="4766468" y="46101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latin typeface="Times New Roman" pitchFamily="18" charset="0"/>
                <a:cs typeface="Times New Roman" pitchFamily="18" charset="0"/>
              </a:rPr>
              <a:t>Log</a:t>
            </a:r>
          </a:p>
        </p:txBody>
      </p:sp>
      <p:cxnSp>
        <p:nvCxnSpPr>
          <p:cNvPr id="26" name="Straight Arrow Connector 25"/>
          <p:cNvCxnSpPr/>
          <p:nvPr/>
        </p:nvCxnSpPr>
        <p:spPr>
          <a:xfrm rot="5400000">
            <a:off x="3886994" y="5180806"/>
            <a:ext cx="990600" cy="230188"/>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7" name="Curved Connector 29"/>
          <p:cNvCxnSpPr/>
          <p:nvPr/>
        </p:nvCxnSpPr>
        <p:spPr>
          <a:xfrm rot="16200000" flipH="1">
            <a:off x="1543050" y="2914650"/>
            <a:ext cx="4038600" cy="2019300"/>
          </a:xfrm>
          <a:prstGeom prst="curvedConnector3">
            <a:avLst>
              <a:gd name="adj1" fmla="val 105806"/>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Freeform 32"/>
          <p:cNvSpPr/>
          <p:nvPr/>
        </p:nvSpPr>
        <p:spPr>
          <a:xfrm>
            <a:off x="4191000" y="3124200"/>
            <a:ext cx="2322513" cy="3048000"/>
          </a:xfrm>
          <a:custGeom>
            <a:avLst/>
            <a:gdLst>
              <a:gd name="connsiteX0" fmla="*/ 373487 w 1712890"/>
              <a:gd name="connsiteY0" fmla="*/ 785611 h 2781837"/>
              <a:gd name="connsiteX1" fmla="*/ 1184856 w 1712890"/>
              <a:gd name="connsiteY1" fmla="*/ 0 h 2781837"/>
              <a:gd name="connsiteX2" fmla="*/ 1635617 w 1712890"/>
              <a:gd name="connsiteY2" fmla="*/ 618186 h 2781837"/>
              <a:gd name="connsiteX3" fmla="*/ 1712890 w 1712890"/>
              <a:gd name="connsiteY3" fmla="*/ 1545465 h 2781837"/>
              <a:gd name="connsiteX4" fmla="*/ 1326524 w 1712890"/>
              <a:gd name="connsiteY4" fmla="*/ 2253803 h 2781837"/>
              <a:gd name="connsiteX5" fmla="*/ 643944 w 1712890"/>
              <a:gd name="connsiteY5" fmla="*/ 2730321 h 2781837"/>
              <a:gd name="connsiteX6" fmla="*/ 0 w 1712890"/>
              <a:gd name="connsiteY6" fmla="*/ 2781837 h 2781837"/>
              <a:gd name="connsiteX7" fmla="*/ 0 w 1712890"/>
              <a:gd name="connsiteY7" fmla="*/ 1635617 h 2781837"/>
              <a:gd name="connsiteX8" fmla="*/ 373487 w 1712890"/>
              <a:gd name="connsiteY8" fmla="*/ 785611 h 2781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890" h="2781837">
                <a:moveTo>
                  <a:pt x="373487" y="785611"/>
                </a:moveTo>
                <a:lnTo>
                  <a:pt x="1184856" y="0"/>
                </a:lnTo>
                <a:lnTo>
                  <a:pt x="1635617" y="618186"/>
                </a:lnTo>
                <a:lnTo>
                  <a:pt x="1712890" y="1545465"/>
                </a:lnTo>
                <a:lnTo>
                  <a:pt x="1326524" y="2253803"/>
                </a:lnTo>
                <a:lnTo>
                  <a:pt x="643944" y="2730321"/>
                </a:lnTo>
                <a:lnTo>
                  <a:pt x="0" y="2781837"/>
                </a:lnTo>
                <a:lnTo>
                  <a:pt x="0" y="1635617"/>
                </a:lnTo>
                <a:lnTo>
                  <a:pt x="373487" y="785611"/>
                </a:ln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3866397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1600200" y="0"/>
            <a:ext cx="7543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Log-Structured File Systems (LFS)</a:t>
            </a:r>
          </a:p>
        </p:txBody>
      </p:sp>
      <p:grpSp>
        <p:nvGrpSpPr>
          <p:cNvPr id="30723" name="Group 13"/>
          <p:cNvGrpSpPr>
            <a:grpSpLocks/>
          </p:cNvGrpSpPr>
          <p:nvPr/>
        </p:nvGrpSpPr>
        <p:grpSpPr bwMode="auto">
          <a:xfrm>
            <a:off x="2209800" y="1524000"/>
            <a:ext cx="6172200" cy="381000"/>
            <a:chOff x="1600200" y="1524000"/>
            <a:chExt cx="6172200" cy="381000"/>
          </a:xfrm>
        </p:grpSpPr>
        <p:sp>
          <p:nvSpPr>
            <p:cNvPr id="5" name="Rectangle 4"/>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4" name="Rectangle 13"/>
          <p:cNvSpPr/>
          <p:nvPr/>
        </p:nvSpPr>
        <p:spPr>
          <a:xfrm>
            <a:off x="228600" y="15240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Cache - Buffer</a:t>
            </a:r>
          </a:p>
        </p:txBody>
      </p:sp>
      <p:sp>
        <p:nvSpPr>
          <p:cNvPr id="15" name="Oval 14"/>
          <p:cNvSpPr/>
          <p:nvPr/>
        </p:nvSpPr>
        <p:spPr>
          <a:xfrm>
            <a:off x="3352800" y="2895600"/>
            <a:ext cx="3048000" cy="304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Oval 15"/>
          <p:cNvSpPr/>
          <p:nvPr/>
        </p:nvSpPr>
        <p:spPr>
          <a:xfrm>
            <a:off x="4343400" y="3886200"/>
            <a:ext cx="1066800" cy="10668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8" name="Straight Arrow Connector 17"/>
          <p:cNvCxnSpPr>
            <a:stCxn id="16" idx="7"/>
            <a:endCxn id="15" idx="7"/>
          </p:cNvCxnSpPr>
          <p:nvPr/>
        </p:nvCxnSpPr>
        <p:spPr>
          <a:xfrm rot="5400000" flipH="1" flipV="1">
            <a:off x="5254625" y="3341688"/>
            <a:ext cx="700087" cy="700088"/>
          </a:xfrm>
          <a:prstGeom prst="straightConnector1">
            <a:avLst/>
          </a:prstGeom>
          <a:ln w="2540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867400" y="30480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Start Disk</a:t>
            </a:r>
          </a:p>
        </p:txBody>
      </p:sp>
      <p:cxnSp>
        <p:nvCxnSpPr>
          <p:cNvPr id="21" name="Straight Arrow Connector 20"/>
          <p:cNvCxnSpPr>
            <a:stCxn id="16" idx="4"/>
            <a:endCxn id="15" idx="4"/>
          </p:cNvCxnSpPr>
          <p:nvPr/>
        </p:nvCxnSpPr>
        <p:spPr>
          <a:xfrm rot="5400000">
            <a:off x="4381501" y="5448300"/>
            <a:ext cx="990600" cy="3175"/>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4114800" y="6019800"/>
            <a:ext cx="2209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Last Data stored</a:t>
            </a:r>
          </a:p>
        </p:txBody>
      </p:sp>
      <p:sp>
        <p:nvSpPr>
          <p:cNvPr id="25" name="Rectangle 24"/>
          <p:cNvSpPr/>
          <p:nvPr/>
        </p:nvSpPr>
        <p:spPr>
          <a:xfrm rot="17593730">
            <a:off x="4766468" y="46101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latin typeface="Times New Roman" pitchFamily="18" charset="0"/>
                <a:cs typeface="Times New Roman" pitchFamily="18" charset="0"/>
              </a:rPr>
              <a:t>Log</a:t>
            </a:r>
          </a:p>
        </p:txBody>
      </p:sp>
      <p:cxnSp>
        <p:nvCxnSpPr>
          <p:cNvPr id="26" name="Straight Arrow Connector 25"/>
          <p:cNvCxnSpPr/>
          <p:nvPr/>
        </p:nvCxnSpPr>
        <p:spPr>
          <a:xfrm rot="5400000">
            <a:off x="3886994" y="5180806"/>
            <a:ext cx="990600" cy="230188"/>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rot="10800000" flipV="1">
            <a:off x="3352800" y="4191000"/>
            <a:ext cx="992188" cy="228600"/>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9" name="Shape 38"/>
          <p:cNvCxnSpPr/>
          <p:nvPr/>
        </p:nvCxnSpPr>
        <p:spPr>
          <a:xfrm rot="5400000">
            <a:off x="4248150" y="1009650"/>
            <a:ext cx="2895600" cy="46863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Freeform 40"/>
          <p:cNvSpPr/>
          <p:nvPr/>
        </p:nvSpPr>
        <p:spPr>
          <a:xfrm>
            <a:off x="3309938" y="3116263"/>
            <a:ext cx="3284537" cy="3014662"/>
          </a:xfrm>
          <a:custGeom>
            <a:avLst/>
            <a:gdLst>
              <a:gd name="connsiteX0" fmla="*/ 1828800 w 3284113"/>
              <a:gd name="connsiteY0" fmla="*/ 785612 h 3013657"/>
              <a:gd name="connsiteX1" fmla="*/ 2691685 w 3284113"/>
              <a:gd name="connsiteY1" fmla="*/ 0 h 3013657"/>
              <a:gd name="connsiteX2" fmla="*/ 3168203 w 3284113"/>
              <a:gd name="connsiteY2" fmla="*/ 682581 h 3013657"/>
              <a:gd name="connsiteX3" fmla="*/ 3284113 w 3284113"/>
              <a:gd name="connsiteY3" fmla="*/ 1725769 h 3013657"/>
              <a:gd name="connsiteX4" fmla="*/ 2833353 w 3284113"/>
              <a:gd name="connsiteY4" fmla="*/ 2472744 h 3013657"/>
              <a:gd name="connsiteX5" fmla="*/ 1867437 w 3284113"/>
              <a:gd name="connsiteY5" fmla="*/ 3013657 h 3013657"/>
              <a:gd name="connsiteX6" fmla="*/ 553792 w 3284113"/>
              <a:gd name="connsiteY6" fmla="*/ 2640169 h 3013657"/>
              <a:gd name="connsiteX7" fmla="*/ 38637 w 3284113"/>
              <a:gd name="connsiteY7" fmla="*/ 1906074 h 3013657"/>
              <a:gd name="connsiteX8" fmla="*/ 0 w 3284113"/>
              <a:gd name="connsiteY8" fmla="*/ 1171978 h 3013657"/>
              <a:gd name="connsiteX9" fmla="*/ 1828800 w 3284113"/>
              <a:gd name="connsiteY9" fmla="*/ 785612 h 3013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4113" h="3013657">
                <a:moveTo>
                  <a:pt x="1828800" y="785612"/>
                </a:moveTo>
                <a:lnTo>
                  <a:pt x="2691685" y="0"/>
                </a:lnTo>
                <a:lnTo>
                  <a:pt x="3168203" y="682581"/>
                </a:lnTo>
                <a:lnTo>
                  <a:pt x="3284113" y="1725769"/>
                </a:lnTo>
                <a:lnTo>
                  <a:pt x="2833353" y="2472744"/>
                </a:lnTo>
                <a:lnTo>
                  <a:pt x="1867437" y="3013657"/>
                </a:lnTo>
                <a:lnTo>
                  <a:pt x="553792" y="2640169"/>
                </a:lnTo>
                <a:lnTo>
                  <a:pt x="38637" y="1906074"/>
                </a:lnTo>
                <a:lnTo>
                  <a:pt x="0" y="1171978"/>
                </a:lnTo>
                <a:lnTo>
                  <a:pt x="1828800" y="785612"/>
                </a:ln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9208538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idx="4294967295"/>
          </p:nvPr>
        </p:nvSpPr>
        <p:spPr>
          <a:xfrm>
            <a:off x="1600200" y="0"/>
            <a:ext cx="7543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Log-Structured File Systems (LFS)</a:t>
            </a:r>
          </a:p>
        </p:txBody>
      </p:sp>
      <p:grpSp>
        <p:nvGrpSpPr>
          <p:cNvPr id="30723" name="Group 13"/>
          <p:cNvGrpSpPr>
            <a:grpSpLocks/>
          </p:cNvGrpSpPr>
          <p:nvPr/>
        </p:nvGrpSpPr>
        <p:grpSpPr bwMode="auto">
          <a:xfrm>
            <a:off x="2209800" y="1524000"/>
            <a:ext cx="6172200" cy="381000"/>
            <a:chOff x="1600200" y="1524000"/>
            <a:chExt cx="6172200" cy="381000"/>
          </a:xfrm>
        </p:grpSpPr>
        <p:sp>
          <p:nvSpPr>
            <p:cNvPr id="5" name="Rectangle 4"/>
            <p:cNvSpPr/>
            <p:nvPr/>
          </p:nvSpPr>
          <p:spPr>
            <a:xfrm>
              <a:off x="1600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286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2971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3657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43434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50292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57150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64008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7086600" y="15240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4" name="Rectangle 13"/>
          <p:cNvSpPr/>
          <p:nvPr/>
        </p:nvSpPr>
        <p:spPr>
          <a:xfrm>
            <a:off x="228600" y="15240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Cache - Buffer</a:t>
            </a:r>
          </a:p>
        </p:txBody>
      </p:sp>
      <p:sp>
        <p:nvSpPr>
          <p:cNvPr id="15" name="Oval 14"/>
          <p:cNvSpPr/>
          <p:nvPr/>
        </p:nvSpPr>
        <p:spPr>
          <a:xfrm>
            <a:off x="3352800" y="2895600"/>
            <a:ext cx="3048000" cy="3048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Oval 15"/>
          <p:cNvSpPr/>
          <p:nvPr/>
        </p:nvSpPr>
        <p:spPr>
          <a:xfrm>
            <a:off x="4343400" y="3886200"/>
            <a:ext cx="1066800" cy="10668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8" name="Straight Arrow Connector 17"/>
          <p:cNvCxnSpPr>
            <a:stCxn id="16" idx="7"/>
            <a:endCxn id="15" idx="7"/>
          </p:cNvCxnSpPr>
          <p:nvPr/>
        </p:nvCxnSpPr>
        <p:spPr>
          <a:xfrm rot="5400000" flipH="1" flipV="1">
            <a:off x="5254625" y="3341688"/>
            <a:ext cx="700087" cy="700088"/>
          </a:xfrm>
          <a:prstGeom prst="straightConnector1">
            <a:avLst/>
          </a:prstGeom>
          <a:ln w="25400">
            <a:solidFill>
              <a:srgbClr val="FFFF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867400" y="3048000"/>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Start Disk</a:t>
            </a:r>
          </a:p>
        </p:txBody>
      </p:sp>
      <p:cxnSp>
        <p:nvCxnSpPr>
          <p:cNvPr id="21" name="Straight Arrow Connector 20"/>
          <p:cNvCxnSpPr>
            <a:stCxn id="16" idx="4"/>
            <a:endCxn id="15" idx="4"/>
          </p:cNvCxnSpPr>
          <p:nvPr/>
        </p:nvCxnSpPr>
        <p:spPr>
          <a:xfrm rot="5400000">
            <a:off x="4381501" y="5448300"/>
            <a:ext cx="990600" cy="3175"/>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4114800" y="6019800"/>
            <a:ext cx="22098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Last Data stored</a:t>
            </a:r>
          </a:p>
        </p:txBody>
      </p:sp>
      <p:sp>
        <p:nvSpPr>
          <p:cNvPr id="24" name="Rectangle 23"/>
          <p:cNvSpPr/>
          <p:nvPr/>
        </p:nvSpPr>
        <p:spPr>
          <a:xfrm rot="17593730">
            <a:off x="4926013" y="4618038"/>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latin typeface="Times New Roman" pitchFamily="18" charset="0"/>
                <a:cs typeface="Times New Roman" pitchFamily="18" charset="0"/>
              </a:rPr>
              <a:t>Log</a:t>
            </a:r>
          </a:p>
        </p:txBody>
      </p:sp>
      <p:cxnSp>
        <p:nvCxnSpPr>
          <p:cNvPr id="25" name="Straight Arrow Connector 24"/>
          <p:cNvCxnSpPr/>
          <p:nvPr/>
        </p:nvCxnSpPr>
        <p:spPr>
          <a:xfrm rot="5400000">
            <a:off x="3886994" y="5180806"/>
            <a:ext cx="990600" cy="230188"/>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endCxn id="15" idx="2"/>
          </p:cNvCxnSpPr>
          <p:nvPr/>
        </p:nvCxnSpPr>
        <p:spPr>
          <a:xfrm rot="10800000" flipV="1">
            <a:off x="3352800" y="4191000"/>
            <a:ext cx="992188" cy="228600"/>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41" name="Freeform 40"/>
          <p:cNvSpPr/>
          <p:nvPr/>
        </p:nvSpPr>
        <p:spPr>
          <a:xfrm>
            <a:off x="3309938" y="3116263"/>
            <a:ext cx="3284537" cy="3014662"/>
          </a:xfrm>
          <a:custGeom>
            <a:avLst/>
            <a:gdLst>
              <a:gd name="connsiteX0" fmla="*/ 1828800 w 3284113"/>
              <a:gd name="connsiteY0" fmla="*/ 785612 h 3013657"/>
              <a:gd name="connsiteX1" fmla="*/ 2691685 w 3284113"/>
              <a:gd name="connsiteY1" fmla="*/ 0 h 3013657"/>
              <a:gd name="connsiteX2" fmla="*/ 3168203 w 3284113"/>
              <a:gd name="connsiteY2" fmla="*/ 682581 h 3013657"/>
              <a:gd name="connsiteX3" fmla="*/ 3284113 w 3284113"/>
              <a:gd name="connsiteY3" fmla="*/ 1725769 h 3013657"/>
              <a:gd name="connsiteX4" fmla="*/ 2833353 w 3284113"/>
              <a:gd name="connsiteY4" fmla="*/ 2472744 h 3013657"/>
              <a:gd name="connsiteX5" fmla="*/ 1867437 w 3284113"/>
              <a:gd name="connsiteY5" fmla="*/ 3013657 h 3013657"/>
              <a:gd name="connsiteX6" fmla="*/ 553792 w 3284113"/>
              <a:gd name="connsiteY6" fmla="*/ 2640169 h 3013657"/>
              <a:gd name="connsiteX7" fmla="*/ 38637 w 3284113"/>
              <a:gd name="connsiteY7" fmla="*/ 1906074 h 3013657"/>
              <a:gd name="connsiteX8" fmla="*/ 0 w 3284113"/>
              <a:gd name="connsiteY8" fmla="*/ 1171978 h 3013657"/>
              <a:gd name="connsiteX9" fmla="*/ 1828800 w 3284113"/>
              <a:gd name="connsiteY9" fmla="*/ 785612 h 3013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4113" h="3013657">
                <a:moveTo>
                  <a:pt x="1828800" y="785612"/>
                </a:moveTo>
                <a:lnTo>
                  <a:pt x="2691685" y="0"/>
                </a:lnTo>
                <a:lnTo>
                  <a:pt x="3168203" y="682581"/>
                </a:lnTo>
                <a:lnTo>
                  <a:pt x="3284113" y="1725769"/>
                </a:lnTo>
                <a:lnTo>
                  <a:pt x="2833353" y="2472744"/>
                </a:lnTo>
                <a:lnTo>
                  <a:pt x="1867437" y="3013657"/>
                </a:lnTo>
                <a:lnTo>
                  <a:pt x="553792" y="2640169"/>
                </a:lnTo>
                <a:lnTo>
                  <a:pt x="38637" y="1906074"/>
                </a:lnTo>
                <a:lnTo>
                  <a:pt x="0" y="1171978"/>
                </a:lnTo>
                <a:lnTo>
                  <a:pt x="1828800" y="785612"/>
                </a:lnTo>
                <a:close/>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9" name="Curved Connector 28"/>
          <p:cNvCxnSpPr>
            <a:stCxn id="5" idx="2"/>
          </p:cNvCxnSpPr>
          <p:nvPr/>
        </p:nvCxnSpPr>
        <p:spPr>
          <a:xfrm rot="16200000" flipH="1">
            <a:off x="1885950" y="2571750"/>
            <a:ext cx="2209800" cy="876300"/>
          </a:xfrm>
          <a:prstGeom prst="curvedConnector3">
            <a:avLst>
              <a:gd name="adj1" fmla="val 50000"/>
            </a:avLst>
          </a:prstGeom>
          <a:ln w="25400">
            <a:prstDash val="dash"/>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10800000">
            <a:off x="3429000" y="3886200"/>
            <a:ext cx="1144588" cy="76200"/>
          </a:xfrm>
          <a:prstGeom prst="straightConnector1">
            <a:avLst/>
          </a:prstGeom>
          <a:ln w="25400">
            <a:solidFill>
              <a:srgbClr val="00B05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rot="17593730">
            <a:off x="1960918" y="3817187"/>
            <a:ext cx="1676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latin typeface="Times New Roman" pitchFamily="18" charset="0"/>
                <a:cs typeface="Times New Roman" pitchFamily="18" charset="0"/>
              </a:rPr>
              <a:t>Problems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up)">
                                      <p:cBhvr>
                                        <p:cTn id="7" dur="500"/>
                                        <p:tgtEl>
                                          <p:spTgt spid="29"/>
                                        </p:tgtEl>
                                      </p:cBhvr>
                                    </p:animEffect>
                                  </p:childTnLst>
                                </p:cTn>
                              </p:par>
                            </p:childTnLst>
                          </p:cTn>
                        </p:par>
                        <p:par>
                          <p:cTn id="8" fill="hold" nodeType="afterGroup">
                            <p:stCondLst>
                              <p:cond delay="500"/>
                            </p:stCondLst>
                            <p:childTnLst>
                              <p:par>
                                <p:cTn id="9" presetID="18" presetClass="entr" presetSubtype="12"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strips(downLeft)">
                                      <p:cBhvr>
                                        <p:cTn id="11" dur="500"/>
                                        <p:tgtEl>
                                          <p:spTgt spid="32"/>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idx="4294967295"/>
          </p:nvPr>
        </p:nvSpPr>
        <p:spPr>
          <a:xfrm>
            <a:off x="1676400" y="0"/>
            <a:ext cx="7467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Log-Structured File Systems (LFS)</a:t>
            </a:r>
          </a:p>
        </p:txBody>
      </p:sp>
      <p:sp>
        <p:nvSpPr>
          <p:cNvPr id="31747" name="Rectangle 3"/>
          <p:cNvSpPr>
            <a:spLocks noGrp="1"/>
          </p:cNvSpPr>
          <p:nvPr>
            <p:ph type="body" sz="half" idx="4294967295"/>
          </p:nvPr>
        </p:nvSpPr>
        <p:spPr>
          <a:xfrm>
            <a:off x="0" y="990600"/>
            <a:ext cx="9144000" cy="5867400"/>
          </a:xfrm>
        </p:spPr>
        <p:txBody>
          <a:bodyPr/>
          <a:lstStyle/>
          <a:p>
            <a:pPr algn="just"/>
            <a:r>
              <a:rPr lang="en-US" altLang="en-US" sz="2400" b="1">
                <a:latin typeface="Times New Roman" panose="02020603050405020304" pitchFamily="18" charset="0"/>
                <a:cs typeface="Times New Roman" panose="02020603050405020304" pitchFamily="18" charset="0"/>
              </a:rPr>
              <a:t>Problems</a:t>
            </a:r>
          </a:p>
          <a:p>
            <a:pPr lvl="1" algn="just"/>
            <a:r>
              <a:rPr lang="en-US" altLang="en-US" sz="2000">
                <a:latin typeface="Times New Roman" panose="02020603050405020304" pitchFamily="18" charset="0"/>
                <a:cs typeface="Times New Roman" panose="02020603050405020304" pitchFamily="18" charset="0"/>
              </a:rPr>
              <a:t>Disks are </a:t>
            </a:r>
            <a:r>
              <a:rPr lang="en-US" altLang="en-US" sz="2000" b="1">
                <a:latin typeface="Times New Roman" panose="02020603050405020304" pitchFamily="18" charset="0"/>
                <a:cs typeface="Times New Roman" panose="02020603050405020304" pitchFamily="18" charset="0"/>
              </a:rPr>
              <a:t>finitely large</a:t>
            </a:r>
            <a:r>
              <a:rPr lang="en-US" altLang="en-US" sz="2000">
                <a:latin typeface="Times New Roman" panose="02020603050405020304" pitchFamily="18" charset="0"/>
                <a:cs typeface="Times New Roman" panose="02020603050405020304" pitchFamily="18" charset="0"/>
              </a:rPr>
              <a:t>, thus when the </a:t>
            </a:r>
            <a:r>
              <a:rPr lang="en-US" altLang="en-US" sz="2000" b="1">
                <a:latin typeface="Times New Roman" panose="02020603050405020304" pitchFamily="18" charset="0"/>
                <a:cs typeface="Times New Roman" panose="02020603050405020304" pitchFamily="18" charset="0"/>
              </a:rPr>
              <a:t>log occupies </a:t>
            </a: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entire disk</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no new segments can be written</a:t>
            </a:r>
          </a:p>
          <a:p>
            <a:pPr lvl="1" algn="just"/>
            <a:r>
              <a:rPr lang="en-US" altLang="en-US" sz="2000">
                <a:latin typeface="Times New Roman" panose="02020603050405020304" pitchFamily="18" charset="0"/>
                <a:cs typeface="Times New Roman" panose="02020603050405020304" pitchFamily="18" charset="0"/>
              </a:rPr>
              <a:t>Many </a:t>
            </a:r>
            <a:r>
              <a:rPr lang="en-US" altLang="en-US" sz="2000" b="1">
                <a:latin typeface="Times New Roman" panose="02020603050405020304" pitchFamily="18" charset="0"/>
                <a:cs typeface="Times New Roman" panose="02020603050405020304" pitchFamily="18" charset="0"/>
              </a:rPr>
              <a:t>existing segments </a:t>
            </a:r>
            <a:r>
              <a:rPr lang="en-US" altLang="en-US" sz="2000">
                <a:latin typeface="Times New Roman" panose="02020603050405020304" pitchFamily="18" charset="0"/>
                <a:cs typeface="Times New Roman" panose="02020603050405020304" pitchFamily="18" charset="0"/>
              </a:rPr>
              <a:t>may have </a:t>
            </a:r>
            <a:r>
              <a:rPr lang="en-US" altLang="en-US" sz="2000" b="1">
                <a:latin typeface="Times New Roman" panose="02020603050405020304" pitchFamily="18" charset="0"/>
                <a:cs typeface="Times New Roman" panose="02020603050405020304" pitchFamily="18" charset="0"/>
              </a:rPr>
              <a:t>blocks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that</a:t>
            </a:r>
            <a:r>
              <a:rPr lang="en-US" altLang="en-US" sz="2000">
                <a:latin typeface="Times New Roman" panose="02020603050405020304" pitchFamily="18" charset="0"/>
                <a:cs typeface="Times New Roman" panose="02020603050405020304" pitchFamily="18" charset="0"/>
              </a:rPr>
              <a:t> are </a:t>
            </a:r>
            <a:r>
              <a:rPr lang="en-US" altLang="en-US" sz="2000" b="1">
                <a:latin typeface="Times New Roman" panose="02020603050405020304" pitchFamily="18" charset="0"/>
                <a:cs typeface="Times New Roman" panose="02020603050405020304" pitchFamily="18" charset="0"/>
              </a:rPr>
              <a:t>no longer need but they still occupy space </a:t>
            </a:r>
            <a:r>
              <a:rPr lang="en-US" altLang="en-US" sz="2000">
                <a:latin typeface="Times New Roman" panose="02020603050405020304" pitchFamily="18" charset="0"/>
                <a:cs typeface="Times New Roman" panose="02020603050405020304" pitchFamily="18" charset="0"/>
              </a:rPr>
              <a:t>is </a:t>
            </a:r>
            <a:r>
              <a:rPr lang="en-US" altLang="en-US" sz="2000" b="1">
                <a:latin typeface="Times New Roman" panose="02020603050405020304" pitchFamily="18" charset="0"/>
                <a:cs typeface="Times New Roman" panose="02020603050405020304" pitchFamily="18" charset="0"/>
              </a:rPr>
              <a:t>previously</a:t>
            </a:r>
            <a:r>
              <a:rPr lang="en-US" altLang="en-US" sz="2000">
                <a:latin typeface="Times New Roman" panose="02020603050405020304" pitchFamily="18" charset="0"/>
                <a:cs typeface="Times New Roman" panose="02020603050405020304" pitchFamily="18" charset="0"/>
              </a:rPr>
              <a:t> written segments</a:t>
            </a:r>
          </a:p>
          <a:p>
            <a:pPr algn="just"/>
            <a:r>
              <a:rPr lang="en-US" altLang="en-US" sz="2400" b="1">
                <a:latin typeface="Times New Roman" panose="02020603050405020304" pitchFamily="18" charset="0"/>
                <a:cs typeface="Times New Roman" panose="02020603050405020304" pitchFamily="18" charset="0"/>
              </a:rPr>
              <a:t>Solutions</a:t>
            </a:r>
          </a:p>
          <a:p>
            <a:pPr lvl="1" algn="just"/>
            <a:r>
              <a:rPr lang="en-US" altLang="en-US" sz="2000" b="1">
                <a:latin typeface="Times New Roman" panose="02020603050405020304" pitchFamily="18" charset="0"/>
                <a:cs typeface="Times New Roman" panose="02020603050405020304" pitchFamily="18" charset="0"/>
              </a:rPr>
              <a:t>Cleaner thread spends</a:t>
            </a:r>
            <a:r>
              <a:rPr lang="en-US" altLang="en-US" sz="2000">
                <a:latin typeface="Times New Roman" panose="02020603050405020304" pitchFamily="18" charset="0"/>
                <a:cs typeface="Times New Roman" panose="02020603050405020304" pitchFamily="18" charset="0"/>
              </a:rPr>
              <a:t> its time </a:t>
            </a:r>
            <a:r>
              <a:rPr lang="en-US" altLang="en-US" sz="2000" b="1">
                <a:latin typeface="Times New Roman" panose="02020603050405020304" pitchFamily="18" charset="0"/>
                <a:cs typeface="Times New Roman" panose="02020603050405020304" pitchFamily="18" charset="0"/>
              </a:rPr>
              <a:t>scanning</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log</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circularly</a:t>
            </a:r>
            <a:r>
              <a:rPr lang="en-US" altLang="en-US" sz="2000">
                <a:latin typeface="Times New Roman" panose="02020603050405020304" pitchFamily="18" charset="0"/>
                <a:cs typeface="Times New Roman" panose="02020603050405020304" pitchFamily="18" charset="0"/>
              </a:rPr>
              <a:t> to compact it</a:t>
            </a:r>
          </a:p>
          <a:p>
            <a:pPr lvl="2" algn="just"/>
            <a:r>
              <a:rPr lang="en-US" altLang="en-US" sz="1800">
                <a:latin typeface="Times New Roman" panose="02020603050405020304" pitchFamily="18" charset="0"/>
                <a:cs typeface="Times New Roman" panose="02020603050405020304" pitchFamily="18" charset="0"/>
              </a:rPr>
              <a:t>It starts out by </a:t>
            </a:r>
            <a:r>
              <a:rPr lang="en-US" altLang="en-US" sz="1800" b="1">
                <a:latin typeface="Times New Roman" panose="02020603050405020304" pitchFamily="18" charset="0"/>
                <a:cs typeface="Times New Roman" panose="02020603050405020304" pitchFamily="18" charset="0"/>
              </a:rPr>
              <a:t>reading</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summary</a:t>
            </a:r>
            <a:r>
              <a:rPr lang="en-US" altLang="en-US" sz="1800">
                <a:latin typeface="Times New Roman" panose="02020603050405020304" pitchFamily="18" charset="0"/>
                <a:cs typeface="Times New Roman" panose="02020603050405020304" pitchFamily="18" charset="0"/>
              </a:rPr>
              <a:t> of </a:t>
            </a:r>
            <a:r>
              <a:rPr lang="en-US" altLang="en-US" sz="1800" b="1">
                <a:latin typeface="Times New Roman" panose="02020603050405020304" pitchFamily="18" charset="0"/>
                <a:cs typeface="Times New Roman" panose="02020603050405020304" pitchFamily="18" charset="0"/>
              </a:rPr>
              <a:t>first</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segment</a:t>
            </a:r>
            <a:r>
              <a:rPr lang="en-US" altLang="en-US" sz="1800">
                <a:latin typeface="Times New Roman" panose="02020603050405020304" pitchFamily="18" charset="0"/>
                <a:cs typeface="Times New Roman" panose="02020603050405020304" pitchFamily="18" charset="0"/>
              </a:rPr>
              <a:t> in the log to see which i-nodes and files are there</a:t>
            </a:r>
          </a:p>
          <a:p>
            <a:pPr lvl="2" algn="just"/>
            <a:r>
              <a:rPr lang="en-US" altLang="en-US" sz="1800">
                <a:latin typeface="Times New Roman" panose="02020603050405020304" pitchFamily="18" charset="0"/>
                <a:cs typeface="Times New Roman" panose="02020603050405020304" pitchFamily="18" charset="0"/>
              </a:rPr>
              <a:t>It then </a:t>
            </a:r>
            <a:r>
              <a:rPr lang="en-US" altLang="en-US" sz="1800" b="1">
                <a:latin typeface="Times New Roman" panose="02020603050405020304" pitchFamily="18" charset="0"/>
                <a:cs typeface="Times New Roman" panose="02020603050405020304" pitchFamily="18" charset="0"/>
              </a:rPr>
              <a:t>checks</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current</a:t>
            </a:r>
            <a:r>
              <a:rPr lang="en-US" altLang="en-US" sz="1800">
                <a:latin typeface="Times New Roman" panose="02020603050405020304" pitchFamily="18" charset="0"/>
                <a:cs typeface="Times New Roman" panose="02020603050405020304" pitchFamily="18" charset="0"/>
              </a:rPr>
              <a:t> i-node map to see </a:t>
            </a:r>
            <a:r>
              <a:rPr lang="en-US" altLang="en-US" sz="1800" b="1">
                <a:latin typeface="Times New Roman" panose="02020603050405020304" pitchFamily="18" charset="0"/>
                <a:cs typeface="Times New Roman" panose="02020603050405020304" pitchFamily="18" charset="0"/>
              </a:rPr>
              <a:t>if</a:t>
            </a:r>
            <a:r>
              <a:rPr lang="en-US" altLang="en-US" sz="1800">
                <a:latin typeface="Times New Roman" panose="02020603050405020304" pitchFamily="18" charset="0"/>
                <a:cs typeface="Times New Roman" panose="02020603050405020304" pitchFamily="18" charset="0"/>
              </a:rPr>
              <a:t> the i-nodes are </a:t>
            </a:r>
            <a:r>
              <a:rPr lang="en-US" altLang="en-US" sz="1800" b="1">
                <a:latin typeface="Times New Roman" panose="02020603050405020304" pitchFamily="18" charset="0"/>
                <a:cs typeface="Times New Roman" panose="02020603050405020304" pitchFamily="18" charset="0"/>
              </a:rPr>
              <a:t>still</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current</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and</a:t>
            </a:r>
            <a:r>
              <a:rPr lang="en-US" altLang="en-US" sz="1800">
                <a:latin typeface="Times New Roman" panose="02020603050405020304" pitchFamily="18" charset="0"/>
                <a:cs typeface="Times New Roman" panose="02020603050405020304" pitchFamily="18" charset="0"/>
              </a:rPr>
              <a:t> file blocks are </a:t>
            </a:r>
            <a:r>
              <a:rPr lang="en-US" altLang="en-US" sz="1800" b="1">
                <a:latin typeface="Times New Roman" panose="02020603050405020304" pitchFamily="18" charset="0"/>
                <a:cs typeface="Times New Roman" panose="02020603050405020304" pitchFamily="18" charset="0"/>
              </a:rPr>
              <a:t>still</a:t>
            </a:r>
            <a:r>
              <a:rPr lang="en-US" altLang="en-US" sz="1800">
                <a:latin typeface="Times New Roman" panose="02020603050405020304" pitchFamily="18" charset="0"/>
                <a:cs typeface="Times New Roman" panose="02020603050405020304" pitchFamily="18" charset="0"/>
              </a:rPr>
              <a:t> in </a:t>
            </a:r>
            <a:r>
              <a:rPr lang="en-US" altLang="en-US" sz="1800" b="1">
                <a:latin typeface="Times New Roman" panose="02020603050405020304" pitchFamily="18" charset="0"/>
                <a:cs typeface="Times New Roman" panose="02020603050405020304" pitchFamily="18" charset="0"/>
              </a:rPr>
              <a:t>use</a:t>
            </a:r>
            <a:r>
              <a:rPr lang="en-US" altLang="en-US" sz="1800">
                <a:latin typeface="Times New Roman" panose="02020603050405020304" pitchFamily="18" charset="0"/>
                <a:cs typeface="Times New Roman" panose="02020603050405020304" pitchFamily="18" charset="0"/>
              </a:rPr>
              <a:t> → is </a:t>
            </a:r>
            <a:r>
              <a:rPr lang="en-US" altLang="en-US" sz="1800" b="1">
                <a:latin typeface="Times New Roman" panose="02020603050405020304" pitchFamily="18" charset="0"/>
                <a:cs typeface="Times New Roman" panose="02020603050405020304" pitchFamily="18" charset="0"/>
              </a:rPr>
              <a:t>written</a:t>
            </a:r>
            <a:r>
              <a:rPr lang="en-US" altLang="en-US" sz="1800">
                <a:latin typeface="Times New Roman" panose="02020603050405020304" pitchFamily="18" charset="0"/>
                <a:cs typeface="Times New Roman" panose="02020603050405020304" pitchFamily="18" charset="0"/>
              </a:rPr>
              <a:t> in the </a:t>
            </a:r>
            <a:r>
              <a:rPr lang="en-US" altLang="en-US" sz="1800" b="1">
                <a:latin typeface="Times New Roman" panose="02020603050405020304" pitchFamily="18" charset="0"/>
                <a:cs typeface="Times New Roman" panose="02020603050405020304" pitchFamily="18" charset="0"/>
              </a:rPr>
              <a:t>next</a:t>
            </a:r>
            <a:r>
              <a:rPr lang="en-US" altLang="en-US" sz="1800">
                <a:latin typeface="Times New Roman" panose="02020603050405020304" pitchFamily="18" charset="0"/>
                <a:cs typeface="Times New Roman" panose="02020603050405020304" pitchFamily="18" charset="0"/>
              </a:rPr>
              <a:t> segment. </a:t>
            </a:r>
            <a:r>
              <a:rPr lang="en-US" altLang="en-US" sz="1800" b="1">
                <a:latin typeface="Times New Roman" panose="02020603050405020304" pitchFamily="18" charset="0"/>
                <a:cs typeface="Times New Roman" panose="02020603050405020304" pitchFamily="18" charset="0"/>
              </a:rPr>
              <a:t>Otherwise</a:t>
            </a:r>
            <a:r>
              <a:rPr lang="en-US" altLang="en-US" sz="1800">
                <a:latin typeface="Times New Roman" panose="02020603050405020304" pitchFamily="18" charset="0"/>
                <a:cs typeface="Times New Roman" panose="02020603050405020304" pitchFamily="18" charset="0"/>
              </a:rPr>
              <a:t>, that information is </a:t>
            </a:r>
            <a:r>
              <a:rPr lang="en-US" altLang="en-US" sz="1800" b="1">
                <a:latin typeface="Times New Roman" panose="02020603050405020304" pitchFamily="18" charset="0"/>
                <a:cs typeface="Times New Roman" panose="02020603050405020304" pitchFamily="18" charset="0"/>
              </a:rPr>
              <a:t>discarded</a:t>
            </a:r>
          </a:p>
          <a:p>
            <a:pPr lvl="2" algn="just"/>
            <a:r>
              <a:rPr lang="en-US" altLang="en-US" sz="1800" b="1">
                <a:latin typeface="Times New Roman" panose="02020603050405020304" pitchFamily="18" charset="0"/>
                <a:cs typeface="Times New Roman" panose="02020603050405020304" pitchFamily="18" charset="0"/>
              </a:rPr>
              <a:t>Cleaner</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moves</a:t>
            </a:r>
            <a:r>
              <a:rPr lang="en-US" altLang="en-US" sz="1800">
                <a:latin typeface="Times New Roman" panose="02020603050405020304" pitchFamily="18" charset="0"/>
                <a:cs typeface="Times New Roman" panose="02020603050405020304" pitchFamily="18" charset="0"/>
              </a:rPr>
              <a:t> along the </a:t>
            </a:r>
            <a:r>
              <a:rPr lang="en-US" altLang="en-US" sz="1800" b="1">
                <a:latin typeface="Times New Roman" panose="02020603050405020304" pitchFamily="18" charset="0"/>
                <a:cs typeface="Times New Roman" panose="02020603050405020304" pitchFamily="18" charset="0"/>
              </a:rPr>
              <a:t>log</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removing</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old</a:t>
            </a:r>
            <a:r>
              <a:rPr lang="en-US" altLang="en-US" sz="1800">
                <a:latin typeface="Times New Roman" panose="02020603050405020304" pitchFamily="18" charset="0"/>
                <a:cs typeface="Times New Roman" panose="02020603050405020304" pitchFamily="18" charset="0"/>
              </a:rPr>
              <a:t> segments </a:t>
            </a:r>
            <a:r>
              <a:rPr lang="en-US" altLang="en-US" sz="1800" b="1">
                <a:latin typeface="Times New Roman" panose="02020603050405020304" pitchFamily="18" charset="0"/>
                <a:cs typeface="Times New Roman" panose="02020603050405020304" pitchFamily="18" charset="0"/>
              </a:rPr>
              <a:t>from</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back</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and</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putting</a:t>
            </a:r>
            <a:r>
              <a:rPr lang="en-US" altLang="en-US" sz="1800">
                <a:latin typeface="Times New Roman" panose="02020603050405020304" pitchFamily="18" charset="0"/>
                <a:cs typeface="Times New Roman" panose="02020603050405020304" pitchFamily="18" charset="0"/>
              </a:rPr>
              <a:t> any live </a:t>
            </a:r>
            <a:r>
              <a:rPr lang="en-US" altLang="en-US" sz="1800" b="1">
                <a:latin typeface="Times New Roman" panose="02020603050405020304" pitchFamily="18" charset="0"/>
                <a:cs typeface="Times New Roman" panose="02020603050405020304" pitchFamily="18" charset="0"/>
              </a:rPr>
              <a:t>data</a:t>
            </a:r>
            <a:r>
              <a:rPr lang="en-US" altLang="en-US" sz="1800">
                <a:latin typeface="Times New Roman" panose="02020603050405020304" pitchFamily="18" charset="0"/>
                <a:cs typeface="Times New Roman" panose="02020603050405020304" pitchFamily="18" charset="0"/>
              </a:rPr>
              <a:t> into </a:t>
            </a:r>
            <a:r>
              <a:rPr lang="en-US" altLang="en-US" sz="1800" b="1">
                <a:latin typeface="Times New Roman" panose="02020603050405020304" pitchFamily="18" charset="0"/>
                <a:cs typeface="Times New Roman" panose="02020603050405020304" pitchFamily="18" charset="0"/>
              </a:rPr>
              <a:t>memory</a:t>
            </a:r>
            <a:r>
              <a:rPr lang="en-US" altLang="en-US" sz="1800">
                <a:latin typeface="Times New Roman" panose="02020603050405020304" pitchFamily="18" charset="0"/>
                <a:cs typeface="Times New Roman" panose="02020603050405020304" pitchFamily="18" charset="0"/>
              </a:rPr>
              <a:t> for </a:t>
            </a:r>
            <a:r>
              <a:rPr lang="en-US" altLang="en-US" sz="1800" b="1">
                <a:latin typeface="Times New Roman" panose="02020603050405020304" pitchFamily="18" charset="0"/>
                <a:cs typeface="Times New Roman" panose="02020603050405020304" pitchFamily="18" charset="0"/>
              </a:rPr>
              <a:t>rewriting</a:t>
            </a:r>
            <a:r>
              <a:rPr lang="en-US" altLang="en-US" sz="1800">
                <a:latin typeface="Times New Roman" panose="02020603050405020304" pitchFamily="18" charset="0"/>
                <a:cs typeface="Times New Roman" panose="02020603050405020304" pitchFamily="18" charset="0"/>
              </a:rPr>
              <a:t> in the </a:t>
            </a:r>
            <a:r>
              <a:rPr lang="en-US" altLang="en-US" sz="1800" b="1">
                <a:latin typeface="Times New Roman" panose="02020603050405020304" pitchFamily="18" charset="0"/>
                <a:cs typeface="Times New Roman" panose="02020603050405020304" pitchFamily="18" charset="0"/>
              </a:rPr>
              <a:t>next</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segment</a:t>
            </a:r>
          </a:p>
          <a:p>
            <a:pPr lvl="1" algn="just">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the disk is a big circular buffer, with the writer thread adding new segment to the front and the cleaner thread removing old ones from the back</a:t>
            </a:r>
          </a:p>
          <a:p>
            <a:pPr algn="just">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complexity</a:t>
            </a:r>
            <a:r>
              <a:rPr lang="en-US" altLang="en-US" sz="2400">
                <a:latin typeface="Times New Roman" panose="02020603050405020304" pitchFamily="18" charset="0"/>
                <a:cs typeface="Times New Roman" panose="02020603050405020304" pitchFamily="18" charset="0"/>
              </a:rPr>
              <a:t> (it is a theory)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idx="4294967295"/>
          </p:nvPr>
        </p:nvSpPr>
        <p:spPr>
          <a:xfrm>
            <a:off x="1676400" y="0"/>
            <a:ext cx="74676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Journaling File System</a:t>
            </a:r>
          </a:p>
        </p:txBody>
      </p:sp>
      <p:sp>
        <p:nvSpPr>
          <p:cNvPr id="32771" name="Rectangle 3"/>
          <p:cNvSpPr>
            <a:spLocks noGrp="1"/>
          </p:cNvSpPr>
          <p:nvPr>
            <p:ph type="body" sz="half" idx="4294967295"/>
          </p:nvPr>
        </p:nvSpPr>
        <p:spPr>
          <a:xfrm>
            <a:off x="0" y="990600"/>
            <a:ext cx="9144000" cy="5867400"/>
          </a:xfrm>
        </p:spPr>
        <p:txBody>
          <a:bodyPr/>
          <a:lstStyle/>
          <a:p>
            <a:pPr algn="just">
              <a:lnSpc>
                <a:spcPct val="90000"/>
              </a:lnSpc>
            </a:pPr>
            <a:r>
              <a:rPr lang="en-US" altLang="en-US" sz="2000" b="1">
                <a:latin typeface="Times New Roman" panose="02020603050405020304" pitchFamily="18" charset="0"/>
                <a:cs typeface="Times New Roman" panose="02020603050405020304" pitchFamily="18" charset="0"/>
              </a:rPr>
              <a:t>Keep</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log</a:t>
            </a:r>
            <a:r>
              <a:rPr lang="en-US" altLang="en-US" sz="2000">
                <a:latin typeface="Times New Roman" panose="02020603050405020304" pitchFamily="18" charset="0"/>
                <a:cs typeface="Times New Roman" panose="02020603050405020304" pitchFamily="18" charset="0"/>
              </a:rPr>
              <a:t> of </a:t>
            </a:r>
            <a:r>
              <a:rPr lang="en-US" altLang="en-US" sz="2000" b="1">
                <a:latin typeface="Times New Roman" panose="02020603050405020304" pitchFamily="18" charset="0"/>
                <a:cs typeface="Times New Roman" panose="02020603050405020304" pitchFamily="18" charset="0"/>
              </a:rPr>
              <a:t>what the file system </a:t>
            </a:r>
            <a:r>
              <a:rPr lang="en-US" altLang="en-US" sz="2000">
                <a:latin typeface="Times New Roman" panose="02020603050405020304" pitchFamily="18" charset="0"/>
                <a:cs typeface="Times New Roman" panose="02020603050405020304" pitchFamily="18" charset="0"/>
              </a:rPr>
              <a:t>is going to </a:t>
            </a:r>
            <a:r>
              <a:rPr lang="en-US" altLang="en-US" sz="2000" b="1">
                <a:latin typeface="Times New Roman" panose="02020603050405020304" pitchFamily="18" charset="0"/>
                <a:cs typeface="Times New Roman" panose="02020603050405020304" pitchFamily="18" charset="0"/>
              </a:rPr>
              <a:t>do</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before</a:t>
            </a:r>
            <a:r>
              <a:rPr lang="en-US" altLang="en-US" sz="2000">
                <a:latin typeface="Times New Roman" panose="02020603050405020304" pitchFamily="18" charset="0"/>
                <a:cs typeface="Times New Roman" panose="02020603050405020304" pitchFamily="18" charset="0"/>
              </a:rPr>
              <a:t> it </a:t>
            </a:r>
            <a:r>
              <a:rPr lang="en-US" altLang="en-US" sz="2000" b="1">
                <a:latin typeface="Times New Roman" panose="02020603050405020304" pitchFamily="18" charset="0"/>
                <a:cs typeface="Times New Roman" panose="02020603050405020304" pitchFamily="18" charset="0"/>
              </a:rPr>
              <a:t>does it</a:t>
            </a:r>
          </a:p>
          <a:p>
            <a:pPr lvl="1" algn="just">
              <a:lnSpc>
                <a:spcPct val="90000"/>
              </a:lnSpc>
            </a:pPr>
            <a:r>
              <a:rPr lang="en-US" altLang="en-US" sz="1800">
                <a:latin typeface="Times New Roman" panose="02020603050405020304" pitchFamily="18" charset="0"/>
                <a:cs typeface="Times New Roman" panose="02020603050405020304" pitchFamily="18" charset="0"/>
              </a:rPr>
              <a:t>If the system crashes before it can do its planned work</a:t>
            </a:r>
          </a:p>
          <a:p>
            <a:pPr lvl="1" algn="just">
              <a:lnSpc>
                <a:spcPct val="90000"/>
              </a:lnSpc>
            </a:pPr>
            <a:r>
              <a:rPr lang="en-US" altLang="en-US" sz="1800">
                <a:latin typeface="Times New Roman" panose="02020603050405020304" pitchFamily="18" charset="0"/>
                <a:cs typeface="Times New Roman" panose="02020603050405020304" pitchFamily="18" charset="0"/>
              </a:rPr>
              <a:t>Upon rebooting the system can look in the log to see that was going on at the time of the crash and finish the job</a:t>
            </a:r>
          </a:p>
          <a:p>
            <a:pPr algn="just">
              <a:lnSpc>
                <a:spcPct val="90000"/>
              </a:lnSpc>
            </a:pPr>
            <a:r>
              <a:rPr lang="en-US" altLang="en-US" sz="2000">
                <a:latin typeface="Times New Roman" panose="02020603050405020304" pitchFamily="18" charset="0"/>
                <a:cs typeface="Times New Roman" panose="02020603050405020304" pitchFamily="18" charset="0"/>
              </a:rPr>
              <a:t>NTFS and Linux ext3 file system applied</a:t>
            </a:r>
          </a:p>
          <a:p>
            <a:pPr algn="just">
              <a:lnSpc>
                <a:spcPct val="90000"/>
              </a:lnSpc>
            </a:pPr>
            <a:r>
              <a:rPr lang="en-US" altLang="en-US" sz="2000">
                <a:latin typeface="Times New Roman" panose="02020603050405020304" pitchFamily="18" charset="0"/>
                <a:cs typeface="Times New Roman" panose="02020603050405020304" pitchFamily="18" charset="0"/>
              </a:rPr>
              <a:t>Operations required to </a:t>
            </a:r>
            <a:r>
              <a:rPr lang="en-US" altLang="en-US" sz="2000" b="1">
                <a:latin typeface="Times New Roman" panose="02020603050405020304" pitchFamily="18" charset="0"/>
                <a:cs typeface="Times New Roman" panose="02020603050405020304" pitchFamily="18" charset="0"/>
              </a:rPr>
              <a:t>remove a file </a:t>
            </a:r>
            <a:r>
              <a:rPr lang="en-US" altLang="en-US" sz="2000">
                <a:latin typeface="Times New Roman" panose="02020603050405020304" pitchFamily="18" charset="0"/>
                <a:cs typeface="Times New Roman" panose="02020603050405020304" pitchFamily="18" charset="0"/>
              </a:rPr>
              <a:t>in UNIX:</a:t>
            </a:r>
          </a:p>
          <a:p>
            <a:pPr lvl="1" algn="just">
              <a:lnSpc>
                <a:spcPct val="90000"/>
              </a:lnSpc>
            </a:pPr>
            <a:r>
              <a:rPr lang="en-US" altLang="en-US" sz="1800">
                <a:latin typeface="Times New Roman" panose="02020603050405020304" pitchFamily="18" charset="0"/>
                <a:cs typeface="Times New Roman" panose="02020603050405020304" pitchFamily="18" charset="0"/>
              </a:rPr>
              <a:t>Remove the file from its directory.</a:t>
            </a:r>
          </a:p>
          <a:p>
            <a:pPr lvl="1" algn="just">
              <a:lnSpc>
                <a:spcPct val="90000"/>
              </a:lnSpc>
            </a:pPr>
            <a:r>
              <a:rPr lang="en-US" altLang="en-US" sz="1800">
                <a:latin typeface="Times New Roman" panose="02020603050405020304" pitchFamily="18" charset="0"/>
                <a:cs typeface="Times New Roman" panose="02020603050405020304" pitchFamily="18" charset="0"/>
              </a:rPr>
              <a:t>Release the i-node to the pool of free i-nodes.</a:t>
            </a:r>
          </a:p>
          <a:p>
            <a:pPr lvl="1" algn="just">
              <a:lnSpc>
                <a:spcPct val="90000"/>
              </a:lnSpc>
            </a:pPr>
            <a:r>
              <a:rPr lang="en-US" altLang="en-US" sz="1800">
                <a:latin typeface="Times New Roman" panose="02020603050405020304" pitchFamily="18" charset="0"/>
                <a:cs typeface="Times New Roman" panose="02020603050405020304" pitchFamily="18" charset="0"/>
              </a:rPr>
              <a:t>Return all the disk blocks to the pool of free disk blocks.</a:t>
            </a:r>
          </a:p>
          <a:p>
            <a:pPr algn="just">
              <a:lnSpc>
                <a:spcPct val="90000"/>
              </a:lnSpc>
            </a:pPr>
            <a:r>
              <a:rPr lang="en-US" altLang="en-US" sz="2000" b="1">
                <a:latin typeface="Times New Roman" panose="02020603050405020304" pitchFamily="18" charset="0"/>
                <a:cs typeface="Times New Roman" panose="02020603050405020304" pitchFamily="18" charset="0"/>
              </a:rPr>
              <a:t>Problems</a:t>
            </a:r>
          </a:p>
          <a:p>
            <a:pPr lvl="1" algn="just">
              <a:lnSpc>
                <a:spcPct val="90000"/>
              </a:lnSpc>
            </a:pPr>
            <a:r>
              <a:rPr lang="en-US" altLang="en-US" sz="1800">
                <a:latin typeface="Times New Roman" panose="02020603050405020304" pitchFamily="18" charset="0"/>
                <a:cs typeface="Times New Roman" panose="02020603050405020304" pitchFamily="18" charset="0"/>
              </a:rPr>
              <a:t>The </a:t>
            </a:r>
            <a:r>
              <a:rPr lang="en-US" altLang="en-US" sz="1800" b="1">
                <a:latin typeface="Times New Roman" panose="02020603050405020304" pitchFamily="18" charset="0"/>
                <a:cs typeface="Times New Roman" panose="02020603050405020304" pitchFamily="18" charset="0"/>
              </a:rPr>
              <a:t>first</a:t>
            </a:r>
            <a:r>
              <a:rPr lang="en-US" altLang="en-US" sz="1800">
                <a:latin typeface="Times New Roman" panose="02020603050405020304" pitchFamily="18" charset="0"/>
                <a:cs typeface="Times New Roman" panose="02020603050405020304" pitchFamily="18" charset="0"/>
              </a:rPr>
              <a:t> step is completed and the system crashes</a:t>
            </a:r>
          </a:p>
          <a:p>
            <a:pPr lvl="2" algn="just">
              <a:lnSpc>
                <a:spcPct val="90000"/>
              </a:lnSpc>
            </a:pPr>
            <a:r>
              <a:rPr lang="en-US" altLang="en-US" sz="1600">
                <a:latin typeface="Times New Roman" panose="02020603050405020304" pitchFamily="18" charset="0"/>
                <a:cs typeface="Times New Roman" panose="02020603050405020304" pitchFamily="18" charset="0"/>
              </a:rPr>
              <a:t>The i-node and file blocks will not be accessible from any file, but will also not be available for reassignment</a:t>
            </a:r>
          </a:p>
          <a:p>
            <a:pPr lvl="1" algn="just">
              <a:lnSpc>
                <a:spcPct val="90000"/>
              </a:lnSpc>
            </a:pPr>
            <a:r>
              <a:rPr lang="en-US" altLang="en-US" sz="1800">
                <a:latin typeface="Times New Roman" panose="02020603050405020304" pitchFamily="18" charset="0"/>
                <a:cs typeface="Times New Roman" panose="02020603050405020304" pitchFamily="18" charset="0"/>
              </a:rPr>
              <a:t>The </a:t>
            </a:r>
            <a:r>
              <a:rPr lang="en-US" altLang="en-US" sz="1800" b="1">
                <a:latin typeface="Times New Roman" panose="02020603050405020304" pitchFamily="18" charset="0"/>
                <a:cs typeface="Times New Roman" panose="02020603050405020304" pitchFamily="18" charset="0"/>
              </a:rPr>
              <a:t>second</a:t>
            </a:r>
            <a:r>
              <a:rPr lang="en-US" altLang="en-US" sz="1800">
                <a:latin typeface="Times New Roman" panose="02020603050405020304" pitchFamily="18" charset="0"/>
                <a:cs typeface="Times New Roman" panose="02020603050405020304" pitchFamily="18" charset="0"/>
              </a:rPr>
              <a:t> step is completed and the system crashes</a:t>
            </a:r>
          </a:p>
          <a:p>
            <a:pPr lvl="2" algn="just">
              <a:lnSpc>
                <a:spcPct val="90000"/>
              </a:lnSpc>
            </a:pPr>
            <a:r>
              <a:rPr lang="en-US" altLang="en-US" sz="1600">
                <a:latin typeface="Times New Roman" panose="02020603050405020304" pitchFamily="18" charset="0"/>
                <a:cs typeface="Times New Roman" panose="02020603050405020304" pitchFamily="18" charset="0"/>
              </a:rPr>
              <a:t>Only blocks are lost</a:t>
            </a:r>
          </a:p>
          <a:p>
            <a:pPr lvl="1" algn="just">
              <a:lnSpc>
                <a:spcPct val="90000"/>
              </a:lnSpc>
            </a:pPr>
            <a:r>
              <a:rPr lang="en-US" altLang="en-US" sz="1800">
                <a:latin typeface="Times New Roman" panose="02020603050405020304" pitchFamily="18" charset="0"/>
                <a:cs typeface="Times New Roman" panose="02020603050405020304" pitchFamily="18" charset="0"/>
              </a:rPr>
              <a:t>If the order of operation is changed </a:t>
            </a:r>
          </a:p>
          <a:p>
            <a:pPr lvl="2" algn="just">
              <a:lnSpc>
                <a:spcPct val="90000"/>
              </a:lnSpc>
            </a:pPr>
            <a:r>
              <a:rPr lang="en-US" altLang="en-US" sz="1600">
                <a:latin typeface="Times New Roman" panose="02020603050405020304" pitchFamily="18" charset="0"/>
                <a:cs typeface="Times New Roman" panose="02020603050405020304" pitchFamily="18" charset="0"/>
              </a:rPr>
              <a:t>If the i-node is released first, then after rebooting, the i-node may be reassigned, but the old directory entry will continue to point to it, hence to the wrong file</a:t>
            </a:r>
          </a:p>
          <a:p>
            <a:pPr lvl="2" algn="just">
              <a:lnSpc>
                <a:spcPct val="90000"/>
              </a:lnSpc>
            </a:pPr>
            <a:r>
              <a:rPr lang="en-US" altLang="en-US" sz="1600">
                <a:latin typeface="Times New Roman" panose="02020603050405020304" pitchFamily="18" charset="0"/>
                <a:cs typeface="Times New Roman" panose="02020603050405020304" pitchFamily="18" charset="0"/>
              </a:rPr>
              <a:t>If the blocks are released first, then a crash before i-node is cleared (means the valid directory entry points to an i-node listing blocks now is the free storage pool)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idx="4294967295"/>
          </p:nvPr>
        </p:nvSpPr>
        <p:spPr>
          <a:xfrm>
            <a:off x="1447800" y="0"/>
            <a:ext cx="76962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Journaling File System</a:t>
            </a:r>
          </a:p>
        </p:txBody>
      </p:sp>
      <p:sp>
        <p:nvSpPr>
          <p:cNvPr id="33795" name="Rectangle 3"/>
          <p:cNvSpPr>
            <a:spLocks noGrp="1"/>
          </p:cNvSpPr>
          <p:nvPr>
            <p:ph type="body" sz="half" idx="4294967295"/>
          </p:nvPr>
        </p:nvSpPr>
        <p:spPr>
          <a:xfrm>
            <a:off x="0" y="990600"/>
            <a:ext cx="9144000" cy="5867400"/>
          </a:xfrm>
        </p:spPr>
        <p:txBody>
          <a:bodyPr/>
          <a:lstStyle/>
          <a:p>
            <a:pPr algn="just"/>
            <a:r>
              <a:rPr lang="en-US" altLang="en-US" sz="2800">
                <a:latin typeface="Times New Roman" panose="02020603050405020304" pitchFamily="18" charset="0"/>
                <a:cs typeface="Times New Roman" panose="02020603050405020304" pitchFamily="18" charset="0"/>
              </a:rPr>
              <a:t>JFS</a:t>
            </a:r>
          </a:p>
          <a:p>
            <a:pPr lvl="1" algn="just"/>
            <a:r>
              <a:rPr lang="en-US" altLang="en-US" sz="2400" b="1">
                <a:latin typeface="Times New Roman" panose="02020603050405020304" pitchFamily="18" charset="0"/>
                <a:cs typeface="Times New Roman" panose="02020603050405020304" pitchFamily="18" charset="0"/>
              </a:rPr>
              <a:t>First</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write</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log entry listing </a:t>
            </a:r>
            <a:r>
              <a:rPr lang="en-US" altLang="en-US" sz="2400">
                <a:latin typeface="Times New Roman" panose="02020603050405020304" pitchFamily="18" charset="0"/>
                <a:cs typeface="Times New Roman" panose="02020603050405020304" pitchFamily="18" charset="0"/>
              </a:rPr>
              <a:t>the three actions to be completed</a:t>
            </a:r>
          </a:p>
          <a:p>
            <a:pPr lvl="1" algn="just"/>
            <a:r>
              <a:rPr lang="en-US" altLang="en-US" sz="2400" b="1">
                <a:latin typeface="Times New Roman" panose="02020603050405020304" pitchFamily="18" charset="0"/>
                <a:cs typeface="Times New Roman" panose="02020603050405020304" pitchFamily="18" charset="0"/>
              </a:rPr>
              <a:t>Then</a:t>
            </a:r>
            <a:r>
              <a:rPr lang="en-US" altLang="en-US" sz="2400">
                <a:latin typeface="Times New Roman" panose="02020603050405020304" pitchFamily="18" charset="0"/>
                <a:cs typeface="Times New Roman" panose="02020603050405020304" pitchFamily="18" charset="0"/>
              </a:rPr>
              <a:t>, the log entry is </a:t>
            </a:r>
            <a:r>
              <a:rPr lang="en-US" altLang="en-US" sz="2400" b="1">
                <a:latin typeface="Times New Roman" panose="02020603050405020304" pitchFamily="18" charset="0"/>
                <a:cs typeface="Times New Roman" panose="02020603050405020304" pitchFamily="18" charset="0"/>
              </a:rPr>
              <a:t>written to disk</a:t>
            </a:r>
          </a:p>
          <a:p>
            <a:pPr lvl="1" algn="just"/>
            <a:r>
              <a:rPr lang="en-US" altLang="en-US" sz="2400">
                <a:latin typeface="Times New Roman" panose="02020603050405020304" pitchFamily="18" charset="0"/>
                <a:cs typeface="Times New Roman" panose="02020603050405020304" pitchFamily="18" charset="0"/>
              </a:rPr>
              <a:t>Only </a:t>
            </a:r>
            <a:r>
              <a:rPr lang="en-US" altLang="en-US" sz="2400" b="1">
                <a:latin typeface="Times New Roman" panose="02020603050405020304" pitchFamily="18" charset="0"/>
                <a:cs typeface="Times New Roman" panose="02020603050405020304" pitchFamily="18" charset="0"/>
              </a:rPr>
              <a:t>after</a:t>
            </a:r>
            <a:r>
              <a:rPr lang="en-US" altLang="en-US" sz="2400">
                <a:latin typeface="Times New Roman" panose="02020603050405020304" pitchFamily="18" charset="0"/>
                <a:cs typeface="Times New Roman" panose="02020603050405020304" pitchFamily="18" charset="0"/>
              </a:rPr>
              <a:t> the log entry has been </a:t>
            </a:r>
            <a:r>
              <a:rPr lang="en-US" altLang="en-US" sz="2400" b="1">
                <a:latin typeface="Times New Roman" panose="02020603050405020304" pitchFamily="18" charset="0"/>
                <a:cs typeface="Times New Roman" panose="02020603050405020304" pitchFamily="18" charset="0"/>
              </a:rPr>
              <a:t>written</a:t>
            </a:r>
            <a:r>
              <a:rPr lang="en-US" altLang="en-US" sz="2400">
                <a:latin typeface="Times New Roman" panose="02020603050405020304" pitchFamily="18" charset="0"/>
                <a:cs typeface="Times New Roman" panose="02020603050405020304" pitchFamily="18" charset="0"/>
              </a:rPr>
              <a:t>, do the various </a:t>
            </a:r>
            <a:r>
              <a:rPr lang="en-US" altLang="en-US" sz="2400" b="1">
                <a:latin typeface="Times New Roman" panose="02020603050405020304" pitchFamily="18" charset="0"/>
                <a:cs typeface="Times New Roman" panose="02020603050405020304" pitchFamily="18" charset="0"/>
              </a:rPr>
              <a:t>operations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begin</a:t>
            </a:r>
          </a:p>
          <a:p>
            <a:pPr lvl="1" algn="just"/>
            <a:r>
              <a:rPr lang="en-US" altLang="en-US" sz="2400" b="1">
                <a:latin typeface="Times New Roman" panose="02020603050405020304" pitchFamily="18" charset="0"/>
                <a:cs typeface="Times New Roman" panose="02020603050405020304" pitchFamily="18" charset="0"/>
              </a:rPr>
              <a:t>After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complete</a:t>
            </a:r>
            <a:r>
              <a:rPr lang="en-US" altLang="en-US" sz="2400">
                <a:latin typeface="Times New Roman" panose="02020603050405020304" pitchFamily="18" charset="0"/>
                <a:cs typeface="Times New Roman" panose="02020603050405020304" pitchFamily="18" charset="0"/>
              </a:rPr>
              <a:t> successfully, the </a:t>
            </a:r>
            <a:r>
              <a:rPr lang="en-US" altLang="en-US" sz="2400" b="1">
                <a:latin typeface="Times New Roman" panose="02020603050405020304" pitchFamily="18" charset="0"/>
                <a:cs typeface="Times New Roman" panose="02020603050405020304" pitchFamily="18" charset="0"/>
              </a:rPr>
              <a:t>log</a:t>
            </a:r>
            <a:r>
              <a:rPr lang="en-US" altLang="en-US" sz="2400">
                <a:latin typeface="Times New Roman" panose="02020603050405020304" pitchFamily="18" charset="0"/>
                <a:cs typeface="Times New Roman" panose="02020603050405020304" pitchFamily="18" charset="0"/>
              </a:rPr>
              <a:t> entry is </a:t>
            </a:r>
            <a:r>
              <a:rPr lang="en-US" altLang="en-US" sz="2400" b="1">
                <a:latin typeface="Times New Roman" panose="02020603050405020304" pitchFamily="18" charset="0"/>
                <a:cs typeface="Times New Roman" panose="02020603050405020304" pitchFamily="18" charset="0"/>
              </a:rPr>
              <a:t>erased</a:t>
            </a:r>
          </a:p>
          <a:p>
            <a:pPr lvl="1" algn="just"/>
            <a:r>
              <a:rPr lang="en-US" altLang="en-US" sz="2400">
                <a:latin typeface="Times New Roman" panose="02020603050405020304" pitchFamily="18" charset="0"/>
                <a:cs typeface="Times New Roman" panose="02020603050405020304" pitchFamily="18" charset="0"/>
              </a:rPr>
              <a:t>Therefore, if the </a:t>
            </a:r>
            <a:r>
              <a:rPr lang="en-US" altLang="en-US" sz="2400" b="1">
                <a:latin typeface="Times New Roman" panose="02020603050405020304" pitchFamily="18" charset="0"/>
                <a:cs typeface="Times New Roman" panose="02020603050405020304" pitchFamily="18" charset="0"/>
              </a:rPr>
              <a:t>system</a:t>
            </a:r>
            <a:r>
              <a:rPr lang="en-US" altLang="en-US" sz="2400">
                <a:latin typeface="Times New Roman" panose="02020603050405020304" pitchFamily="18" charset="0"/>
                <a:cs typeface="Times New Roman" panose="02020603050405020304" pitchFamily="18" charset="0"/>
              </a:rPr>
              <a:t> now </a:t>
            </a:r>
            <a:r>
              <a:rPr lang="en-US" altLang="en-US" sz="2400" b="1">
                <a:latin typeface="Times New Roman" panose="02020603050405020304" pitchFamily="18" charset="0"/>
                <a:cs typeface="Times New Roman" panose="02020603050405020304" pitchFamily="18" charset="0"/>
              </a:rPr>
              <a:t>crashed</a:t>
            </a:r>
            <a:r>
              <a:rPr lang="en-US" altLang="en-US" sz="2400">
                <a:latin typeface="Times New Roman" panose="02020603050405020304" pitchFamily="18" charset="0"/>
                <a:cs typeface="Times New Roman" panose="02020603050405020304" pitchFamily="18" charset="0"/>
              </a:rPr>
              <a:t>, upon </a:t>
            </a:r>
            <a:r>
              <a:rPr lang="en-US" altLang="en-US" sz="2400" b="1">
                <a:latin typeface="Times New Roman" panose="02020603050405020304" pitchFamily="18" charset="0"/>
                <a:cs typeface="Times New Roman" panose="02020603050405020304" pitchFamily="18" charset="0"/>
              </a:rPr>
              <a:t>recovery</a:t>
            </a:r>
            <a:r>
              <a:rPr lang="en-US" altLang="en-US" sz="2400">
                <a:latin typeface="Times New Roman" panose="02020603050405020304" pitchFamily="18" charset="0"/>
                <a:cs typeface="Times New Roman" panose="02020603050405020304" pitchFamily="18" charset="0"/>
              </a:rPr>
              <a:t> the file system can </a:t>
            </a:r>
            <a:r>
              <a:rPr lang="en-US" altLang="en-US" sz="2400" b="1">
                <a:latin typeface="Times New Roman" panose="02020603050405020304" pitchFamily="18" charset="0"/>
                <a:cs typeface="Times New Roman" panose="02020603050405020304" pitchFamily="18" charset="0"/>
              </a:rPr>
              <a:t>check</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log</a:t>
            </a:r>
            <a:r>
              <a:rPr lang="en-US" altLang="en-US" sz="2400">
                <a:latin typeface="Times New Roman" panose="02020603050405020304" pitchFamily="18" charset="0"/>
                <a:cs typeface="Times New Roman" panose="02020603050405020304" pitchFamily="18" charset="0"/>
              </a:rPr>
              <a:t> to see if any </a:t>
            </a:r>
            <a:r>
              <a:rPr lang="en-US" altLang="en-US" sz="2400" b="1">
                <a:latin typeface="Times New Roman" panose="02020603050405020304" pitchFamily="18" charset="0"/>
                <a:cs typeface="Times New Roman" panose="02020603050405020304" pitchFamily="18" charset="0"/>
              </a:rPr>
              <a:t>operation</a:t>
            </a:r>
            <a:r>
              <a:rPr lang="en-US" altLang="en-US" sz="2400">
                <a:latin typeface="Times New Roman" panose="02020603050405020304" pitchFamily="18" charset="0"/>
                <a:cs typeface="Times New Roman" panose="02020603050405020304" pitchFamily="18" charset="0"/>
              </a:rPr>
              <a:t> were </a:t>
            </a:r>
            <a:r>
              <a:rPr lang="en-US" altLang="en-US" sz="2400" b="1">
                <a:latin typeface="Times New Roman" panose="02020603050405020304" pitchFamily="18" charset="0"/>
                <a:cs typeface="Times New Roman" panose="02020603050405020304" pitchFamily="18" charset="0"/>
              </a:rPr>
              <a:t>pending</a:t>
            </a:r>
            <a:r>
              <a:rPr lang="en-US" altLang="en-US" sz="2400">
                <a:latin typeface="Times New Roman" panose="02020603050405020304" pitchFamily="18" charset="0"/>
                <a:cs typeface="Times New Roman" panose="02020603050405020304" pitchFamily="18" charset="0"/>
              </a:rPr>
              <a:t> → all of them can be </a:t>
            </a:r>
            <a:r>
              <a:rPr lang="en-US" altLang="en-US" sz="2400" b="1">
                <a:latin typeface="Times New Roman" panose="02020603050405020304" pitchFamily="18" charset="0"/>
                <a:cs typeface="Times New Roman" panose="02020603050405020304" pitchFamily="18" charset="0"/>
              </a:rPr>
              <a:t>rerun</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until</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file</a:t>
            </a:r>
            <a:r>
              <a:rPr lang="en-US" altLang="en-US" sz="2400">
                <a:latin typeface="Times New Roman" panose="02020603050405020304" pitchFamily="18" charset="0"/>
                <a:cs typeface="Times New Roman" panose="02020603050405020304" pitchFamily="18" charset="0"/>
              </a:rPr>
              <a:t> is </a:t>
            </a:r>
            <a:r>
              <a:rPr lang="en-US" altLang="en-US" sz="2400" b="1">
                <a:latin typeface="Times New Roman" panose="02020603050405020304" pitchFamily="18" charset="0"/>
                <a:cs typeface="Times New Roman" panose="02020603050405020304" pitchFamily="18" charset="0"/>
              </a:rPr>
              <a:t>correctly removed</a:t>
            </a:r>
          </a:p>
          <a:p>
            <a:pPr lvl="1" algn="just"/>
            <a:r>
              <a:rPr lang="en-US" altLang="en-US" sz="2400" b="1">
                <a:latin typeface="Times New Roman" panose="02020603050405020304" pitchFamily="18" charset="0"/>
                <a:cs typeface="Times New Roman" panose="02020603050405020304" pitchFamily="18" charset="0"/>
              </a:rPr>
              <a:t>Requirements</a:t>
            </a:r>
          </a:p>
          <a:p>
            <a:pPr lvl="2" algn="just"/>
            <a:r>
              <a:rPr lang="en-US" altLang="en-US" sz="2000">
                <a:latin typeface="Times New Roman" panose="02020603050405020304" pitchFamily="18" charset="0"/>
                <a:cs typeface="Times New Roman" panose="02020603050405020304" pitchFamily="18" charset="0"/>
              </a:rPr>
              <a:t>The logged operations must be idempotent (they can be repeated as often as necessary without harm)</a:t>
            </a:r>
          </a:p>
          <a:p>
            <a:pPr lvl="2" algn="just"/>
            <a:r>
              <a:rPr lang="en-US" altLang="en-US" sz="2000">
                <a:latin typeface="Times New Roman" panose="02020603050405020304" pitchFamily="18" charset="0"/>
                <a:cs typeface="Times New Roman" panose="02020603050405020304" pitchFamily="18" charset="0"/>
              </a:rPr>
              <a:t>The crash recovery can be made and secure</a:t>
            </a:r>
          </a:p>
          <a:p>
            <a:pPr lvl="1" algn="just"/>
            <a:r>
              <a:rPr lang="en-US" altLang="en-US" sz="2400">
                <a:latin typeface="Times New Roman" panose="02020603050405020304" pitchFamily="18" charset="0"/>
                <a:cs typeface="Times New Roman" panose="02020603050405020304" pitchFamily="18" charset="0"/>
              </a:rPr>
              <a:t>Practically, JFS is applied to DB concept with </a:t>
            </a:r>
            <a:r>
              <a:rPr lang="en-US" altLang="en-US" sz="2400" b="1">
                <a:latin typeface="Times New Roman" panose="02020603050405020304" pitchFamily="18" charset="0"/>
                <a:cs typeface="Times New Roman" panose="02020603050405020304" pitchFamily="18" charset="0"/>
              </a:rPr>
              <a:t>atomic transaction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idx="4294967295"/>
          </p:nvPr>
        </p:nvSpPr>
        <p:spPr>
          <a:xfrm>
            <a:off x="1447800" y="0"/>
            <a:ext cx="76962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Journaling File System – Example </a:t>
            </a:r>
          </a:p>
        </p:txBody>
      </p:sp>
      <p:pic>
        <p:nvPicPr>
          <p:cNvPr id="3481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813" y="1219200"/>
            <a:ext cx="8993187"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idx="4294967295"/>
          </p:nvPr>
        </p:nvSpPr>
        <p:spPr>
          <a:xfrm>
            <a:off x="1447800" y="0"/>
            <a:ext cx="76962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Journaling File System – Example </a:t>
            </a:r>
          </a:p>
        </p:txBody>
      </p:sp>
      <p:pic>
        <p:nvPicPr>
          <p:cNvPr id="3584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143000"/>
            <a:ext cx="2962275" cy="356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1295400"/>
            <a:ext cx="564832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3400425"/>
            <a:ext cx="762000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68963"/>
                                        </p:tgtEl>
                                        <p:attrNameLst>
                                          <p:attrName>style.visibility</p:attrName>
                                        </p:attrNameLst>
                                      </p:cBhvr>
                                      <p:to>
                                        <p:strVal val="visible"/>
                                      </p:to>
                                    </p:set>
                                    <p:animEffect transition="in" filter="box(in)">
                                      <p:cBhvr>
                                        <p:cTn id="7" dur="500"/>
                                        <p:tgtEl>
                                          <p:spTgt spid="1689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68964"/>
                                        </p:tgtEl>
                                        <p:attrNameLst>
                                          <p:attrName>style.visibility</p:attrName>
                                        </p:attrNameLst>
                                      </p:cBhvr>
                                      <p:to>
                                        <p:strVal val="visible"/>
                                      </p:to>
                                    </p:set>
                                    <p:animEffect transition="in" filter="checkerboard(across)">
                                      <p:cBhvr>
                                        <p:cTn id="12" dur="500"/>
                                        <p:tgtEl>
                                          <p:spTgt spid="1689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idx="4294967295"/>
          </p:nvPr>
        </p:nvSpPr>
        <p:spPr>
          <a:xfrm>
            <a:off x="1600200" y="0"/>
            <a:ext cx="7543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Virtual File Systems</a:t>
            </a:r>
          </a:p>
        </p:txBody>
      </p:sp>
      <p:sp>
        <p:nvSpPr>
          <p:cNvPr id="57347" name="Rectangle 3"/>
          <p:cNvSpPr>
            <a:spLocks noGrp="1"/>
          </p:cNvSpPr>
          <p:nvPr>
            <p:ph type="body" sz="half" idx="4294967295"/>
          </p:nvPr>
        </p:nvSpPr>
        <p:spPr>
          <a:xfrm>
            <a:off x="0" y="1066800"/>
            <a:ext cx="9144000" cy="5791200"/>
          </a:xfrm>
        </p:spPr>
        <p:txBody>
          <a:bodyPr/>
          <a:lstStyle/>
          <a:p>
            <a:pPr algn="just">
              <a:lnSpc>
                <a:spcPct val="80000"/>
              </a:lnSpc>
            </a:pPr>
            <a:r>
              <a:rPr lang="en-US" altLang="en-US" sz="2400" b="1">
                <a:latin typeface="Times New Roman" panose="02020603050405020304" pitchFamily="18" charset="0"/>
                <a:cs typeface="Times New Roman" panose="02020603050405020304" pitchFamily="18" charset="0"/>
              </a:rPr>
              <a:t>Problems</a:t>
            </a:r>
          </a:p>
          <a:p>
            <a:pPr lvl="1" algn="just">
              <a:lnSpc>
                <a:spcPct val="80000"/>
              </a:lnSpc>
            </a:pPr>
            <a:r>
              <a:rPr lang="en-US" altLang="en-US" sz="2000">
                <a:latin typeface="Times New Roman" panose="02020603050405020304" pitchFamily="18" charset="0"/>
                <a:cs typeface="Times New Roman" panose="02020603050405020304" pitchFamily="18" charset="0"/>
              </a:rPr>
              <a:t>Many </a:t>
            </a:r>
            <a:r>
              <a:rPr lang="en-US" altLang="en-US" sz="2000" b="1">
                <a:latin typeface="Times New Roman" panose="02020603050405020304" pitchFamily="18" charset="0"/>
                <a:cs typeface="Times New Roman" panose="02020603050405020304" pitchFamily="18" charset="0"/>
              </a:rPr>
              <a:t>different file systems </a:t>
            </a:r>
            <a:r>
              <a:rPr lang="en-US" altLang="en-US" sz="2000">
                <a:latin typeface="Times New Roman" panose="02020603050405020304" pitchFamily="18" charset="0"/>
                <a:cs typeface="Times New Roman" panose="02020603050405020304" pitchFamily="18" charset="0"/>
              </a:rPr>
              <a:t>are </a:t>
            </a:r>
            <a:r>
              <a:rPr lang="en-US" altLang="en-US" sz="2000" b="1">
                <a:latin typeface="Times New Roman" panose="02020603050405020304" pitchFamily="18" charset="0"/>
                <a:cs typeface="Times New Roman" panose="02020603050405020304" pitchFamily="18" charset="0"/>
              </a:rPr>
              <a:t>used</a:t>
            </a:r>
            <a:r>
              <a:rPr lang="en-US" altLang="en-US" sz="2000">
                <a:latin typeface="Times New Roman" panose="02020603050405020304" pitchFamily="18" charset="0"/>
                <a:cs typeface="Times New Roman" panose="02020603050405020304" pitchFamily="18" charset="0"/>
              </a:rPr>
              <a:t> on the </a:t>
            </a:r>
            <a:r>
              <a:rPr lang="en-US" altLang="en-US" sz="2000" b="1">
                <a:latin typeface="Times New Roman" panose="02020603050405020304" pitchFamily="18" charset="0"/>
                <a:cs typeface="Times New Roman" panose="02020603050405020304" pitchFamily="18" charset="0"/>
              </a:rPr>
              <a:t>same computer</a:t>
            </a:r>
            <a:r>
              <a:rPr lang="en-US" altLang="en-US" sz="2000">
                <a:latin typeface="Times New Roman" panose="02020603050405020304" pitchFamily="18" charset="0"/>
                <a:cs typeface="Times New Roman" panose="02020603050405020304" pitchFamily="18" charset="0"/>
              </a:rPr>
              <a:t>, even </a:t>
            </a:r>
            <a:r>
              <a:rPr lang="en-US" altLang="en-US" sz="2000" b="1">
                <a:latin typeface="Times New Roman" panose="02020603050405020304" pitchFamily="18" charset="0"/>
                <a:cs typeface="Times New Roman" panose="02020603050405020304" pitchFamily="18" charset="0"/>
              </a:rPr>
              <a:t>same OS</a:t>
            </a:r>
          </a:p>
          <a:p>
            <a:pPr lvl="1" algn="just">
              <a:lnSpc>
                <a:spcPct val="80000"/>
              </a:lnSpc>
            </a:pPr>
            <a:r>
              <a:rPr lang="en-US" altLang="en-US" sz="2000" b="1">
                <a:latin typeface="Times New Roman" panose="02020603050405020304" pitchFamily="18" charset="0"/>
                <a:cs typeface="Times New Roman" panose="02020603050405020304" pitchFamily="18" charset="0"/>
              </a:rPr>
              <a:t>Ex</a:t>
            </a:r>
            <a:r>
              <a:rPr lang="en-US" altLang="en-US" sz="2000">
                <a:latin typeface="Times New Roman" panose="02020603050405020304" pitchFamily="18" charset="0"/>
                <a:cs typeface="Times New Roman" panose="02020603050405020304" pitchFamily="18" charset="0"/>
              </a:rPr>
              <a:t>: Windows Vista, XP used NTFS, FAT32, FAT 16</a:t>
            </a:r>
          </a:p>
          <a:p>
            <a:pPr algn="just">
              <a:lnSpc>
                <a:spcPct val="80000"/>
              </a:lnSpc>
            </a:pPr>
            <a:r>
              <a:rPr lang="en-US" altLang="en-US" sz="2400" b="1">
                <a:latin typeface="Times New Roman" panose="02020603050405020304" pitchFamily="18" charset="0"/>
                <a:cs typeface="Times New Roman" panose="02020603050405020304" pitchFamily="18" charset="0"/>
              </a:rPr>
              <a:t>Solution</a:t>
            </a:r>
            <a:r>
              <a:rPr lang="en-US" altLang="en-US" sz="2400">
                <a:latin typeface="Times New Roman" panose="02020603050405020304" pitchFamily="18" charset="0"/>
                <a:cs typeface="Times New Roman" panose="02020603050405020304" pitchFamily="18" charset="0"/>
              </a:rPr>
              <a:t> is </a:t>
            </a:r>
            <a:r>
              <a:rPr lang="en-US" altLang="en-US" sz="2400" b="1">
                <a:latin typeface="Times New Roman" panose="02020603050405020304" pitchFamily="18" charset="0"/>
                <a:cs typeface="Times New Roman" panose="02020603050405020304" pitchFamily="18" charset="0"/>
              </a:rPr>
              <a:t>Virtual File System </a:t>
            </a:r>
            <a:r>
              <a:rPr lang="en-US" altLang="en-US" sz="2400">
                <a:latin typeface="Times New Roman" panose="02020603050405020304" pitchFamily="18" charset="0"/>
                <a:cs typeface="Times New Roman" panose="02020603050405020304" pitchFamily="18" charset="0"/>
              </a:rPr>
              <a:t>(Kleiman, 1986 – Sun Microsystems)</a:t>
            </a:r>
          </a:p>
          <a:p>
            <a:pPr lvl="1" algn="just">
              <a:lnSpc>
                <a:spcPct val="80000"/>
              </a:lnSpc>
            </a:pPr>
            <a:r>
              <a:rPr lang="en-US" altLang="en-US" sz="2000">
                <a:latin typeface="Times New Roman" panose="02020603050405020304" pitchFamily="18" charset="0"/>
                <a:cs typeface="Times New Roman" panose="02020603050405020304" pitchFamily="18" charset="0"/>
              </a:rPr>
              <a:t>Try to </a:t>
            </a:r>
            <a:r>
              <a:rPr lang="en-US" altLang="en-US" sz="2000" b="1">
                <a:latin typeface="Times New Roman" panose="02020603050405020304" pitchFamily="18" charset="0"/>
                <a:cs typeface="Times New Roman" panose="02020603050405020304" pitchFamily="18" charset="0"/>
              </a:rPr>
              <a:t>integrate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multiple file systems </a:t>
            </a:r>
            <a:r>
              <a:rPr lang="en-US" altLang="en-US" sz="2000">
                <a:latin typeface="Times New Roman" panose="02020603050405020304" pitchFamily="18" charset="0"/>
                <a:cs typeface="Times New Roman" panose="02020603050405020304" pitchFamily="18" charset="0"/>
              </a:rPr>
              <a:t>into an orderly structure</a:t>
            </a:r>
          </a:p>
          <a:p>
            <a:pPr lvl="1" algn="just">
              <a:lnSpc>
                <a:spcPct val="80000"/>
              </a:lnSpc>
            </a:pPr>
            <a:r>
              <a:rPr lang="en-US" altLang="en-US" sz="2000">
                <a:latin typeface="Times New Roman" panose="02020603050405020304" pitchFamily="18" charset="0"/>
                <a:cs typeface="Times New Roman" panose="02020603050405020304" pitchFamily="18" charset="0"/>
              </a:rPr>
              <a:t>The key </a:t>
            </a:r>
            <a:r>
              <a:rPr lang="en-US" altLang="en-US" sz="2000" b="1">
                <a:latin typeface="Times New Roman" panose="02020603050405020304" pitchFamily="18" charset="0"/>
                <a:cs typeface="Times New Roman" panose="02020603050405020304" pitchFamily="18" charset="0"/>
              </a:rPr>
              <a:t>idea</a:t>
            </a:r>
            <a:r>
              <a:rPr lang="en-US" altLang="en-US" sz="2000">
                <a:latin typeface="Times New Roman" panose="02020603050405020304" pitchFamily="18" charset="0"/>
                <a:cs typeface="Times New Roman" panose="02020603050405020304" pitchFamily="18" charset="0"/>
              </a:rPr>
              <a:t> is to abstract out that </a:t>
            </a:r>
          </a:p>
          <a:p>
            <a:pPr lvl="2" algn="just">
              <a:lnSpc>
                <a:spcPct val="80000"/>
              </a:lnSpc>
            </a:pPr>
            <a:r>
              <a:rPr lang="en-US" altLang="en-US" sz="1800" b="1">
                <a:latin typeface="Times New Roman" panose="02020603050405020304" pitchFamily="18" charset="0"/>
                <a:cs typeface="Times New Roman" panose="02020603050405020304" pitchFamily="18" charset="0"/>
              </a:rPr>
              <a:t>Part</a:t>
            </a:r>
            <a:r>
              <a:rPr lang="en-US" altLang="en-US" sz="1800">
                <a:latin typeface="Times New Roman" panose="02020603050405020304" pitchFamily="18" charset="0"/>
                <a:cs typeface="Times New Roman" panose="02020603050405020304" pitchFamily="18" charset="0"/>
              </a:rPr>
              <a:t> of </a:t>
            </a:r>
            <a:r>
              <a:rPr lang="en-US" altLang="en-US" sz="1800" b="1">
                <a:latin typeface="Times New Roman" panose="02020603050405020304" pitchFamily="18" charset="0"/>
                <a:cs typeface="Times New Roman" panose="02020603050405020304" pitchFamily="18" charset="0"/>
              </a:rPr>
              <a:t>file system </a:t>
            </a:r>
            <a:r>
              <a:rPr lang="en-US" altLang="en-US" sz="1800">
                <a:latin typeface="Times New Roman" panose="02020603050405020304" pitchFamily="18" charset="0"/>
                <a:cs typeface="Times New Roman" panose="02020603050405020304" pitchFamily="18" charset="0"/>
              </a:rPr>
              <a:t>is </a:t>
            </a:r>
            <a:r>
              <a:rPr lang="en-US" altLang="en-US" sz="1800" b="1">
                <a:latin typeface="Times New Roman" panose="02020603050405020304" pitchFamily="18" charset="0"/>
                <a:cs typeface="Times New Roman" panose="02020603050405020304" pitchFamily="18" charset="0"/>
              </a:rPr>
              <a:t>common</a:t>
            </a:r>
            <a:r>
              <a:rPr lang="en-US" altLang="en-US" sz="1800">
                <a:latin typeface="Times New Roman" panose="02020603050405020304" pitchFamily="18" charset="0"/>
                <a:cs typeface="Times New Roman" panose="02020603050405020304" pitchFamily="18" charset="0"/>
              </a:rPr>
              <a:t> to </a:t>
            </a:r>
            <a:r>
              <a:rPr lang="en-US" altLang="en-US" sz="1800" b="1">
                <a:latin typeface="Times New Roman" panose="02020603050405020304" pitchFamily="18" charset="0"/>
                <a:cs typeface="Times New Roman" panose="02020603050405020304" pitchFamily="18" charset="0"/>
              </a:rPr>
              <a:t>all file system</a:t>
            </a:r>
          </a:p>
          <a:p>
            <a:pPr lvl="2" algn="just">
              <a:lnSpc>
                <a:spcPct val="80000"/>
              </a:lnSpc>
            </a:pPr>
            <a:r>
              <a:rPr lang="en-US" altLang="en-US" sz="1800">
                <a:latin typeface="Times New Roman" panose="02020603050405020304" pitchFamily="18" charset="0"/>
                <a:cs typeface="Times New Roman" panose="02020603050405020304" pitchFamily="18" charset="0"/>
              </a:rPr>
              <a:t>Put that </a:t>
            </a:r>
            <a:r>
              <a:rPr lang="en-US" altLang="en-US" sz="1800" b="1">
                <a:latin typeface="Times New Roman" panose="02020603050405020304" pitchFamily="18" charset="0"/>
                <a:cs typeface="Times New Roman" panose="02020603050405020304" pitchFamily="18" charset="0"/>
              </a:rPr>
              <a:t>code</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in a separate layer </a:t>
            </a:r>
            <a:r>
              <a:rPr lang="en-US" altLang="en-US" sz="1800">
                <a:latin typeface="Times New Roman" panose="02020603050405020304" pitchFamily="18" charset="0"/>
                <a:cs typeface="Times New Roman" panose="02020603050405020304" pitchFamily="18" charset="0"/>
              </a:rPr>
              <a:t>that </a:t>
            </a:r>
            <a:r>
              <a:rPr lang="en-US" altLang="en-US" sz="1800" b="1">
                <a:latin typeface="Times New Roman" panose="02020603050405020304" pitchFamily="18" charset="0"/>
                <a:cs typeface="Times New Roman" panose="02020603050405020304" pitchFamily="18" charset="0"/>
              </a:rPr>
              <a:t>calls</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underlying</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concrete file systems </a:t>
            </a:r>
            <a:r>
              <a:rPr lang="en-US" altLang="en-US" sz="1800">
                <a:latin typeface="Times New Roman" panose="02020603050405020304" pitchFamily="18" charset="0"/>
                <a:cs typeface="Times New Roman" panose="02020603050405020304" pitchFamily="18" charset="0"/>
              </a:rPr>
              <a:t>to actual manage the data</a:t>
            </a:r>
          </a:p>
          <a:p>
            <a:pPr lvl="2" algn="just">
              <a:lnSpc>
                <a:spcPct val="80000"/>
              </a:lnSpc>
            </a:pPr>
            <a:r>
              <a:rPr lang="en-US" altLang="en-US" sz="1800">
                <a:latin typeface="Times New Roman" panose="02020603050405020304" pitchFamily="18" charset="0"/>
                <a:cs typeface="Times New Roman" panose="02020603050405020304" pitchFamily="18" charset="0"/>
              </a:rPr>
              <a:t>The </a:t>
            </a:r>
            <a:r>
              <a:rPr lang="en-US" altLang="en-US" sz="1800" b="1">
                <a:latin typeface="Times New Roman" panose="02020603050405020304" pitchFamily="18" charset="0"/>
                <a:cs typeface="Times New Roman" panose="02020603050405020304" pitchFamily="18" charset="0"/>
              </a:rPr>
              <a:t>VFS</a:t>
            </a:r>
            <a:r>
              <a:rPr lang="en-US" altLang="en-US" sz="1800">
                <a:latin typeface="Times New Roman" panose="02020603050405020304" pitchFamily="18" charset="0"/>
                <a:cs typeface="Times New Roman" panose="02020603050405020304" pitchFamily="18" charset="0"/>
              </a:rPr>
              <a:t> is a </a:t>
            </a:r>
            <a:r>
              <a:rPr lang="en-US" altLang="en-US" sz="1800" b="1">
                <a:latin typeface="Times New Roman" panose="02020603050405020304" pitchFamily="18" charset="0"/>
                <a:cs typeface="Times New Roman" panose="02020603050405020304" pitchFamily="18" charset="0"/>
              </a:rPr>
              <a:t>upper interface to</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user</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processes</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and</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lower interface </a:t>
            </a:r>
            <a:r>
              <a:rPr lang="en-US" altLang="en-US" sz="1800">
                <a:latin typeface="Times New Roman" panose="02020603050405020304" pitchFamily="18" charset="0"/>
                <a:cs typeface="Times New Roman" panose="02020603050405020304" pitchFamily="18" charset="0"/>
              </a:rPr>
              <a:t>to </a:t>
            </a:r>
            <a:r>
              <a:rPr lang="en-US" altLang="en-US" sz="1800" b="1">
                <a:latin typeface="Times New Roman" panose="02020603050405020304" pitchFamily="18" charset="0"/>
                <a:cs typeface="Times New Roman" panose="02020603050405020304" pitchFamily="18" charset="0"/>
              </a:rPr>
              <a:t>concrete</a:t>
            </a:r>
            <a:r>
              <a:rPr lang="en-US" altLang="en-US" sz="1800">
                <a:latin typeface="Times New Roman" panose="02020603050405020304" pitchFamily="18" charset="0"/>
                <a:cs typeface="Times New Roman" panose="02020603050405020304" pitchFamily="18" charset="0"/>
              </a:rPr>
              <a:t> file </a:t>
            </a:r>
            <a:r>
              <a:rPr lang="en-US" altLang="en-US" sz="1800" b="1">
                <a:latin typeface="Times New Roman" panose="02020603050405020304" pitchFamily="18" charset="0"/>
                <a:cs typeface="Times New Roman" panose="02020603050405020304" pitchFamily="18" charset="0"/>
              </a:rPr>
              <a:t>system</a:t>
            </a:r>
          </a:p>
          <a:p>
            <a:pPr lvl="1" algn="just">
              <a:lnSpc>
                <a:spcPct val="80000"/>
              </a:lnSpc>
            </a:pPr>
            <a:r>
              <a:rPr lang="en-US" altLang="en-US" sz="2000" b="1">
                <a:latin typeface="Times New Roman" panose="02020603050405020304" pitchFamily="18" charset="0"/>
                <a:cs typeface="Times New Roman" panose="02020603050405020304" pitchFamily="18" charset="0"/>
              </a:rPr>
              <a:t>All system calls </a:t>
            </a:r>
            <a:r>
              <a:rPr lang="en-US" altLang="en-US" sz="2000">
                <a:latin typeface="Times New Roman" panose="02020603050405020304" pitchFamily="18" charset="0"/>
                <a:cs typeface="Times New Roman" panose="02020603050405020304" pitchFamily="18" charset="0"/>
              </a:rPr>
              <a:t>(coming from user processes) </a:t>
            </a:r>
            <a:r>
              <a:rPr lang="en-US" altLang="en-US" sz="2000" b="1">
                <a:latin typeface="Times New Roman" panose="02020603050405020304" pitchFamily="18" charset="0"/>
                <a:cs typeface="Times New Roman" panose="02020603050405020304" pitchFamily="18" charset="0"/>
              </a:rPr>
              <a:t>relating</a:t>
            </a:r>
            <a:r>
              <a:rPr lang="en-US" altLang="en-US" sz="2000">
                <a:latin typeface="Times New Roman" panose="02020603050405020304" pitchFamily="18" charset="0"/>
                <a:cs typeface="Times New Roman" panose="02020603050405020304" pitchFamily="18" charset="0"/>
              </a:rPr>
              <a:t> to </a:t>
            </a:r>
            <a:r>
              <a:rPr lang="en-US" altLang="en-US" sz="2000" b="1">
                <a:latin typeface="Times New Roman" panose="02020603050405020304" pitchFamily="18" charset="0"/>
                <a:cs typeface="Times New Roman" panose="02020603050405020304" pitchFamily="18" charset="0"/>
              </a:rPr>
              <a:t>files</a:t>
            </a:r>
            <a:r>
              <a:rPr lang="en-US" altLang="en-US" sz="2000">
                <a:latin typeface="Times New Roman" panose="02020603050405020304" pitchFamily="18" charset="0"/>
                <a:cs typeface="Times New Roman" panose="02020603050405020304" pitchFamily="18" charset="0"/>
              </a:rPr>
              <a:t> are </a:t>
            </a:r>
            <a:r>
              <a:rPr lang="en-US" altLang="en-US" sz="2000" b="1">
                <a:latin typeface="Times New Roman" panose="02020603050405020304" pitchFamily="18" charset="0"/>
                <a:cs typeface="Times New Roman" panose="02020603050405020304" pitchFamily="18" charset="0"/>
              </a:rPr>
              <a:t>directed</a:t>
            </a:r>
            <a:r>
              <a:rPr lang="en-US" altLang="en-US" sz="2000">
                <a:latin typeface="Times New Roman" panose="02020603050405020304" pitchFamily="18" charset="0"/>
                <a:cs typeface="Times New Roman" panose="02020603050405020304" pitchFamily="18" charset="0"/>
              </a:rPr>
              <a:t> to the </a:t>
            </a:r>
            <a:r>
              <a:rPr lang="en-US" altLang="en-US" sz="2000" b="1">
                <a:latin typeface="Times New Roman" panose="02020603050405020304" pitchFamily="18" charset="0"/>
                <a:cs typeface="Times New Roman" panose="02020603050405020304" pitchFamily="18" charset="0"/>
              </a:rPr>
              <a:t>VFS</a:t>
            </a:r>
            <a:r>
              <a:rPr lang="en-US" altLang="en-US" sz="2000">
                <a:latin typeface="Times New Roman" panose="02020603050405020304" pitchFamily="18" charset="0"/>
                <a:cs typeface="Times New Roman" panose="02020603050405020304" pitchFamily="18" charset="0"/>
              </a:rPr>
              <a:t> for initial processing</a:t>
            </a:r>
          </a:p>
          <a:p>
            <a:pPr lvl="1" algn="just">
              <a:lnSpc>
                <a:spcPct val="80000"/>
              </a:lnSpc>
            </a:pPr>
            <a:r>
              <a:rPr lang="en-US" altLang="en-US" sz="2000">
                <a:latin typeface="Times New Roman" panose="02020603050405020304" pitchFamily="18" charset="0"/>
                <a:cs typeface="Times New Roman" panose="02020603050405020304" pitchFamily="18" charset="0"/>
              </a:rPr>
              <a:t>Does </a:t>
            </a:r>
            <a:r>
              <a:rPr lang="en-US" altLang="en-US" sz="2000" b="1">
                <a:latin typeface="Times New Roman" panose="02020603050405020304" pitchFamily="18" charset="0"/>
                <a:cs typeface="Times New Roman" panose="02020603050405020304" pitchFamily="18" charset="0"/>
              </a:rPr>
              <a:t>not know or care where</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data</a:t>
            </a:r>
            <a:r>
              <a:rPr lang="en-US" altLang="en-US" sz="2000">
                <a:latin typeface="Times New Roman" panose="02020603050405020304" pitchFamily="18" charset="0"/>
                <a:cs typeface="Times New Roman" panose="02020603050405020304" pitchFamily="18" charset="0"/>
              </a:rPr>
              <a:t> are </a:t>
            </a:r>
            <a:r>
              <a:rPr lang="en-US" altLang="en-US" sz="2000" b="1">
                <a:latin typeface="Times New Roman" panose="02020603050405020304" pitchFamily="18" charset="0"/>
                <a:cs typeface="Times New Roman" panose="02020603050405020304" pitchFamily="18" charset="0"/>
              </a:rPr>
              <a:t>stored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or</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what</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underlying</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file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system</a:t>
            </a:r>
            <a:r>
              <a:rPr lang="en-US" altLang="en-US" sz="2000">
                <a:latin typeface="Times New Roman" panose="02020603050405020304" pitchFamily="18" charset="0"/>
                <a:cs typeface="Times New Roman" panose="02020603050405020304" pitchFamily="18" charset="0"/>
              </a:rPr>
              <a:t> is like</a:t>
            </a:r>
          </a:p>
          <a:p>
            <a:pPr lvl="1" algn="just">
              <a:lnSpc>
                <a:spcPct val="80000"/>
              </a:lnSpc>
            </a:pPr>
            <a:r>
              <a:rPr lang="en-US" altLang="en-US" sz="2000">
                <a:latin typeface="Times New Roman" panose="02020603050405020304" pitchFamily="18" charset="0"/>
                <a:cs typeface="Times New Roman" panose="02020603050405020304" pitchFamily="18" charset="0"/>
              </a:rPr>
              <a:t>Is </a:t>
            </a:r>
            <a:r>
              <a:rPr lang="en-US" altLang="en-US" sz="2000" b="1">
                <a:latin typeface="Times New Roman" panose="02020603050405020304" pitchFamily="18" charset="0"/>
                <a:cs typeface="Times New Roman" panose="02020603050405020304" pitchFamily="18" charset="0"/>
              </a:rPr>
              <a:t>implemented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essentially</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object oriented</a:t>
            </a:r>
          </a:p>
          <a:p>
            <a:pPr lvl="1" algn="just">
              <a:lnSpc>
                <a:spcPct val="80000"/>
              </a:lnSpc>
            </a:pPr>
            <a:r>
              <a:rPr lang="en-US" altLang="en-US" sz="2000" b="1">
                <a:latin typeface="Times New Roman" panose="02020603050405020304" pitchFamily="18" charset="0"/>
                <a:cs typeface="Times New Roman" panose="02020603050405020304" pitchFamily="18" charset="0"/>
              </a:rPr>
              <a:t>Supports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key</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object</a:t>
            </a:r>
            <a:r>
              <a:rPr lang="en-US" altLang="en-US" sz="2000">
                <a:latin typeface="Times New Roman" panose="02020603050405020304" pitchFamily="18" charset="0"/>
                <a:cs typeface="Times New Roman" panose="02020603050405020304" pitchFamily="18" charset="0"/>
              </a:rPr>
              <a:t> types as super block, v-node, directory, mount table, an array of file descriptors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7347">
                                            <p:txEl>
                                              <p:pRg st="3" end="3"/>
                                            </p:txEl>
                                          </p:spTgt>
                                        </p:tgtEl>
                                        <p:attrNameLst>
                                          <p:attrName>style.visibility</p:attrName>
                                        </p:attrNameLst>
                                      </p:cBhvr>
                                      <p:to>
                                        <p:strVal val="visible"/>
                                      </p:to>
                                    </p:set>
                                    <p:animEffect transition="in" filter="box(in)">
                                      <p:cBhvr>
                                        <p:cTn id="7" dur="500"/>
                                        <p:tgtEl>
                                          <p:spTgt spid="57347">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57347">
                                            <p:txEl>
                                              <p:pRg st="4" end="4"/>
                                            </p:txEl>
                                          </p:spTgt>
                                        </p:tgtEl>
                                        <p:attrNameLst>
                                          <p:attrName>style.visibility</p:attrName>
                                        </p:attrNameLst>
                                      </p:cBhvr>
                                      <p:to>
                                        <p:strVal val="visible"/>
                                      </p:to>
                                    </p:set>
                                    <p:animEffect transition="in" filter="box(in)">
                                      <p:cBhvr>
                                        <p:cTn id="10" dur="500"/>
                                        <p:tgtEl>
                                          <p:spTgt spid="57347">
                                            <p:txEl>
                                              <p:pRg st="4" end="4"/>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57347">
                                            <p:txEl>
                                              <p:pRg st="5" end="5"/>
                                            </p:txEl>
                                          </p:spTgt>
                                        </p:tgtEl>
                                        <p:attrNameLst>
                                          <p:attrName>style.visibility</p:attrName>
                                        </p:attrNameLst>
                                      </p:cBhvr>
                                      <p:to>
                                        <p:strVal val="visible"/>
                                      </p:to>
                                    </p:set>
                                    <p:animEffect transition="in" filter="box(in)">
                                      <p:cBhvr>
                                        <p:cTn id="13" dur="500"/>
                                        <p:tgtEl>
                                          <p:spTgt spid="57347">
                                            <p:txEl>
                                              <p:pRg st="5" end="5"/>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57347">
                                            <p:txEl>
                                              <p:pRg st="6" end="6"/>
                                            </p:txEl>
                                          </p:spTgt>
                                        </p:tgtEl>
                                        <p:attrNameLst>
                                          <p:attrName>style.visibility</p:attrName>
                                        </p:attrNameLst>
                                      </p:cBhvr>
                                      <p:to>
                                        <p:strVal val="visible"/>
                                      </p:to>
                                    </p:set>
                                    <p:animEffect transition="in" filter="box(in)">
                                      <p:cBhvr>
                                        <p:cTn id="16" dur="500"/>
                                        <p:tgtEl>
                                          <p:spTgt spid="57347">
                                            <p:txEl>
                                              <p:pRg st="6" end="6"/>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57347">
                                            <p:txEl>
                                              <p:pRg st="7" end="7"/>
                                            </p:txEl>
                                          </p:spTgt>
                                        </p:tgtEl>
                                        <p:attrNameLst>
                                          <p:attrName>style.visibility</p:attrName>
                                        </p:attrNameLst>
                                      </p:cBhvr>
                                      <p:to>
                                        <p:strVal val="visible"/>
                                      </p:to>
                                    </p:set>
                                    <p:animEffect transition="in" filter="box(in)">
                                      <p:cBhvr>
                                        <p:cTn id="19" dur="500"/>
                                        <p:tgtEl>
                                          <p:spTgt spid="57347">
                                            <p:txEl>
                                              <p:pRg st="7" end="7"/>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57347">
                                            <p:txEl>
                                              <p:pRg st="8" end="8"/>
                                            </p:txEl>
                                          </p:spTgt>
                                        </p:tgtEl>
                                        <p:attrNameLst>
                                          <p:attrName>style.visibility</p:attrName>
                                        </p:attrNameLst>
                                      </p:cBhvr>
                                      <p:to>
                                        <p:strVal val="visible"/>
                                      </p:to>
                                    </p:set>
                                    <p:animEffect transition="in" filter="box(in)">
                                      <p:cBhvr>
                                        <p:cTn id="22" dur="500"/>
                                        <p:tgtEl>
                                          <p:spTgt spid="57347">
                                            <p:txEl>
                                              <p:pRg st="8" end="8"/>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57347">
                                            <p:txEl>
                                              <p:pRg st="9" end="9"/>
                                            </p:txEl>
                                          </p:spTgt>
                                        </p:tgtEl>
                                        <p:attrNameLst>
                                          <p:attrName>style.visibility</p:attrName>
                                        </p:attrNameLst>
                                      </p:cBhvr>
                                      <p:to>
                                        <p:strVal val="visible"/>
                                      </p:to>
                                    </p:set>
                                    <p:animEffect transition="in" filter="box(in)">
                                      <p:cBhvr>
                                        <p:cTn id="25" dur="500"/>
                                        <p:tgtEl>
                                          <p:spTgt spid="57347">
                                            <p:txEl>
                                              <p:pRg st="9" end="9"/>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57347">
                                            <p:txEl>
                                              <p:pRg st="10" end="10"/>
                                            </p:txEl>
                                          </p:spTgt>
                                        </p:tgtEl>
                                        <p:attrNameLst>
                                          <p:attrName>style.visibility</p:attrName>
                                        </p:attrNameLst>
                                      </p:cBhvr>
                                      <p:to>
                                        <p:strVal val="visible"/>
                                      </p:to>
                                    </p:set>
                                    <p:animEffect transition="in" filter="box(in)">
                                      <p:cBhvr>
                                        <p:cTn id="28" dur="500"/>
                                        <p:tgtEl>
                                          <p:spTgt spid="57347">
                                            <p:txEl>
                                              <p:pRg st="10" end="10"/>
                                            </p:txEl>
                                          </p:spTgt>
                                        </p:tgtEl>
                                      </p:cBhvr>
                                    </p:animEffect>
                                  </p:childTnLst>
                                </p:cTn>
                              </p:par>
                              <p:par>
                                <p:cTn id="29" presetID="4" presetClass="entr" presetSubtype="16" fill="hold" nodeType="withEffect">
                                  <p:stCondLst>
                                    <p:cond delay="0"/>
                                  </p:stCondLst>
                                  <p:childTnLst>
                                    <p:set>
                                      <p:cBhvr>
                                        <p:cTn id="30" dur="1" fill="hold">
                                          <p:stCondLst>
                                            <p:cond delay="0"/>
                                          </p:stCondLst>
                                        </p:cTn>
                                        <p:tgtEl>
                                          <p:spTgt spid="57347">
                                            <p:txEl>
                                              <p:pRg st="11" end="11"/>
                                            </p:txEl>
                                          </p:spTgt>
                                        </p:tgtEl>
                                        <p:attrNameLst>
                                          <p:attrName>style.visibility</p:attrName>
                                        </p:attrNameLst>
                                      </p:cBhvr>
                                      <p:to>
                                        <p:strVal val="visible"/>
                                      </p:to>
                                    </p:set>
                                    <p:animEffect transition="in" filter="box(in)">
                                      <p:cBhvr>
                                        <p:cTn id="31" dur="500"/>
                                        <p:tgtEl>
                                          <p:spTgt spid="57347">
                                            <p:txEl>
                                              <p:pRg st="11" end="11"/>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57347">
                                            <p:txEl>
                                              <p:pRg st="12" end="12"/>
                                            </p:txEl>
                                          </p:spTgt>
                                        </p:tgtEl>
                                        <p:attrNameLst>
                                          <p:attrName>style.visibility</p:attrName>
                                        </p:attrNameLst>
                                      </p:cBhvr>
                                      <p:to>
                                        <p:strVal val="visible"/>
                                      </p:to>
                                    </p:set>
                                    <p:animEffect transition="in" filter="box(in)">
                                      <p:cBhvr>
                                        <p:cTn id="34" dur="500"/>
                                        <p:tgtEl>
                                          <p:spTgt spid="5734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idx="4294967295"/>
          </p:nvPr>
        </p:nvSpPr>
        <p:spPr>
          <a:xfrm>
            <a:off x="1600200" y="0"/>
            <a:ext cx="7543800" cy="1143000"/>
          </a:xfrm>
        </p:spPr>
        <p:txBody>
          <a:bodyPr/>
          <a:lstStyle/>
          <a:p>
            <a:r>
              <a:rPr lang="en-US" altLang="en-US" sz="4000" b="1">
                <a:latin typeface="Times New Roman" panose="02020603050405020304" pitchFamily="18" charset="0"/>
                <a:cs typeface="Times New Roman" panose="02020603050405020304" pitchFamily="18" charset="0"/>
              </a:rPr>
              <a:t>File System Implementation </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Virtual File Systems</a:t>
            </a:r>
          </a:p>
        </p:txBody>
      </p:sp>
      <p:pic>
        <p:nvPicPr>
          <p:cNvPr id="37891" name="Picture 4" descr="04-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295400"/>
            <a:ext cx="8305800" cy="413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7" name="Text Box 4"/>
          <p:cNvSpPr txBox="1">
            <a:spLocks noChangeArrowheads="1"/>
          </p:cNvSpPr>
          <p:nvPr/>
        </p:nvSpPr>
        <p:spPr bwMode="auto">
          <a:xfrm>
            <a:off x="3581400" y="6019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4-19.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204807"/>
                                        </p:tgtEl>
                                        <p:attrNameLst>
                                          <p:attrName>style.visibility</p:attrName>
                                        </p:attrNameLst>
                                      </p:cBhvr>
                                      <p:to>
                                        <p:strVal val="visible"/>
                                      </p:to>
                                    </p:set>
                                    <p:animEffect transition="in" filter="box(in)">
                                      <p:cBhvr>
                                        <p:cTn id="7" dur="500"/>
                                        <p:tgtEl>
                                          <p:spTgt spid="204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38915" name="Rectangle 3"/>
          <p:cNvSpPr>
            <a:spLocks noGrp="1"/>
          </p:cNvSpPr>
          <p:nvPr>
            <p:ph type="body" idx="1"/>
          </p:nvPr>
        </p:nvSpPr>
        <p:spPr>
          <a:xfrm>
            <a:off x="457200" y="1600200"/>
            <a:ext cx="8229600" cy="3200400"/>
          </a:xfrm>
        </p:spPr>
        <p:txBody>
          <a:bodyPr/>
          <a:lstStyle/>
          <a:p>
            <a:pPr>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File System Implementation</a:t>
            </a:r>
          </a:p>
        </p:txBody>
      </p:sp>
      <p:sp>
        <p:nvSpPr>
          <p:cNvPr id="38916"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Next Lecture</a:t>
            </a:r>
          </a:p>
        </p:txBody>
      </p:sp>
      <p:sp>
        <p:nvSpPr>
          <p:cNvPr id="39939" name="Rectangle 3"/>
          <p:cNvSpPr>
            <a:spLocks noGrp="1"/>
          </p:cNvSpPr>
          <p:nvPr>
            <p:ph type="body" idx="1"/>
          </p:nvPr>
        </p:nvSpPr>
        <p:spPr>
          <a:xfrm>
            <a:off x="457200" y="1600200"/>
            <a:ext cx="8229600" cy="3200400"/>
          </a:xfrm>
        </p:spPr>
        <p:txBody>
          <a:bodyPr/>
          <a:lstStyle/>
          <a:p>
            <a:pPr>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File System Management and Optimization</a:t>
            </a:r>
          </a:p>
          <a:p>
            <a:pPr>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Example File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17482</TotalTime>
  <Words>3441</Words>
  <Application>Microsoft Office PowerPoint</Application>
  <PresentationFormat>On-screen Show (4:3)</PresentationFormat>
  <Paragraphs>313</Paragraphs>
  <Slides>42</Slides>
  <Notes>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Times New Roman</vt:lpstr>
      <vt:lpstr>Wingdings</vt:lpstr>
      <vt:lpstr>Office Theme</vt:lpstr>
      <vt:lpstr>File System   File System Implementation</vt:lpstr>
      <vt:lpstr>Review</vt:lpstr>
      <vt:lpstr>Objectives…</vt:lpstr>
      <vt:lpstr>File System Implementation</vt:lpstr>
      <vt:lpstr>File System Implementation  File System Layout</vt:lpstr>
      <vt:lpstr>File System Implementation  File System Layout</vt:lpstr>
      <vt:lpstr>File System Implementation  File System Layout</vt:lpstr>
      <vt:lpstr>File System Implementation  Implementing Files</vt:lpstr>
      <vt:lpstr>File System Implementation  Implementing Files</vt:lpstr>
      <vt:lpstr>File System Implementation  Implementing Files</vt:lpstr>
      <vt:lpstr>File System Implementation  Implementing Files</vt:lpstr>
      <vt:lpstr>File System Implementation  Implementing Files</vt:lpstr>
      <vt:lpstr>File System Implementation  Implementing Files</vt:lpstr>
      <vt:lpstr>File System Implementation  i-nodes</vt:lpstr>
      <vt:lpstr>File System Implementation  i-nodes – Example</vt:lpstr>
      <vt:lpstr>File System Implementation  i-nodes</vt:lpstr>
      <vt:lpstr>File System Implementation  Implementing Directories</vt:lpstr>
      <vt:lpstr>File System Implementation  Implementing Directories</vt:lpstr>
      <vt:lpstr>File System Implementation  Implementing Directories</vt:lpstr>
      <vt:lpstr>File System Implementation  Implementing Directories</vt:lpstr>
      <vt:lpstr>File System Implementation  Implementing Directories</vt:lpstr>
      <vt:lpstr>File System Implementation  Implementing Directories</vt:lpstr>
      <vt:lpstr>File System Implementation  Shared Files</vt:lpstr>
      <vt:lpstr>File System Implementation  Shared Files</vt:lpstr>
      <vt:lpstr>File System Implementation  Shared Files</vt:lpstr>
      <vt:lpstr>File System Implementation  Shared Files</vt:lpstr>
      <vt:lpstr>File System Implementation  Log-Structured File Systems (LFS)</vt:lpstr>
      <vt:lpstr>File System Implementation  Log-Structured File Systems (LFS)</vt:lpstr>
      <vt:lpstr>File System Implementation  Log-Structured File Systems (LFS)</vt:lpstr>
      <vt:lpstr>File System Implementation  Log-Structured File Systems (LFS)</vt:lpstr>
      <vt:lpstr>File System Implementation  Log-Structured File Systems (LFS)</vt:lpstr>
      <vt:lpstr>File System Implementation  Log-Structured File Systems (LFS)</vt:lpstr>
      <vt:lpstr>File System Implementation  Log-Structured File Systems (LFS)</vt:lpstr>
      <vt:lpstr>File System Implementation  Log-Structured File Systems (LFS)</vt:lpstr>
      <vt:lpstr>File System Implementation  Journaling File System</vt:lpstr>
      <vt:lpstr>File System Implementation  Journaling File System</vt:lpstr>
      <vt:lpstr>File System Implementation  Journaling File System – Example </vt:lpstr>
      <vt:lpstr>File System Implementation  Journaling File System – Example </vt:lpstr>
      <vt:lpstr>File System Implementation  Virtual File Systems</vt:lpstr>
      <vt:lpstr>File System Implementation  Virtual File Systems</vt:lpstr>
      <vt:lpstr>Summary</vt:lpstr>
      <vt:lpstr>Next Lecture</vt:lpstr>
    </vt:vector>
  </TitlesOfParts>
  <Company>FPT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PFC: Module A - Introduction</dc:title>
  <dc:creator>Phan Truong Lam</dc:creator>
  <cp:lastModifiedBy>Tong Phuoc Quan (FE FPTU HCM)</cp:lastModifiedBy>
  <cp:revision>1988</cp:revision>
  <dcterms:created xsi:type="dcterms:W3CDTF">2007-08-21T04:43:22Z</dcterms:created>
  <dcterms:modified xsi:type="dcterms:W3CDTF">2022-04-25T03:47:44Z</dcterms:modified>
</cp:coreProperties>
</file>