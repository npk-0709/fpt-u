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31" r:id="rId1"/>
  </p:sldMasterIdLst>
  <p:notesMasterIdLst>
    <p:notesMasterId r:id="rId33"/>
  </p:notesMasterIdLst>
  <p:sldIdLst>
    <p:sldId id="256" r:id="rId2"/>
    <p:sldId id="359" r:id="rId3"/>
    <p:sldId id="426" r:id="rId4"/>
    <p:sldId id="361" r:id="rId5"/>
    <p:sldId id="362" r:id="rId6"/>
    <p:sldId id="427" r:id="rId7"/>
    <p:sldId id="435" r:id="rId8"/>
    <p:sldId id="260" r:id="rId9"/>
    <p:sldId id="390" r:id="rId10"/>
    <p:sldId id="391" r:id="rId11"/>
    <p:sldId id="310" r:id="rId12"/>
    <p:sldId id="392" r:id="rId13"/>
    <p:sldId id="308" r:id="rId14"/>
    <p:sldId id="259" r:id="rId15"/>
    <p:sldId id="261" r:id="rId16"/>
    <p:sldId id="309" r:id="rId17"/>
    <p:sldId id="262" r:id="rId18"/>
    <p:sldId id="298" r:id="rId19"/>
    <p:sldId id="311" r:id="rId20"/>
    <p:sldId id="400" r:id="rId21"/>
    <p:sldId id="434" r:id="rId22"/>
    <p:sldId id="406" r:id="rId23"/>
    <p:sldId id="407" r:id="rId24"/>
    <p:sldId id="408" r:id="rId25"/>
    <p:sldId id="409" r:id="rId26"/>
    <p:sldId id="410" r:id="rId27"/>
    <p:sldId id="411" r:id="rId28"/>
    <p:sldId id="412" r:id="rId29"/>
    <p:sldId id="413" r:id="rId30"/>
    <p:sldId id="394" r:id="rId31"/>
    <p:sldId id="433" r:id="rId3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FFFF"/>
    <a:srgbClr val="FF3300"/>
    <a:srgbClr val="FF6600"/>
    <a:srgbClr val="FF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554" autoAdjust="0"/>
    <p:restoredTop sz="95775" autoAdjust="0"/>
  </p:normalViewPr>
  <p:slideViewPr>
    <p:cSldViewPr>
      <p:cViewPr varScale="1">
        <p:scale>
          <a:sx n="74" d="100"/>
          <a:sy n="74" d="100"/>
        </p:scale>
        <p:origin x="1632" y="5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28860"/>
    </p:cViewPr>
    <p:sldLst>
      <p:sld r:id="rId1" collapse="1"/>
    </p:sldLst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12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fld id="{97C9E027-BD87-432B-9DA1-F28A5CBC9CEC}" type="datetimeFigureOut">
              <a:rPr lang="en-US"/>
              <a:pPr>
                <a:defRPr/>
              </a:pPr>
              <a:t>05/09/2021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391FF330-BF42-4585-BFE5-88BC0AC336DF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1507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1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3555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579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3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en-US" dirty="0"/>
              <a:t>Terminologies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Image Placeholder 1">
            <a:extLst>
              <a:ext uri="{FF2B5EF4-FFF2-40B4-BE49-F238E27FC236}">
                <a16:creationId xmlns:a16="http://schemas.microsoft.com/office/drawing/2014/main" id="{403DE14D-2C06-4A9A-8660-866569CE46A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8888" y="720725"/>
            <a:ext cx="4797425" cy="3598863"/>
          </a:xfrm>
          <a:ln/>
        </p:spPr>
      </p:sp>
      <p:sp>
        <p:nvSpPr>
          <p:cNvPr id="14339" name="Notes Placeholder 2">
            <a:extLst>
              <a:ext uri="{FF2B5EF4-FFF2-40B4-BE49-F238E27FC236}">
                <a16:creationId xmlns:a16="http://schemas.microsoft.com/office/drawing/2014/main" id="{09BB5E95-40F0-4F30-8A98-EE8AC4482EF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GB" altLang="en-US" b="1" u="sng"/>
              <a:t>E</a:t>
            </a:r>
            <a:r>
              <a:rPr lang="en-GB" altLang="en-US"/>
              <a:t>lectronic </a:t>
            </a:r>
            <a:r>
              <a:rPr lang="en-GB" altLang="en-US" b="1" u="sng"/>
              <a:t>N</a:t>
            </a:r>
            <a:r>
              <a:rPr lang="en-GB" altLang="en-US"/>
              <a:t>umerical </a:t>
            </a:r>
            <a:r>
              <a:rPr lang="en-GB" altLang="en-US" b="1" u="sng"/>
              <a:t>I</a:t>
            </a:r>
            <a:r>
              <a:rPr lang="en-GB" altLang="en-US"/>
              <a:t>ntegrator </a:t>
            </a:r>
            <a:r>
              <a:rPr lang="en-GB" altLang="en-US" b="1" u="sng"/>
              <a:t>A</a:t>
            </a:r>
            <a:r>
              <a:rPr lang="en-GB" altLang="en-US"/>
              <a:t>nd </a:t>
            </a:r>
            <a:r>
              <a:rPr lang="en-GB" altLang="en-US" b="1" u="sng"/>
              <a:t>C</a:t>
            </a:r>
            <a:r>
              <a:rPr lang="en-GB" altLang="en-US"/>
              <a:t>omputer</a:t>
            </a:r>
          </a:p>
          <a:p>
            <a:r>
              <a:rPr lang="en-US" altLang="en-US" b="1"/>
              <a:t>UNIVAC</a:t>
            </a:r>
            <a:r>
              <a:rPr lang="en-US" altLang="en-US"/>
              <a:t> (Universal Automatic Computer) was a line of electronic digital stored-program computers starting with the products of the Eckert–Mauchly Computer ...</a:t>
            </a:r>
          </a:p>
        </p:txBody>
      </p:sp>
      <p:sp>
        <p:nvSpPr>
          <p:cNvPr id="14340" name="Slide Number Placeholder 3">
            <a:extLst>
              <a:ext uri="{FF2B5EF4-FFF2-40B4-BE49-F238E27FC236}">
                <a16:creationId xmlns:a16="http://schemas.microsoft.com/office/drawing/2014/main" id="{F6D39B55-388E-4BCF-AD91-DFE49F61E83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fld id="{04910C68-CD5F-41DD-9B46-6012FEE09F7A}" type="slidenum">
              <a:rPr lang="en-US" altLang="en-US" sz="1200" smtClean="0"/>
              <a:pPr/>
              <a:t>11</a:t>
            </a:fld>
            <a:endParaRPr lang="en-US" altLang="en-US" sz="120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>
            <a:extLst>
              <a:ext uri="{FF2B5EF4-FFF2-40B4-BE49-F238E27FC236}">
                <a16:creationId xmlns:a16="http://schemas.microsoft.com/office/drawing/2014/main" id="{92861346-7852-4987-8BD5-9DFB058BF53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fld id="{1012282A-F59C-4767-8416-17451B71E9E1}" type="slidenum">
              <a:rPr lang="en-US" altLang="en-US" sz="1200" smtClean="0"/>
              <a:pPr/>
              <a:t>12</a:t>
            </a:fld>
            <a:endParaRPr lang="en-US" altLang="en-US" sz="1200"/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52582533-2444-4823-B3BB-31D6FE998C3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8888" y="720725"/>
            <a:ext cx="4797425" cy="3598863"/>
          </a:xfrm>
          <a:ln/>
        </p:spPr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8163070A-BB9B-44E5-84D2-A8807966E29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kumimoji="1" lang="en-US" altLang="en-US" b="1" i="1"/>
              <a:t>The ENIAC (Electronic Numerical Integrator And Computer), </a:t>
            </a:r>
            <a:r>
              <a:rPr kumimoji="1" lang="en-US" altLang="en-US" i="1"/>
              <a:t>designed</a:t>
            </a:r>
          </a:p>
          <a:p>
            <a:r>
              <a:rPr kumimoji="1" lang="en-US" altLang="en-US"/>
              <a:t>and constructed at the University of Pennsylvania, was the world’s first general purpose</a:t>
            </a:r>
          </a:p>
          <a:p>
            <a:r>
              <a:rPr kumimoji="1" lang="en-US" altLang="en-US"/>
              <a:t>electronic digital computer. The project was a response to U.S. needs</a:t>
            </a:r>
          </a:p>
          <a:p>
            <a:r>
              <a:rPr kumimoji="1" lang="en-US" altLang="en-US"/>
              <a:t>during World War II. The Army’s Ballistics Research Laboratory (BRL), an agency</a:t>
            </a:r>
          </a:p>
          <a:p>
            <a:r>
              <a:rPr kumimoji="1" lang="en-US" altLang="en-US"/>
              <a:t>responsible for developing range and trajectory tables for new weapons, was having</a:t>
            </a:r>
          </a:p>
          <a:p>
            <a:r>
              <a:rPr kumimoji="1" lang="en-US" altLang="en-US"/>
              <a:t>difficulty supplying these tables accurately and within a reasonable time frame.</a:t>
            </a:r>
          </a:p>
          <a:p>
            <a:r>
              <a:rPr kumimoji="1" lang="en-US" altLang="en-US"/>
              <a:t>Without these firing tables, the new weapons and artillery were useless to gunners.</a:t>
            </a:r>
          </a:p>
          <a:p>
            <a:r>
              <a:rPr kumimoji="1" lang="en-US" altLang="en-US"/>
              <a:t>The BRL employed more than 200 people who, using desktop calculators, solved</a:t>
            </a:r>
          </a:p>
          <a:p>
            <a:r>
              <a:rPr kumimoji="1" lang="en-US" altLang="en-US"/>
              <a:t>the necessary ballistics equations. Preparation of the tables for a single weapon</a:t>
            </a:r>
          </a:p>
          <a:p>
            <a:r>
              <a:rPr kumimoji="1" lang="en-US" altLang="en-US"/>
              <a:t>would take one person many hours, even days.</a:t>
            </a:r>
          </a:p>
          <a:p>
            <a:endParaRPr kumimoji="1" lang="en-US" altLang="en-US"/>
          </a:p>
          <a:p>
            <a:r>
              <a:rPr kumimoji="1" lang="en-US" altLang="en-US"/>
              <a:t>John Mauchly, a professor of electrical engineering at the University of</a:t>
            </a:r>
          </a:p>
          <a:p>
            <a:r>
              <a:rPr kumimoji="1" lang="en-US" altLang="en-US"/>
              <a:t>Pennsylvania, and John Eckert, one of his graduate students, proposed to build a</a:t>
            </a:r>
          </a:p>
          <a:p>
            <a:r>
              <a:rPr kumimoji="1" lang="en-US" altLang="en-US"/>
              <a:t>general-purpose computer using vacuum tubes for the BRL’s application. In 1943,</a:t>
            </a:r>
          </a:p>
          <a:p>
            <a:r>
              <a:rPr kumimoji="1" lang="en-US" altLang="en-US"/>
              <a:t>the Army accepted this proposal, and work began on the ENIAC. </a:t>
            </a:r>
            <a:endParaRPr lang="en-GB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Image Placeholder 1">
            <a:extLst>
              <a:ext uri="{FF2B5EF4-FFF2-40B4-BE49-F238E27FC236}">
                <a16:creationId xmlns:a16="http://schemas.microsoft.com/office/drawing/2014/main" id="{CE4F0776-B7E4-42C3-817D-642F81E316D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8888" y="720725"/>
            <a:ext cx="4797425" cy="3598863"/>
          </a:xfrm>
          <a:ln/>
        </p:spPr>
      </p:sp>
      <p:sp>
        <p:nvSpPr>
          <p:cNvPr id="18435" name="Notes Placeholder 2">
            <a:extLst>
              <a:ext uri="{FF2B5EF4-FFF2-40B4-BE49-F238E27FC236}">
                <a16:creationId xmlns:a16="http://schemas.microsoft.com/office/drawing/2014/main" id="{75C8D63E-A45F-4D28-BD85-AB9169888A5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/>
              <a:t>International Business Machines Corporation is an American multinational technology corporation headquartered in Armonk, New York, with operations in over 171 countries.</a:t>
            </a:r>
          </a:p>
        </p:txBody>
      </p:sp>
      <p:sp>
        <p:nvSpPr>
          <p:cNvPr id="18436" name="Slide Number Placeholder 3">
            <a:extLst>
              <a:ext uri="{FF2B5EF4-FFF2-40B4-BE49-F238E27FC236}">
                <a16:creationId xmlns:a16="http://schemas.microsoft.com/office/drawing/2014/main" id="{5BB87FA6-091B-44E8-9D91-0710AE5C9BC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fld id="{F2B09553-1F95-437D-B4B0-280CA094CB07}" type="slidenum">
              <a:rPr lang="en-US" altLang="en-US" sz="1200" smtClean="0"/>
              <a:pPr/>
              <a:t>13</a:t>
            </a:fld>
            <a:endParaRPr lang="en-US" altLang="en-US" sz="120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>
            <a:extLst>
              <a:ext uri="{FF2B5EF4-FFF2-40B4-BE49-F238E27FC236}">
                <a16:creationId xmlns:a16="http://schemas.microsoft.com/office/drawing/2014/main" id="{3C874D77-0601-417F-BBAB-F88E09B5DE4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fld id="{45EEA96B-996F-4FD6-B414-7DE8CDFA931A}" type="slidenum">
              <a:rPr lang="en-US" altLang="en-US" sz="1200" smtClean="0"/>
              <a:pPr/>
              <a:t>18</a:t>
            </a:fld>
            <a:endParaRPr lang="en-US" altLang="en-US" sz="1200"/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E2A4E604-35A4-4106-B5E4-FB6B09737A24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xfrm>
            <a:off x="1258888" y="720725"/>
            <a:ext cx="4797425" cy="3598863"/>
          </a:xfrm>
          <a:ln/>
        </p:spPr>
      </p:sp>
      <p:sp>
        <p:nvSpPr>
          <p:cNvPr id="24580" name="Rectangle 3">
            <a:extLst>
              <a:ext uri="{FF2B5EF4-FFF2-40B4-BE49-F238E27FC236}">
                <a16:creationId xmlns:a16="http://schemas.microsoft.com/office/drawing/2014/main" id="{3854A4D6-00D8-4B75-B86D-EC35776EBD4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33425" y="4560888"/>
            <a:ext cx="5851525" cy="431958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 noProof="1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6627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7651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8675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9699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3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1747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2771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buFontTx/>
              <a:buChar char="-"/>
            </a:pPr>
            <a:endParaRPr lang="en-US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3795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5843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954132-F456-4726-8A29-7123F0106B61}" type="datetime1">
              <a:rPr lang="en-US"/>
              <a:pPr>
                <a:defRPr/>
              </a:pPr>
              <a:t>05/09/2021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Module A -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97C3838-6EA0-44D3-85B2-9CBF9B6FC0F6}" type="slidenum">
              <a:rPr lang="en-US" altLang="en-US"/>
              <a:pPr/>
              <a:t>‹#›</a:t>
            </a:fld>
            <a:r>
              <a:rPr lang="en-US" altLang="en-US"/>
              <a:t>/40</a:t>
            </a:r>
          </a:p>
        </p:txBody>
      </p:sp>
    </p:spTree>
    <p:extLst>
      <p:ext uri="{BB962C8B-B14F-4D97-AF65-F5344CB8AC3E}">
        <p14:creationId xmlns:p14="http://schemas.microsoft.com/office/powerpoint/2010/main" val="16513730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chemeClr val="tx2">
                  <a:lumMod val="60000"/>
                  <a:lumOff val="40000"/>
                </a:schemeClr>
              </a:buClr>
              <a:buSzPct val="80000"/>
              <a:buFont typeface="Wingdings" pitchFamily="2" charset="2"/>
              <a:buChar char="l"/>
              <a:defRPr>
                <a:latin typeface="Arial" pitchFamily="34" charset="0"/>
                <a:cs typeface="Arial" pitchFamily="34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0C777E-97B2-4E93-AB4C-1E368998D89B}" type="datetime1">
              <a:rPr lang="en-US"/>
              <a:pPr>
                <a:defRPr/>
              </a:pPr>
              <a:t>05/09/2021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Module A -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C4E4A2D-CAA6-4A29-8B2A-5A0448110152}" type="slidenum">
              <a:rPr lang="en-US" altLang="en-US"/>
              <a:pPr/>
              <a:t>‹#›</a:t>
            </a:fld>
            <a:r>
              <a:rPr lang="en-US" altLang="en-US"/>
              <a:t>/40</a:t>
            </a:r>
          </a:p>
        </p:txBody>
      </p:sp>
    </p:spTree>
    <p:extLst>
      <p:ext uri="{BB962C8B-B14F-4D97-AF65-F5344CB8AC3E}">
        <p14:creationId xmlns:p14="http://schemas.microsoft.com/office/powerpoint/2010/main" val="39855256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22296B-18DB-451D-B89F-9BC9201C4F51}" type="datetime1">
              <a:rPr lang="en-US"/>
              <a:pPr>
                <a:defRPr/>
              </a:pPr>
              <a:t>05/09/2021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Module A -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FD889D2-4DC6-4015-BA96-6279294A3EAA}" type="slidenum">
              <a:rPr lang="en-US" altLang="en-US"/>
              <a:pPr/>
              <a:t>‹#›</a:t>
            </a:fld>
            <a:r>
              <a:rPr lang="en-US" altLang="en-US"/>
              <a:t>/40</a:t>
            </a:r>
          </a:p>
        </p:txBody>
      </p:sp>
    </p:spTree>
    <p:extLst>
      <p:ext uri="{BB962C8B-B14F-4D97-AF65-F5344CB8AC3E}">
        <p14:creationId xmlns:p14="http://schemas.microsoft.com/office/powerpoint/2010/main" val="32948779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644C65-1364-4BAC-91B5-779DC027A827}" type="datetime1">
              <a:rPr lang="en-US"/>
              <a:pPr>
                <a:defRPr/>
              </a:pPr>
              <a:t>05/09/2021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Module A -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8100100-3DE2-4674-97FC-7AE5C0FD6ED6}" type="slidenum">
              <a:rPr lang="en-US" altLang="en-US"/>
              <a:pPr/>
              <a:t>‹#›</a:t>
            </a:fld>
            <a:r>
              <a:rPr lang="en-US" altLang="en-US"/>
              <a:t>/40</a:t>
            </a:r>
          </a:p>
        </p:txBody>
      </p:sp>
    </p:spTree>
    <p:extLst>
      <p:ext uri="{BB962C8B-B14F-4D97-AF65-F5344CB8AC3E}">
        <p14:creationId xmlns:p14="http://schemas.microsoft.com/office/powerpoint/2010/main" val="10326323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57C2A5-AC16-4ED4-975B-C680C200DF00}" type="datetime1">
              <a:rPr lang="en-US"/>
              <a:pPr>
                <a:defRPr/>
              </a:pPr>
              <a:t>05/09/2021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Module A - Introduction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52FA24F-AA5F-426A-9DB0-54B6D06440A3}" type="slidenum">
              <a:rPr lang="en-US" altLang="en-US"/>
              <a:pPr/>
              <a:t>‹#›</a:t>
            </a:fld>
            <a:r>
              <a:rPr lang="en-US" altLang="en-US"/>
              <a:t>/40</a:t>
            </a:r>
          </a:p>
        </p:txBody>
      </p:sp>
    </p:spTree>
    <p:extLst>
      <p:ext uri="{BB962C8B-B14F-4D97-AF65-F5344CB8AC3E}">
        <p14:creationId xmlns:p14="http://schemas.microsoft.com/office/powerpoint/2010/main" val="30578483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E67371A-BA6E-43E9-869D-0582FFEF7828}" type="datetime1">
              <a:rPr lang="en-US"/>
              <a:pPr>
                <a:defRPr/>
              </a:pPr>
              <a:t>05/09/2021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Module A - Introduction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A3D5FA8-AA59-4B3A-83BA-CA361B0E429C}" type="slidenum">
              <a:rPr lang="en-US" altLang="en-US"/>
              <a:pPr/>
              <a:t>‹#›</a:t>
            </a:fld>
            <a:r>
              <a:rPr lang="en-US" altLang="en-US"/>
              <a:t>/40</a:t>
            </a:r>
          </a:p>
        </p:txBody>
      </p:sp>
    </p:spTree>
    <p:extLst>
      <p:ext uri="{BB962C8B-B14F-4D97-AF65-F5344CB8AC3E}">
        <p14:creationId xmlns:p14="http://schemas.microsoft.com/office/powerpoint/2010/main" val="2488142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8F885F-0E4F-4383-9A8D-5805A258D9E5}" type="datetime1">
              <a:rPr lang="en-US"/>
              <a:pPr>
                <a:defRPr/>
              </a:pPr>
              <a:t>05/09/2021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Module A - Introduction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D6262F9-27F3-415D-867C-8DFF7E4D3A89}" type="slidenum">
              <a:rPr lang="en-US" altLang="en-US"/>
              <a:pPr/>
              <a:t>‹#›</a:t>
            </a:fld>
            <a:r>
              <a:rPr lang="en-US" altLang="en-US"/>
              <a:t>/40</a:t>
            </a:r>
          </a:p>
        </p:txBody>
      </p:sp>
    </p:spTree>
    <p:extLst>
      <p:ext uri="{BB962C8B-B14F-4D97-AF65-F5344CB8AC3E}">
        <p14:creationId xmlns:p14="http://schemas.microsoft.com/office/powerpoint/2010/main" val="35590850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6071A3-11B8-4F1C-8348-DFC81BAB9D9C}" type="datetime1">
              <a:rPr lang="en-US"/>
              <a:pPr>
                <a:defRPr/>
              </a:pPr>
              <a:t>05/09/2021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Module A -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7DFC1CC-958F-45B3-903D-EFC3F47B4F2F}" type="slidenum">
              <a:rPr lang="en-US" altLang="en-US"/>
              <a:pPr/>
              <a:t>‹#›</a:t>
            </a:fld>
            <a:r>
              <a:rPr lang="en-US" altLang="en-US"/>
              <a:t>/40</a:t>
            </a:r>
          </a:p>
        </p:txBody>
      </p:sp>
    </p:spTree>
    <p:extLst>
      <p:ext uri="{BB962C8B-B14F-4D97-AF65-F5344CB8AC3E}">
        <p14:creationId xmlns:p14="http://schemas.microsoft.com/office/powerpoint/2010/main" val="32167275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7BF8CE-2E45-41E7-B0F3-ADD47E826DE0}" type="datetime1">
              <a:rPr lang="en-US"/>
              <a:pPr>
                <a:defRPr/>
              </a:pPr>
              <a:t>05/09/2021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Module A -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30AE32-D73E-4B3E-A3B5-E185D90B43A7}" type="slidenum">
              <a:rPr lang="en-US" altLang="en-US"/>
              <a:pPr/>
              <a:t>‹#›</a:t>
            </a:fld>
            <a:r>
              <a:rPr lang="en-US" altLang="en-US"/>
              <a:t>/40</a:t>
            </a:r>
          </a:p>
        </p:txBody>
      </p:sp>
    </p:spTree>
    <p:extLst>
      <p:ext uri="{BB962C8B-B14F-4D97-AF65-F5344CB8AC3E}">
        <p14:creationId xmlns:p14="http://schemas.microsoft.com/office/powerpoint/2010/main" val="31286969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F349E6-1917-47AC-A57B-BBFB04B8B17C}" type="datetime1">
              <a:rPr lang="en-US"/>
              <a:pPr>
                <a:defRPr/>
              </a:pPr>
              <a:t>05/09/2021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Module A -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9C67441-98E8-4EBE-92CC-2C9C07272179}" type="slidenum">
              <a:rPr lang="en-US" altLang="en-US"/>
              <a:pPr/>
              <a:t>‹#›</a:t>
            </a:fld>
            <a:r>
              <a:rPr lang="en-US" altLang="en-US"/>
              <a:t>/40</a:t>
            </a:r>
          </a:p>
        </p:txBody>
      </p:sp>
    </p:spTree>
    <p:extLst>
      <p:ext uri="{BB962C8B-B14F-4D97-AF65-F5344CB8AC3E}">
        <p14:creationId xmlns:p14="http://schemas.microsoft.com/office/powerpoint/2010/main" val="4516555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681D96-0556-4A96-876B-DA471BB1CB35}" type="datetime1">
              <a:rPr lang="en-US"/>
              <a:pPr>
                <a:defRPr/>
              </a:pPr>
              <a:t>05/09/2021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Module A -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635655E-ABF9-45C8-916F-C2EC5499BD3F}" type="slidenum">
              <a:rPr lang="en-US" altLang="en-US"/>
              <a:pPr/>
              <a:t>‹#›</a:t>
            </a:fld>
            <a:r>
              <a:rPr lang="en-US" altLang="en-US"/>
              <a:t>/40</a:t>
            </a:r>
          </a:p>
        </p:txBody>
      </p:sp>
    </p:spTree>
    <p:extLst>
      <p:ext uri="{BB962C8B-B14F-4D97-AF65-F5344CB8AC3E}">
        <p14:creationId xmlns:p14="http://schemas.microsoft.com/office/powerpoint/2010/main" val="21441606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51C36B-C427-45CA-9A42-6801FCDE44C1}" type="datetime1">
              <a:rPr lang="en-US"/>
              <a:pPr>
                <a:defRPr/>
              </a:pPr>
              <a:t>05/09/2021</a:t>
            </a:fld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Module A - Introduction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CC25FD0-6F79-4856-B962-370F5F8FAA33}" type="slidenum">
              <a:rPr lang="en-US" altLang="en-US"/>
              <a:pPr/>
              <a:t>‹#›</a:t>
            </a:fld>
            <a:r>
              <a:rPr lang="en-US" altLang="en-US"/>
              <a:t>/40</a:t>
            </a:r>
          </a:p>
        </p:txBody>
      </p:sp>
    </p:spTree>
    <p:extLst>
      <p:ext uri="{BB962C8B-B14F-4D97-AF65-F5344CB8AC3E}">
        <p14:creationId xmlns:p14="http://schemas.microsoft.com/office/powerpoint/2010/main" val="22708008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5F2525-CE28-40E3-937A-BEA1ED9F0A39}" type="datetime1">
              <a:rPr lang="en-US"/>
              <a:pPr>
                <a:defRPr/>
              </a:pPr>
              <a:t>05/09/2021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Module A -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EB07117-D9CB-4A33-921F-1E18438D3DCD}" type="slidenum">
              <a:rPr lang="en-US" altLang="en-US"/>
              <a:pPr/>
              <a:t>‹#›</a:t>
            </a:fld>
            <a:r>
              <a:rPr lang="en-US" altLang="en-US"/>
              <a:t>/40</a:t>
            </a:r>
          </a:p>
        </p:txBody>
      </p:sp>
    </p:spTree>
    <p:extLst>
      <p:ext uri="{BB962C8B-B14F-4D97-AF65-F5344CB8AC3E}">
        <p14:creationId xmlns:p14="http://schemas.microsoft.com/office/powerpoint/2010/main" val="25487730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Arial" charset="0"/>
              </a:defRPr>
            </a:lvl1pPr>
          </a:lstStyle>
          <a:p>
            <a:pPr>
              <a:defRPr/>
            </a:pPr>
            <a:fld id="{EC623C02-702A-4A39-AA9E-A2863107BECB}" type="datetime1">
              <a:rPr lang="en-US"/>
              <a:pPr>
                <a:defRPr/>
              </a:pPr>
              <a:t>05/09/2021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898989"/>
                </a:solidFill>
                <a:latin typeface="Arial" charset="0"/>
              </a:defRPr>
            </a:lvl1pPr>
          </a:lstStyle>
          <a:p>
            <a:pPr>
              <a:defRPr/>
            </a:pPr>
            <a:r>
              <a:rPr lang="en-US"/>
              <a:t>Module A -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fld id="{18C05A6E-7B0B-42FA-93EB-B39385A91B81}" type="slidenum">
              <a:rPr lang="en-US" altLang="en-US"/>
              <a:pPr/>
              <a:t>‹#›</a:t>
            </a:fld>
            <a:r>
              <a:rPr lang="en-US" altLang="en-US"/>
              <a:t>/40</a:t>
            </a:r>
          </a:p>
        </p:txBody>
      </p:sp>
      <p:pic>
        <p:nvPicPr>
          <p:cNvPr id="2055" name="Picture 8" descr="logoNhoFPT.jpg"/>
          <p:cNvPicPr>
            <a:picLocks noChangeAspect="1"/>
          </p:cNvPicPr>
          <p:nvPr userDrawn="1"/>
        </p:nvPicPr>
        <p:blipFill>
          <a:blip r:embed="rId15">
            <a:lum contras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981200" cy="741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32" r:id="rId1"/>
    <p:sldLayoutId id="2147483833" r:id="rId2"/>
    <p:sldLayoutId id="2147483834" r:id="rId3"/>
    <p:sldLayoutId id="2147483835" r:id="rId4"/>
    <p:sldLayoutId id="2147483836" r:id="rId5"/>
    <p:sldLayoutId id="2147483837" r:id="rId6"/>
    <p:sldLayoutId id="2147483838" r:id="rId7"/>
    <p:sldLayoutId id="2147483839" r:id="rId8"/>
    <p:sldLayoutId id="2147483840" r:id="rId9"/>
    <p:sldLayoutId id="2147483841" r:id="rId10"/>
    <p:sldLayoutId id="2147483842" r:id="rId11"/>
    <p:sldLayoutId id="2147483843" r:id="rId12"/>
    <p:sldLayoutId id="2147483844" r:id="rId13"/>
  </p:sldLayoutIdLst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9.png"/><Relationship Id="rId4" Type="http://schemas.openxmlformats.org/officeDocument/2006/relationships/oleObject" Target="../embeddings/oleObject1.bin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jpe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jpeg"/><Relationship Id="rId3" Type="http://schemas.openxmlformats.org/officeDocument/2006/relationships/notesSlide" Target="../notesSlides/notesSlide15.xml"/><Relationship Id="rId7" Type="http://schemas.openxmlformats.org/officeDocument/2006/relationships/image" Target="../media/image17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18.png"/><Relationship Id="rId4" Type="http://schemas.openxmlformats.org/officeDocument/2006/relationships/image" Target="../media/image1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jpe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jpe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jpeg"/><Relationship Id="rId4" Type="http://schemas.openxmlformats.org/officeDocument/2006/relationships/image" Target="../media/image25.jpe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jpe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/>
          </p:cNvSpPr>
          <p:nvPr>
            <p:ph type="ctrTitle"/>
          </p:nvPr>
        </p:nvSpPr>
        <p:spPr>
          <a:xfrm>
            <a:off x="0" y="1676400"/>
            <a:ext cx="9144000" cy="2438400"/>
          </a:xfrm>
        </p:spPr>
        <p:txBody>
          <a:bodyPr/>
          <a:lstStyle/>
          <a:p>
            <a:pPr eaLnBrk="1" hangingPunct="1"/>
            <a:r>
              <a:rPr lang="en-US" alt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</a:t>
            </a:r>
            <a:br>
              <a:rPr lang="en-US" alt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alt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4000" b="1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Operating System </a:t>
            </a:r>
            <a:br>
              <a:rPr lang="en-US" altLang="en-US" sz="4000" b="1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4000" b="1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Operating System Zoo </a:t>
            </a:r>
            <a:br>
              <a:rPr lang="en-US" altLang="en-US" sz="4000" b="1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altLang="en-US"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85800"/>
          </a:xfrm>
        </p:spPr>
        <p:txBody>
          <a:bodyPr/>
          <a:lstStyle/>
          <a:p>
            <a:r>
              <a:rPr lang="en-US" alt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4099" name="Rectangle 3"/>
          <p:cNvSpPr>
            <a:spLocks noGrp="1"/>
          </p:cNvSpPr>
          <p:nvPr>
            <p:ph type="body" idx="1"/>
          </p:nvPr>
        </p:nvSpPr>
        <p:spPr>
          <a:xfrm>
            <a:off x="457200" y="762000"/>
            <a:ext cx="8686800" cy="6096000"/>
          </a:xfrm>
        </p:spPr>
        <p:txBody>
          <a:bodyPr/>
          <a:lstStyle/>
          <a:p>
            <a:pPr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Operating System (OS)</a:t>
            </a:r>
          </a:p>
          <a:p>
            <a:pPr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The Operating System Zoo</a:t>
            </a:r>
          </a:p>
          <a:p>
            <a:pPr lvl="1"/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Mainframe OS</a:t>
            </a:r>
          </a:p>
          <a:p>
            <a:pPr lvl="1"/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Server OS</a:t>
            </a:r>
          </a:p>
          <a:p>
            <a:pPr lvl="1"/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Multiprocessor OS</a:t>
            </a:r>
          </a:p>
          <a:p>
            <a:pPr lvl="1"/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PC OS</a:t>
            </a:r>
          </a:p>
          <a:p>
            <a:pPr lvl="1"/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Handheld Computer OS</a:t>
            </a:r>
          </a:p>
          <a:p>
            <a:pPr lvl="1"/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Embedded OS</a:t>
            </a:r>
          </a:p>
          <a:p>
            <a:pPr lvl="1"/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Sensor Node OS</a:t>
            </a:r>
          </a:p>
          <a:p>
            <a:pPr lvl="1"/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Real-Time OS</a:t>
            </a:r>
          </a:p>
          <a:p>
            <a:pPr lvl="1"/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Smart Card 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/>
          </p:cNvSpPr>
          <p:nvPr>
            <p:ph type="title" idx="4294967295"/>
          </p:nvPr>
        </p:nvSpPr>
        <p:spPr>
          <a:xfrm>
            <a:off x="457200" y="0"/>
            <a:ext cx="8229600" cy="609600"/>
          </a:xfrm>
        </p:spPr>
        <p:txBody>
          <a:bodyPr/>
          <a:lstStyle/>
          <a:p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Operating System</a:t>
            </a:r>
          </a:p>
        </p:txBody>
      </p:sp>
      <p:sp>
        <p:nvSpPr>
          <p:cNvPr id="139267" name="Rectangle 3"/>
          <p:cNvSpPr>
            <a:spLocks noGrp="1"/>
          </p:cNvSpPr>
          <p:nvPr>
            <p:ph type="body" idx="4294967295"/>
          </p:nvPr>
        </p:nvSpPr>
        <p:spPr>
          <a:xfrm>
            <a:off x="0" y="990600"/>
            <a:ext cx="9144000" cy="5410200"/>
          </a:xfrm>
        </p:spPr>
        <p:txBody>
          <a:bodyPr/>
          <a:lstStyle/>
          <a:p>
            <a:pPr algn="just" eaLnBrk="1" hangingPunct="1">
              <a:lnSpc>
                <a:spcPct val="8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do we install the Windows, or Linux, or Unix, or Macs,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etc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…, that is called Operating System (OS), before we want to use and control/ manipulate our computer (laptop or desktop or mobile or other devices)?</a:t>
            </a:r>
          </a:p>
          <a:p>
            <a:pPr algn="just" eaLnBrk="1" hangingPunct="1">
              <a:lnSpc>
                <a:spcPct val="8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do we manipulate the computer hardware (RAM, Disks, AGP card, Audio card, Keyboard, touch screen,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etc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…)?</a:t>
            </a:r>
          </a:p>
          <a:p>
            <a:pPr algn="just" eaLnBrk="1" hangingPunct="1">
              <a:lnSpc>
                <a:spcPct val="8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can our computer run or execute many programs at the time without being worried finitely RAM, one or two CPU? Do they run in parallel or in sequence order? …</a:t>
            </a:r>
          </a:p>
          <a:p>
            <a:pPr algn="just" eaLnBrk="1" hangingPunct="1">
              <a:lnSpc>
                <a:spcPct val="8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can our computer allocate the computer’s device to many running programs at the time?</a:t>
            </a:r>
          </a:p>
          <a:p>
            <a:pPr algn="just" eaLnBrk="1" hangingPunct="1">
              <a:lnSpc>
                <a:spcPct val="8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What’s the OS’s role in our computer? What’s it’s main functions? Which problems do we or our computer take without the absent OS? Is the OS software or hardware?</a:t>
            </a:r>
          </a:p>
          <a:p>
            <a:pPr algn="just" eaLnBrk="1" hangingPunct="1">
              <a:lnSpc>
                <a:spcPct val="80000"/>
              </a:lnSpc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big question is “What is the OS?”</a:t>
            </a:r>
          </a:p>
          <a:p>
            <a:pPr algn="just" eaLnBrk="1" hangingPunct="1">
              <a:lnSpc>
                <a:spcPct val="80000"/>
              </a:lnSpc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important questions are</a:t>
            </a:r>
          </a:p>
          <a:p>
            <a:pPr lvl="1" algn="just" eaLnBrk="1" hangingPunct="1">
              <a:lnSpc>
                <a:spcPct val="80000"/>
              </a:lnSpc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do we learn OS? </a:t>
            </a:r>
          </a:p>
          <a:p>
            <a:pPr lvl="1" algn="just" eaLnBrk="1" hangingPunct="1">
              <a:lnSpc>
                <a:spcPct val="80000"/>
              </a:lnSpc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constraint do between OS and SE (both IS and ES)?</a:t>
            </a:r>
          </a:p>
        </p:txBody>
      </p:sp>
      <p:sp>
        <p:nvSpPr>
          <p:cNvPr id="5124" name="Rectangle 4"/>
          <p:cNvSpPr>
            <a:spLocks/>
          </p:cNvSpPr>
          <p:nvPr/>
        </p:nvSpPr>
        <p:spPr bwMode="auto">
          <a:xfrm>
            <a:off x="609600" y="381000"/>
            <a:ext cx="82296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Context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39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39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39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39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139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1392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1392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500"/>
                                        <p:tgtEl>
                                          <p:spTgt spid="1392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500"/>
                                        <p:tgtEl>
                                          <p:spTgt spid="1392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762000"/>
          </a:xfrm>
        </p:spPr>
        <p:txBody>
          <a:bodyPr/>
          <a:lstStyle/>
          <a:p>
            <a:r>
              <a:rPr lang="en-US" altLang="en-US" sz="3600">
                <a:latin typeface="Times New Roman" panose="02020603050405020304" pitchFamily="18" charset="0"/>
                <a:cs typeface="Times New Roman" panose="02020603050405020304" pitchFamily="18" charset="0"/>
              </a:rPr>
              <a:t>Overview</a:t>
            </a:r>
          </a:p>
        </p:txBody>
      </p:sp>
      <p:sp>
        <p:nvSpPr>
          <p:cNvPr id="9219" name="Rectangle 3"/>
          <p:cNvSpPr>
            <a:spLocks noGrp="1"/>
          </p:cNvSpPr>
          <p:nvPr>
            <p:ph type="body" idx="1"/>
          </p:nvPr>
        </p:nvSpPr>
        <p:spPr>
          <a:xfrm>
            <a:off x="609600" y="1219200"/>
            <a:ext cx="8229600" cy="5897563"/>
          </a:xfrm>
        </p:spPr>
        <p:txBody>
          <a:bodyPr/>
          <a:lstStyle/>
          <a:p>
            <a:pPr algn="just"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A computer system consists of:</a:t>
            </a:r>
          </a:p>
          <a:p>
            <a:pPr lvl="1" algn="just"/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User software</a:t>
            </a:r>
          </a:p>
          <a:p>
            <a:pPr lvl="1" algn="just"/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System software</a:t>
            </a:r>
          </a:p>
          <a:p>
            <a:pPr lvl="1" algn="just"/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Hardware</a:t>
            </a:r>
          </a:p>
        </p:txBody>
      </p:sp>
      <p:sp>
        <p:nvSpPr>
          <p:cNvPr id="6148" name="Rectangle 4"/>
          <p:cNvSpPr>
            <a:spLocks/>
          </p:cNvSpPr>
          <p:nvPr/>
        </p:nvSpPr>
        <p:spPr bwMode="auto">
          <a:xfrm>
            <a:off x="685800" y="0"/>
            <a:ext cx="82296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Operating System</a:t>
            </a:r>
            <a:endParaRPr lang="en-US" altLang="en-US" sz="2800" b="1">
              <a:solidFill>
                <a:srgbClr val="FF33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197" name="Group 29"/>
          <p:cNvGraphicFramePr>
            <a:graphicFrameLocks noGrp="1"/>
          </p:cNvGraphicFramePr>
          <p:nvPr/>
        </p:nvGraphicFramePr>
        <p:xfrm>
          <a:off x="1981200" y="3810000"/>
          <a:ext cx="5065713" cy="2538413"/>
        </p:xfrm>
        <a:graphic>
          <a:graphicData uri="http://schemas.openxmlformats.org/drawingml/2006/table">
            <a:tbl>
              <a:tblPr/>
              <a:tblGrid>
                <a:gridCol w="14906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47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2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77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079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GB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User  Applications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Compilers</a:t>
                      </a:r>
                      <a:endParaRPr kumimoji="0" lang="en-GB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Editors</a:t>
                      </a:r>
                      <a:endParaRPr kumimoji="0" lang="en-GB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Shells</a:t>
                      </a:r>
                      <a:endParaRPr kumimoji="0" lang="en-GB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3575"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Operating System</a:t>
                      </a:r>
                      <a:endParaRPr kumimoji="0" lang="en-GB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66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5338"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Hardware</a:t>
                      </a:r>
                      <a:endParaRPr kumimoji="0" lang="en-GB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6165" name="Picture 1093" descr="j029202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0363" y="2655888"/>
            <a:ext cx="1081087" cy="1027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91" name="AutoShape 23"/>
          <p:cNvSpPr>
            <a:spLocks/>
          </p:cNvSpPr>
          <p:nvPr/>
        </p:nvSpPr>
        <p:spPr bwMode="auto">
          <a:xfrm>
            <a:off x="7162800" y="3733800"/>
            <a:ext cx="381000" cy="1905000"/>
          </a:xfrm>
          <a:prstGeom prst="rightBrace">
            <a:avLst>
              <a:gd name="adj1" fmla="val 41667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7192" name="Text Box 24"/>
          <p:cNvSpPr txBox="1">
            <a:spLocks noChangeArrowheads="1"/>
          </p:cNvSpPr>
          <p:nvPr/>
        </p:nvSpPr>
        <p:spPr bwMode="auto">
          <a:xfrm>
            <a:off x="7467600" y="4419600"/>
            <a:ext cx="1371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Software</a:t>
            </a:r>
          </a:p>
        </p:txBody>
      </p:sp>
      <p:sp>
        <p:nvSpPr>
          <p:cNvPr id="7193" name="AutoShape 25"/>
          <p:cNvSpPr>
            <a:spLocks/>
          </p:cNvSpPr>
          <p:nvPr/>
        </p:nvSpPr>
        <p:spPr bwMode="auto">
          <a:xfrm>
            <a:off x="1676400" y="4800600"/>
            <a:ext cx="228600" cy="762000"/>
          </a:xfrm>
          <a:prstGeom prst="leftBrace">
            <a:avLst>
              <a:gd name="adj1" fmla="val 27778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7194" name="Text Box 26"/>
          <p:cNvSpPr txBox="1">
            <a:spLocks noChangeArrowheads="1"/>
          </p:cNvSpPr>
          <p:nvPr/>
        </p:nvSpPr>
        <p:spPr bwMode="auto">
          <a:xfrm>
            <a:off x="152400" y="4724400"/>
            <a:ext cx="152400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Kernel mode (supervisor mode)</a:t>
            </a:r>
          </a:p>
        </p:txBody>
      </p:sp>
      <p:sp>
        <p:nvSpPr>
          <p:cNvPr id="7195" name="AutoShape 27"/>
          <p:cNvSpPr>
            <a:spLocks/>
          </p:cNvSpPr>
          <p:nvPr/>
        </p:nvSpPr>
        <p:spPr bwMode="auto">
          <a:xfrm>
            <a:off x="1676400" y="3733800"/>
            <a:ext cx="228600" cy="1143000"/>
          </a:xfrm>
          <a:prstGeom prst="leftBrace">
            <a:avLst>
              <a:gd name="adj1" fmla="val 41667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7196" name="Text Box 28"/>
          <p:cNvSpPr txBox="1">
            <a:spLocks noChangeArrowheads="1"/>
          </p:cNvSpPr>
          <p:nvPr/>
        </p:nvSpPr>
        <p:spPr bwMode="auto">
          <a:xfrm>
            <a:off x="304800" y="4114800"/>
            <a:ext cx="1524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User mode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7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500"/>
                                        <p:tgtEl>
                                          <p:spTgt spid="7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500"/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500"/>
                                        <p:tgtEl>
                                          <p:spTgt spid="9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0" dur="500"/>
                                        <p:tgtEl>
                                          <p:spTgt spid="7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2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4" dur="500"/>
                                        <p:tgtEl>
                                          <p:spTgt spid="7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9" dur="500"/>
                                        <p:tgtEl>
                                          <p:spTgt spid="7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1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3" dur="500"/>
                                        <p:tgtEl>
                                          <p:spTgt spid="7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91" grpId="0" animBg="1"/>
      <p:bldP spid="7192" grpId="0" autoUpdateAnimBg="0"/>
      <p:bldP spid="7193" grpId="0" animBg="1"/>
      <p:bldP spid="7194" grpId="0" autoUpdateAnimBg="0"/>
      <p:bldP spid="7195" grpId="0" animBg="1"/>
      <p:bldP spid="7196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09600"/>
          </a:xfrm>
        </p:spPr>
        <p:txBody>
          <a:bodyPr/>
          <a:lstStyle/>
          <a:p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Operating System</a:t>
            </a:r>
          </a:p>
        </p:txBody>
      </p:sp>
      <p:sp>
        <p:nvSpPr>
          <p:cNvPr id="139267" name="Rectangle 3"/>
          <p:cNvSpPr>
            <a:spLocks noGrp="1"/>
          </p:cNvSpPr>
          <p:nvPr>
            <p:ph type="body" idx="1"/>
          </p:nvPr>
        </p:nvSpPr>
        <p:spPr>
          <a:xfrm>
            <a:off x="228600" y="990600"/>
            <a:ext cx="8915400" cy="5562600"/>
          </a:xfrm>
        </p:spPr>
        <p:txBody>
          <a:bodyPr/>
          <a:lstStyle/>
          <a:p>
            <a:pPr algn="just" eaLnBrk="1" hangingPunct="1">
              <a:lnSpc>
                <a:spcPct val="9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system software 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that acts as an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intermediary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between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user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of a computer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computer hardware</a:t>
            </a:r>
          </a:p>
          <a:p>
            <a:pPr algn="just" eaLnBrk="1" hangingPunct="1">
              <a:lnSpc>
                <a:spcPct val="9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collection of procedures 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that: 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Manage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all the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system’s hardware resources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Provide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the users the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environment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in which they can</a:t>
            </a:r>
          </a:p>
          <a:p>
            <a:pPr lvl="2" algn="just" eaLnBrk="1" hangingPunct="1">
              <a:lnSpc>
                <a:spcPct val="90000"/>
              </a:lnSpc>
            </a:pP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Use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resources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  <a:p>
            <a:pPr lvl="2" algn="just" eaLnBrk="1" hangingPunct="1">
              <a:lnSpc>
                <a:spcPct val="90000"/>
              </a:lnSpc>
            </a:pP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Run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their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own applications</a:t>
            </a:r>
          </a:p>
          <a:p>
            <a:pPr algn="just" eaLnBrk="1" hangingPunct="1">
              <a:lnSpc>
                <a:spcPct val="9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Goals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Execute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user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programs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(mostly for ease of use with performance)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Make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hardware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efficiently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convenient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to use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Controls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coordinates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the use of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hardware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among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various application programs for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various users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Hides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peculiarities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of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disks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I/O devices</a:t>
            </a:r>
          </a:p>
        </p:txBody>
      </p:sp>
      <p:sp>
        <p:nvSpPr>
          <p:cNvPr id="7172" name="Rectangle 4"/>
          <p:cNvSpPr>
            <a:spLocks/>
          </p:cNvSpPr>
          <p:nvPr/>
        </p:nvSpPr>
        <p:spPr bwMode="auto">
          <a:xfrm>
            <a:off x="457200" y="457200"/>
            <a:ext cx="82296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3600">
                <a:latin typeface="Times New Roman" panose="02020603050405020304" pitchFamily="18" charset="0"/>
                <a:cs typeface="Times New Roman" panose="02020603050405020304" pitchFamily="18" charset="0"/>
              </a:rPr>
              <a:t>Definition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39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39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39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39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139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1392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1392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500"/>
                                        <p:tgtEl>
                                          <p:spTgt spid="1392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500"/>
                                        <p:tgtEl>
                                          <p:spTgt spid="1392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2" dur="500"/>
                                        <p:tgtEl>
                                          <p:spTgt spid="13926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7" dur="500"/>
                                        <p:tgtEl>
                                          <p:spTgt spid="13926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/>
          </p:cNvSpPr>
          <p:nvPr>
            <p:ph type="title" idx="4294967295"/>
          </p:nvPr>
        </p:nvSpPr>
        <p:spPr>
          <a:xfrm>
            <a:off x="457200" y="0"/>
            <a:ext cx="8229600" cy="533400"/>
          </a:xfrm>
        </p:spPr>
        <p:txBody>
          <a:bodyPr/>
          <a:lstStyle/>
          <a:p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Operating System</a:t>
            </a:r>
          </a:p>
        </p:txBody>
      </p:sp>
      <p:sp>
        <p:nvSpPr>
          <p:cNvPr id="139267" name="Rectangle 3"/>
          <p:cNvSpPr>
            <a:spLocks noGrp="1"/>
          </p:cNvSpPr>
          <p:nvPr>
            <p:ph type="body" idx="4294967295"/>
          </p:nvPr>
        </p:nvSpPr>
        <p:spPr>
          <a:xfrm>
            <a:off x="228600" y="990600"/>
            <a:ext cx="8915400" cy="5638800"/>
          </a:xfrm>
        </p:spPr>
        <p:txBody>
          <a:bodyPr/>
          <a:lstStyle/>
          <a:p>
            <a:pPr algn="just" eaLnBrk="1" hangingPunct="1"/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Kernel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mode</a:t>
            </a:r>
          </a:p>
          <a:p>
            <a:pPr lvl="1" algn="just" eaLnBrk="1" hangingPunct="1"/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Is also called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supervisor mode</a:t>
            </a:r>
          </a:p>
          <a:p>
            <a:pPr lvl="1" algn="just" eaLnBrk="1" hangingPunct="1"/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OS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runs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in this mode</a:t>
            </a:r>
          </a:p>
          <a:p>
            <a:pPr lvl="1" algn="just" eaLnBrk="1" hangingPunct="1"/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Gains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control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of the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computer</a:t>
            </a:r>
          </a:p>
          <a:p>
            <a:pPr lvl="1" algn="just" eaLnBrk="1" hangingPunct="1"/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Has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complete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access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to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all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hardware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 algn="just" eaLnBrk="1" hangingPunct="1"/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Can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execute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any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machine instructions</a:t>
            </a:r>
          </a:p>
          <a:p>
            <a:pPr lvl="1" algn="just" eaLnBrk="1" hangingPunct="1"/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Protects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OS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errant users</a:t>
            </a:r>
          </a:p>
          <a:p>
            <a:pPr algn="just" eaLnBrk="1" hangingPunct="1"/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User mode</a:t>
            </a:r>
          </a:p>
          <a:p>
            <a:pPr lvl="1" algn="just" eaLnBrk="1" hangingPunct="1"/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user software runs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in this mode</a:t>
            </a:r>
          </a:p>
          <a:p>
            <a:pPr lvl="1" algn="just" eaLnBrk="1" hangingPunct="1"/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Can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execute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subset of the machine instructions 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with the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exception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of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instructions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to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control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of the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machine or do I/O</a:t>
            </a:r>
          </a:p>
          <a:p>
            <a:pPr algn="just" eaLnBrk="1" hangingPunct="1"/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switches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between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kernel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mode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user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mode</a:t>
            </a:r>
          </a:p>
          <a:p>
            <a:pPr lvl="1" algn="just" eaLnBrk="1" hangingPunct="1"/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If the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user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interacts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with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OS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, the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user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mode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switches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kernel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mode</a:t>
            </a:r>
          </a:p>
          <a:p>
            <a:pPr lvl="1" algn="just" eaLnBrk="1" hangingPunct="1"/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If the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passes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control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user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program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, the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kernel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mode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switches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user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mode</a:t>
            </a:r>
          </a:p>
        </p:txBody>
      </p:sp>
      <p:sp>
        <p:nvSpPr>
          <p:cNvPr id="8196" name="Rectangle 4"/>
          <p:cNvSpPr>
            <a:spLocks/>
          </p:cNvSpPr>
          <p:nvPr/>
        </p:nvSpPr>
        <p:spPr bwMode="auto">
          <a:xfrm>
            <a:off x="457200" y="381000"/>
            <a:ext cx="82296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3600">
                <a:latin typeface="Times New Roman" panose="02020603050405020304" pitchFamily="18" charset="0"/>
                <a:cs typeface="Times New Roman" panose="02020603050405020304" pitchFamily="18" charset="0"/>
              </a:rPr>
              <a:t>Terminologies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39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500"/>
                                        <p:tgtEl>
                                          <p:spTgt spid="139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139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500"/>
                                        <p:tgtEl>
                                          <p:spTgt spid="139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1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139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5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1392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9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1" dur="500"/>
                                        <p:tgtEl>
                                          <p:spTgt spid="1392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6" dur="500"/>
                                        <p:tgtEl>
                                          <p:spTgt spid="1392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8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0" dur="500"/>
                                        <p:tgtEl>
                                          <p:spTgt spid="1392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2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4" dur="500"/>
                                        <p:tgtEl>
                                          <p:spTgt spid="13926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9" dur="500"/>
                                        <p:tgtEl>
                                          <p:spTgt spid="13926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1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3" dur="500"/>
                                        <p:tgtEl>
                                          <p:spTgt spid="13926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5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7" dur="500"/>
                                        <p:tgtEl>
                                          <p:spTgt spid="13926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Slide Number Placeholder 5">
            <a:extLst>
              <a:ext uri="{FF2B5EF4-FFF2-40B4-BE49-F238E27FC236}">
                <a16:creationId xmlns:a16="http://schemas.microsoft.com/office/drawing/2014/main" id="{127081CC-AE84-4D27-92C3-630A5C564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Char char="•"/>
              <a:defRPr sz="3200">
                <a:solidFill>
                  <a:schemeClr val="accent2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4529D298-96B1-4816-9FB0-ED0C90966271}" type="slidenum">
              <a:rPr lang="en-US" altLang="en-US" sz="14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7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9220" name="Rectangle 3">
            <a:extLst>
              <a:ext uri="{FF2B5EF4-FFF2-40B4-BE49-F238E27FC236}">
                <a16:creationId xmlns:a16="http://schemas.microsoft.com/office/drawing/2014/main" id="{AD520D4D-597E-4B97-8384-FB64898B1DB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en-US" altLang="en-US" sz="4800" dirty="0"/>
              <a:t>History of Operating Systems</a:t>
            </a:r>
            <a:endParaRPr lang="en-US" alt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Number Placeholder 5">
            <a:extLst>
              <a:ext uri="{FF2B5EF4-FFF2-40B4-BE49-F238E27FC236}">
                <a16:creationId xmlns:a16="http://schemas.microsoft.com/office/drawing/2014/main" id="{DA75C4F1-B949-4004-8FF2-F4F5B1A66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Char char="•"/>
              <a:defRPr sz="3200">
                <a:solidFill>
                  <a:schemeClr val="accent2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67247D6B-E429-49B5-9BAE-923B18AEFB87}" type="slidenum">
              <a:rPr lang="en-US" altLang="en-US" sz="14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8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3819DA67-3E0D-4A3D-B423-7ED52ECEB55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89397" y="45398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History of Operating Systems </a:t>
            </a:r>
          </a:p>
        </p:txBody>
      </p:sp>
      <p:sp>
        <p:nvSpPr>
          <p:cNvPr id="10244" name="Rectangle 3">
            <a:extLst>
              <a:ext uri="{FF2B5EF4-FFF2-40B4-BE49-F238E27FC236}">
                <a16:creationId xmlns:a16="http://schemas.microsoft.com/office/drawing/2014/main" id="{80BDE49A-E2CA-4F17-AC9F-09CE5B2857E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/>
              <a:t>First generation 1945 - 1955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/>
              <a:t>vacuum tubes, plug boards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/>
              <a:t>Second generation 1955 - 1965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/>
              <a:t>transistors, batch systems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/>
              <a:t>Third generation  1965 – 1980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/>
              <a:t>ICs and multiprogramming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/>
              <a:t>Fourth generation 1980 – present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/>
              <a:t>personal computers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C3E54D2B-40DD-40C4-806C-F634479D531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123825"/>
            <a:ext cx="8677275" cy="682625"/>
          </a:xfrm>
        </p:spPr>
        <p:txBody>
          <a:bodyPr/>
          <a:lstStyle/>
          <a:p>
            <a:pPr eaLnBrk="1" hangingPunct="1"/>
            <a:r>
              <a:rPr lang="en-US" altLang="en-US" sz="2800" b="1">
                <a:cs typeface="Times New Roman" panose="02020603050405020304" pitchFamily="18" charset="0"/>
              </a:rPr>
              <a:t>THE DEVELOPMENT HISTORY OF COMPUTER</a:t>
            </a:r>
          </a:p>
        </p:txBody>
      </p:sp>
      <p:pic>
        <p:nvPicPr>
          <p:cNvPr id="11267" name="Picture 2" descr="HÃ¬nh áº£nh cÃ³ liÃªn quan">
            <a:extLst>
              <a:ext uri="{FF2B5EF4-FFF2-40B4-BE49-F238E27FC236}">
                <a16:creationId xmlns:a16="http://schemas.microsoft.com/office/drawing/2014/main" id="{780C8C8A-6139-4F59-9E42-2B85149575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806450"/>
            <a:ext cx="8686800" cy="6051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4BCBD3B2-E865-4C96-A238-E0A5E624090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123825"/>
            <a:ext cx="8677275" cy="682625"/>
          </a:xfrm>
        </p:spPr>
        <p:txBody>
          <a:bodyPr/>
          <a:lstStyle/>
          <a:p>
            <a:pPr eaLnBrk="1" hangingPunct="1"/>
            <a:r>
              <a:rPr lang="en-US" altLang="en-US" sz="2800" b="1">
                <a:cs typeface="Times New Roman" panose="02020603050405020304" pitchFamily="18" charset="0"/>
              </a:rPr>
              <a:t>THE DEVELOPMENT HISTORY OF COMPUTER</a:t>
            </a:r>
          </a:p>
        </p:txBody>
      </p:sp>
      <p:pic>
        <p:nvPicPr>
          <p:cNvPr id="12291" name="Picture 2">
            <a:extLst>
              <a:ext uri="{FF2B5EF4-FFF2-40B4-BE49-F238E27FC236}">
                <a16:creationId xmlns:a16="http://schemas.microsoft.com/office/drawing/2014/main" id="{BF132625-C846-4833-92F3-0F04FD6BFD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776"/>
          <a:stretch>
            <a:fillRect/>
          </a:stretch>
        </p:blipFill>
        <p:spPr bwMode="auto">
          <a:xfrm>
            <a:off x="1404938" y="1065213"/>
            <a:ext cx="6273800" cy="5573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92" name="Rectangle 5">
            <a:extLst>
              <a:ext uri="{FF2B5EF4-FFF2-40B4-BE49-F238E27FC236}">
                <a16:creationId xmlns:a16="http://schemas.microsoft.com/office/drawing/2014/main" id="{7CBFEE82-E6E0-4F5D-BC90-D8835EB948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72250" y="5235575"/>
            <a:ext cx="257175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Char char="•"/>
              <a:defRPr sz="3200">
                <a:solidFill>
                  <a:schemeClr val="accent2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1600">
                <a:solidFill>
                  <a:srgbClr val="3333CC"/>
                </a:solidFill>
                <a:latin typeface="ArialMT"/>
              </a:rPr>
              <a:t>SSI, MSI and LSI</a:t>
            </a:r>
            <a:r>
              <a:rPr lang="en-US" altLang="en-US" sz="1600">
                <a:solidFill>
                  <a:srgbClr val="000000"/>
                </a:solidFill>
                <a:latin typeface="ArialMT"/>
              </a:rPr>
              <a:t>(1970s)</a:t>
            </a:r>
            <a:endParaRPr lang="en-US" altLang="en-US" sz="1600">
              <a:solidFill>
                <a:schemeClr val="tx1"/>
              </a:solidFill>
              <a:latin typeface="Helvetica" panose="020B0604020202020204" pitchFamily="34" charset="0"/>
            </a:endParaRPr>
          </a:p>
        </p:txBody>
      </p:sp>
      <p:sp>
        <p:nvSpPr>
          <p:cNvPr id="12293" name="Rectangle 6">
            <a:extLst>
              <a:ext uri="{FF2B5EF4-FFF2-40B4-BE49-F238E27FC236}">
                <a16:creationId xmlns:a16="http://schemas.microsoft.com/office/drawing/2014/main" id="{AEC98FE0-50D8-4596-893C-0E935B59E5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35263" y="5934075"/>
            <a:ext cx="23717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Char char="•"/>
              <a:defRPr sz="3200">
                <a:solidFill>
                  <a:schemeClr val="accent2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vi-VN" altLang="en-US" sz="1600">
                <a:solidFill>
                  <a:srgbClr val="3333CC"/>
                </a:solidFill>
                <a:latin typeface="ArialMT"/>
              </a:rPr>
              <a:t>VLSI</a:t>
            </a:r>
            <a:r>
              <a:rPr lang="en-US" altLang="en-US" sz="1600">
                <a:solidFill>
                  <a:srgbClr val="3333CC"/>
                </a:solidFill>
                <a:latin typeface="ArialMT"/>
              </a:rPr>
              <a:t> </a:t>
            </a:r>
            <a:r>
              <a:rPr lang="vi-VN" altLang="en-US" sz="1600">
                <a:solidFill>
                  <a:srgbClr val="000000"/>
                </a:solidFill>
                <a:latin typeface="ArialMT"/>
              </a:rPr>
              <a:t>(1980s)</a:t>
            </a:r>
            <a:endParaRPr lang="en-US" altLang="en-US" sz="1600">
              <a:solidFill>
                <a:schemeClr val="tx1"/>
              </a:solidFill>
              <a:latin typeface="Helvetica" panose="020B0604020202020204" pitchFamily="34" charset="0"/>
            </a:endParaRPr>
          </a:p>
        </p:txBody>
      </p:sp>
      <p:sp>
        <p:nvSpPr>
          <p:cNvPr id="12294" name="Rectangle 7">
            <a:extLst>
              <a:ext uri="{FF2B5EF4-FFF2-40B4-BE49-F238E27FC236}">
                <a16:creationId xmlns:a16="http://schemas.microsoft.com/office/drawing/2014/main" id="{EAFCBB09-A88D-4187-B121-9AEE697EB7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400" y="3595688"/>
            <a:ext cx="2479675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Char char="•"/>
              <a:defRPr sz="3200">
                <a:solidFill>
                  <a:schemeClr val="accent2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1600">
                <a:solidFill>
                  <a:srgbClr val="3333CC"/>
                </a:solidFill>
                <a:latin typeface="ArialMT"/>
              </a:rPr>
              <a:t>ULSI, SoC</a:t>
            </a:r>
            <a:r>
              <a:rPr lang="en-US" altLang="en-US" sz="1600">
                <a:solidFill>
                  <a:srgbClr val="000000"/>
                </a:solidFill>
                <a:latin typeface="ArialMT"/>
              </a:rPr>
              <a:t>(1990s)</a:t>
            </a:r>
            <a:endParaRPr lang="en-US" altLang="en-US" sz="1600">
              <a:solidFill>
                <a:schemeClr val="tx1"/>
              </a:solidFill>
              <a:latin typeface="Helvetica" panose="020B060402020202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Slide Number Placeholder 5">
            <a:extLst>
              <a:ext uri="{FF2B5EF4-FFF2-40B4-BE49-F238E27FC236}">
                <a16:creationId xmlns:a16="http://schemas.microsoft.com/office/drawing/2014/main" id="{1B96CC5F-FA94-424F-8006-2D1FEF449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Char char="•"/>
              <a:defRPr sz="3200">
                <a:solidFill>
                  <a:schemeClr val="accent2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B670DA00-AAF9-4E02-B7A4-4BC4AB7A415B}" type="slidenum">
              <a:rPr lang="en-US" altLang="en-US" sz="14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11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13315" name="Rectangle 2">
            <a:extLst>
              <a:ext uri="{FF2B5EF4-FFF2-40B4-BE49-F238E27FC236}">
                <a16:creationId xmlns:a16="http://schemas.microsoft.com/office/drawing/2014/main" id="{54736F89-62EA-403E-A497-F8BB90C43FC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392113"/>
            <a:ext cx="7772400" cy="1260475"/>
          </a:xfrm>
        </p:spPr>
        <p:txBody>
          <a:bodyPr/>
          <a:lstStyle/>
          <a:p>
            <a:pPr eaLnBrk="1" hangingPunct="1"/>
            <a:r>
              <a:rPr lang="en-US" altLang="en-US" sz="4000"/>
              <a:t>History of Operating Systems</a:t>
            </a:r>
            <a:br>
              <a:rPr lang="en-US" altLang="en-US" sz="4000"/>
            </a:br>
            <a:r>
              <a:rPr lang="en-US" altLang="en-US" sz="3200"/>
              <a:t>First generation 1945 - 1955</a:t>
            </a:r>
            <a:br>
              <a:rPr lang="en-US" altLang="en-US" sz="3200"/>
            </a:br>
            <a:endParaRPr lang="en-US" altLang="en-US" sz="3200"/>
          </a:p>
        </p:txBody>
      </p:sp>
      <p:sp>
        <p:nvSpPr>
          <p:cNvPr id="13316" name="Rectangle 3">
            <a:extLst>
              <a:ext uri="{FF2B5EF4-FFF2-40B4-BE49-F238E27FC236}">
                <a16:creationId xmlns:a16="http://schemas.microsoft.com/office/drawing/2014/main" id="{4FB70C5E-C727-493D-A16B-5EC17B2794C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Computers:ENIAC, UNIVAC…</a:t>
            </a:r>
          </a:p>
          <a:p>
            <a:pPr eaLnBrk="1" hangingPunct="1"/>
            <a:r>
              <a:rPr lang="en-US" altLang="en-US" sz="2800"/>
              <a:t>Operating System</a:t>
            </a:r>
            <a:r>
              <a:rPr lang="en-US" altLang="en-US"/>
              <a:t>: No OS, </a:t>
            </a:r>
          </a:p>
          <a:p>
            <a:pPr eaLnBrk="1" hangingPunct="1"/>
            <a:r>
              <a:rPr lang="en-US" altLang="en-US"/>
              <a:t>Machine Language, plugboards</a:t>
            </a:r>
          </a:p>
          <a:p>
            <a:pPr eaLnBrk="1" hangingPunct="1"/>
            <a:r>
              <a:rPr lang="en-US" altLang="en-US"/>
              <a:t>Single group: designed, built, programmed, operated and maintained each machine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D596C652-FBF0-495D-BD4E-2D3AE3A97AC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09588" y="609600"/>
            <a:ext cx="7158037" cy="352425"/>
          </a:xfrm>
        </p:spPr>
        <p:txBody>
          <a:bodyPr/>
          <a:lstStyle/>
          <a:p>
            <a:pPr>
              <a:defRPr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First Generation:   ENIAC</a:t>
            </a:r>
            <a:b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en-GB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700DB9A1-F137-4869-A25F-B71ED69C5A4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14313" y="1214438"/>
            <a:ext cx="8286750" cy="5286375"/>
          </a:xfrm>
        </p:spPr>
        <p:txBody>
          <a:bodyPr>
            <a:noAutofit/>
          </a:bodyPr>
          <a:lstStyle/>
          <a:p>
            <a:pPr>
              <a:spcBef>
                <a:spcPts val="1200"/>
              </a:spcBef>
              <a:defRPr/>
            </a:pPr>
            <a:r>
              <a:rPr lang="en-GB" sz="1800" b="1" u="sng" dirty="0">
                <a:solidFill>
                  <a:schemeClr val="tx1"/>
                </a:solidFill>
              </a:rPr>
              <a:t>E</a:t>
            </a:r>
            <a:r>
              <a:rPr lang="en-GB" sz="1800" dirty="0">
                <a:solidFill>
                  <a:schemeClr val="tx1"/>
                </a:solidFill>
              </a:rPr>
              <a:t>lectronic </a:t>
            </a:r>
            <a:r>
              <a:rPr lang="en-GB" sz="1800" b="1" u="sng" dirty="0">
                <a:solidFill>
                  <a:schemeClr val="tx1"/>
                </a:solidFill>
              </a:rPr>
              <a:t>N</a:t>
            </a:r>
            <a:r>
              <a:rPr lang="en-GB" sz="1800" dirty="0">
                <a:solidFill>
                  <a:schemeClr val="tx1"/>
                </a:solidFill>
              </a:rPr>
              <a:t>umerical </a:t>
            </a:r>
            <a:r>
              <a:rPr lang="en-GB" sz="1800" b="1" u="sng" dirty="0">
                <a:solidFill>
                  <a:schemeClr val="tx1"/>
                </a:solidFill>
              </a:rPr>
              <a:t>I</a:t>
            </a:r>
            <a:r>
              <a:rPr lang="en-GB" sz="1800" dirty="0">
                <a:solidFill>
                  <a:schemeClr val="tx1"/>
                </a:solidFill>
              </a:rPr>
              <a:t>ntegrator </a:t>
            </a:r>
            <a:r>
              <a:rPr lang="en-GB" sz="1800" b="1" u="sng" dirty="0">
                <a:solidFill>
                  <a:schemeClr val="tx1"/>
                </a:solidFill>
              </a:rPr>
              <a:t>A</a:t>
            </a:r>
            <a:r>
              <a:rPr lang="en-GB" sz="1800" dirty="0">
                <a:solidFill>
                  <a:schemeClr val="tx1"/>
                </a:solidFill>
              </a:rPr>
              <a:t>nd </a:t>
            </a:r>
            <a:r>
              <a:rPr lang="en-GB" sz="1800" b="1" u="sng" dirty="0">
                <a:solidFill>
                  <a:schemeClr val="tx1"/>
                </a:solidFill>
              </a:rPr>
              <a:t>C</a:t>
            </a:r>
            <a:r>
              <a:rPr lang="en-GB" sz="1800" dirty="0">
                <a:solidFill>
                  <a:schemeClr val="tx1"/>
                </a:solidFill>
              </a:rPr>
              <a:t>omputer</a:t>
            </a:r>
          </a:p>
          <a:p>
            <a:pPr>
              <a:spcBef>
                <a:spcPts val="1200"/>
              </a:spcBef>
              <a:defRPr/>
            </a:pPr>
            <a:r>
              <a:rPr lang="en-GB" sz="1800" dirty="0">
                <a:solidFill>
                  <a:schemeClr val="tx1"/>
                </a:solidFill>
              </a:rPr>
              <a:t>Designed and constructed at the University of Pennsylvania</a:t>
            </a:r>
          </a:p>
          <a:p>
            <a:pPr lvl="1">
              <a:defRPr/>
            </a:pPr>
            <a:r>
              <a:rPr lang="en-GB" sz="1800" dirty="0"/>
              <a:t>Started in 1943 – completed in 1946, by John Mauchly and John Eckert</a:t>
            </a:r>
          </a:p>
          <a:p>
            <a:pPr>
              <a:defRPr/>
            </a:pPr>
            <a:r>
              <a:rPr lang="en-GB" sz="1800" dirty="0">
                <a:solidFill>
                  <a:schemeClr val="tx1"/>
                </a:solidFill>
              </a:rPr>
              <a:t>World’s first general purpose electronic digital computer</a:t>
            </a:r>
          </a:p>
          <a:p>
            <a:pPr lvl="1">
              <a:lnSpc>
                <a:spcPct val="120000"/>
              </a:lnSpc>
              <a:defRPr/>
            </a:pPr>
            <a:r>
              <a:rPr lang="en-GB" sz="1800" dirty="0"/>
              <a:t>Army’s Ballistics Research Laboratory (BRL) needed a way to supply trajectory tables for new weapons accurately and within a reasonable time frame</a:t>
            </a:r>
          </a:p>
          <a:p>
            <a:pPr lvl="1">
              <a:lnSpc>
                <a:spcPct val="120000"/>
              </a:lnSpc>
              <a:defRPr/>
            </a:pPr>
            <a:r>
              <a:rPr lang="en-GB" sz="1800" dirty="0"/>
              <a:t>Was not finished in time to be used in the war effort</a:t>
            </a:r>
          </a:p>
          <a:p>
            <a:pPr marL="228600" lvl="1">
              <a:lnSpc>
                <a:spcPct val="120000"/>
              </a:lnSpc>
              <a:spcBef>
                <a:spcPts val="2000"/>
              </a:spcBef>
              <a:buClr>
                <a:schemeClr val="accent1"/>
              </a:buClr>
              <a:defRPr/>
            </a:pPr>
            <a:r>
              <a:rPr lang="en-GB" sz="1800" dirty="0"/>
              <a:t>Its first task was to perform a series of calculations that were used to help determine the feasibility of the hydrogen bomb</a:t>
            </a:r>
          </a:p>
          <a:p>
            <a:pPr marL="228600" lvl="1">
              <a:lnSpc>
                <a:spcPct val="120000"/>
              </a:lnSpc>
              <a:spcBef>
                <a:spcPts val="2000"/>
              </a:spcBef>
              <a:buClr>
                <a:schemeClr val="accent1"/>
              </a:buClr>
              <a:defRPr/>
            </a:pPr>
            <a:r>
              <a:rPr lang="en-GB" sz="1800" dirty="0"/>
              <a:t>Continued to operate under BRL management until 1955 when it was disassembled (</a:t>
            </a:r>
            <a:r>
              <a:rPr kumimoji="1" lang="en-US" sz="1800" dirty="0"/>
              <a:t>Army’s </a:t>
            </a:r>
            <a:r>
              <a:rPr kumimoji="1" lang="en-US" sz="1800" b="1" u="sng" dirty="0"/>
              <a:t>B</a:t>
            </a:r>
            <a:r>
              <a:rPr kumimoji="1" lang="en-US" sz="1800" dirty="0"/>
              <a:t>allistics </a:t>
            </a:r>
            <a:r>
              <a:rPr kumimoji="1" lang="en-US" sz="1800" b="1" u="sng" dirty="0"/>
              <a:t>R</a:t>
            </a:r>
            <a:r>
              <a:rPr kumimoji="1" lang="en-US" sz="1800" dirty="0"/>
              <a:t>esearch </a:t>
            </a:r>
            <a:r>
              <a:rPr kumimoji="1" lang="en-US" sz="1800" b="1" u="sng" dirty="0"/>
              <a:t>L</a:t>
            </a:r>
            <a:r>
              <a:rPr kumimoji="1" lang="en-US" sz="1800" dirty="0"/>
              <a:t>aboratory </a:t>
            </a:r>
            <a:r>
              <a:rPr lang="en-GB" sz="1800" dirty="0"/>
              <a:t>)</a:t>
            </a:r>
          </a:p>
        </p:txBody>
      </p:sp>
      <p:pic>
        <p:nvPicPr>
          <p:cNvPr id="15364" name="Picture 1">
            <a:extLst>
              <a:ext uri="{FF2B5EF4-FFF2-40B4-BE49-F238E27FC236}">
                <a16:creationId xmlns:a16="http://schemas.microsoft.com/office/drawing/2014/main" id="{79FE5A5B-40BD-4688-9035-ED3CBA19EC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62900" y="785813"/>
            <a:ext cx="11811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65" name="Slide Number Placeholder 4">
            <a:extLst>
              <a:ext uri="{FF2B5EF4-FFF2-40B4-BE49-F238E27FC236}">
                <a16:creationId xmlns:a16="http://schemas.microsoft.com/office/drawing/2014/main" id="{F9607536-86E1-4B38-A569-1EA3E056403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fld id="{2BED5FD6-3AA9-473C-A5C5-9BDCE666EC54}" type="slidenum">
              <a:rPr lang="en-US" altLang="en-US" sz="1400" smtClean="0">
                <a:latin typeface="Times New Roman" panose="02020603050405020304" pitchFamily="18" charset="0"/>
              </a:rPr>
              <a:pPr/>
              <a:t>12</a:t>
            </a:fld>
            <a:endParaRPr lang="en-US" altLang="en-US" sz="14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Number Placeholder 5">
            <a:extLst>
              <a:ext uri="{FF2B5EF4-FFF2-40B4-BE49-F238E27FC236}">
                <a16:creationId xmlns:a16="http://schemas.microsoft.com/office/drawing/2014/main" id="{91F19775-CA03-4812-A9AA-E5B0F0362D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Char char="•"/>
              <a:defRPr sz="3200">
                <a:solidFill>
                  <a:schemeClr val="accent2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2D66E71-30F0-4337-BE2F-4C0D8CACBA36}" type="slidenum">
              <a:rPr lang="en-US" altLang="en-US" sz="14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13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17411" name="Rectangle 2">
            <a:extLst>
              <a:ext uri="{FF2B5EF4-FFF2-40B4-BE49-F238E27FC236}">
                <a16:creationId xmlns:a16="http://schemas.microsoft.com/office/drawing/2014/main" id="{927B5C48-18A3-49CA-A32D-0ECE3A152E5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261938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 sz="4000"/>
              <a:t>History of Operating Systems</a:t>
            </a:r>
            <a:br>
              <a:rPr lang="en-US" altLang="en-US" sz="4000"/>
            </a:br>
            <a:r>
              <a:rPr lang="en-US" altLang="en-US" sz="4000"/>
              <a:t>  </a:t>
            </a:r>
            <a:r>
              <a:rPr lang="en-US" altLang="en-US" sz="3200"/>
              <a:t>Second Generation 1955 – 1965 (1)</a:t>
            </a:r>
          </a:p>
        </p:txBody>
      </p:sp>
      <p:sp>
        <p:nvSpPr>
          <p:cNvPr id="17412" name="Rectangle 3">
            <a:extLst>
              <a:ext uri="{FF2B5EF4-FFF2-40B4-BE49-F238E27FC236}">
                <a16:creationId xmlns:a16="http://schemas.microsoft.com/office/drawing/2014/main" id="{5CCCB512-CF33-46B5-9F4C-C411204E0EB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800"/>
              <a:t>Computers: IBM 1401, IBM 7094…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/>
              <a:t>Operating System : FMS (Fortran Monitor System), IBSYS for Computer 7094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/>
              <a:t>Batch Systems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/>
              <a:t>Function of Early Batch System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/>
              <a:t>Structure of a typical FMS job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/>
              <a:t>Separation between designers, builders, programmers, operators and maintenance personnel</a:t>
            </a:r>
            <a:r>
              <a:rPr lang="en-US" altLang="en-US"/>
              <a:t>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en-US"/>
          </a:p>
          <a:p>
            <a:pPr lvl="1" eaLnBrk="1" hangingPunct="1">
              <a:lnSpc>
                <a:spcPct val="90000"/>
              </a:lnSpc>
            </a:pPr>
            <a:endParaRPr lang="en-US" altLang="en-US"/>
          </a:p>
          <a:p>
            <a:pPr lvl="1" eaLnBrk="1" hangingPunct="1">
              <a:lnSpc>
                <a:spcPct val="90000"/>
              </a:lnSpc>
            </a:pPr>
            <a:endParaRPr lang="en-US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Number Placeholder 5">
            <a:extLst>
              <a:ext uri="{FF2B5EF4-FFF2-40B4-BE49-F238E27FC236}">
                <a16:creationId xmlns:a16="http://schemas.microsoft.com/office/drawing/2014/main" id="{89F677B8-A89F-4396-AC50-305483693F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Char char="•"/>
              <a:defRPr sz="3200">
                <a:solidFill>
                  <a:schemeClr val="accent2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7DA2B25-AE97-436F-A48E-451950BD57F8}" type="slidenum">
              <a:rPr lang="en-US" altLang="en-US" sz="14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14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19459" name="Rectangle 2">
            <a:extLst>
              <a:ext uri="{FF2B5EF4-FFF2-40B4-BE49-F238E27FC236}">
                <a16:creationId xmlns:a16="http://schemas.microsoft.com/office/drawing/2014/main" id="{19A80753-C674-488C-A161-56E6086486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8650" y="26035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 sz="4000"/>
              <a:t>History of Operating Systems</a:t>
            </a:r>
            <a:br>
              <a:rPr lang="en-US" altLang="en-US" sz="4000"/>
            </a:br>
            <a:r>
              <a:rPr lang="en-US" altLang="en-US" sz="4000"/>
              <a:t>  </a:t>
            </a:r>
            <a:r>
              <a:rPr lang="en-US" altLang="en-US" sz="3200"/>
              <a:t>Second Generation 1955 – 1965 (2)</a:t>
            </a:r>
          </a:p>
        </p:txBody>
      </p:sp>
      <p:sp>
        <p:nvSpPr>
          <p:cNvPr id="19460" name="Rectangle 3">
            <a:extLst>
              <a:ext uri="{FF2B5EF4-FFF2-40B4-BE49-F238E27FC236}">
                <a16:creationId xmlns:a16="http://schemas.microsoft.com/office/drawing/2014/main" id="{7D15C7FF-D8DA-4677-AD3C-9202730ACCB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98500" y="4483100"/>
            <a:ext cx="7772400" cy="1600200"/>
          </a:xfrm>
        </p:spPr>
        <p:txBody>
          <a:bodyPr/>
          <a:lstStyle/>
          <a:p>
            <a:pPr eaLnBrk="1" hangingPunct="1">
              <a:lnSpc>
                <a:spcPct val="70000"/>
              </a:lnSpc>
              <a:buFontTx/>
              <a:buNone/>
            </a:pPr>
            <a:r>
              <a:rPr lang="en-US" altLang="en-US" sz="2400"/>
              <a:t>Early batch system</a:t>
            </a:r>
          </a:p>
          <a:p>
            <a:pPr lvl="1" eaLnBrk="1" hangingPunct="1">
              <a:lnSpc>
                <a:spcPct val="70000"/>
              </a:lnSpc>
            </a:pPr>
            <a:r>
              <a:rPr lang="en-US" altLang="en-US" sz="2400"/>
              <a:t>bring cards to 1401</a:t>
            </a:r>
          </a:p>
          <a:p>
            <a:pPr lvl="1" eaLnBrk="1" hangingPunct="1">
              <a:lnSpc>
                <a:spcPct val="70000"/>
              </a:lnSpc>
            </a:pPr>
            <a:r>
              <a:rPr lang="en-US" altLang="en-US" sz="2400"/>
              <a:t>read cards to tape</a:t>
            </a:r>
          </a:p>
          <a:p>
            <a:pPr lvl="1" eaLnBrk="1" hangingPunct="1">
              <a:lnSpc>
                <a:spcPct val="70000"/>
              </a:lnSpc>
            </a:pPr>
            <a:r>
              <a:rPr lang="en-US" altLang="en-US" sz="2400"/>
              <a:t>put tape on 7094 which does computing</a:t>
            </a:r>
          </a:p>
          <a:p>
            <a:pPr lvl="1" eaLnBrk="1" hangingPunct="1">
              <a:lnSpc>
                <a:spcPct val="70000"/>
              </a:lnSpc>
            </a:pPr>
            <a:r>
              <a:rPr lang="en-US" altLang="en-US" sz="2400"/>
              <a:t>put tape on 1401 which prints output</a:t>
            </a:r>
          </a:p>
          <a:p>
            <a:pPr lvl="1" eaLnBrk="1" hangingPunct="1">
              <a:lnSpc>
                <a:spcPct val="90000"/>
              </a:lnSpc>
            </a:pPr>
            <a:endParaRPr lang="en-US" altLang="en-US" sz="2400"/>
          </a:p>
          <a:p>
            <a:pPr lvl="1" eaLnBrk="1" hangingPunct="1">
              <a:lnSpc>
                <a:spcPct val="90000"/>
              </a:lnSpc>
            </a:pPr>
            <a:endParaRPr lang="en-US" altLang="en-US" sz="2400"/>
          </a:p>
        </p:txBody>
      </p:sp>
      <p:pic>
        <p:nvPicPr>
          <p:cNvPr id="19461" name="Picture 5">
            <a:extLst>
              <a:ext uri="{FF2B5EF4-FFF2-40B4-BE49-F238E27FC236}">
                <a16:creationId xmlns:a16="http://schemas.microsoft.com/office/drawing/2014/main" id="{544D9EAA-A581-4CB6-83BA-3B7B517A61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125" y="1778000"/>
            <a:ext cx="8905875" cy="2451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Number Placeholder 5">
            <a:extLst>
              <a:ext uri="{FF2B5EF4-FFF2-40B4-BE49-F238E27FC236}">
                <a16:creationId xmlns:a16="http://schemas.microsoft.com/office/drawing/2014/main" id="{8F08EB7B-17D6-44E6-98D1-A8299C098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Char char="•"/>
              <a:defRPr sz="3200">
                <a:solidFill>
                  <a:schemeClr val="accent2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D89A5D4-8FAB-4422-92CA-D1E25549B41E}" type="slidenum">
              <a:rPr lang="en-US" altLang="en-US" sz="14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15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20483" name="Rectangle 2">
            <a:extLst>
              <a:ext uri="{FF2B5EF4-FFF2-40B4-BE49-F238E27FC236}">
                <a16:creationId xmlns:a16="http://schemas.microsoft.com/office/drawing/2014/main" id="{35B92CD8-3E8F-4899-BCC7-611082E9B32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8650" y="246063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 sz="4000"/>
              <a:t>History of Operating Systems</a:t>
            </a:r>
            <a:br>
              <a:rPr lang="en-US" altLang="en-US" sz="4000"/>
            </a:br>
            <a:r>
              <a:rPr lang="en-US" altLang="en-US" sz="4000"/>
              <a:t>  </a:t>
            </a:r>
            <a:r>
              <a:rPr lang="en-US" altLang="en-US" sz="3200"/>
              <a:t>Second Generation 1955 – 1965 (3)</a:t>
            </a:r>
            <a:endParaRPr lang="en-US" altLang="en-US" sz="4000"/>
          </a:p>
        </p:txBody>
      </p:sp>
      <p:sp>
        <p:nvSpPr>
          <p:cNvPr id="20484" name="Rectangle 3">
            <a:extLst>
              <a:ext uri="{FF2B5EF4-FFF2-40B4-BE49-F238E27FC236}">
                <a16:creationId xmlns:a16="http://schemas.microsoft.com/office/drawing/2014/main" id="{60AC427D-55C4-46AD-81F0-270DAA6CB06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5930900"/>
            <a:ext cx="8915400" cy="685800"/>
          </a:xfrm>
        </p:spPr>
        <p:txBody>
          <a:bodyPr/>
          <a:lstStyle/>
          <a:p>
            <a:pPr eaLnBrk="1" hangingPunct="1"/>
            <a:r>
              <a:rPr lang="en-US" altLang="en-US"/>
              <a:t>Structure of a typical FMS job – 2</a:t>
            </a:r>
            <a:r>
              <a:rPr lang="en-US" altLang="en-US" baseline="30000"/>
              <a:t>nd</a:t>
            </a:r>
            <a:r>
              <a:rPr lang="en-US" altLang="en-US"/>
              <a:t> generation</a:t>
            </a:r>
            <a:endParaRPr lang="en-US" altLang="en-US" sz="2800"/>
          </a:p>
        </p:txBody>
      </p:sp>
      <p:pic>
        <p:nvPicPr>
          <p:cNvPr id="20485" name="Picture 4">
            <a:extLst>
              <a:ext uri="{FF2B5EF4-FFF2-40B4-BE49-F238E27FC236}">
                <a16:creationId xmlns:a16="http://schemas.microsoft.com/office/drawing/2014/main" id="{6D1F5163-B24E-4831-9A39-310B8464BE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56" t="39720" r="13995" b="33592"/>
          <a:stretch>
            <a:fillRect/>
          </a:stretch>
        </p:blipFill>
        <p:spPr bwMode="auto">
          <a:xfrm>
            <a:off x="1447800" y="1933575"/>
            <a:ext cx="6858000" cy="3819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Number Placeholder 5">
            <a:extLst>
              <a:ext uri="{FF2B5EF4-FFF2-40B4-BE49-F238E27FC236}">
                <a16:creationId xmlns:a16="http://schemas.microsoft.com/office/drawing/2014/main" id="{3AB27401-DF5A-4B15-9DC6-BEFC711D0B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Char char="•"/>
              <a:defRPr sz="3200">
                <a:solidFill>
                  <a:schemeClr val="accent2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6D8D2945-7F62-4117-A86A-FE484C74F25E}" type="slidenum">
              <a:rPr lang="en-US" altLang="en-US" sz="14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16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21507" name="Rectangle 2">
            <a:extLst>
              <a:ext uri="{FF2B5EF4-FFF2-40B4-BE49-F238E27FC236}">
                <a16:creationId xmlns:a16="http://schemas.microsoft.com/office/drawing/2014/main" id="{13F2F0E6-1D6E-49A2-B5C1-DCBFEE9EDBF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319088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 sz="4000"/>
              <a:t>History of Operating Systems</a:t>
            </a:r>
            <a:br>
              <a:rPr lang="en-US" altLang="en-US" sz="4000"/>
            </a:br>
            <a:r>
              <a:rPr lang="en-US" altLang="en-US" sz="3200"/>
              <a:t>Third generation  1965 – 1980  (1)</a:t>
            </a:r>
          </a:p>
        </p:txBody>
      </p:sp>
      <p:sp>
        <p:nvSpPr>
          <p:cNvPr id="21508" name="Rectangle 3">
            <a:extLst>
              <a:ext uri="{FF2B5EF4-FFF2-40B4-BE49-F238E27FC236}">
                <a16:creationId xmlns:a16="http://schemas.microsoft.com/office/drawing/2014/main" id="{5EF4C8A3-7F2A-4CAE-8754-965574F31DD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800"/>
              <a:t>Computers: System/360, IBM370, IBM4300…</a:t>
            </a:r>
          </a:p>
          <a:p>
            <a:pPr eaLnBrk="1" hangingPunct="1"/>
            <a:r>
              <a:rPr lang="en-US" altLang="en-US" sz="2800"/>
              <a:t>Operating System: </a:t>
            </a:r>
          </a:p>
          <a:p>
            <a:pPr lvl="1" eaLnBrk="1" hangingPunct="1"/>
            <a:r>
              <a:rPr lang="en-US" altLang="en-US" sz="2400"/>
              <a:t>OS/360: to work on all models</a:t>
            </a:r>
          </a:p>
          <a:p>
            <a:pPr lvl="1" eaLnBrk="1" hangingPunct="1"/>
            <a:r>
              <a:rPr lang="en-US" altLang="en-US" sz="2400"/>
              <a:t>Multiprogamming </a:t>
            </a:r>
          </a:p>
          <a:p>
            <a:pPr lvl="1" eaLnBrk="1" hangingPunct="1"/>
            <a:r>
              <a:rPr lang="en-US" altLang="en-US" sz="2400"/>
              <a:t>Time Sharing: </a:t>
            </a:r>
          </a:p>
          <a:p>
            <a:pPr lvl="2" eaLnBrk="1" hangingPunct="1"/>
            <a:r>
              <a:rPr lang="en-US" altLang="en-US" sz="2000"/>
              <a:t>CTSS (Compatible Time Sharing System), </a:t>
            </a:r>
          </a:p>
          <a:p>
            <a:pPr lvl="2" eaLnBrk="1" hangingPunct="1"/>
            <a:r>
              <a:rPr lang="en-US" altLang="en-US" sz="2000"/>
              <a:t>MULTICS (MULTiplexed Information and Computing Service),</a:t>
            </a:r>
          </a:p>
          <a:p>
            <a:pPr lvl="2" eaLnBrk="1" hangingPunct="1"/>
            <a:r>
              <a:rPr lang="en-US" altLang="en-US" sz="2000"/>
              <a:t>Unix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Number Placeholder 5">
            <a:extLst>
              <a:ext uri="{FF2B5EF4-FFF2-40B4-BE49-F238E27FC236}">
                <a16:creationId xmlns:a16="http://schemas.microsoft.com/office/drawing/2014/main" id="{F2D18221-7247-4976-9100-A3EF52F7D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Char char="•"/>
              <a:defRPr sz="3200">
                <a:solidFill>
                  <a:schemeClr val="accent2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0DE0DFB9-DB50-4FBF-B130-8612744C26D5}" type="slidenum">
              <a:rPr lang="en-US" altLang="en-US" sz="14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17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22531" name="Rectangle 2">
            <a:extLst>
              <a:ext uri="{FF2B5EF4-FFF2-40B4-BE49-F238E27FC236}">
                <a16:creationId xmlns:a16="http://schemas.microsoft.com/office/drawing/2014/main" id="{A396CF5A-8FFE-443D-91FA-20A13D70456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1663" y="36195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 sz="4000"/>
              <a:t>History of Operating Systems</a:t>
            </a:r>
            <a:br>
              <a:rPr lang="en-US" altLang="en-US" sz="4000"/>
            </a:br>
            <a:r>
              <a:rPr lang="en-US" altLang="en-US" sz="3200"/>
              <a:t>Third generation  1965 – 1980 (2)</a:t>
            </a:r>
          </a:p>
        </p:txBody>
      </p:sp>
      <p:sp>
        <p:nvSpPr>
          <p:cNvPr id="22532" name="Rectangle 3">
            <a:extLst>
              <a:ext uri="{FF2B5EF4-FFF2-40B4-BE49-F238E27FC236}">
                <a16:creationId xmlns:a16="http://schemas.microsoft.com/office/drawing/2014/main" id="{700DE4A4-6630-4C57-9E6D-6BCBA2FA404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371600" y="5486400"/>
            <a:ext cx="7772400" cy="685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/>
              <a:t>Multiprogramming system</a:t>
            </a:r>
            <a:r>
              <a:rPr lang="en-US" altLang="en-US" sz="2800"/>
              <a:t>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/>
              <a:t>three jobs in memory – 3</a:t>
            </a:r>
            <a:r>
              <a:rPr lang="en-US" altLang="en-US" baseline="30000"/>
              <a:t>rd</a:t>
            </a:r>
            <a:r>
              <a:rPr lang="en-US" altLang="en-US"/>
              <a:t> generation</a:t>
            </a:r>
            <a:endParaRPr lang="en-US" altLang="en-US" sz="2400"/>
          </a:p>
        </p:txBody>
      </p:sp>
      <p:pic>
        <p:nvPicPr>
          <p:cNvPr id="22533" name="Picture 5" descr="1-4">
            <a:extLst>
              <a:ext uri="{FF2B5EF4-FFF2-40B4-BE49-F238E27FC236}">
                <a16:creationId xmlns:a16="http://schemas.microsoft.com/office/drawing/2014/main" id="{6228A4AD-F415-40AC-9A9A-EDE353E2AC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6500" y="1978025"/>
            <a:ext cx="4394200" cy="2728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lide Number Placeholder 5">
            <a:extLst>
              <a:ext uri="{FF2B5EF4-FFF2-40B4-BE49-F238E27FC236}">
                <a16:creationId xmlns:a16="http://schemas.microsoft.com/office/drawing/2014/main" id="{902DD86F-B08D-44FB-88A5-3F097ADAD7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Char char="•"/>
              <a:defRPr sz="3200">
                <a:solidFill>
                  <a:schemeClr val="accent2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A407792A-3CB2-428C-8B07-4B57426613E2}" type="slidenum">
              <a:rPr lang="en-US" altLang="en-US" sz="14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18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23555" name="Rectangle 2">
            <a:extLst>
              <a:ext uri="{FF2B5EF4-FFF2-40B4-BE49-F238E27FC236}">
                <a16:creationId xmlns:a16="http://schemas.microsoft.com/office/drawing/2014/main" id="{6CB9066E-E1A7-4910-A889-D510BEE2525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285750"/>
            <a:ext cx="7770813" cy="1017588"/>
          </a:xfrm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 eaLnBrk="1" hangingPunct="1"/>
            <a:r>
              <a:rPr lang="en-US" altLang="en-US" sz="4000"/>
              <a:t>History of Operating Systems</a:t>
            </a:r>
            <a:br>
              <a:rPr lang="en-US" altLang="en-US" sz="4000"/>
            </a:br>
            <a:r>
              <a:rPr lang="en-US" altLang="en-US" sz="3200"/>
              <a:t>Third generation  1965 – 1980 (3)</a:t>
            </a:r>
          </a:p>
        </p:txBody>
      </p:sp>
      <p:graphicFrame>
        <p:nvGraphicFramePr>
          <p:cNvPr id="23556" name="Object 3">
            <a:extLst>
              <a:ext uri="{FF2B5EF4-FFF2-40B4-BE49-F238E27FC236}">
                <a16:creationId xmlns:a16="http://schemas.microsoft.com/office/drawing/2014/main" id="{3DED8AE9-BFC6-405F-A24D-DB43B701AC4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05000" y="1724025"/>
          <a:ext cx="4724400" cy="984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4" name="Artwork" r:id="rId4" imgW="5038095" imgH="1257476" progId="Adobe.Illustrator.7">
                  <p:embed/>
                </p:oleObj>
              </mc:Choice>
              <mc:Fallback>
                <p:oleObj name="Artwork" r:id="rId4" imgW="5038095" imgH="1257476" progId="Adobe.Illustrator.7">
                  <p:embed/>
                  <p:pic>
                    <p:nvPicPr>
                      <p:cNvPr id="23556" name="Object 3">
                        <a:extLst>
                          <a:ext uri="{FF2B5EF4-FFF2-40B4-BE49-F238E27FC236}">
                            <a16:creationId xmlns:a16="http://schemas.microsoft.com/office/drawing/2014/main" id="{3DED8AE9-BFC6-405F-A24D-DB43B701AC4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clrChange>
                          <a:clrFrom>
                            <a:srgbClr val="FFFFFF"/>
                          </a:clrFrom>
                          <a:clrTo>
                            <a:srgbClr val="FFFFFF">
                              <a:alpha val="0"/>
                            </a:srgbClr>
                          </a:clrTo>
                        </a:clrChange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1724025"/>
                        <a:ext cx="4724400" cy="984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cap="sq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7" name="Object 4">
            <a:extLst>
              <a:ext uri="{FF2B5EF4-FFF2-40B4-BE49-F238E27FC236}">
                <a16:creationId xmlns:a16="http://schemas.microsoft.com/office/drawing/2014/main" id="{21FFF839-7E50-40BF-8C8C-216002B1471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00200" y="3048000"/>
          <a:ext cx="5791200" cy="289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5" name="Artwork" r:id="rId6" imgW="6249272" imgH="3315163" progId="Adobe.Illustrator.7">
                  <p:embed/>
                </p:oleObj>
              </mc:Choice>
              <mc:Fallback>
                <p:oleObj name="Artwork" r:id="rId6" imgW="6249272" imgH="3315163" progId="Adobe.Illustrator.7">
                  <p:embed/>
                  <p:pic>
                    <p:nvPicPr>
                      <p:cNvPr id="23557" name="Object 4">
                        <a:extLst>
                          <a:ext uri="{FF2B5EF4-FFF2-40B4-BE49-F238E27FC236}">
                            <a16:creationId xmlns:a16="http://schemas.microsoft.com/office/drawing/2014/main" id="{21FFF839-7E50-40BF-8C8C-216002B1471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clrChange>
                          <a:clrFrom>
                            <a:srgbClr val="FFFFFF"/>
                          </a:clrFrom>
                          <a:clrTo>
                            <a:srgbClr val="FFFFFF">
                              <a:alpha val="0"/>
                            </a:srgbClr>
                          </a:clrTo>
                        </a:clrChange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b="6267"/>
                      <a:stretch>
                        <a:fillRect/>
                      </a:stretch>
                    </p:blipFill>
                    <p:spPr bwMode="auto">
                      <a:xfrm>
                        <a:off x="1600200" y="3048000"/>
                        <a:ext cx="5791200" cy="2892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cap="sq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ide Number Placeholder 5">
            <a:extLst>
              <a:ext uri="{FF2B5EF4-FFF2-40B4-BE49-F238E27FC236}">
                <a16:creationId xmlns:a16="http://schemas.microsoft.com/office/drawing/2014/main" id="{481E83AD-3DD5-4620-A0F1-43837BA152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Char char="•"/>
              <a:defRPr sz="3200">
                <a:solidFill>
                  <a:schemeClr val="accent2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6FF19BF-7FE2-4A40-9DDF-B7C19176B6CD}" type="slidenum">
              <a:rPr lang="en-US" altLang="en-US" sz="14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19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25603" name="Rectangle 2">
            <a:extLst>
              <a:ext uri="{FF2B5EF4-FFF2-40B4-BE49-F238E27FC236}">
                <a16:creationId xmlns:a16="http://schemas.microsoft.com/office/drawing/2014/main" id="{0D20CCB8-BB99-4B3D-83AA-C09821A5EBA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71513" y="392113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 sz="4000"/>
              <a:t>History of Operating Systems </a:t>
            </a:r>
            <a:br>
              <a:rPr lang="en-US" altLang="en-US" sz="4000"/>
            </a:br>
            <a:r>
              <a:rPr lang="en-US" altLang="en-US" sz="3200"/>
              <a:t>Fourth generation 1980 – present</a:t>
            </a:r>
          </a:p>
        </p:txBody>
      </p:sp>
      <p:sp>
        <p:nvSpPr>
          <p:cNvPr id="25604" name="Rectangle 3">
            <a:extLst>
              <a:ext uri="{FF2B5EF4-FFF2-40B4-BE49-F238E27FC236}">
                <a16:creationId xmlns:a16="http://schemas.microsoft.com/office/drawing/2014/main" id="{C0D5630C-9F27-4160-8D04-A85E9FF4C2B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400"/>
              <a:t>Computers: IBM PC 80x86, Macintosh…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/>
              <a:t>Operating System: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/>
              <a:t>1977: CP/M (Control Program for Microcomputer)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/>
              <a:t>1980: DOS (Disk Operating System)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/>
              <a:t>GUI with Macintosh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/>
              <a:t>1985-1995: Window 3.x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/>
              <a:t>1995: Window 95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/>
              <a:t>1996: Window NT 4.0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/>
              <a:t>1999:  Window 2000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/>
              <a:t>Window 2003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/>
              <a:t>Unix </a:t>
            </a:r>
          </a:p>
          <a:p>
            <a:pPr eaLnBrk="1" hangingPunct="1">
              <a:lnSpc>
                <a:spcPct val="90000"/>
              </a:lnSpc>
            </a:pPr>
            <a:endParaRPr lang="en-US" altLang="en-US" sz="28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/>
          </p:cNvSpPr>
          <p:nvPr>
            <p:ph type="title"/>
          </p:nvPr>
        </p:nvSpPr>
        <p:spPr>
          <a:xfrm>
            <a:off x="914400" y="0"/>
            <a:ext cx="8229600" cy="609600"/>
          </a:xfrm>
        </p:spPr>
        <p:txBody>
          <a:bodyPr/>
          <a:lstStyle/>
          <a:p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The Operating System Zoo</a:t>
            </a:r>
          </a:p>
        </p:txBody>
      </p:sp>
      <p:sp>
        <p:nvSpPr>
          <p:cNvPr id="190467" name="Rectangle 3"/>
          <p:cNvSpPr>
            <a:spLocks noGrp="1"/>
          </p:cNvSpPr>
          <p:nvPr>
            <p:ph type="body" idx="1"/>
          </p:nvPr>
        </p:nvSpPr>
        <p:spPr>
          <a:xfrm>
            <a:off x="0" y="990600"/>
            <a:ext cx="9144000" cy="5638800"/>
          </a:xfrm>
        </p:spPr>
        <p:txBody>
          <a:bodyPr/>
          <a:lstStyle/>
          <a:p>
            <a:pPr algn="just" eaLnBrk="1" hangingPunct="1">
              <a:lnSpc>
                <a:spcPct val="8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Are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heavily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oriented toward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processing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many jobs at once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, most of which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need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prodigious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amounts of I/O</a:t>
            </a:r>
          </a:p>
          <a:p>
            <a:pPr algn="just" eaLnBrk="1" hangingPunct="1">
              <a:lnSpc>
                <a:spcPct val="8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Offers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3 kinds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of services </a:t>
            </a:r>
          </a:p>
          <a:p>
            <a:pPr lvl="1" algn="just" eaLnBrk="1" hangingPunct="1">
              <a:lnSpc>
                <a:spcPct val="80000"/>
              </a:lnSpc>
            </a:pP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Batch</a:t>
            </a:r>
          </a:p>
          <a:p>
            <a:pPr lvl="2" algn="just" eaLnBrk="1" hangingPunct="1">
              <a:lnSpc>
                <a:spcPct val="80000"/>
              </a:lnSpc>
            </a:pP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Ex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: car assembly lines</a:t>
            </a:r>
          </a:p>
          <a:p>
            <a:pPr lvl="2" algn="just" eaLnBrk="1" hangingPunct="1">
              <a:lnSpc>
                <a:spcPct val="80000"/>
              </a:lnSpc>
              <a:buFont typeface="Arial" panose="020B0604020202020204" pitchFamily="34" charset="0"/>
              <a:buNone/>
            </a:pPr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algn="just" eaLnBrk="1" hangingPunct="1">
              <a:lnSpc>
                <a:spcPct val="80000"/>
              </a:lnSpc>
              <a:buFont typeface="Arial" panose="020B0604020202020204" pitchFamily="34" charset="0"/>
              <a:buNone/>
            </a:pPr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algn="just" eaLnBrk="1" hangingPunct="1">
              <a:lnSpc>
                <a:spcPct val="80000"/>
              </a:lnSpc>
              <a:buFont typeface="Arial" panose="020B0604020202020204" pitchFamily="34" charset="0"/>
              <a:buNone/>
            </a:pPr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algn="just" eaLnBrk="1" hangingPunct="1">
              <a:lnSpc>
                <a:spcPct val="80000"/>
              </a:lnSpc>
              <a:buFont typeface="Arial" panose="020B0604020202020204" pitchFamily="34" charset="0"/>
              <a:buNone/>
            </a:pPr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algn="just" eaLnBrk="1" hangingPunct="1">
              <a:lnSpc>
                <a:spcPct val="80000"/>
              </a:lnSpc>
              <a:buFont typeface="Arial" panose="020B0604020202020204" pitchFamily="34" charset="0"/>
              <a:buNone/>
            </a:pPr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algn="just" eaLnBrk="1" hangingPunct="1">
              <a:lnSpc>
                <a:spcPct val="80000"/>
              </a:lnSpc>
              <a:buFont typeface="Arial" panose="020B0604020202020204" pitchFamily="34" charset="0"/>
              <a:buNone/>
            </a:pPr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algn="just" eaLnBrk="1" hangingPunct="1">
              <a:lnSpc>
                <a:spcPct val="80000"/>
              </a:lnSpc>
              <a:buFont typeface="Arial" panose="020B0604020202020204" pitchFamily="34" charset="0"/>
              <a:buNone/>
            </a:pPr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algn="just" eaLnBrk="1" hangingPunct="1">
              <a:lnSpc>
                <a:spcPct val="80000"/>
              </a:lnSpc>
              <a:buFont typeface="Arial" panose="020B0604020202020204" pitchFamily="34" charset="0"/>
              <a:buNone/>
            </a:pPr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algn="just" eaLnBrk="1" hangingPunct="1">
              <a:lnSpc>
                <a:spcPct val="80000"/>
              </a:lnSpc>
              <a:buFont typeface="Arial" panose="020B0604020202020204" pitchFamily="34" charset="0"/>
              <a:buNone/>
            </a:pPr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algn="just" eaLnBrk="1" hangingPunct="1">
              <a:lnSpc>
                <a:spcPct val="80000"/>
              </a:lnSpc>
            </a:pP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Runs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one and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only one 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 </a:t>
            </a:r>
          </a:p>
          <a:p>
            <a:pPr lvl="2" algn="just" eaLnBrk="1" hangingPunct="1">
              <a:lnSpc>
                <a:spcPct val="80000"/>
              </a:lnSpc>
            </a:pP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Process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routine job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without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interactive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user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present</a:t>
            </a:r>
          </a:p>
          <a:p>
            <a:pPr lvl="2" algn="just" eaLnBrk="1" hangingPunct="1">
              <a:lnSpc>
                <a:spcPct val="80000"/>
              </a:lnSpc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OS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always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residents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in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memory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transfer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control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automatically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from one job to the next in the sequence requested jobs</a:t>
            </a:r>
          </a:p>
          <a:p>
            <a:pPr lvl="2" algn="just" eaLnBrk="1" hangingPunct="1">
              <a:lnSpc>
                <a:spcPct val="80000"/>
              </a:lnSpc>
            </a:pP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is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often idle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all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jobs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are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kept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disk</a:t>
            </a:r>
          </a:p>
        </p:txBody>
      </p:sp>
      <p:sp>
        <p:nvSpPr>
          <p:cNvPr id="9220" name="Rectangle 4"/>
          <p:cNvSpPr>
            <a:spLocks/>
          </p:cNvSpPr>
          <p:nvPr/>
        </p:nvSpPr>
        <p:spPr bwMode="auto">
          <a:xfrm>
            <a:off x="762000" y="457200"/>
            <a:ext cx="82296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3600">
                <a:latin typeface="Times New Roman" panose="02020603050405020304" pitchFamily="18" charset="0"/>
                <a:cs typeface="Times New Roman" panose="02020603050405020304" pitchFamily="18" charset="0"/>
              </a:rPr>
              <a:t>Mainframe OS</a:t>
            </a:r>
          </a:p>
        </p:txBody>
      </p:sp>
      <p:pic>
        <p:nvPicPr>
          <p:cNvPr id="5" name="Picture 4" descr="Body-assemblylineFIAT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0" y="1660525"/>
            <a:ext cx="4495800" cy="3368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904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904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904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500"/>
                                        <p:tgtEl>
                                          <p:spTgt spid="1904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4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6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9" dur="500"/>
                                        <p:tgtEl>
                                          <p:spTgt spid="19046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1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6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3" dur="500"/>
                                        <p:tgtEl>
                                          <p:spTgt spid="19046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5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6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19046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9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6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1" dur="500"/>
                                        <p:tgtEl>
                                          <p:spTgt spid="19046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/>
          </p:cNvSpPr>
          <p:nvPr>
            <p:ph type="title"/>
          </p:nvPr>
        </p:nvSpPr>
        <p:spPr>
          <a:xfrm>
            <a:off x="914400" y="0"/>
            <a:ext cx="8229600" cy="609600"/>
          </a:xfrm>
        </p:spPr>
        <p:txBody>
          <a:bodyPr/>
          <a:lstStyle/>
          <a:p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The Operating System Zoo</a:t>
            </a:r>
          </a:p>
        </p:txBody>
      </p:sp>
      <p:sp>
        <p:nvSpPr>
          <p:cNvPr id="190467" name="Rectangle 3"/>
          <p:cNvSpPr>
            <a:spLocks noGrp="1"/>
          </p:cNvSpPr>
          <p:nvPr>
            <p:ph type="body" idx="1"/>
          </p:nvPr>
        </p:nvSpPr>
        <p:spPr>
          <a:xfrm>
            <a:off x="0" y="1219200"/>
            <a:ext cx="9144000" cy="5638800"/>
          </a:xfrm>
        </p:spPr>
        <p:txBody>
          <a:bodyPr/>
          <a:lstStyle/>
          <a:p>
            <a:pPr algn="just" eaLnBrk="1" hangingPunct="1">
              <a:lnSpc>
                <a:spcPct val="8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heavily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oriented toward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processing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jobs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once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most of which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prodigious amounts of I/O</a:t>
            </a:r>
          </a:p>
          <a:p>
            <a:pPr algn="just" eaLnBrk="1" hangingPunct="1">
              <a:lnSpc>
                <a:spcPct val="8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Offers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kinds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services </a:t>
            </a:r>
          </a:p>
          <a:p>
            <a:pPr lvl="1" algn="just" eaLnBrk="1" hangingPunct="1">
              <a:lnSpc>
                <a:spcPct val="80000"/>
              </a:lnSpc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Transaction processing</a:t>
            </a:r>
          </a:p>
          <a:p>
            <a:pPr lvl="2" algn="just" eaLnBrk="1" hangingPunct="1">
              <a:lnSpc>
                <a:spcPct val="80000"/>
              </a:lnSpc>
            </a:pP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ATM banking</a:t>
            </a:r>
          </a:p>
          <a:p>
            <a:pPr lvl="2" algn="just" eaLnBrk="1" hangingPunct="1">
              <a:lnSpc>
                <a:spcPct val="80000"/>
              </a:lnSpc>
            </a:pP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 numbers 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small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requests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single unit of work that consists 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one </a:t>
            </a:r>
            <a:b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 more operations 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are 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interconnected</a:t>
            </a:r>
          </a:p>
          <a:p>
            <a:pPr lvl="2" algn="just" eaLnBrk="1" hangingPunct="1">
              <a:lnSpc>
                <a:spcPct val="80000"/>
              </a:lnSpc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Series of operations are 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or None</a:t>
            </a:r>
          </a:p>
          <a:p>
            <a:pPr lvl="2" algn="just" eaLnBrk="1" hangingPunct="1">
              <a:lnSpc>
                <a:spcPct val="80000"/>
              </a:lnSpc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algn="just" eaLnBrk="1" hangingPunct="1">
              <a:lnSpc>
                <a:spcPct val="80000"/>
              </a:lnSpc>
              <a:buFont typeface="Arial" panose="020B0604020202020204" pitchFamily="34" charset="0"/>
              <a:buNone/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algn="just" eaLnBrk="1" hangingPunct="1">
              <a:lnSpc>
                <a:spcPct val="80000"/>
              </a:lnSpc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 eaLnBrk="1" hangingPunct="1">
              <a:lnSpc>
                <a:spcPct val="80000"/>
              </a:lnSpc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Timesharing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multitasking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2" algn="just" eaLnBrk="1" hangingPunct="1">
              <a:lnSpc>
                <a:spcPct val="80000"/>
              </a:lnSpc>
            </a:pP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Google Search Server (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System)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algn="just" eaLnBrk="1" hangingPunct="1">
              <a:lnSpc>
                <a:spcPct val="80000"/>
              </a:lnSpc>
            </a:pP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remote users 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jobs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 the 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at 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once</a:t>
            </a:r>
          </a:p>
          <a:p>
            <a:pPr lvl="2" algn="just" eaLnBrk="1" hangingPunct="1">
              <a:lnSpc>
                <a:spcPct val="80000"/>
              </a:lnSpc>
            </a:pP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has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least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separate program 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memory</a:t>
            </a:r>
          </a:p>
          <a:p>
            <a:pPr algn="just" eaLnBrk="1" hangingPunct="1">
              <a:lnSpc>
                <a:spcPct val="8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OS/390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OS/360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then they’re gradually being replaced by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UNIX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variants such as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Linux</a:t>
            </a:r>
          </a:p>
        </p:txBody>
      </p:sp>
      <p:sp>
        <p:nvSpPr>
          <p:cNvPr id="10244" name="Rectangle 4"/>
          <p:cNvSpPr>
            <a:spLocks/>
          </p:cNvSpPr>
          <p:nvPr/>
        </p:nvSpPr>
        <p:spPr bwMode="auto">
          <a:xfrm>
            <a:off x="914400" y="457200"/>
            <a:ext cx="82296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3600">
                <a:latin typeface="Times New Roman" panose="02020603050405020304" pitchFamily="18" charset="0"/>
                <a:cs typeface="Times New Roman" panose="02020603050405020304" pitchFamily="18" charset="0"/>
              </a:rPr>
              <a:t>Mainframe OS</a:t>
            </a:r>
          </a:p>
        </p:txBody>
      </p:sp>
      <p:pic>
        <p:nvPicPr>
          <p:cNvPr id="5" name="Picture 4" descr="ATM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8463" y="1600200"/>
            <a:ext cx="2293937" cy="305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904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500"/>
                                        <p:tgtEl>
                                          <p:spTgt spid="1904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4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500"/>
                                        <p:tgtEl>
                                          <p:spTgt spid="1904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4" dur="500"/>
                                        <p:tgtEl>
                                          <p:spTgt spid="1904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9" dur="500"/>
                                        <p:tgtEl>
                                          <p:spTgt spid="1904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6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4" dur="500"/>
                                        <p:tgtEl>
                                          <p:spTgt spid="19046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6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6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8" dur="500"/>
                                        <p:tgtEl>
                                          <p:spTgt spid="19046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6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3" dur="500"/>
                                        <p:tgtEl>
                                          <p:spTgt spid="19046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5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6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500"/>
                                        <p:tgtEl>
                                          <p:spTgt spid="19046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6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2" dur="500"/>
                                        <p:tgtEl>
                                          <p:spTgt spid="19046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/>
          </p:cNvSpPr>
          <p:nvPr>
            <p:ph type="title"/>
          </p:nvPr>
        </p:nvSpPr>
        <p:spPr>
          <a:xfrm>
            <a:off x="914400" y="0"/>
            <a:ext cx="8229600" cy="609600"/>
          </a:xfrm>
        </p:spPr>
        <p:txBody>
          <a:bodyPr/>
          <a:lstStyle/>
          <a:p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The Operating System Zoo</a:t>
            </a:r>
          </a:p>
        </p:txBody>
      </p:sp>
      <p:sp>
        <p:nvSpPr>
          <p:cNvPr id="208899" name="Rectangle 3"/>
          <p:cNvSpPr>
            <a:spLocks noGrp="1"/>
          </p:cNvSpPr>
          <p:nvPr>
            <p:ph type="body" idx="1"/>
          </p:nvPr>
        </p:nvSpPr>
        <p:spPr>
          <a:xfrm>
            <a:off x="228600" y="1295400"/>
            <a:ext cx="4724400" cy="5410200"/>
          </a:xfrm>
        </p:spPr>
        <p:txBody>
          <a:bodyPr/>
          <a:lstStyle/>
          <a:p>
            <a:pPr algn="just" eaLnBrk="1" hangingPunct="1">
              <a:lnSpc>
                <a:spcPct val="9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Runs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Server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(PC, workstation, or mainframe)</a:t>
            </a:r>
          </a:p>
          <a:p>
            <a:pPr algn="just" eaLnBrk="1" hangingPunct="1">
              <a:lnSpc>
                <a:spcPct val="9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Serves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multiple users at once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over a network and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allow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the users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to share hardware and software resources</a:t>
            </a:r>
          </a:p>
          <a:p>
            <a:pPr algn="just" eaLnBrk="1" hangingPunct="1">
              <a:lnSpc>
                <a:spcPct val="9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Servers can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assume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particular task on different server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(machine) as web, mail, application, file, firewall, CA – Certificated authentication, etc …</a:t>
            </a:r>
          </a:p>
          <a:p>
            <a:pPr algn="just" eaLnBrk="1" hangingPunct="1">
              <a:lnSpc>
                <a:spcPct val="9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UNIX, Windows NT, Windows 2K (2000, 2003, 2008), Linux, Fedora Core, Ubuntu, Solaris ...</a:t>
            </a:r>
          </a:p>
        </p:txBody>
      </p:sp>
      <p:sp>
        <p:nvSpPr>
          <p:cNvPr id="11268" name="Rectangle 4"/>
          <p:cNvSpPr>
            <a:spLocks/>
          </p:cNvSpPr>
          <p:nvPr/>
        </p:nvSpPr>
        <p:spPr bwMode="auto">
          <a:xfrm>
            <a:off x="914400" y="533400"/>
            <a:ext cx="822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3600">
                <a:latin typeface="Times New Roman" panose="02020603050405020304" pitchFamily="18" charset="0"/>
                <a:cs typeface="Times New Roman" panose="02020603050405020304" pitchFamily="18" charset="0"/>
              </a:rPr>
              <a:t>Server OS</a:t>
            </a:r>
          </a:p>
        </p:txBody>
      </p:sp>
      <p:pic>
        <p:nvPicPr>
          <p:cNvPr id="11269" name="Picture 4" descr="imagesCATFHVXF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1828800"/>
            <a:ext cx="4068763" cy="30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8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088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8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2088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8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2088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8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2088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/>
          </p:cNvSpPr>
          <p:nvPr>
            <p:ph type="title"/>
          </p:nvPr>
        </p:nvSpPr>
        <p:spPr>
          <a:xfrm>
            <a:off x="914400" y="0"/>
            <a:ext cx="8229600" cy="609600"/>
          </a:xfrm>
        </p:spPr>
        <p:txBody>
          <a:bodyPr/>
          <a:lstStyle/>
          <a:p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The Operating System Zoo</a:t>
            </a:r>
          </a:p>
        </p:txBody>
      </p:sp>
      <p:sp>
        <p:nvSpPr>
          <p:cNvPr id="210947" name="Rectangle 3"/>
          <p:cNvSpPr>
            <a:spLocks noGrp="1"/>
          </p:cNvSpPr>
          <p:nvPr>
            <p:ph type="body" idx="1"/>
          </p:nvPr>
        </p:nvSpPr>
        <p:spPr>
          <a:xfrm>
            <a:off x="228600" y="1066800"/>
            <a:ext cx="4648200" cy="5410200"/>
          </a:xfrm>
        </p:spPr>
        <p:txBody>
          <a:bodyPr/>
          <a:lstStyle/>
          <a:p>
            <a:pPr algn="just" eaLnBrk="1" hangingPunct="1">
              <a:lnSpc>
                <a:spcPct val="9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Is known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parallel systems</a:t>
            </a:r>
          </a:p>
          <a:p>
            <a:pPr algn="just" eaLnBrk="1" hangingPunct="1">
              <a:lnSpc>
                <a:spcPct val="9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Runs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on systems that have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many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CPUs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multi-processors, multi-cores, multi-chips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just" eaLnBrk="1" hangingPunct="1">
              <a:lnSpc>
                <a:spcPct val="9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Many processors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communicate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in close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share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computer bus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, the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clock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, and sometimes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memory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peripheral devices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Increased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throughput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Saving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(share peripherals mass storage, …)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Increased reliability 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(not halt system, sharing the work with other processors)</a:t>
            </a:r>
          </a:p>
          <a:p>
            <a:pPr algn="just" eaLnBrk="1" hangingPunct="1">
              <a:lnSpc>
                <a:spcPct val="9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Windows, Linux, SunOS (Solaris), UNIX, OS/2 …</a:t>
            </a:r>
          </a:p>
        </p:txBody>
      </p:sp>
      <p:sp>
        <p:nvSpPr>
          <p:cNvPr id="12292" name="Rectangle 4"/>
          <p:cNvSpPr>
            <a:spLocks/>
          </p:cNvSpPr>
          <p:nvPr/>
        </p:nvSpPr>
        <p:spPr bwMode="auto">
          <a:xfrm>
            <a:off x="914400" y="533400"/>
            <a:ext cx="82296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3600">
                <a:latin typeface="Times New Roman" panose="02020603050405020304" pitchFamily="18" charset="0"/>
                <a:cs typeface="Times New Roman" panose="02020603050405020304" pitchFamily="18" charset="0"/>
              </a:rPr>
              <a:t>Multiprocessor OS</a:t>
            </a:r>
          </a:p>
        </p:txBody>
      </p:sp>
      <p:pic>
        <p:nvPicPr>
          <p:cNvPr id="12293" name="Picture 4" descr="kraken_mobo_2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2209800"/>
            <a:ext cx="4191000" cy="2725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/>
          <p:cNvSpPr/>
          <p:nvPr/>
        </p:nvSpPr>
        <p:spPr>
          <a:xfrm rot="1871681">
            <a:off x="6548438" y="2444750"/>
            <a:ext cx="717550" cy="609600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" name="Rectangle 6"/>
          <p:cNvSpPr/>
          <p:nvPr/>
        </p:nvSpPr>
        <p:spPr>
          <a:xfrm rot="1871681">
            <a:off x="6354763" y="3265488"/>
            <a:ext cx="717550" cy="609600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109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2109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2109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2109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2109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2109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2109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/>
          </p:cNvSpPr>
          <p:nvPr>
            <p:ph type="title"/>
          </p:nvPr>
        </p:nvSpPr>
        <p:spPr>
          <a:xfrm>
            <a:off x="914400" y="0"/>
            <a:ext cx="8229600" cy="609600"/>
          </a:xfrm>
        </p:spPr>
        <p:txBody>
          <a:bodyPr/>
          <a:lstStyle/>
          <a:p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The Operating System Zoo</a:t>
            </a:r>
          </a:p>
        </p:txBody>
      </p:sp>
      <p:sp>
        <p:nvSpPr>
          <p:cNvPr id="212995" name="Rectangle 3"/>
          <p:cNvSpPr>
            <a:spLocks noGrp="1"/>
          </p:cNvSpPr>
          <p:nvPr>
            <p:ph type="body" idx="1"/>
          </p:nvPr>
        </p:nvSpPr>
        <p:spPr>
          <a:xfrm>
            <a:off x="228600" y="1447800"/>
            <a:ext cx="6248400" cy="5410200"/>
          </a:xfrm>
        </p:spPr>
        <p:txBody>
          <a:bodyPr/>
          <a:lstStyle/>
          <a:p>
            <a:pPr algn="just" eaLnBrk="1" hangingPunct="1"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Supports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multiprogramming</a:t>
            </a:r>
          </a:p>
          <a:p>
            <a:pPr algn="just" eaLnBrk="1" hangingPunct="1"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Good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supports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to a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single user 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(thus, it has become popular nowadays)</a:t>
            </a:r>
          </a:p>
          <a:p>
            <a:pPr algn="just" eaLnBrk="1" hangingPunct="1"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Optimizes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for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maximizing user convenience and responsiveness </a:t>
            </a:r>
          </a:p>
          <a:p>
            <a:pPr algn="just" eaLnBrk="1" hangingPunct="1"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Are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used for word processing, spreadsheets, Internet access …</a:t>
            </a:r>
          </a:p>
          <a:p>
            <a:pPr algn="just" eaLnBrk="1" hangingPunct="1"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Windows 98, Windows ME, Windows XP, Windows Vista, Windows 7, Macintosh, Linux, Fedora Core, Ubuntu ...</a:t>
            </a:r>
          </a:p>
          <a:p>
            <a:pPr algn="just" eaLnBrk="1" hangingPunct="1">
              <a:buClrTx/>
              <a:buSzTx/>
              <a:buFont typeface="Arial" panose="020B0604020202020204" pitchFamily="34" charset="0"/>
              <a:buChar char="•"/>
            </a:pPr>
            <a:endParaRPr lang="en-US" alt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316" name="Rectangle 4"/>
          <p:cNvSpPr>
            <a:spLocks/>
          </p:cNvSpPr>
          <p:nvPr/>
        </p:nvSpPr>
        <p:spPr bwMode="auto">
          <a:xfrm>
            <a:off x="914400" y="533400"/>
            <a:ext cx="82296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3600">
                <a:latin typeface="Times New Roman" panose="02020603050405020304" pitchFamily="18" charset="0"/>
                <a:cs typeface="Times New Roman" panose="02020603050405020304" pitchFamily="18" charset="0"/>
              </a:rPr>
              <a:t>Personal Computer OS</a:t>
            </a:r>
          </a:p>
        </p:txBody>
      </p:sp>
      <p:pic>
        <p:nvPicPr>
          <p:cNvPr id="13317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066" t="75008" r="88680"/>
          <a:stretch>
            <a:fillRect/>
          </a:stretch>
        </p:blipFill>
        <p:spPr bwMode="auto">
          <a:xfrm>
            <a:off x="6477000" y="3810000"/>
            <a:ext cx="2389188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8" name="Picture 5" descr="laptop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0400" y="1600200"/>
            <a:ext cx="1782763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129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2129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2129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2129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2129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2"/>
          <p:cNvSpPr>
            <a:spLocks noGrp="1"/>
          </p:cNvSpPr>
          <p:nvPr>
            <p:ph type="title"/>
          </p:nvPr>
        </p:nvSpPr>
        <p:spPr>
          <a:xfrm>
            <a:off x="914400" y="0"/>
            <a:ext cx="8229600" cy="609600"/>
          </a:xfrm>
        </p:spPr>
        <p:txBody>
          <a:bodyPr/>
          <a:lstStyle/>
          <a:p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The Operating System Zoo</a:t>
            </a:r>
          </a:p>
        </p:txBody>
      </p:sp>
      <p:sp>
        <p:nvSpPr>
          <p:cNvPr id="215043" name="Rectangle 3"/>
          <p:cNvSpPr>
            <a:spLocks noGrp="1"/>
          </p:cNvSpPr>
          <p:nvPr>
            <p:ph type="body" idx="1"/>
          </p:nvPr>
        </p:nvSpPr>
        <p:spPr>
          <a:xfrm>
            <a:off x="228600" y="2819400"/>
            <a:ext cx="8915400" cy="4038600"/>
          </a:xfrm>
        </p:spPr>
        <p:txBody>
          <a:bodyPr/>
          <a:lstStyle/>
          <a:p>
            <a:pPr algn="just" eaLnBrk="1" hangingPunct="1"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Supports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 a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small computer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as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handheld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PDA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(Personal Digital Assistant),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mobile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(cellular) phones,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smart phones.</a:t>
            </a:r>
          </a:p>
          <a:p>
            <a:pPr algn="just" eaLnBrk="1" hangingPunct="1"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Is used with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small memory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slow processors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small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display screen </a:t>
            </a:r>
          </a:p>
          <a:p>
            <a:pPr algn="just" eaLnBrk="1" hangingPunct="1"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Are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increasingly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sophisticated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, with the ability to handle telephony, digital photography, …</a:t>
            </a:r>
          </a:p>
          <a:p>
            <a:pPr algn="just" eaLnBrk="1" hangingPunct="1"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Can only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run single application </a:t>
            </a:r>
          </a:p>
          <a:p>
            <a:pPr lvl="1" algn="just" eaLnBrk="1" hangingPunct="1">
              <a:buFont typeface="Arial" panose="020B0604020202020204" pitchFamily="34" charset="0"/>
              <a:buChar char="•"/>
            </a:pP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Today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, some handheld OS (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smart phone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) can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run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multiple program 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(e.g. Windows Mobile version ≥ 6, Symbian ≥ 7, Mac, Android, iOS, …)</a:t>
            </a:r>
          </a:p>
          <a:p>
            <a:pPr algn="just" eaLnBrk="1" hangingPunct="1"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Symbian, Palm, Windows Phone, Windows CE, Android, iOS…</a:t>
            </a:r>
          </a:p>
          <a:p>
            <a:pPr algn="just" eaLnBrk="1" hangingPunct="1">
              <a:buClrTx/>
              <a:buSzTx/>
              <a:buFont typeface="Arial" panose="020B0604020202020204" pitchFamily="34" charset="0"/>
              <a:buChar char="•"/>
            </a:pP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29" name="Rectangle 4"/>
          <p:cNvSpPr>
            <a:spLocks/>
          </p:cNvSpPr>
          <p:nvPr/>
        </p:nvSpPr>
        <p:spPr bwMode="auto">
          <a:xfrm>
            <a:off x="914400" y="457200"/>
            <a:ext cx="82296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3600">
                <a:latin typeface="Times New Roman" panose="02020603050405020304" pitchFamily="18" charset="0"/>
                <a:cs typeface="Times New Roman" panose="02020603050405020304" pitchFamily="18" charset="0"/>
              </a:rPr>
              <a:t>Handheld Computer OS</a:t>
            </a:r>
          </a:p>
        </p:txBody>
      </p:sp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0" t="40588" r="86552" b="37680"/>
          <a:stretch>
            <a:fillRect/>
          </a:stretch>
        </p:blipFill>
        <p:spPr bwMode="auto">
          <a:xfrm>
            <a:off x="5334000" y="1143000"/>
            <a:ext cx="1447800" cy="1687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1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0" y="1066800"/>
            <a:ext cx="990600" cy="1627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026" name="Object 6"/>
          <p:cNvGraphicFramePr>
            <a:graphicFrameLocks noChangeAspect="1"/>
          </p:cNvGraphicFramePr>
          <p:nvPr/>
        </p:nvGraphicFramePr>
        <p:xfrm>
          <a:off x="990600" y="1281113"/>
          <a:ext cx="1066800" cy="1462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2" name="Picture" r:id="rId6" imgW="952560" imgH="1319400" progId="Word.Picture.8">
                  <p:embed/>
                </p:oleObj>
              </mc:Choice>
              <mc:Fallback>
                <p:oleObj name="Picture" r:id="rId6" imgW="952560" imgH="1319400" progId="Word.Picture.8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1281113"/>
                        <a:ext cx="1066800" cy="1462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32" name="Picture 6" descr="mobile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0400" y="1143000"/>
            <a:ext cx="1066800" cy="1644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150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2150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2150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2150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2150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2150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/>
          </p:cNvSpPr>
          <p:nvPr>
            <p:ph type="title"/>
          </p:nvPr>
        </p:nvSpPr>
        <p:spPr>
          <a:xfrm>
            <a:off x="914400" y="0"/>
            <a:ext cx="8229600" cy="609600"/>
          </a:xfrm>
        </p:spPr>
        <p:txBody>
          <a:bodyPr/>
          <a:lstStyle/>
          <a:p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The Operating System Zoo</a:t>
            </a:r>
          </a:p>
        </p:txBody>
      </p:sp>
      <p:sp>
        <p:nvSpPr>
          <p:cNvPr id="217091" name="Rectangle 3"/>
          <p:cNvSpPr>
            <a:spLocks noGrp="1"/>
          </p:cNvSpPr>
          <p:nvPr>
            <p:ph type="body" idx="1"/>
          </p:nvPr>
        </p:nvSpPr>
        <p:spPr>
          <a:xfrm>
            <a:off x="0" y="1143000"/>
            <a:ext cx="5562600" cy="5410200"/>
          </a:xfrm>
        </p:spPr>
        <p:txBody>
          <a:bodyPr/>
          <a:lstStyle/>
          <a:p>
            <a:pPr algn="just" eaLnBrk="1" hangingPunct="1"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Insides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electronic devices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such as microware ovens, TV, cars, DVD, cellular phones, MP3 player, recorder …</a:t>
            </a:r>
          </a:p>
          <a:p>
            <a:pPr algn="just" eaLnBrk="1" hangingPunct="1"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tailored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for its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specific applications</a:t>
            </a:r>
          </a:p>
          <a:p>
            <a:pPr algn="just" eaLnBrk="1" hangingPunct="1"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Runs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limited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number of programs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known at design time</a:t>
            </a:r>
          </a:p>
          <a:p>
            <a:pPr lvl="1" algn="just" eaLnBrk="1" hangingPunct="1">
              <a:buFont typeface="Arial" panose="020B0604020202020204" pitchFamily="34" charset="0"/>
              <a:buChar char="•"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It may be possible to make optimizations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not possible in general purpose systems</a:t>
            </a:r>
          </a:p>
          <a:p>
            <a:pPr algn="just" eaLnBrk="1" hangingPunct="1"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There is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no need for protection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between applications</a:t>
            </a:r>
          </a:p>
          <a:p>
            <a:pPr algn="just" eaLnBrk="1" hangingPunct="1"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located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ROM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just" eaLnBrk="1" hangingPunct="1"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VxWorks, QNX</a:t>
            </a:r>
          </a:p>
        </p:txBody>
      </p:sp>
      <p:sp>
        <p:nvSpPr>
          <p:cNvPr id="14340" name="Rectangle 4"/>
          <p:cNvSpPr>
            <a:spLocks/>
          </p:cNvSpPr>
          <p:nvPr/>
        </p:nvSpPr>
        <p:spPr bwMode="auto">
          <a:xfrm>
            <a:off x="914400" y="457200"/>
            <a:ext cx="82296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3600">
                <a:latin typeface="Times New Roman" panose="02020603050405020304" pitchFamily="18" charset="0"/>
                <a:cs typeface="Times New Roman" panose="02020603050405020304" pitchFamily="18" charset="0"/>
              </a:rPr>
              <a:t>Embedded OS</a:t>
            </a:r>
          </a:p>
        </p:txBody>
      </p:sp>
      <p:pic>
        <p:nvPicPr>
          <p:cNvPr id="14341" name="Picture 4" descr="shiro_as_mp3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0800" y="1524000"/>
            <a:ext cx="228600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42" name="Picture 5" descr="continental-ag-sensor-system.jp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61025" y="3886200"/>
            <a:ext cx="3406775" cy="251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170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2170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2170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2170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2170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2170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2170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/>
          </p:cNvSpPr>
          <p:nvPr>
            <p:ph type="title"/>
          </p:nvPr>
        </p:nvSpPr>
        <p:spPr>
          <a:xfrm>
            <a:off x="914400" y="0"/>
            <a:ext cx="8229600" cy="609600"/>
          </a:xfrm>
        </p:spPr>
        <p:txBody>
          <a:bodyPr/>
          <a:lstStyle/>
          <a:p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The Operating System Zoo</a:t>
            </a:r>
          </a:p>
        </p:txBody>
      </p:sp>
      <p:sp>
        <p:nvSpPr>
          <p:cNvPr id="219139" name="Rectangle 3"/>
          <p:cNvSpPr>
            <a:spLocks noGrp="1"/>
          </p:cNvSpPr>
          <p:nvPr>
            <p:ph type="body" idx="1"/>
          </p:nvPr>
        </p:nvSpPr>
        <p:spPr>
          <a:xfrm>
            <a:off x="0" y="914400"/>
            <a:ext cx="4876800" cy="5257800"/>
          </a:xfrm>
        </p:spPr>
        <p:txBody>
          <a:bodyPr/>
          <a:lstStyle/>
          <a:p>
            <a:pPr algn="just" eaLnBrk="1" hangingPunct="1">
              <a:lnSpc>
                <a:spcPct val="9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Supports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sensor node</a:t>
            </a:r>
          </a:p>
          <a:p>
            <a:pPr algn="just" eaLnBrk="1" hangingPunct="1">
              <a:lnSpc>
                <a:spcPct val="9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Each sensor node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is a real computer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with CPU, RAM, ROM, and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one or more environmental sensors</a:t>
            </a:r>
          </a:p>
          <a:p>
            <a:pPr algn="just" eaLnBrk="1" hangingPunct="1">
              <a:lnSpc>
                <a:spcPct val="9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Usually one that is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event driven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responding to external events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or making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measurements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periodically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based on an internal clock</a:t>
            </a:r>
          </a:p>
          <a:p>
            <a:pPr algn="just" eaLnBrk="1" hangingPunct="1">
              <a:lnSpc>
                <a:spcPct val="9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Ex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: on camera secure the building, forecast or predict environments (weather, fires, temperatures …)</a:t>
            </a:r>
          </a:p>
          <a:p>
            <a:pPr algn="just" eaLnBrk="1" hangingPunct="1">
              <a:lnSpc>
                <a:spcPct val="9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Small size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, using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low power</a:t>
            </a:r>
          </a:p>
          <a:p>
            <a:pPr algn="just" eaLnBrk="1" hangingPunct="1">
              <a:lnSpc>
                <a:spcPct val="9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dependent on battery</a:t>
            </a:r>
          </a:p>
          <a:p>
            <a:pPr algn="just" eaLnBrk="1" hangingPunct="1">
              <a:lnSpc>
                <a:spcPct val="9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TinyOS</a:t>
            </a:r>
          </a:p>
        </p:txBody>
      </p:sp>
      <p:sp>
        <p:nvSpPr>
          <p:cNvPr id="15364" name="Rectangle 4"/>
          <p:cNvSpPr>
            <a:spLocks/>
          </p:cNvSpPr>
          <p:nvPr/>
        </p:nvSpPr>
        <p:spPr bwMode="auto">
          <a:xfrm>
            <a:off x="762000" y="381000"/>
            <a:ext cx="82296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3600">
                <a:latin typeface="Times New Roman" panose="02020603050405020304" pitchFamily="18" charset="0"/>
                <a:cs typeface="Times New Roman" panose="02020603050405020304" pitchFamily="18" charset="0"/>
              </a:rPr>
              <a:t>Sensor Node OS</a:t>
            </a:r>
          </a:p>
        </p:txBody>
      </p:sp>
      <p:pic>
        <p:nvPicPr>
          <p:cNvPr id="15365" name="Picture 4" descr="house-alarms.gi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9200" y="990600"/>
            <a:ext cx="3962400" cy="2559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6" name="Picture 5" descr="trees-1.jp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0" y="3657600"/>
            <a:ext cx="2667000" cy="266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191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2191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2191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2191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2191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2191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2191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/>
          </p:cNvSpPr>
          <p:nvPr>
            <p:ph type="title"/>
          </p:nvPr>
        </p:nvSpPr>
        <p:spPr>
          <a:xfrm>
            <a:off x="914400" y="0"/>
            <a:ext cx="8229600" cy="609600"/>
          </a:xfrm>
        </p:spPr>
        <p:txBody>
          <a:bodyPr/>
          <a:lstStyle/>
          <a:p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The Operating System Zoo</a:t>
            </a:r>
          </a:p>
        </p:txBody>
      </p:sp>
      <p:sp>
        <p:nvSpPr>
          <p:cNvPr id="221187" name="Rectangle 3"/>
          <p:cNvSpPr>
            <a:spLocks noGrp="1"/>
          </p:cNvSpPr>
          <p:nvPr>
            <p:ph type="body" idx="1"/>
          </p:nvPr>
        </p:nvSpPr>
        <p:spPr>
          <a:xfrm>
            <a:off x="228600" y="1219200"/>
            <a:ext cx="5029200" cy="5638800"/>
          </a:xfrm>
        </p:spPr>
        <p:txBody>
          <a:bodyPr/>
          <a:lstStyle/>
          <a:p>
            <a:pPr algn="just" eaLnBrk="1" hangingPunct="1">
              <a:lnSpc>
                <a:spcPct val="9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Time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is important, and the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hard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deadlines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must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be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met</a:t>
            </a:r>
          </a:p>
          <a:p>
            <a:pPr algn="just" eaLnBrk="1" hangingPunct="1">
              <a:lnSpc>
                <a:spcPct val="9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Supports real-time system as industrial robots, assembly line, digital telephones</a:t>
            </a:r>
          </a:p>
          <a:p>
            <a:pPr algn="just" eaLnBrk="1" hangingPunct="1">
              <a:lnSpc>
                <a:spcPct val="9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2 types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Hard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real-time system</a:t>
            </a:r>
          </a:p>
          <a:p>
            <a:pPr lvl="2" algn="just" eaLnBrk="1" hangingPunct="1">
              <a:lnSpc>
                <a:spcPct val="90000"/>
              </a:lnSpc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Provides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absolute guarantee certain time</a:t>
            </a:r>
          </a:p>
          <a:p>
            <a:pPr lvl="2" algn="just" eaLnBrk="1" hangingPunct="1">
              <a:lnSpc>
                <a:spcPct val="90000"/>
              </a:lnSpc>
            </a:pP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Ex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: military, avionics, …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Soft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real-time system</a:t>
            </a:r>
          </a:p>
          <a:p>
            <a:pPr lvl="2" algn="just" eaLnBrk="1" hangingPunct="1">
              <a:lnSpc>
                <a:spcPct val="90000"/>
              </a:lnSpc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Can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miss deadline 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(that does not cause permanent damage)</a:t>
            </a:r>
          </a:p>
          <a:p>
            <a:pPr lvl="2" algn="just" eaLnBrk="1" hangingPunct="1">
              <a:lnSpc>
                <a:spcPct val="90000"/>
              </a:lnSpc>
            </a:pP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Ex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: digital telephones, multimedia systems, real virtual</a:t>
            </a:r>
          </a:p>
          <a:p>
            <a:pPr algn="just" eaLnBrk="1" hangingPunct="1">
              <a:lnSpc>
                <a:spcPct val="9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eCos</a:t>
            </a:r>
          </a:p>
        </p:txBody>
      </p:sp>
      <p:sp>
        <p:nvSpPr>
          <p:cNvPr id="16388" name="Rectangle 4"/>
          <p:cNvSpPr>
            <a:spLocks/>
          </p:cNvSpPr>
          <p:nvPr/>
        </p:nvSpPr>
        <p:spPr bwMode="auto">
          <a:xfrm>
            <a:off x="685800" y="457200"/>
            <a:ext cx="82296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3600">
                <a:latin typeface="Times New Roman" panose="02020603050405020304" pitchFamily="18" charset="0"/>
                <a:cs typeface="Times New Roman" panose="02020603050405020304" pitchFamily="18" charset="0"/>
              </a:rPr>
              <a:t>Real-Time OS</a:t>
            </a:r>
          </a:p>
        </p:txBody>
      </p:sp>
      <p:pic>
        <p:nvPicPr>
          <p:cNvPr id="5" name="Picture 4" descr="10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200" y="2057400"/>
            <a:ext cx="3429000" cy="2295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5" descr="virtual-reality.jp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0" y="4800600"/>
            <a:ext cx="1731963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6" descr="virtual-nanomedicine-big.jp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6600" y="4419600"/>
            <a:ext cx="1865313" cy="198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211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2211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2211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2211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0" dur="500"/>
                                        <p:tgtEl>
                                          <p:spTgt spid="2211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2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4" dur="500"/>
                                        <p:tgtEl>
                                          <p:spTgt spid="2211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9" dur="500"/>
                                        <p:tgtEl>
                                          <p:spTgt spid="2211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1" presetID="8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3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6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1" dur="500"/>
                                        <p:tgtEl>
                                          <p:spTgt spid="2211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3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5" dur="500"/>
                                        <p:tgtEl>
                                          <p:spTgt spid="2211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8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0" dur="500"/>
                                        <p:tgtEl>
                                          <p:spTgt spid="22118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/>
          </p:cNvSpPr>
          <p:nvPr>
            <p:ph type="title"/>
          </p:nvPr>
        </p:nvSpPr>
        <p:spPr>
          <a:xfrm>
            <a:off x="914400" y="0"/>
            <a:ext cx="8229600" cy="609600"/>
          </a:xfrm>
        </p:spPr>
        <p:txBody>
          <a:bodyPr/>
          <a:lstStyle/>
          <a:p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The Operating System Zoo</a:t>
            </a:r>
          </a:p>
        </p:txBody>
      </p:sp>
      <p:sp>
        <p:nvSpPr>
          <p:cNvPr id="223235" name="Rectangle 3"/>
          <p:cNvSpPr>
            <a:spLocks noGrp="1"/>
          </p:cNvSpPr>
          <p:nvPr>
            <p:ph type="body" idx="1"/>
          </p:nvPr>
        </p:nvSpPr>
        <p:spPr>
          <a:xfrm>
            <a:off x="228600" y="3733800"/>
            <a:ext cx="8915400" cy="3124200"/>
          </a:xfrm>
        </p:spPr>
        <p:txBody>
          <a:bodyPr/>
          <a:lstStyle/>
          <a:p>
            <a:pPr algn="just" eaLnBrk="1" hangingPunct="1"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Ex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: credit card, ATM, Wireless LAN Card Bus Card, …</a:t>
            </a:r>
          </a:p>
          <a:p>
            <a:pPr algn="just" eaLnBrk="1" hangingPunct="1"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Runs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on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smart cards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(with better security and universality)</a:t>
            </a:r>
          </a:p>
          <a:p>
            <a:pPr algn="just" eaLnBrk="1" hangingPunct="1"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Have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very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severe processing power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memory constraints</a:t>
            </a:r>
          </a:p>
          <a:p>
            <a:pPr algn="just" eaLnBrk="1" hangingPunct="1"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Can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handle electronic payments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presenting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Java applets</a:t>
            </a:r>
          </a:p>
        </p:txBody>
      </p:sp>
      <p:sp>
        <p:nvSpPr>
          <p:cNvPr id="17412" name="Rectangle 4"/>
          <p:cNvSpPr>
            <a:spLocks/>
          </p:cNvSpPr>
          <p:nvPr/>
        </p:nvSpPr>
        <p:spPr bwMode="auto">
          <a:xfrm>
            <a:off x="914400" y="533400"/>
            <a:ext cx="82296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3600">
                <a:latin typeface="Times New Roman" panose="02020603050405020304" pitchFamily="18" charset="0"/>
                <a:cs typeface="Times New Roman" panose="02020603050405020304" pitchFamily="18" charset="0"/>
              </a:rPr>
              <a:t>Smart Card OS</a:t>
            </a:r>
          </a:p>
        </p:txBody>
      </p:sp>
      <p:pic>
        <p:nvPicPr>
          <p:cNvPr id="17413" name="Picture 4" descr="ACR38_Smart_Card_Reader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1143000"/>
            <a:ext cx="3352800" cy="247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14" name="Picture 5" descr="ExpressCard07-0260.jp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1295400"/>
            <a:ext cx="3657600" cy="2428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232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2232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2232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2232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Summary</a:t>
            </a:r>
          </a:p>
        </p:txBody>
      </p:sp>
      <p:sp>
        <p:nvSpPr>
          <p:cNvPr id="18435" name="Rectangle 3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2514600"/>
          </a:xfrm>
        </p:spPr>
        <p:txBody>
          <a:bodyPr/>
          <a:lstStyle/>
          <a:p>
            <a:pPr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Operating System</a:t>
            </a:r>
          </a:p>
          <a:p>
            <a:pPr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Operating Systems</a:t>
            </a:r>
          </a:p>
          <a:p>
            <a:pPr>
              <a:buClrTx/>
              <a:buSzTx/>
              <a:buFont typeface="Arial" panose="020B0604020202020204" pitchFamily="34" charset="0"/>
              <a:buChar char="•"/>
            </a:pP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436" name="Text Box 4"/>
          <p:cNvSpPr txBox="1">
            <a:spLocks noChangeArrowheads="1"/>
          </p:cNvSpPr>
          <p:nvPr/>
        </p:nvSpPr>
        <p:spPr bwMode="auto">
          <a:xfrm>
            <a:off x="1295400" y="4800600"/>
            <a:ext cx="66294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Q&amp;A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Next Lecture</a:t>
            </a:r>
          </a:p>
        </p:txBody>
      </p:sp>
      <p:sp>
        <p:nvSpPr>
          <p:cNvPr id="19459" name="Rectangle 3"/>
          <p:cNvSpPr>
            <a:spLocks noGrp="1"/>
          </p:cNvSpPr>
          <p:nvPr>
            <p:ph type="body" idx="1"/>
          </p:nvPr>
        </p:nvSpPr>
        <p:spPr>
          <a:xfrm>
            <a:off x="381000" y="1600200"/>
            <a:ext cx="8534400" cy="2514600"/>
          </a:xfrm>
        </p:spPr>
        <p:txBody>
          <a:bodyPr/>
          <a:lstStyle/>
          <a:p>
            <a:pPr algn="just"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Operating System Concepts 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process, address space, file , io, …</a:t>
            </a:r>
          </a:p>
          <a:p>
            <a:pPr algn="just"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System Calls </a:t>
            </a:r>
          </a:p>
          <a:p>
            <a:pPr algn="just">
              <a:buClrTx/>
              <a:buSzTx/>
              <a:buFont typeface="Wingdings" pitchFamily="2" charset="2"/>
              <a:buNone/>
            </a:pP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3910</TotalTime>
  <Words>2074</Words>
  <Application>Microsoft Office PowerPoint</Application>
  <PresentationFormat>On-screen Show (4:3)</PresentationFormat>
  <Paragraphs>281</Paragraphs>
  <Slides>31</Slides>
  <Notes>19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31</vt:i4>
      </vt:variant>
    </vt:vector>
  </HeadingPairs>
  <TitlesOfParts>
    <vt:vector size="40" baseType="lpstr">
      <vt:lpstr>Arial</vt:lpstr>
      <vt:lpstr>ArialMT</vt:lpstr>
      <vt:lpstr>Calibri</vt:lpstr>
      <vt:lpstr>Helvetica</vt:lpstr>
      <vt:lpstr>Times New Roman</vt:lpstr>
      <vt:lpstr>Wingdings</vt:lpstr>
      <vt:lpstr>Office Theme</vt:lpstr>
      <vt:lpstr>Picture</vt:lpstr>
      <vt:lpstr>Adobe Illustrator Artwork</vt:lpstr>
      <vt:lpstr>Introduction   Operating System  Operating System Zoo  </vt:lpstr>
      <vt:lpstr>Objectives</vt:lpstr>
      <vt:lpstr>Operating System</vt:lpstr>
      <vt:lpstr>Overview</vt:lpstr>
      <vt:lpstr>Operating System</vt:lpstr>
      <vt:lpstr>Operating System</vt:lpstr>
      <vt:lpstr>PowerPoint Presentation</vt:lpstr>
      <vt:lpstr>History of Operating Systems </vt:lpstr>
      <vt:lpstr>THE DEVELOPMENT HISTORY OF COMPUTER</vt:lpstr>
      <vt:lpstr>THE DEVELOPMENT HISTORY OF COMPUTER</vt:lpstr>
      <vt:lpstr>History of Operating Systems First generation 1945 - 1955 </vt:lpstr>
      <vt:lpstr>First Generation:   ENIAC </vt:lpstr>
      <vt:lpstr>History of Operating Systems   Second Generation 1955 – 1965 (1)</vt:lpstr>
      <vt:lpstr>History of Operating Systems   Second Generation 1955 – 1965 (2)</vt:lpstr>
      <vt:lpstr>History of Operating Systems   Second Generation 1955 – 1965 (3)</vt:lpstr>
      <vt:lpstr>History of Operating Systems Third generation  1965 – 1980  (1)</vt:lpstr>
      <vt:lpstr>History of Operating Systems Third generation  1965 – 1980 (2)</vt:lpstr>
      <vt:lpstr>History of Operating Systems Third generation  1965 – 1980 (3)</vt:lpstr>
      <vt:lpstr>History of Operating Systems  Fourth generation 1980 – present</vt:lpstr>
      <vt:lpstr>The Operating System Zoo</vt:lpstr>
      <vt:lpstr>The Operating System Zoo</vt:lpstr>
      <vt:lpstr>The Operating System Zoo</vt:lpstr>
      <vt:lpstr>The Operating System Zoo</vt:lpstr>
      <vt:lpstr>The Operating System Zoo</vt:lpstr>
      <vt:lpstr>The Operating System Zoo</vt:lpstr>
      <vt:lpstr>The Operating System Zoo</vt:lpstr>
      <vt:lpstr>The Operating System Zoo</vt:lpstr>
      <vt:lpstr>The Operating System Zoo</vt:lpstr>
      <vt:lpstr>The Operating System Zoo</vt:lpstr>
      <vt:lpstr>Summary</vt:lpstr>
      <vt:lpstr>Next Lecture</vt:lpstr>
    </vt:vector>
  </TitlesOfParts>
  <Company>FPT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OS-Introduction</dc:title>
  <dc:creator>Kieu Trong Khanh</dc:creator>
  <cp:lastModifiedBy>Tong Phuoc Quan (FE FPTU HCM)</cp:lastModifiedBy>
  <cp:revision>1354</cp:revision>
  <dcterms:created xsi:type="dcterms:W3CDTF">2007-08-21T04:43:22Z</dcterms:created>
  <dcterms:modified xsi:type="dcterms:W3CDTF">2021-09-05T04:46:45Z</dcterms:modified>
</cp:coreProperties>
</file>