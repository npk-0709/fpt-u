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32"/>
  </p:notesMasterIdLst>
  <p:sldIdLst>
    <p:sldId id="256" r:id="rId2"/>
    <p:sldId id="469" r:id="rId3"/>
    <p:sldId id="470" r:id="rId4"/>
    <p:sldId id="414" r:id="rId5"/>
    <p:sldId id="439" r:id="rId6"/>
    <p:sldId id="440" r:id="rId7"/>
    <p:sldId id="441" r:id="rId8"/>
    <p:sldId id="442" r:id="rId9"/>
    <p:sldId id="443" r:id="rId10"/>
    <p:sldId id="444" r:id="rId11"/>
    <p:sldId id="468" r:id="rId12"/>
    <p:sldId id="445" r:id="rId13"/>
    <p:sldId id="446" r:id="rId14"/>
    <p:sldId id="447" r:id="rId15"/>
    <p:sldId id="448" r:id="rId16"/>
    <p:sldId id="449" r:id="rId17"/>
    <p:sldId id="450" r:id="rId18"/>
    <p:sldId id="473" r:id="rId19"/>
    <p:sldId id="451" r:id="rId20"/>
    <p:sldId id="452" r:id="rId21"/>
    <p:sldId id="453" r:id="rId22"/>
    <p:sldId id="454" r:id="rId23"/>
    <p:sldId id="455" r:id="rId24"/>
    <p:sldId id="456" r:id="rId25"/>
    <p:sldId id="457" r:id="rId26"/>
    <p:sldId id="458" r:id="rId27"/>
    <p:sldId id="459" r:id="rId28"/>
    <p:sldId id="460" r:id="rId29"/>
    <p:sldId id="394" r:id="rId30"/>
    <p:sldId id="464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00" autoAdjust="0"/>
    <p:restoredTop sz="90769" autoAdjust="0"/>
  </p:normalViewPr>
  <p:slideViewPr>
    <p:cSldViewPr>
      <p:cViewPr varScale="1">
        <p:scale>
          <a:sx n="83" d="100"/>
          <a:sy n="83" d="100"/>
        </p:scale>
        <p:origin x="183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C83ACE6E-E1BC-4910-BAA7-4D697A18B663}" type="datetimeFigureOut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3D8380E-6132-4EFE-B435-9DFBAC4F7EC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Compromise : </a:t>
            </a:r>
            <a:r>
              <a:rPr lang="en-US" altLang="en-US" dirty="0" err="1"/>
              <a:t>sự</a:t>
            </a:r>
            <a:r>
              <a:rPr lang="en-US" altLang="en-US" dirty="0"/>
              <a:t> </a:t>
            </a:r>
            <a:r>
              <a:rPr lang="en-US" altLang="en-US" dirty="0" err="1"/>
              <a:t>thỏa</a:t>
            </a:r>
            <a:r>
              <a:rPr lang="en-US" altLang="en-US" dirty="0"/>
              <a:t> </a:t>
            </a:r>
            <a:r>
              <a:rPr lang="en-US" altLang="en-US" dirty="0" err="1"/>
              <a:t>hiệp</a:t>
            </a:r>
            <a:endParaRPr lang="en-US" altLang="en-US" dirty="0"/>
          </a:p>
          <a:p>
            <a:r>
              <a:rPr lang="en-US" altLang="en-US" dirty="0"/>
              <a:t>Inherently: </a:t>
            </a:r>
            <a:r>
              <a:rPr lang="en-US" altLang="en-US" dirty="0" err="1"/>
              <a:t>vốn</a:t>
            </a:r>
            <a:r>
              <a:rPr lang="en-US" altLang="en-US" dirty="0"/>
              <a:t> </a:t>
            </a:r>
            <a:r>
              <a:rPr lang="en-US" altLang="en-US" dirty="0" err="1"/>
              <a:t>dĩ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Consecutive: </a:t>
            </a:r>
            <a:r>
              <a:rPr lang="en-US" altLang="en-US" dirty="0" err="1"/>
              <a:t>liên</a:t>
            </a:r>
            <a:r>
              <a:rPr lang="en-US" altLang="en-US" dirty="0"/>
              <a:t> </a:t>
            </a:r>
            <a:r>
              <a:rPr lang="en-US" altLang="en-US" dirty="0" err="1"/>
              <a:t>tiếp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b="1" i="0" dirty="0">
                <a:solidFill>
                  <a:srgbClr val="5F6368"/>
                </a:solidFill>
                <a:effectLst/>
                <a:latin typeface="arial" panose="020B0604020202020204" pitchFamily="34" charset="0"/>
              </a:rPr>
              <a:t>Dump definition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 to drop or let fall in a mass; fling down or drop heavily or suddenly</a:t>
            </a:r>
          </a:p>
          <a:p>
            <a:r>
              <a:rPr lang="en-US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Mass: </a:t>
            </a:r>
            <a:r>
              <a:rPr lang="en-US" altLang="en-US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lang="en-US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đống,một</a:t>
            </a:r>
            <a:r>
              <a:rPr lang="en-US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khối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computing, specifically in Unix and Unix-like operating systems, a raw device is a special kind of logical device associated with a character device file that allows a storage device such as a hard disk drive to be accessed directly, bypassing the operating system's caches and buffers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-"/>
            </a:pPr>
            <a:r>
              <a:rPr lang="en-US" altLang="en-US" dirty="0"/>
              <a:t>Traverse: </a:t>
            </a:r>
            <a:r>
              <a:rPr lang="en-US" altLang="en-US" dirty="0" err="1"/>
              <a:t>đi</a:t>
            </a:r>
            <a:r>
              <a:rPr lang="en-US" altLang="en-US"/>
              <a:t> qua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cache is a reserved storage location that collects temporary data to help websites, browsers, and apps load faster. Whether it's a computer, laptop or phone, web browser or app, you'll find some variety of a cache.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cache makes it easy to quickly retrieve data, which in turn helps devices run faster. It acts like a memory bank, making it easy to access data locally instead of redownloading it every time you visit a website or open an app.</a:t>
            </a:r>
          </a:p>
          <a:p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01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stores the attributes and disk block locations of the object's data.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endParaRPr lang="en-US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143000" lvl="2" indent="-228600" algn="just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CBBC1-8BF0-4B23-BB4C-62224A9C03A0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5079DF-A9E7-4F64-BDE2-C3936A2184D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44185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74C9E-799C-4164-AD7D-22A2420A8F77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4D73F-314D-46FD-8DED-AF0E543FFF2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89260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E2047-675D-479F-BBFD-0D2D3E499450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E3A877-2D68-477C-BB4D-CFAF2F492AE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61469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0B24D-870F-4864-A9A2-1179A614F235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20FA5C-2159-475B-AA5C-85D07EC5B12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73269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4FB3A-8546-476D-8F9D-5D3C8CAE8DCB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79929C-5936-457D-BA95-3F609D2CE48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04756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8B8521-DCA2-4280-BA3E-20E36072609C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E0A75F-3F93-45FE-95B6-09875959817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132125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1E67A4-10E0-4B16-B3C5-37983310ECDB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F65510-8086-40BB-922F-6F466C0CA64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4187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E7E0A-DF87-4F00-A1FC-7552A24B3A62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CDEB9-2CAC-4AB1-AEEB-9DCD2AEEDF75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426360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C0D05-1939-4935-A2CA-C2D548FA563D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18994F-6643-4D85-83E3-D6EE4AF6049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765212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E92F6-B0BE-49D1-A145-8EA23D4C03D0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075AF1-3E51-4DB6-ABB1-28649833E18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4341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29E5C-0232-4515-9988-452D1C99BDFE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4B4ED5-432F-4365-9A3C-9B1A15DC75E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522121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9235C-A4DD-418F-9DE4-30424743CA7A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BADEA-13E0-498C-9343-831441B598B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950987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53CB7-FABE-409C-9206-0095EE60035E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417ECD-634B-4719-A955-8602C719D56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987314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08D67015-D367-42A2-9A02-8F9C8644FB62}" type="datetime1">
              <a:rPr lang="en-US"/>
              <a:pPr>
                <a:defRPr/>
              </a:pPr>
              <a:t>10/17/2021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37B6CC45-10C7-4766-9175-F097DF1E132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22098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Optimization</a:t>
            </a:r>
            <a:b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39267" name="Rectangle 3"/>
          <p:cNvSpPr>
            <a:spLocks noGrp="1"/>
          </p:cNvSpPr>
          <p:nvPr>
            <p:ph type="body" idx="1"/>
          </p:nvPr>
        </p:nvSpPr>
        <p:spPr>
          <a:xfrm>
            <a:off x="0" y="762000"/>
            <a:ext cx="9144000" cy="60960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information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stored and hides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complexity on the storage devices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users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 information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a convenient way and a uniform logical view 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stored on disks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Contiguous, Linked List, Linked List using a Table in Memory (FAT),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i-nodes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(same as multi-level paging)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Fixed size entries, one per file containing file name &amp; attributes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Name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fixed size, part of block, stored in heap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Utilities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3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LFS (write data to end the log and using cleaner thread)</a:t>
            </a:r>
          </a:p>
          <a:p>
            <a:pPr lvl="3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JFS (store log file and using atomic transaction)</a:t>
            </a:r>
          </a:p>
          <a:p>
            <a:pPr lvl="3" algn="just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VFS (uniform logical view for file system)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139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39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39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39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139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39267" name="Rectangle 3"/>
          <p:cNvSpPr>
            <a:spLocks noGrp="1"/>
          </p:cNvSpPr>
          <p:nvPr>
            <p:ph type="body" idx="1"/>
          </p:nvPr>
        </p:nvSpPr>
        <p:spPr>
          <a:xfrm>
            <a:off x="0" y="762000"/>
            <a:ext cx="9144000" cy="60960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Abstraction, Object and Mechanism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Name, Path (absolute vs. relative), Structure, Type, Access, Attributes, Operations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Directory (Single level vs. Hierarchy)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/hard linking (using one i-node)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Symbolic linking (using larger than one i-node that references to path of file)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39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3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9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39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762000" y="0"/>
            <a:ext cx="8229600" cy="609600"/>
          </a:xfrm>
        </p:spPr>
        <p:txBody>
          <a:bodyPr/>
          <a:lstStyle/>
          <a:p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Objectives…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457200" y="685800"/>
            <a:ext cx="8686800" cy="61722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Backups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Consistency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Performance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Defragmenting Disks</a:t>
            </a:r>
          </a:p>
          <a:p>
            <a:pPr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CD-ROM File Systems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MS-DOS File Systems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UNIX V7 File Systems</a:t>
            </a:r>
          </a:p>
          <a:p>
            <a:pPr lvl="1">
              <a:lnSpc>
                <a:spcPct val="90000"/>
              </a:lnSpc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 idx="4294967295"/>
          </p:nvPr>
        </p:nvSpPr>
        <p:spPr>
          <a:xfrm>
            <a:off x="1752600" y="0"/>
            <a:ext cx="74676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size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are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fixed-size blocks of bytes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necessarily adjacent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large the block should be?</a:t>
            </a:r>
          </a:p>
          <a:p>
            <a:pPr lvl="2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</a:p>
          <a:p>
            <a:pPr lvl="3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efficiently read, but waste of HDD space</a:t>
            </a:r>
          </a:p>
          <a:p>
            <a:pPr lvl="2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</a:p>
          <a:p>
            <a:pPr lvl="3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good use of HDD space</a:t>
            </a:r>
          </a:p>
          <a:p>
            <a:pPr lvl="3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 multiple blocks </a:t>
            </a:r>
          </a:p>
          <a:p>
            <a:pPr lvl="3"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disk accesses to read a file (reduce performance – waste time)</a:t>
            </a:r>
          </a:p>
          <a:p>
            <a:pPr lvl="1"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compromise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chosen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and space utilization are inherently in conflict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size better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mean size (~2KB)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read (1KB), just written (2.3 KB), and read and written (4.2KB)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717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 track of Free Blocks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How to keep track of free blocks?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 method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Using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of disk blocks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Each block holding as many free disk block numbers as will fit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 method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bitmap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disk with n blocks requires a bitmap with n bits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Free blocks are represented by 1s in the map, allocated blocks by 0s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bitmap requires less space than linked list model. However, the disk is full, the linked list require fewer blocks than the bitmap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the free blocks tend to come in long runs of consecutive blocks, the free list system can be modified to keep track of runs of blocks than single blocks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basic empty disk represented by two number: address of first free block, count of free block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disk becomes fragmented, keeping track of runs is less efficient than keeping track of individual blocks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pic>
        <p:nvPicPr>
          <p:cNvPr id="8195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82296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4191000" y="6096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4-22.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6246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 Quotas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prevent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hogging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too much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 space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multi-user OS often provide a mechanism for enforcing disk quotas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assigns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allotment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makes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sure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do not exceed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their quotas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do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opens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 addresses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located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open file table in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Among the attributes is an entry telling who the owner is.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Any increases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the file’s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will be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charged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owner’s quota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 table contains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quota record for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every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currently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even if the file was opened by someone else. It is an extract from a quota file on disk for users whose files are currently open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all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 back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quota file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When a new entry is made in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open file table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owner’s quota record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entered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it, to make it easy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various limits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Every time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blocks charged to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incremented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and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made against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both hard and soft limits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attempt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examines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quota files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 see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has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exceeded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soft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for either numbers of files or number of disks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4191000" y="60960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4-24.</a:t>
            </a:r>
          </a:p>
        </p:txBody>
      </p:sp>
      <p:pic>
        <p:nvPicPr>
          <p:cNvPr id="10244" name="Picture 5" descr="04-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6943725" cy="420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6246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6096000" cy="58674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Backups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Recover data from disaster or from accidentally errors 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Making a backup takes a long time and occupies a large mount of space, so doing efficiently and conveniently is important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backup only specific directories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incremental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dumps</a:t>
            </a:r>
          </a:p>
          <a:p>
            <a:pPr lvl="3" algn="just">
              <a:lnSpc>
                <a:spcPct val="8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backup only what was modified from the last backup</a:t>
            </a:r>
          </a:p>
          <a:p>
            <a:pPr lvl="3" algn="just">
              <a:lnSpc>
                <a:spcPct val="8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can make recovery complicated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compression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Physical dump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0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of disk, writes all the disk blocks onto the output tap in order, and stops when it has copied the last one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value in backing up unused disk blocks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Dumping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bad block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simplicity, great speed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inability to skip selected directories, make incremental dumps, and restore individual files upon request</a:t>
            </a: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1066800"/>
            <a:ext cx="570547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257800" y="6172200"/>
            <a:ext cx="32004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2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2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2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62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24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24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24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1229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Backups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Logical dump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at one or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more specified directories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recursively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dumps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 files and directories found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there that have changed since some given base date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Dumps all directories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(even unmodified ones)</a:t>
            </a:r>
          </a:p>
        </p:txBody>
      </p:sp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514600"/>
            <a:ext cx="516255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7620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6656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Consistency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Many file system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modify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them,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out later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crashes before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all the modified blocks have been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 out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the file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left in an inconsistent state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some of the blocks that have not been written out are i-node blocks, directory block, or block containing the free list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Using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utility program checks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consistency in booting or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 a crash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scandisk, fsck – fix sick file system)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 kinds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of consistency: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check for block 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builds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two table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each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containing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for each block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(set 0)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counter 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16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table keep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track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 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present in a file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counter in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table record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often </a:t>
            </a:r>
            <a:r>
              <a:rPr lang="en-US" alt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 block is present in the free list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then reads all the i-nodes using a raw device, which ignores the file structure and just returns all the disk blocks starting at 0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At each block is read, its counter in first table is incremented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then examines the free list to find all the block that are not uses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Each occurrence of a block in the free list results in its counter in the 2</a:t>
            </a:r>
            <a:r>
              <a:rPr lang="en-US" altLang="en-US" sz="16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table increased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65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65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65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65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61E179-08DC-4955-9C18-24FB9F2AB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378311"/>
            <a:ext cx="7766180" cy="35652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FB48EE-F248-489B-8BFF-AF75B256CBA9}"/>
              </a:ext>
            </a:extLst>
          </p:cNvPr>
          <p:cNvSpPr/>
          <p:nvPr/>
        </p:nvSpPr>
        <p:spPr>
          <a:xfrm>
            <a:off x="724930" y="5943600"/>
            <a:ext cx="77661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529"/>
                </a:solidFill>
                <a:latin typeface="Roboto"/>
              </a:rPr>
              <a:t>Block Consistency Check Block number Consistent Duplicate block in free list Missing block Duplicate data block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411D0F-5C87-455A-A8A8-13600E450C97}"/>
              </a:ext>
            </a:extLst>
          </p:cNvPr>
          <p:cNvSpPr/>
          <p:nvPr/>
        </p:nvSpPr>
        <p:spPr>
          <a:xfrm>
            <a:off x="609600" y="1160491"/>
            <a:ext cx="815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12529"/>
                </a:solidFill>
                <a:latin typeface="Roboto"/>
              </a:rPr>
              <a:t>Block and files consistency check Block consistency check: • Two tables are builds each contains a counter for all blocks • Program reads all </a:t>
            </a:r>
            <a:r>
              <a:rPr lang="en-US" dirty="0" err="1">
                <a:solidFill>
                  <a:srgbClr val="212529"/>
                </a:solidFill>
                <a:latin typeface="Roboto"/>
              </a:rPr>
              <a:t>i</a:t>
            </a:r>
            <a:r>
              <a:rPr lang="en-US" dirty="0">
                <a:solidFill>
                  <a:srgbClr val="212529"/>
                </a:solidFill>
                <a:latin typeface="Roboto"/>
              </a:rPr>
              <a:t>-nodes to find used blocks and updates first table • Program examines free list/bit map to find not used blocks and updates second table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6963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 Consistency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check for directory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uses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counters per files 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These counts start at 1 when a file is created and are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incremented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 time a link is made to the file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Traverse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directory tree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incremented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i-node in every directory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the checker is all done, it has a list, indexed by i-node number, telling how many directories contain each file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then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compares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these numbers with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 counts stored in the i-node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themselves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counts will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agree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 count is higher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are removed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i-node will not be removed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serious errors and cause waste space)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setting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 count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the i-node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to the correct value</a:t>
            </a:r>
          </a:p>
          <a:p>
            <a:pPr lvl="3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 count is lower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 directory entries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i-node present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 one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(disaster and all blocks is release when the file is removed → the one of directories points to an unused i-node) →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force the link count in i-node to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actual number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of directory entries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1741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Performance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much slower than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access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must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seek to track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desired sector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arrive under the read head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Many file systems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have been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with various optimizations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(Block cache or buffer cache)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a collection 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logically belong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 the disk but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are being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kept in memory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Check all read request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see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if the needed block is in the cache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If it is,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accessing without disk access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into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coping to wherever it is needed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access quickly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hash table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is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a block has to be loaded into a full cache, the usual page replacement algorithms is applied (LRU is best)</a:t>
            </a:r>
          </a:p>
          <a:p>
            <a:pPr lvl="2" algn="just"/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4267200"/>
          </a:xfrm>
        </p:spPr>
        <p:txBody>
          <a:bodyPr/>
          <a:lstStyle/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Performance</a:t>
            </a:r>
          </a:p>
          <a:p>
            <a:pPr lvl="1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(Block cache or buffer cache)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3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likely to be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 again soon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3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essential to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of the file system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2" algn="just"/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blocks can be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-node blocks, indirect block, directory blocks, full data blocks, and partially full data blocks</a:t>
            </a:r>
          </a:p>
          <a:p>
            <a:pPr lvl="3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that will probably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be needed again soon go on the front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the rear of the LRU list, so their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buffers will be reused quickly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might be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 again soon,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 partly full block that is being written,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the end of the list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they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stay around for a long time</a:t>
            </a:r>
          </a:p>
          <a:p>
            <a:pPr lvl="3"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block is essential to the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consistency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been modified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immediately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crash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8436" name="Picture 4" descr="04-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254625"/>
            <a:ext cx="4419600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6172200" y="56388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4-28.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6758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Performance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Read Ahead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Try to get blocks into the cache before they are needed to increase the hit rate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Many files are read sequentially. When the file system is asked to produce block k in a file, it does that, but when it is finished, it makes a sneaky check in the cache to see if block k + 1 is already there. If it is not, it schedules a read for block k + 1 in the hope that when it is needed, it will have already arrived in the cache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file system can keep track of the access patterns to each open file. Initially, the file is given the sequential access mode. Whenever a seek is done, the bit is cleared. If sequential reads start happening again, the bit is set once again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6758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Performance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Read Ahead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get blocks into the cache before they are needed to increase the hit rate</a:t>
            </a:r>
          </a:p>
          <a:p>
            <a:pPr lvl="2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files are read sequentially. When the file system is asked to produce block k in a file, it does that, but when it is finished, it makes a sneaky check in the cache to see if block k + 1 is already there. If it is not, it schedules a read for block k + 1 in the hope that when it is needed, it will have already arrived in the cache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file system can keep track of the access patterns to each open file. Initially, the file is given the sequential access mode. Whenever a seek is done, the bit is cleared. If sequential reads start happening again, the bit is set once again</a:t>
            </a:r>
          </a:p>
        </p:txBody>
      </p:sp>
    </p:spTree>
    <p:extLst>
      <p:ext uri="{BB962C8B-B14F-4D97-AF65-F5344CB8AC3E}">
        <p14:creationId xmlns:p14="http://schemas.microsoft.com/office/powerpoint/2010/main" val="1634502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2048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Performance</a:t>
            </a:r>
          </a:p>
          <a:p>
            <a:pPr lvl="1"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Disk Arm Motion</a:t>
            </a:r>
          </a:p>
          <a:p>
            <a:pPr lvl="2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blocks that are likely to be accessed in sequence close to each other, preferably in the same cylinder</a:t>
            </a:r>
          </a:p>
          <a:p>
            <a:pPr lvl="2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disk storage not in blocks, but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groups of consecutive blocks</a:t>
            </a:r>
          </a:p>
          <a:p>
            <a:pPr lvl="2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allocating blocks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consecutive blocks in a file in the same cylinder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(rotational positioning)</a:t>
            </a:r>
          </a:p>
          <a:p>
            <a:pPr lvl="2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-nodes in the middle of the disk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at the start, thus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average seek between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-node and the first block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 factor of two</a:t>
            </a:r>
          </a:p>
          <a:p>
            <a:pPr lvl="2"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into cylinder groups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own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free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list. When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new file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-node can be chose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an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is made to find a block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cylinder group as the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none is available, then a block in a near by cylinder group is used</a:t>
            </a:r>
          </a:p>
          <a:p>
            <a:pPr lvl="2"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pic>
        <p:nvPicPr>
          <p:cNvPr id="21507" name="Picture 4" descr="04-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8353425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3276600" y="56388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4-29.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&amp; Optimization 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Management</a:t>
            </a:r>
          </a:p>
        </p:txBody>
      </p:sp>
      <p:sp>
        <p:nvSpPr>
          <p:cNvPr id="22531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Performance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Defragmenting Disks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Disks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become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badly fragmented with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holes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all over the place →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giving poor performance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when new file is created</a:t>
            </a:r>
          </a:p>
          <a:p>
            <a:pPr lvl="2" algn="just"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moving files around o make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them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contiguous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put all of the free space in one or more large contiguous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regions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on the disk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CD-ROM File Systems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because they were designed for write once media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no provision for keeping tracking of free blocks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have concentric cylinders instead of a single continuous spiral containing the bits in a linear sequence. The bits along the spiral are divided into logical blocks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CD-R 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possible to add files after the initial burning, but these are simply appended to the end of the CD-R 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free space is in one contiguous chunk at the end of the CD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are never removed (although directory can be updated to hide existing files)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9960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International Standard in 1998</a:t>
            </a:r>
          </a:p>
          <a:p>
            <a:pPr lvl="1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every CD-ROM readable on every computer, independent of the byte ordering used and independent of the OS used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  <a:b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CD-ROM File Systems</a:t>
            </a:r>
          </a:p>
        </p:txBody>
      </p:sp>
      <p:sp>
        <p:nvSpPr>
          <p:cNvPr id="24579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Rock Ridge Extensions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the UNIX community began working on an extension to make it possible to represent UNIX file systems on a CD-ROM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 the System use field in order to make Rock Ridge CD-ROMs readable on any computer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Any system not aware of the Rock Ridge extensions just ignores them and sees a normal CD-ROM</a:t>
            </a:r>
          </a:p>
          <a:p>
            <a:pPr lvl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Rock Ridge extension fields: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PX - POSIX attributes.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PN - Major and minor device numbers.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SL - Symbolic link.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NM - Alternative name.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 - Child location.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PL - Parent location.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 - Relocation.</a:t>
            </a:r>
          </a:p>
          <a:p>
            <a:pPr lvl="2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TF - Time stamps.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  <a:b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CD-ROM File Systems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Joliet Extensions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invented by Microsoft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Were designed to allow Windows file systems to be copied to CD-ROM and then restored, in precisely the same way that Rock Ridge was designed for UNIX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Joliet extension fields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Long file names.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Unicode character set.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Directory nesting deeper than eight levels.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Directory names with extensions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  <a:b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MS-DOS File System</a:t>
            </a:r>
          </a:p>
        </p:txBody>
      </p:sp>
      <p:sp>
        <p:nvSpPr>
          <p:cNvPr id="2662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read a file, MS-DOS must first make an open system call to specifies a path that is looked up component to component until the final directory is located and read into memory. It is then searched for the file to be opened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Use a fixed-size 32 byte directory entry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File names (8 + 3) characters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file size as a 32 bit number (can be large as 2GB)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Keeps track of file blocks via a FAT in main memory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28" name="Picture 4" descr="04-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84725"/>
            <a:ext cx="6934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3124200" y="64008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4-31.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  <a:b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MS-DOS File System</a:t>
            </a:r>
          </a:p>
        </p:txBody>
      </p:sp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4-32.</a:t>
            </a:r>
          </a:p>
        </p:txBody>
      </p:sp>
      <p:pic>
        <p:nvPicPr>
          <p:cNvPr id="27652" name="Picture 6" descr="04-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5400"/>
            <a:ext cx="8001000" cy="476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  <a:b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UNIX V7 File System</a:t>
            </a:r>
          </a:p>
        </p:txBody>
      </p:sp>
      <p:sp>
        <p:nvSpPr>
          <p:cNvPr id="2867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Form of a tree starting at the root directory, with the addition of links, forming a directed acyclic graph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File names are up to 14 characters and can contain any ASCII character except and NULL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UNIX directory entry contains one entry for each file in that directory including file name (14 bytes) and the number of i-node (2 bytes). 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Each entry is extremely simple because it uses the i-node that can contain some attributes</a:t>
            </a:r>
          </a:p>
          <a:p>
            <a:pPr algn="just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676" name="Picture 6" descr="04-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105400"/>
            <a:ext cx="3709988" cy="171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4038600" y="6324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4-33.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1219200" y="0"/>
            <a:ext cx="7924800" cy="11430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  <a:b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UNIX V7 File System</a:t>
            </a:r>
          </a:p>
        </p:txBody>
      </p:sp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4038600" y="6324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4-34.</a:t>
            </a:r>
          </a:p>
        </p:txBody>
      </p:sp>
      <p:pic>
        <p:nvPicPr>
          <p:cNvPr id="29700" name="Picture 6" descr="04-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8229600" cy="512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Directories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Implementation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and Optimization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File Systems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2004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Hardware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I/O Software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Principles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Disk Arm Scheduling Algorithms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Stable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8743</TotalTime>
  <Words>3189</Words>
  <Application>Microsoft Office PowerPoint</Application>
  <PresentationFormat>On-screen Show (4:3)</PresentationFormat>
  <Paragraphs>252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</vt:lpstr>
      <vt:lpstr>Calibri</vt:lpstr>
      <vt:lpstr>Roboto</vt:lpstr>
      <vt:lpstr>Times New Roman</vt:lpstr>
      <vt:lpstr>Wingdings</vt:lpstr>
      <vt:lpstr>Office Theme</vt:lpstr>
      <vt:lpstr>File System   File System Management  and Optimization Example File Systems </vt:lpstr>
      <vt:lpstr>Review</vt:lpstr>
      <vt:lpstr>Review</vt:lpstr>
      <vt:lpstr>Objectives…</vt:lpstr>
      <vt:lpstr>File System Management &amp; Optimization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File System Management &amp; Optimization   Disk Space Management</vt:lpstr>
      <vt:lpstr>Example File Systems  CD-ROM File Systems</vt:lpstr>
      <vt:lpstr>Example File Systems  CD-ROM File Systems</vt:lpstr>
      <vt:lpstr>Example File Systems  CD-ROM File Systems</vt:lpstr>
      <vt:lpstr>Example File Systems  MS-DOS File System</vt:lpstr>
      <vt:lpstr>Example File Systems  MS-DOS File System</vt:lpstr>
      <vt:lpstr>Example File Systems  UNIX V7 File System</vt:lpstr>
      <vt:lpstr>Example File Systems  UNIX V7 File System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1981</cp:revision>
  <dcterms:created xsi:type="dcterms:W3CDTF">2007-08-21T04:43:22Z</dcterms:created>
  <dcterms:modified xsi:type="dcterms:W3CDTF">2021-10-17T11:12:53Z</dcterms:modified>
</cp:coreProperties>
</file>