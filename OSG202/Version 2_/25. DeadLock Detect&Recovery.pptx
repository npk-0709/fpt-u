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39"/>
  </p:notesMasterIdLst>
  <p:sldIdLst>
    <p:sldId id="256" r:id="rId2"/>
    <p:sldId id="485" r:id="rId3"/>
    <p:sldId id="491" r:id="rId4"/>
    <p:sldId id="492" r:id="rId5"/>
    <p:sldId id="488" r:id="rId6"/>
    <p:sldId id="489" r:id="rId7"/>
    <p:sldId id="490" r:id="rId8"/>
    <p:sldId id="359" r:id="rId9"/>
    <p:sldId id="362" r:id="rId10"/>
    <p:sldId id="400" r:id="rId11"/>
    <p:sldId id="406" r:id="rId12"/>
    <p:sldId id="408" r:id="rId13"/>
    <p:sldId id="409" r:id="rId14"/>
    <p:sldId id="407" r:id="rId15"/>
    <p:sldId id="412" r:id="rId16"/>
    <p:sldId id="410" r:id="rId17"/>
    <p:sldId id="411" r:id="rId18"/>
    <p:sldId id="374" r:id="rId19"/>
    <p:sldId id="426" r:id="rId20"/>
    <p:sldId id="376" r:id="rId21"/>
    <p:sldId id="375" r:id="rId22"/>
    <p:sldId id="413" r:id="rId23"/>
    <p:sldId id="415" r:id="rId24"/>
    <p:sldId id="401" r:id="rId25"/>
    <p:sldId id="421" r:id="rId26"/>
    <p:sldId id="427" r:id="rId27"/>
    <p:sldId id="417" r:id="rId28"/>
    <p:sldId id="382" r:id="rId29"/>
    <p:sldId id="418" r:id="rId30"/>
    <p:sldId id="463" r:id="rId31"/>
    <p:sldId id="464" r:id="rId32"/>
    <p:sldId id="465" r:id="rId33"/>
    <p:sldId id="419" r:id="rId34"/>
    <p:sldId id="377" r:id="rId35"/>
    <p:sldId id="461" r:id="rId36"/>
    <p:sldId id="394" r:id="rId37"/>
    <p:sldId id="484" r:id="rId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66FFFF"/>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59" autoAdjust="0"/>
    <p:restoredTop sz="94674" autoAdjust="0"/>
  </p:normalViewPr>
  <p:slideViewPr>
    <p:cSldViewPr>
      <p:cViewPr varScale="1">
        <p:scale>
          <a:sx n="86" d="100"/>
          <a:sy n="86" d="100"/>
        </p:scale>
        <p:origin x="1709" y="67"/>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FBC511D7-DD88-4135-90A9-38EF5B6DEAF0}" type="datetimeFigureOut">
              <a:rPr lang="en-US"/>
              <a:pPr>
                <a:defRPr/>
              </a:pPr>
              <a:t>11/2/2021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A86C30C9-9451-4120-908B-26A2BEF81F9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extLst>
      <p:ext uri="{BB962C8B-B14F-4D97-AF65-F5344CB8AC3E}">
        <p14:creationId xmlns:p14="http://schemas.microsoft.com/office/powerpoint/2010/main" val="1383849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extLst>
      <p:ext uri="{BB962C8B-B14F-4D97-AF65-F5344CB8AC3E}">
        <p14:creationId xmlns:p14="http://schemas.microsoft.com/office/powerpoint/2010/main" val="1934246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Garble : </a:t>
            </a:r>
            <a:r>
              <a:rPr lang="en-US" altLang="en-US" dirty="0" err="1"/>
              <a:t>cắt</a:t>
            </a:r>
            <a:r>
              <a:rPr lang="en-US" altLang="en-US" dirty="0"/>
              <a:t> </a:t>
            </a:r>
            <a:r>
              <a:rPr lang="en-US" altLang="en-US" dirty="0" err="1"/>
              <a:t>bớt</a:t>
            </a:r>
            <a:r>
              <a:rPr lang="en-US" altLang="en-US" dirty="0"/>
              <a:t>, </a:t>
            </a:r>
            <a:r>
              <a:rPr lang="en-US" altLang="en-US" dirty="0" err="1"/>
              <a:t>chọn</a:t>
            </a:r>
            <a:r>
              <a:rPr lang="en-US" altLang="en-US" dirty="0"/>
              <a:t> ra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r>
              <a:rPr lang="en-US" altLang="en-US" dirty="0"/>
              <a:t>Acquisition : </a:t>
            </a:r>
            <a:r>
              <a:rPr lang="en-US" altLang="en-US" dirty="0" err="1"/>
              <a:t>sư</a:t>
            </a:r>
            <a:r>
              <a:rPr lang="en-US" altLang="en-US" dirty="0"/>
              <a:t> </a:t>
            </a:r>
            <a:r>
              <a:rPr lang="en-US" altLang="en-US" dirty="0" err="1"/>
              <a:t>thâu</a:t>
            </a:r>
            <a:r>
              <a:rPr lang="en-US" altLang="en-US" dirty="0"/>
              <a:t> dc</a:t>
            </a:r>
          </a:p>
          <a:p>
            <a:pPr marL="228600" indent="-228600"/>
            <a:r>
              <a:rPr lang="en-US" altLang="en-US" dirty="0"/>
              <a:t>Semaphore : </a:t>
            </a:r>
            <a:r>
              <a:rPr lang="en-US" altLang="en-US" dirty="0" err="1"/>
              <a:t>sư</a:t>
            </a:r>
            <a:r>
              <a:rPr lang="en-US" altLang="en-US" dirty="0"/>
              <a:t> ra </a:t>
            </a:r>
            <a:r>
              <a:rPr lang="en-US" altLang="en-US" dirty="0" err="1"/>
              <a:t>hiệu</a:t>
            </a:r>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Noun. </a:t>
            </a:r>
            <a:r>
              <a:rPr lang="en-US" sz="1200" b="1" i="0" kern="1200" dirty="0">
                <a:solidFill>
                  <a:schemeClr val="tx1"/>
                </a:solidFill>
                <a:effectLst/>
                <a:latin typeface="+mn-lt"/>
                <a:ea typeface="+mn-ea"/>
                <a:cs typeface="+mn-cs"/>
              </a:rPr>
              <a:t>mutex</a:t>
            </a:r>
            <a:r>
              <a:rPr lang="en-US" sz="1200" b="0" i="0" kern="1200" dirty="0">
                <a:solidFill>
                  <a:schemeClr val="tx1"/>
                </a:solidFill>
                <a:effectLst/>
                <a:latin typeface="+mn-lt"/>
                <a:ea typeface="+mn-ea"/>
                <a:cs typeface="+mn-cs"/>
              </a:rPr>
              <a:t> (plural </a:t>
            </a:r>
            <a:r>
              <a:rPr lang="en-US" sz="1200" b="1" i="0" kern="1200" dirty="0">
                <a:solidFill>
                  <a:schemeClr val="tx1"/>
                </a:solidFill>
                <a:effectLst/>
                <a:latin typeface="+mn-lt"/>
                <a:ea typeface="+mn-ea"/>
                <a:cs typeface="+mn-cs"/>
              </a:rPr>
              <a:t>mutexes</a:t>
            </a:r>
            <a:r>
              <a:rPr lang="en-US" sz="1200" b="0" i="0" kern="1200" dirty="0">
                <a:solidFill>
                  <a:schemeClr val="tx1"/>
                </a:solidFill>
                <a:effectLst/>
                <a:latin typeface="+mn-lt"/>
                <a:ea typeface="+mn-ea"/>
                <a:cs typeface="+mn-cs"/>
              </a:rPr>
              <a:t>) (programming) An object in a program that serves as a lock, used to negotiate mutual exclusion among threads.</a:t>
            </a:r>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Tx/>
              <a:buAutoNum type="alphaLcPeriod"/>
            </a:pPr>
            <a:r>
              <a:rPr lang="en-US" altLang="en-US" sz="1200" dirty="0">
                <a:latin typeface="Times New Roman" panose="02020603050405020304" pitchFamily="18" charset="0"/>
                <a:cs typeface="Times New Roman" panose="02020603050405020304" pitchFamily="18" charset="0"/>
              </a:rPr>
              <a:t>Acquisition : </a:t>
            </a:r>
            <a:r>
              <a:rPr lang="en-US" altLang="en-US" sz="1200" dirty="0" err="1">
                <a:latin typeface="Times New Roman" panose="02020603050405020304" pitchFamily="18" charset="0"/>
                <a:cs typeface="Times New Roman" panose="02020603050405020304" pitchFamily="18" charset="0"/>
              </a:rPr>
              <a:t>sư</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thu</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được</a:t>
            </a:r>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dirty="0"/>
              <a:t>to retreat and hold their grounds : </a:t>
            </a:r>
            <a:r>
              <a:rPr lang="en-US" sz="1200" dirty="0" err="1"/>
              <a:t>rút</a:t>
            </a:r>
            <a:r>
              <a:rPr lang="en-US" sz="1200" dirty="0"/>
              <a:t> </a:t>
            </a:r>
            <a:r>
              <a:rPr lang="en-US" sz="1200" dirty="0" err="1"/>
              <a:t>lui</a:t>
            </a:r>
            <a:r>
              <a:rPr lang="en-US" sz="1200" dirty="0"/>
              <a:t> </a:t>
            </a:r>
            <a:r>
              <a:rPr lang="en-US" sz="1200" dirty="0" err="1"/>
              <a:t>và</a:t>
            </a:r>
            <a:r>
              <a:rPr lang="en-US" sz="1200" dirty="0"/>
              <a:t> </a:t>
            </a:r>
            <a:r>
              <a:rPr lang="en-US" sz="1200" dirty="0" err="1"/>
              <a:t>giu</a:t>
            </a:r>
            <a:r>
              <a:rPr lang="en-US" sz="1200" dirty="0"/>
              <a:t> </a:t>
            </a:r>
            <a:r>
              <a:rPr lang="en-US" sz="1200" dirty="0" err="1"/>
              <a:t>vững</a:t>
            </a:r>
            <a:r>
              <a:rPr lang="en-US" sz="1200" dirty="0"/>
              <a:t> </a:t>
            </a:r>
            <a:r>
              <a:rPr lang="en-US" sz="1200" dirty="0" err="1"/>
              <a:t>lý</a:t>
            </a:r>
            <a:r>
              <a:rPr lang="en-US" sz="1200" dirty="0"/>
              <a:t> </a:t>
            </a:r>
            <a:r>
              <a:rPr lang="en-US" sz="1200" dirty="0" err="1"/>
              <a:t>lẽ</a:t>
            </a:r>
            <a:r>
              <a:rPr lang="en-US" sz="1200" dirty="0"/>
              <a:t> </a:t>
            </a:r>
            <a:r>
              <a:rPr lang="en-US" sz="1200" dirty="0" err="1"/>
              <a:t>của</a:t>
            </a:r>
            <a:r>
              <a:rPr lang="en-US" sz="1200" dirty="0"/>
              <a:t> </a:t>
            </a:r>
            <a:r>
              <a:rPr lang="en-US" sz="1200" dirty="0" err="1"/>
              <a:t>họ</a:t>
            </a: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Prevented at all costs :</a:t>
            </a:r>
            <a:r>
              <a:rPr lang="en-US" altLang="en-US" dirty="0" err="1"/>
              <a:t>ngăn</a:t>
            </a:r>
            <a:r>
              <a:rPr lang="en-US" altLang="en-US" dirty="0"/>
              <a:t> </a:t>
            </a:r>
            <a:r>
              <a:rPr lang="en-US" altLang="en-US" dirty="0" err="1"/>
              <a:t>chặn</a:t>
            </a:r>
            <a:r>
              <a:rPr lang="en-US" altLang="en-US" dirty="0"/>
              <a:t> </a:t>
            </a:r>
            <a:r>
              <a:rPr lang="en-US" altLang="en-US" dirty="0" err="1"/>
              <a:t>bằng</a:t>
            </a:r>
            <a:r>
              <a:rPr lang="en-US" altLang="en-US" dirty="0"/>
              <a:t> </a:t>
            </a:r>
            <a:r>
              <a:rPr lang="en-US" altLang="en-US" dirty="0" err="1"/>
              <a:t>mọi</a:t>
            </a:r>
            <a:r>
              <a:rPr lang="en-US" altLang="en-US" dirty="0"/>
              <a:t> </a:t>
            </a:r>
            <a:r>
              <a:rPr lang="en-US" altLang="en-US"/>
              <a:t>giá</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Arc: </a:t>
            </a:r>
            <a:r>
              <a:rPr lang="en-US" altLang="en-US" dirty="0" err="1"/>
              <a:t>vòng</a:t>
            </a:r>
            <a:r>
              <a:rPr lang="en-US" altLang="en-US" dirty="0"/>
              <a:t> </a:t>
            </a:r>
            <a:r>
              <a:rPr lang="en-US" altLang="en-US" dirty="0" err="1"/>
              <a:t>cung</a:t>
            </a:r>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Times New Roman" panose="02020603050405020304" pitchFamily="18" charset="0"/>
                <a:cs typeface="Times New Roman" panose="02020603050405020304" pitchFamily="18" charset="0"/>
              </a:rPr>
              <a:t>manual intervention : can </a:t>
            </a:r>
            <a:r>
              <a:rPr lang="en-US" altLang="en-US" dirty="0" err="1">
                <a:latin typeface="Times New Roman" panose="02020603050405020304" pitchFamily="18" charset="0"/>
                <a:cs typeface="Times New Roman" panose="02020603050405020304" pitchFamily="18" charset="0"/>
              </a:rPr>
              <a:t>thiệp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thủ</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công</a:t>
            </a:r>
            <a:endParaRPr lang="en-US"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Accumulate: </a:t>
            </a:r>
            <a:r>
              <a:rPr lang="en-US" altLang="en-US" dirty="0" err="1"/>
              <a:t>tích</a:t>
            </a:r>
            <a:r>
              <a:rPr lang="en-US" altLang="en-US" dirty="0"/>
              <a:t> </a:t>
            </a:r>
            <a:r>
              <a:rPr lang="en-US" altLang="en-US" dirty="0" err="1"/>
              <a:t>lũy</a:t>
            </a:r>
            <a:endParaRPr lang="en-US" altLang="en-US" dirty="0"/>
          </a:p>
          <a:p>
            <a:r>
              <a:rPr lang="en-US" altLang="en-US" dirty="0"/>
              <a:t>Acquire : </a:t>
            </a:r>
            <a:r>
              <a:rPr lang="en-US" altLang="en-US" dirty="0" err="1"/>
              <a:t>thu</a:t>
            </a:r>
            <a:r>
              <a:rPr lang="en-US" altLang="en-US" dirty="0"/>
              <a:t> </a:t>
            </a:r>
            <a:r>
              <a:rPr lang="en-US" altLang="en-US" dirty="0" err="1"/>
              <a:t>được</a:t>
            </a:r>
            <a:r>
              <a:rPr lang="en-US" altLang="en-US" dirty="0"/>
              <a:t>, </a:t>
            </a:r>
            <a:r>
              <a:rPr lang="en-US" altLang="en-US" dirty="0" err="1"/>
              <a:t>có</a:t>
            </a:r>
            <a:r>
              <a:rPr lang="en-US" altLang="en-US" dirty="0"/>
              <a:t> </a:t>
            </a:r>
            <a:r>
              <a:rPr lang="en-US" altLang="en-US" dirty="0" err="1"/>
              <a:t>được</a:t>
            </a:r>
            <a:endParaRPr lang="en-US"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Crudest : </a:t>
            </a:r>
            <a:r>
              <a:rPr lang="en-US" altLang="en-US" dirty="0" err="1"/>
              <a:t>thô</a:t>
            </a:r>
            <a:r>
              <a:rPr lang="en-US" altLang="en-US" dirty="0"/>
              <a:t> </a:t>
            </a:r>
            <a:r>
              <a:rPr lang="en-US" altLang="en-US" dirty="0" err="1"/>
              <a:t>thiển</a:t>
            </a:r>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B3574F8D-845A-49E2-A84E-8FAB8ACA295B}"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23B1781D-211E-427C-92AC-332D8E3C10EC}" type="slidenum">
              <a:rPr lang="en-US" altLang="en-US"/>
              <a:pPr/>
              <a:t>‹#›</a:t>
            </a:fld>
            <a:r>
              <a:rPr lang="en-US" altLang="en-US"/>
              <a:t>/40</a:t>
            </a:r>
          </a:p>
        </p:txBody>
      </p:sp>
    </p:spTree>
    <p:extLst>
      <p:ext uri="{BB962C8B-B14F-4D97-AF65-F5344CB8AC3E}">
        <p14:creationId xmlns:p14="http://schemas.microsoft.com/office/powerpoint/2010/main" val="3117345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A2D2D8B-6F4D-4A23-9794-5E3E6A6BF8EA}"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E4D364FD-0F98-44B2-A0E6-B98CE8F75326}" type="slidenum">
              <a:rPr lang="en-US" altLang="en-US"/>
              <a:pPr/>
              <a:t>‹#›</a:t>
            </a:fld>
            <a:r>
              <a:rPr lang="en-US" altLang="en-US"/>
              <a:t>/40</a:t>
            </a:r>
          </a:p>
        </p:txBody>
      </p:sp>
    </p:spTree>
    <p:extLst>
      <p:ext uri="{BB962C8B-B14F-4D97-AF65-F5344CB8AC3E}">
        <p14:creationId xmlns:p14="http://schemas.microsoft.com/office/powerpoint/2010/main" val="3786537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3688CF5-D4E8-4752-87B2-EF78614A4CA1}"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E1E2E76D-F412-4CB8-88A0-0F5DCA62E371}" type="slidenum">
              <a:rPr lang="en-US" altLang="en-US"/>
              <a:pPr/>
              <a:t>‹#›</a:t>
            </a:fld>
            <a:r>
              <a:rPr lang="en-US" altLang="en-US"/>
              <a:t>/40</a:t>
            </a:r>
          </a:p>
        </p:txBody>
      </p:sp>
    </p:spTree>
    <p:extLst>
      <p:ext uri="{BB962C8B-B14F-4D97-AF65-F5344CB8AC3E}">
        <p14:creationId xmlns:p14="http://schemas.microsoft.com/office/powerpoint/2010/main" val="60055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579AF5D-BE52-4D16-8690-1482D897A81D}" type="datetime1">
              <a:rPr lang="en-US"/>
              <a:pPr>
                <a:defRPr/>
              </a:pPr>
              <a:t>11/2/2021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35855940-9E8F-48F0-B750-E11D6206838C}" type="slidenum">
              <a:rPr lang="en-US" altLang="en-US"/>
              <a:pPr/>
              <a:t>‹#›</a:t>
            </a:fld>
            <a:r>
              <a:rPr lang="en-US" altLang="en-US"/>
              <a:t>/40</a:t>
            </a:r>
          </a:p>
        </p:txBody>
      </p:sp>
    </p:spTree>
    <p:extLst>
      <p:ext uri="{BB962C8B-B14F-4D97-AF65-F5344CB8AC3E}">
        <p14:creationId xmlns:p14="http://schemas.microsoft.com/office/powerpoint/2010/main" val="3775168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86E20E3-9E54-4E82-B67B-97565274BE1D}" type="datetime1">
              <a:rPr lang="en-US"/>
              <a:pPr>
                <a:defRPr/>
              </a:pPr>
              <a:t>11/2/2021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E8A0D267-FE50-4E21-9EC0-3B6C396EA5BD}" type="slidenum">
              <a:rPr lang="en-US" altLang="en-US"/>
              <a:pPr/>
              <a:t>‹#›</a:t>
            </a:fld>
            <a:r>
              <a:rPr lang="en-US" altLang="en-US"/>
              <a:t>/40</a:t>
            </a:r>
          </a:p>
        </p:txBody>
      </p:sp>
    </p:spTree>
    <p:extLst>
      <p:ext uri="{BB962C8B-B14F-4D97-AF65-F5344CB8AC3E}">
        <p14:creationId xmlns:p14="http://schemas.microsoft.com/office/powerpoint/2010/main" val="3704064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B0D74E5-8ACC-4233-A44F-467229A88766}" type="datetime1">
              <a:rPr lang="en-US"/>
              <a:pPr>
                <a:defRPr/>
              </a:pPr>
              <a:t>11/2/2021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A285902E-50FC-49D5-ACC4-2F97106073AF}" type="slidenum">
              <a:rPr lang="en-US" altLang="en-US"/>
              <a:pPr/>
              <a:t>‹#›</a:t>
            </a:fld>
            <a:r>
              <a:rPr lang="en-US" altLang="en-US"/>
              <a:t>/40</a:t>
            </a:r>
          </a:p>
        </p:txBody>
      </p:sp>
    </p:spTree>
    <p:extLst>
      <p:ext uri="{BB962C8B-B14F-4D97-AF65-F5344CB8AC3E}">
        <p14:creationId xmlns:p14="http://schemas.microsoft.com/office/powerpoint/2010/main" val="2347133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0F106FB-1B49-4A72-AF7F-EE990E012D28}" type="datetime1">
              <a:rPr lang="en-US"/>
              <a:pPr>
                <a:defRPr/>
              </a:pPr>
              <a:t>11/2/2021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EB2B88E6-80A1-4210-8E4D-2684E673056D}" type="slidenum">
              <a:rPr lang="en-US" altLang="en-US"/>
              <a:pPr/>
              <a:t>‹#›</a:t>
            </a:fld>
            <a:r>
              <a:rPr lang="en-US" altLang="en-US"/>
              <a:t>/40</a:t>
            </a:r>
          </a:p>
        </p:txBody>
      </p:sp>
    </p:spTree>
    <p:extLst>
      <p:ext uri="{BB962C8B-B14F-4D97-AF65-F5344CB8AC3E}">
        <p14:creationId xmlns:p14="http://schemas.microsoft.com/office/powerpoint/2010/main" val="259668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D1965D4-A809-4A52-B914-A91C91CE0546}" type="datetime1">
              <a:rPr lang="en-US"/>
              <a:pPr>
                <a:defRPr/>
              </a:pPr>
              <a:t>11/2/2021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4CC80A0D-0959-45A2-A878-B061458C3983}" type="slidenum">
              <a:rPr lang="en-US" altLang="en-US"/>
              <a:pPr/>
              <a:t>‹#›</a:t>
            </a:fld>
            <a:r>
              <a:rPr lang="en-US" altLang="en-US"/>
              <a:t>/40</a:t>
            </a:r>
          </a:p>
        </p:txBody>
      </p:sp>
    </p:spTree>
    <p:extLst>
      <p:ext uri="{BB962C8B-B14F-4D97-AF65-F5344CB8AC3E}">
        <p14:creationId xmlns:p14="http://schemas.microsoft.com/office/powerpoint/2010/main" val="269770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CBDA6D8-1402-4817-A09A-D12306F68948}" type="datetime1">
              <a:rPr lang="en-US"/>
              <a:pPr>
                <a:defRPr/>
              </a:pPr>
              <a:t>11/2/2021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8B466226-A3EC-4463-8B63-893A36DC3714}" type="slidenum">
              <a:rPr lang="en-US" altLang="en-US"/>
              <a:pPr/>
              <a:t>‹#›</a:t>
            </a:fld>
            <a:r>
              <a:rPr lang="en-US" altLang="en-US"/>
              <a:t>/40</a:t>
            </a:r>
          </a:p>
        </p:txBody>
      </p:sp>
    </p:spTree>
    <p:extLst>
      <p:ext uri="{BB962C8B-B14F-4D97-AF65-F5344CB8AC3E}">
        <p14:creationId xmlns:p14="http://schemas.microsoft.com/office/powerpoint/2010/main" val="1426048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064D59E-8143-4758-9AC1-15E028F63738}"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1ED012C4-769B-4FBD-9ED4-4C2EC513B084}" type="slidenum">
              <a:rPr lang="en-US" altLang="en-US"/>
              <a:pPr/>
              <a:t>‹#›</a:t>
            </a:fld>
            <a:r>
              <a:rPr lang="en-US" altLang="en-US"/>
              <a:t>/40</a:t>
            </a:r>
          </a:p>
        </p:txBody>
      </p:sp>
    </p:spTree>
    <p:extLst>
      <p:ext uri="{BB962C8B-B14F-4D97-AF65-F5344CB8AC3E}">
        <p14:creationId xmlns:p14="http://schemas.microsoft.com/office/powerpoint/2010/main" val="1765321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0C34C1-D677-4E69-B977-773045CDC0B8}"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7B740B38-79BF-4C72-9D1C-9303DA2FB368}" type="slidenum">
              <a:rPr lang="en-US" altLang="en-US"/>
              <a:pPr/>
              <a:t>‹#›</a:t>
            </a:fld>
            <a:r>
              <a:rPr lang="en-US" altLang="en-US"/>
              <a:t>/40</a:t>
            </a:r>
          </a:p>
        </p:txBody>
      </p:sp>
    </p:spTree>
    <p:extLst>
      <p:ext uri="{BB962C8B-B14F-4D97-AF65-F5344CB8AC3E}">
        <p14:creationId xmlns:p14="http://schemas.microsoft.com/office/powerpoint/2010/main" val="1801742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0D5D1902-843A-45A8-B699-7CF3880597D3}" type="datetime1">
              <a:rPr lang="en-US"/>
              <a:pPr>
                <a:defRPr/>
              </a:pPr>
              <a:t>11/2/2021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BF70384F-27BB-4443-BBC6-F4A67EA3C26E}" type="slidenum">
              <a:rPr lang="en-US" altLang="en-US"/>
              <a:pPr/>
              <a:t>‹#›</a:t>
            </a:fld>
            <a:r>
              <a:rPr lang="en-US" altLang="en-US"/>
              <a:t>/40</a:t>
            </a:r>
          </a:p>
        </p:txBody>
      </p:sp>
    </p:spTree>
    <p:extLst>
      <p:ext uri="{BB962C8B-B14F-4D97-AF65-F5344CB8AC3E}">
        <p14:creationId xmlns:p14="http://schemas.microsoft.com/office/powerpoint/2010/main" val="3003174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D36DE5A0-56A0-4A98-A6E0-50C56762BE2A}" type="datetime1">
              <a:rPr lang="en-US"/>
              <a:pPr>
                <a:defRPr/>
              </a:pPr>
              <a:t>11/2/2021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01C25939-EA76-4AAC-8367-C34DAA889B0C}" type="slidenum">
              <a:rPr lang="en-US" altLang="en-US"/>
              <a:pPr/>
              <a:t>‹#›</a:t>
            </a:fld>
            <a:r>
              <a:rPr lang="en-US" altLang="en-US"/>
              <a:t>/40</a:t>
            </a:r>
          </a:p>
        </p:txBody>
      </p:sp>
    </p:spTree>
    <p:extLst>
      <p:ext uri="{BB962C8B-B14F-4D97-AF65-F5344CB8AC3E}">
        <p14:creationId xmlns:p14="http://schemas.microsoft.com/office/powerpoint/2010/main" val="3263728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100"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88ACD1E9-C1F3-42E9-86F5-506884D0486F}" type="datetime1">
              <a:rPr lang="en-US"/>
              <a:pPr>
                <a:defRPr/>
              </a:pPr>
              <a:t>11/2/2021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1022DF86-A3ED-43FE-B8FC-CEE086EB72E8}"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6.wmf"/><Relationship Id="rId5" Type="http://schemas.openxmlformats.org/officeDocument/2006/relationships/oleObject" Target="../embeddings/oleObject1.bin"/><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9.wmf"/><Relationship Id="rId4"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20.wmf"/><Relationship Id="rId4"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0" y="22098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DEADLOCKS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Resources</a:t>
            </a:r>
            <a:br>
              <a:rPr lang="en-US" altLang="en-US" sz="4000" b="1">
                <a:solidFill>
                  <a:srgbClr val="FF3300"/>
                </a:solidFill>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Introduction To Deadlocks</a:t>
            </a:r>
            <a:br>
              <a:rPr lang="en-US" altLang="en-US" sz="4000" b="1">
                <a:solidFill>
                  <a:srgbClr val="FF3300"/>
                </a:solidFill>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The Ostrich Algorithm</a:t>
            </a:r>
            <a:br>
              <a:rPr lang="en-US" altLang="en-US" sz="4000" b="1">
                <a:solidFill>
                  <a:srgbClr val="FF3300"/>
                </a:solidFill>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Deadlock Detection &amp; Recovery</a:t>
            </a:r>
            <a:endParaRPr lang="en-US" alt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609600"/>
            <a:ext cx="9144000" cy="6172200"/>
          </a:xfrm>
        </p:spPr>
        <p:txBody>
          <a:bodyPr/>
          <a:lstStyle/>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Memory-Mapped I/O</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Map all </a:t>
            </a:r>
            <a:r>
              <a:rPr lang="en-US" altLang="en-US" sz="2000">
                <a:latin typeface="Times New Roman" panose="02020603050405020304" pitchFamily="18" charset="0"/>
                <a:cs typeface="Times New Roman" panose="02020603050405020304" pitchFamily="18" charset="0"/>
              </a:rPr>
              <a:t>the control registers into the memory space</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Each control register is assigned a particular and unique memory address</a:t>
            </a:r>
          </a:p>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DMA</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A memory address register</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A </a:t>
            </a:r>
            <a:r>
              <a:rPr lang="en-US" altLang="en-US" sz="2000" b="1">
                <a:latin typeface="Times New Roman" panose="02020603050405020304" pitchFamily="18" charset="0"/>
                <a:cs typeface="Times New Roman" panose="02020603050405020304" pitchFamily="18" charset="0"/>
              </a:rPr>
              <a:t>byte count </a:t>
            </a:r>
            <a:r>
              <a:rPr lang="en-US" altLang="en-US" sz="2000">
                <a:latin typeface="Times New Roman" panose="02020603050405020304" pitchFamily="18" charset="0"/>
                <a:cs typeface="Times New Roman" panose="02020603050405020304" pitchFamily="18" charset="0"/>
              </a:rPr>
              <a:t>register</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One or more control</a:t>
            </a:r>
            <a:r>
              <a:rPr lang="en-US" altLang="en-US" sz="2000">
                <a:latin typeface="Times New Roman" panose="02020603050405020304" pitchFamily="18" charset="0"/>
                <a:cs typeface="Times New Roman" panose="02020603050405020304" pitchFamily="18" charset="0"/>
              </a:rPr>
              <a:t> registers</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3 modes: </a:t>
            </a:r>
            <a:r>
              <a:rPr lang="en-US" altLang="en-US" sz="2000" b="1">
                <a:latin typeface="Times New Roman" panose="02020603050405020304" pitchFamily="18" charset="0"/>
                <a:cs typeface="Times New Roman" panose="02020603050405020304" pitchFamily="18" charset="0"/>
              </a:rPr>
              <a:t>Word-at-a-time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Block</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Fly-by </a:t>
            </a:r>
            <a:endParaRPr lang="en-US" altLang="en-US" sz="2000">
              <a:latin typeface="Times New Roman" panose="02020603050405020304" pitchFamily="18" charset="0"/>
              <a:cs typeface="Times New Roman" panose="02020603050405020304" pitchFamily="18" charset="0"/>
            </a:endParaRPr>
          </a:p>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Precise vs. Imprecise Interrupt</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Precise</a:t>
            </a:r>
            <a:r>
              <a:rPr lang="en-US" altLang="en-US" sz="2000">
                <a:latin typeface="Times New Roman" panose="02020603050405020304" pitchFamily="18" charset="0"/>
                <a:cs typeface="Times New Roman" panose="02020603050405020304" pitchFamily="18" charset="0"/>
              </a:rPr>
              <a:t>: Leave the machine in a well-defined state</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PC</a:t>
            </a:r>
            <a:r>
              <a:rPr lang="en-US" altLang="en-US" sz="1600">
                <a:latin typeface="Times New Roman" panose="02020603050405020304" pitchFamily="18" charset="0"/>
                <a:cs typeface="Times New Roman" panose="02020603050405020304" pitchFamily="18" charset="0"/>
              </a:rPr>
              <a:t> is </a:t>
            </a:r>
            <a:r>
              <a:rPr lang="en-US" altLang="en-US" sz="1600" b="1">
                <a:latin typeface="Times New Roman" panose="02020603050405020304" pitchFamily="18" charset="0"/>
                <a:cs typeface="Times New Roman" panose="02020603050405020304" pitchFamily="18" charset="0"/>
              </a:rPr>
              <a:t>saved</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in</a:t>
            </a:r>
            <a:r>
              <a:rPr lang="en-US" altLang="en-US" sz="1600">
                <a:latin typeface="Times New Roman" panose="02020603050405020304" pitchFamily="18" charset="0"/>
                <a:cs typeface="Times New Roman" panose="02020603050405020304" pitchFamily="18" charset="0"/>
              </a:rPr>
              <a:t> a </a:t>
            </a:r>
            <a:r>
              <a:rPr lang="en-US" altLang="en-US" sz="1600" b="1">
                <a:latin typeface="Times New Roman" panose="02020603050405020304" pitchFamily="18" charset="0"/>
                <a:cs typeface="Times New Roman" panose="02020603050405020304" pitchFamily="18" charset="0"/>
              </a:rPr>
              <a:t>known place</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All instructions before</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one pointed </a:t>
            </a:r>
            <a:r>
              <a:rPr lang="en-US" altLang="en-US" sz="1600">
                <a:latin typeface="Times New Roman" panose="02020603050405020304" pitchFamily="18" charset="0"/>
                <a:cs typeface="Times New Roman" panose="02020603050405020304" pitchFamily="18" charset="0"/>
              </a:rPr>
              <a:t>to by the PC </a:t>
            </a:r>
            <a:r>
              <a:rPr lang="en-US" altLang="en-US" sz="1600" b="1">
                <a:latin typeface="Times New Roman" panose="02020603050405020304" pitchFamily="18" charset="0"/>
                <a:cs typeface="Times New Roman" panose="02020603050405020304" pitchFamily="18" charset="0"/>
              </a:rPr>
              <a:t>have fully executed</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No instruction beyond</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one pointed </a:t>
            </a:r>
            <a:r>
              <a:rPr lang="en-US" altLang="en-US" sz="1600">
                <a:latin typeface="Times New Roman" panose="02020603050405020304" pitchFamily="18" charset="0"/>
                <a:cs typeface="Times New Roman" panose="02020603050405020304" pitchFamily="18" charset="0"/>
              </a:rPr>
              <a:t>to by the PC </a:t>
            </a:r>
            <a:r>
              <a:rPr lang="en-US" altLang="en-US" sz="1600" b="1">
                <a:latin typeface="Times New Roman" panose="02020603050405020304" pitchFamily="18" charset="0"/>
                <a:cs typeface="Times New Roman" panose="02020603050405020304" pitchFamily="18" charset="0"/>
              </a:rPr>
              <a:t>has been executed</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Execution state </a:t>
            </a:r>
            <a:r>
              <a:rPr lang="en-US" altLang="en-US" sz="1600">
                <a:latin typeface="Times New Roman" panose="02020603050405020304" pitchFamily="18" charset="0"/>
                <a:cs typeface="Times New Roman" panose="02020603050405020304" pitchFamily="18" charset="0"/>
              </a:rPr>
              <a:t>of the instruction </a:t>
            </a:r>
            <a:r>
              <a:rPr lang="en-US" altLang="en-US" sz="1600" b="1">
                <a:latin typeface="Times New Roman" panose="02020603050405020304" pitchFamily="18" charset="0"/>
                <a:cs typeface="Times New Roman" panose="02020603050405020304" pitchFamily="18" charset="0"/>
              </a:rPr>
              <a:t>pointed to by the PC is known</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Imprecise</a:t>
            </a:r>
            <a:r>
              <a:rPr lang="en-US" altLang="en-US" sz="2000">
                <a:latin typeface="Times New Roman" panose="02020603050405020304" pitchFamily="18" charset="0"/>
                <a:cs typeface="Times New Roman" panose="02020603050405020304" pitchFamily="18" charset="0"/>
              </a:rPr>
              <a:t>: Does </a:t>
            </a:r>
            <a:r>
              <a:rPr lang="en-US" altLang="en-US" sz="2000" b="1">
                <a:latin typeface="Times New Roman" panose="02020603050405020304" pitchFamily="18" charset="0"/>
                <a:cs typeface="Times New Roman" panose="02020603050405020304" pitchFamily="18" charset="0"/>
              </a:rPr>
              <a:t>not meet all requirements </a:t>
            </a:r>
            <a:r>
              <a:rPr lang="en-US" altLang="en-US" sz="2000">
                <a:latin typeface="Times New Roman" panose="02020603050405020304" pitchFamily="18" charset="0"/>
                <a:cs typeface="Times New Roman" panose="02020603050405020304" pitchFamily="18" charset="0"/>
              </a:rPr>
              <a:t>as precise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ox(in)">
                                      <p:cBhvr>
                                        <p:cTn id="7" dur="500"/>
                                        <p:tgtEl>
                                          <p:spTgt spid="4099">
                                            <p:txEl>
                                              <p:pRg st="0" end="0"/>
                                            </p:txEl>
                                          </p:spTgt>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animEffect transition="in" filter="box(in)">
                                      <p:cBhvr>
                                        <p:cTn id="11" dur="500"/>
                                        <p:tgtEl>
                                          <p:spTgt spid="4099">
                                            <p:txEl>
                                              <p:pRg st="1" end="1"/>
                                            </p:txEl>
                                          </p:spTgt>
                                        </p:tgtEl>
                                      </p:cBhvr>
                                    </p:animEffect>
                                  </p:childTnLst>
                                </p:cTn>
                              </p:par>
                            </p:childTnLst>
                          </p:cTn>
                        </p:par>
                        <p:par>
                          <p:cTn id="12" fill="hold" nodeType="after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animEffect transition="in" filter="box(in)">
                                      <p:cBhvr>
                                        <p:cTn id="15" dur="500"/>
                                        <p:tgtEl>
                                          <p:spTgt spid="409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box(in)">
                                      <p:cBhvr>
                                        <p:cTn id="20" dur="500"/>
                                        <p:tgtEl>
                                          <p:spTgt spid="4099">
                                            <p:txEl>
                                              <p:pRg st="3" end="3"/>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animEffect transition="in" filter="box(in)">
                                      <p:cBhvr>
                                        <p:cTn id="23" dur="500"/>
                                        <p:tgtEl>
                                          <p:spTgt spid="4099">
                                            <p:txEl>
                                              <p:pRg st="4" end="4"/>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4099">
                                            <p:txEl>
                                              <p:pRg st="6" end="6"/>
                                            </p:txEl>
                                          </p:spTgt>
                                        </p:tgtEl>
                                        <p:attrNameLst>
                                          <p:attrName>style.visibility</p:attrName>
                                        </p:attrNameLst>
                                      </p:cBhvr>
                                      <p:to>
                                        <p:strVal val="visible"/>
                                      </p:to>
                                    </p:set>
                                    <p:animEffect transition="in" filter="box(in)">
                                      <p:cBhvr>
                                        <p:cTn id="26" dur="500"/>
                                        <p:tgtEl>
                                          <p:spTgt spid="4099">
                                            <p:txEl>
                                              <p:pRg st="6" end="6"/>
                                            </p:txEl>
                                          </p:spTgt>
                                        </p:tgtEl>
                                      </p:cBhvr>
                                    </p:animEffect>
                                  </p:childTnLst>
                                </p:cTn>
                              </p:par>
                              <p:par>
                                <p:cTn id="27" presetID="4" presetClass="entr" presetSubtype="16" fill="hold" nodeType="withEffect">
                                  <p:stCondLst>
                                    <p:cond delay="0"/>
                                  </p:stCondLst>
                                  <p:childTnLst>
                                    <p:set>
                                      <p:cBhvr>
                                        <p:cTn id="28" dur="1" fill="hold">
                                          <p:stCondLst>
                                            <p:cond delay="0"/>
                                          </p:stCondLst>
                                        </p:cTn>
                                        <p:tgtEl>
                                          <p:spTgt spid="4099">
                                            <p:txEl>
                                              <p:pRg st="7" end="7"/>
                                            </p:txEl>
                                          </p:spTgt>
                                        </p:tgtEl>
                                        <p:attrNameLst>
                                          <p:attrName>style.visibility</p:attrName>
                                        </p:attrNameLst>
                                      </p:cBhvr>
                                      <p:to>
                                        <p:strVal val="visible"/>
                                      </p:to>
                                    </p:set>
                                    <p:animEffect transition="in" filter="box(in)">
                                      <p:cBhvr>
                                        <p:cTn id="29" dur="500"/>
                                        <p:tgtEl>
                                          <p:spTgt spid="4099">
                                            <p:txEl>
                                              <p:pRg st="7" end="7"/>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box(in)">
                                      <p:cBhvr>
                                        <p:cTn id="32" dur="500"/>
                                        <p:tgtEl>
                                          <p:spTgt spid="40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099">
                                            <p:txEl>
                                              <p:pRg st="8" end="8"/>
                                            </p:txEl>
                                          </p:spTgt>
                                        </p:tgtEl>
                                        <p:attrNameLst>
                                          <p:attrName>style.visibility</p:attrName>
                                        </p:attrNameLst>
                                      </p:cBhvr>
                                      <p:to>
                                        <p:strVal val="visible"/>
                                      </p:to>
                                    </p:set>
                                    <p:animEffect transition="in" filter="box(in)">
                                      <p:cBhvr>
                                        <p:cTn id="37" dur="500"/>
                                        <p:tgtEl>
                                          <p:spTgt spid="4099">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099">
                                            <p:txEl>
                                              <p:pRg st="9" end="9"/>
                                            </p:txEl>
                                          </p:spTgt>
                                        </p:tgtEl>
                                        <p:attrNameLst>
                                          <p:attrName>style.visibility</p:attrName>
                                        </p:attrNameLst>
                                      </p:cBhvr>
                                      <p:to>
                                        <p:strVal val="visible"/>
                                      </p:to>
                                    </p:set>
                                    <p:animEffect transition="in" filter="box(in)">
                                      <p:cBhvr>
                                        <p:cTn id="42" dur="500"/>
                                        <p:tgtEl>
                                          <p:spTgt spid="4099">
                                            <p:txEl>
                                              <p:pRg st="9" end="9"/>
                                            </p:txEl>
                                          </p:spTgt>
                                        </p:tgtEl>
                                      </p:cBhvr>
                                    </p:animEffect>
                                  </p:childTnLst>
                                </p:cTn>
                              </p:par>
                              <p:par>
                                <p:cTn id="43" presetID="4" presetClass="entr" presetSubtype="16" fill="hold" nodeType="withEffect">
                                  <p:stCondLst>
                                    <p:cond delay="0"/>
                                  </p:stCondLst>
                                  <p:childTnLst>
                                    <p:set>
                                      <p:cBhvr>
                                        <p:cTn id="44" dur="1" fill="hold">
                                          <p:stCondLst>
                                            <p:cond delay="0"/>
                                          </p:stCondLst>
                                        </p:cTn>
                                        <p:tgtEl>
                                          <p:spTgt spid="4099">
                                            <p:txEl>
                                              <p:pRg st="10" end="10"/>
                                            </p:txEl>
                                          </p:spTgt>
                                        </p:tgtEl>
                                        <p:attrNameLst>
                                          <p:attrName>style.visibility</p:attrName>
                                        </p:attrNameLst>
                                      </p:cBhvr>
                                      <p:to>
                                        <p:strVal val="visible"/>
                                      </p:to>
                                    </p:set>
                                    <p:animEffect transition="in" filter="box(in)">
                                      <p:cBhvr>
                                        <p:cTn id="45" dur="500"/>
                                        <p:tgtEl>
                                          <p:spTgt spid="4099">
                                            <p:txEl>
                                              <p:pRg st="10" end="10"/>
                                            </p:txEl>
                                          </p:spTgt>
                                        </p:tgtEl>
                                      </p:cBhvr>
                                    </p:animEffect>
                                  </p:childTnLst>
                                </p:cTn>
                              </p:par>
                              <p:par>
                                <p:cTn id="46" presetID="4" presetClass="entr" presetSubtype="16" fill="hold" nodeType="withEffect">
                                  <p:stCondLst>
                                    <p:cond delay="0"/>
                                  </p:stCondLst>
                                  <p:childTnLst>
                                    <p:set>
                                      <p:cBhvr>
                                        <p:cTn id="47" dur="1" fill="hold">
                                          <p:stCondLst>
                                            <p:cond delay="0"/>
                                          </p:stCondLst>
                                        </p:cTn>
                                        <p:tgtEl>
                                          <p:spTgt spid="4099">
                                            <p:txEl>
                                              <p:pRg st="11" end="11"/>
                                            </p:txEl>
                                          </p:spTgt>
                                        </p:tgtEl>
                                        <p:attrNameLst>
                                          <p:attrName>style.visibility</p:attrName>
                                        </p:attrNameLst>
                                      </p:cBhvr>
                                      <p:to>
                                        <p:strVal val="visible"/>
                                      </p:to>
                                    </p:set>
                                    <p:animEffect transition="in" filter="box(in)">
                                      <p:cBhvr>
                                        <p:cTn id="48" dur="500"/>
                                        <p:tgtEl>
                                          <p:spTgt spid="4099">
                                            <p:txEl>
                                              <p:pRg st="11" end="11"/>
                                            </p:txEl>
                                          </p:spTgt>
                                        </p:tgtEl>
                                      </p:cBhvr>
                                    </p:animEffect>
                                  </p:childTnLst>
                                </p:cTn>
                              </p:par>
                              <p:par>
                                <p:cTn id="49" presetID="4" presetClass="entr" presetSubtype="16" fill="hold" nodeType="withEffect">
                                  <p:stCondLst>
                                    <p:cond delay="0"/>
                                  </p:stCondLst>
                                  <p:childTnLst>
                                    <p:set>
                                      <p:cBhvr>
                                        <p:cTn id="50" dur="1" fill="hold">
                                          <p:stCondLst>
                                            <p:cond delay="0"/>
                                          </p:stCondLst>
                                        </p:cTn>
                                        <p:tgtEl>
                                          <p:spTgt spid="4099">
                                            <p:txEl>
                                              <p:pRg st="12" end="12"/>
                                            </p:txEl>
                                          </p:spTgt>
                                        </p:tgtEl>
                                        <p:attrNameLst>
                                          <p:attrName>style.visibility</p:attrName>
                                        </p:attrNameLst>
                                      </p:cBhvr>
                                      <p:to>
                                        <p:strVal val="visible"/>
                                      </p:to>
                                    </p:set>
                                    <p:animEffect transition="in" filter="box(in)">
                                      <p:cBhvr>
                                        <p:cTn id="51" dur="500"/>
                                        <p:tgtEl>
                                          <p:spTgt spid="4099">
                                            <p:txEl>
                                              <p:pRg st="12" end="12"/>
                                            </p:txEl>
                                          </p:spTgt>
                                        </p:tgtEl>
                                      </p:cBhvr>
                                    </p:animEffect>
                                  </p:childTnLst>
                                </p:cTn>
                              </p:par>
                              <p:par>
                                <p:cTn id="52" presetID="4" presetClass="entr" presetSubtype="16" fill="hold" nodeType="withEffect">
                                  <p:stCondLst>
                                    <p:cond delay="0"/>
                                  </p:stCondLst>
                                  <p:childTnLst>
                                    <p:set>
                                      <p:cBhvr>
                                        <p:cTn id="53" dur="1" fill="hold">
                                          <p:stCondLst>
                                            <p:cond delay="0"/>
                                          </p:stCondLst>
                                        </p:cTn>
                                        <p:tgtEl>
                                          <p:spTgt spid="4099">
                                            <p:txEl>
                                              <p:pRg st="13" end="13"/>
                                            </p:txEl>
                                          </p:spTgt>
                                        </p:tgtEl>
                                        <p:attrNameLst>
                                          <p:attrName>style.visibility</p:attrName>
                                        </p:attrNameLst>
                                      </p:cBhvr>
                                      <p:to>
                                        <p:strVal val="visible"/>
                                      </p:to>
                                    </p:set>
                                    <p:animEffect transition="in" filter="box(in)">
                                      <p:cBhvr>
                                        <p:cTn id="54" dur="500"/>
                                        <p:tgtEl>
                                          <p:spTgt spid="4099">
                                            <p:txEl>
                                              <p:pRg st="13" end="13"/>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4099">
                                            <p:txEl>
                                              <p:pRg st="14" end="14"/>
                                            </p:txEl>
                                          </p:spTgt>
                                        </p:tgtEl>
                                        <p:attrNameLst>
                                          <p:attrName>style.visibility</p:attrName>
                                        </p:attrNameLst>
                                      </p:cBhvr>
                                      <p:to>
                                        <p:strVal val="visible"/>
                                      </p:to>
                                    </p:set>
                                    <p:animEffect transition="in" filter="box(in)">
                                      <p:cBhvr>
                                        <p:cTn id="59" dur="500"/>
                                        <p:tgtEl>
                                          <p:spTgt spid="409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762000"/>
            <a:ext cx="9144000" cy="6096000"/>
          </a:xfrm>
        </p:spPr>
        <p:txBody>
          <a:bodyPr/>
          <a:lstStyle/>
          <a:p>
            <a:pPr algn="just">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I/O Software</a:t>
            </a:r>
          </a:p>
          <a:p>
            <a:pPr lvl="1" algn="just" eaLnBrk="1" hangingPunct="1"/>
            <a:r>
              <a:rPr lang="en-US" altLang="en-US" sz="2400" b="1" i="1" dirty="0">
                <a:latin typeface="Times New Roman" panose="02020603050405020304" pitchFamily="18" charset="0"/>
                <a:cs typeface="Times New Roman" panose="02020603050405020304" pitchFamily="18" charset="0"/>
              </a:rPr>
              <a:t>Goals</a:t>
            </a:r>
          </a:p>
          <a:p>
            <a:pPr lvl="2" algn="just" eaLnBrk="1" hangingPunct="1"/>
            <a:r>
              <a:rPr lang="en-US" altLang="en-US" sz="2000" dirty="0">
                <a:latin typeface="Times New Roman" panose="02020603050405020304" pitchFamily="18" charset="0"/>
                <a:cs typeface="Times New Roman" panose="02020603050405020304" pitchFamily="18" charset="0"/>
              </a:rPr>
              <a:t>Device Independent, Error handling, Synchronous vs. </a:t>
            </a:r>
            <a:r>
              <a:rPr lang="en-US" altLang="en-US" sz="2000" b="1" dirty="0">
                <a:latin typeface="Times New Roman" panose="02020603050405020304" pitchFamily="18" charset="0"/>
                <a:cs typeface="Times New Roman" panose="02020603050405020304" pitchFamily="18" charset="0"/>
              </a:rPr>
              <a:t>Asynchronous</a:t>
            </a:r>
            <a:r>
              <a:rPr lang="en-US" altLang="en-US" sz="2000" dirty="0">
                <a:latin typeface="Times New Roman" panose="02020603050405020304" pitchFamily="18" charset="0"/>
                <a:cs typeface="Times New Roman" panose="02020603050405020304" pitchFamily="18" charset="0"/>
              </a:rPr>
              <a:t>, Buffering, Dedicated device allocation</a:t>
            </a:r>
          </a:p>
          <a:p>
            <a:pPr lvl="1" algn="just" eaLnBrk="1" hangingPunct="1"/>
            <a:r>
              <a:rPr lang="en-US" altLang="en-US" sz="2400" b="1" i="1" dirty="0">
                <a:latin typeface="Times New Roman" panose="02020603050405020304" pitchFamily="18" charset="0"/>
                <a:cs typeface="Times New Roman" panose="02020603050405020304" pitchFamily="18" charset="0"/>
              </a:rPr>
              <a:t>I/O with DMA</a:t>
            </a:r>
          </a:p>
          <a:p>
            <a:pPr lvl="1" algn="just" eaLnBrk="1" hangingPunct="1"/>
            <a:r>
              <a:rPr lang="en-US" altLang="en-US" sz="2400" dirty="0">
                <a:latin typeface="Times New Roman" panose="02020603050405020304" pitchFamily="18" charset="0"/>
                <a:cs typeface="Times New Roman" panose="02020603050405020304" pitchFamily="18" charset="0"/>
              </a:rPr>
              <a:t>Layers</a:t>
            </a:r>
          </a:p>
          <a:p>
            <a:pPr lvl="2" algn="just"/>
            <a:r>
              <a:rPr lang="en-US" altLang="en-US" sz="2000" dirty="0">
                <a:latin typeface="Times New Roman" panose="02020603050405020304" pitchFamily="18" charset="0"/>
                <a:cs typeface="Times New Roman" panose="02020603050405020304" pitchFamily="18" charset="0"/>
              </a:rPr>
              <a:t>User level I/O software: </a:t>
            </a:r>
            <a:r>
              <a:rPr lang="en-US" altLang="en-US" sz="2000" b="1" dirty="0">
                <a:latin typeface="Times New Roman" panose="02020603050405020304" pitchFamily="18" charset="0"/>
                <a:cs typeface="Times New Roman" panose="02020603050405020304" pitchFamily="18" charset="0"/>
              </a:rPr>
              <a:t>pooling with daemon scheduling (Asynchronous)</a:t>
            </a:r>
          </a:p>
          <a:p>
            <a:pPr lvl="2" algn="just"/>
            <a:r>
              <a:rPr lang="en-US" altLang="en-US" sz="2000" dirty="0">
                <a:latin typeface="Times New Roman" panose="02020603050405020304" pitchFamily="18" charset="0"/>
                <a:cs typeface="Times New Roman" panose="02020603050405020304" pitchFamily="18" charset="0"/>
              </a:rPr>
              <a:t>Device independent </a:t>
            </a:r>
          </a:p>
          <a:p>
            <a:pPr lvl="3" algn="just"/>
            <a:r>
              <a:rPr lang="en-US" altLang="en-US" dirty="0">
                <a:latin typeface="Times New Roman" panose="02020603050405020304" pitchFamily="18" charset="0"/>
                <a:cs typeface="Times New Roman" panose="02020603050405020304" pitchFamily="18" charset="0"/>
              </a:rPr>
              <a:t>Uniform naming, Uniform interface, Independent block size</a:t>
            </a:r>
          </a:p>
          <a:p>
            <a:pPr lvl="3" algn="just"/>
            <a:r>
              <a:rPr lang="en-US" altLang="en-US" dirty="0">
                <a:latin typeface="Times New Roman" panose="02020603050405020304" pitchFamily="18" charset="0"/>
                <a:cs typeface="Times New Roman" panose="02020603050405020304" pitchFamily="18" charset="0"/>
              </a:rPr>
              <a:t>Buffering</a:t>
            </a:r>
          </a:p>
          <a:p>
            <a:pPr lvl="3" algn="just"/>
            <a:r>
              <a:rPr lang="en-US" altLang="en-US" dirty="0">
                <a:latin typeface="Times New Roman" panose="02020603050405020304" pitchFamily="18" charset="0"/>
                <a:cs typeface="Times New Roman" panose="02020603050405020304" pitchFamily="18" charset="0"/>
              </a:rPr>
              <a:t>Error handling, Dedicated device allocation</a:t>
            </a:r>
          </a:p>
          <a:p>
            <a:pPr lvl="2" algn="just"/>
            <a:r>
              <a:rPr lang="en-US" altLang="en-US" sz="2000" dirty="0">
                <a:latin typeface="Times New Roman" panose="02020603050405020304" pitchFamily="18" charset="0"/>
                <a:cs typeface="Times New Roman" panose="02020603050405020304" pitchFamily="18" charset="0"/>
              </a:rPr>
              <a:t>Device Drivers: </a:t>
            </a:r>
            <a:r>
              <a:rPr lang="en-US" altLang="en-US" sz="2000" b="1" dirty="0">
                <a:latin typeface="Times New Roman" panose="02020603050405020304" pitchFamily="18" charset="0"/>
                <a:cs typeface="Times New Roman" panose="02020603050405020304" pitchFamily="18" charset="0"/>
              </a:rPr>
              <a:t>help OS control specified devices depending on standard interface</a:t>
            </a:r>
          </a:p>
          <a:p>
            <a:pPr lvl="2" algn="just"/>
            <a:r>
              <a:rPr lang="en-US" altLang="en-US" sz="2000" dirty="0">
                <a:latin typeface="Times New Roman" panose="02020603050405020304" pitchFamily="18" charset="0"/>
                <a:cs typeface="Times New Roman" panose="02020603050405020304" pitchFamily="18" charset="0"/>
              </a:rPr>
              <a:t>Interrupt Handlers: </a:t>
            </a:r>
            <a:r>
              <a:rPr lang="en-US" altLang="en-US" sz="2000" b="1" dirty="0">
                <a:latin typeface="Times New Roman" panose="02020603050405020304" pitchFamily="18" charset="0"/>
                <a:cs typeface="Times New Roman" panose="02020603050405020304" pitchFamily="18" charset="0"/>
              </a:rPr>
              <a:t>handle interrupt to determine what the system should do</a:t>
            </a:r>
          </a:p>
        </p:txBody>
      </p:sp>
    </p:spTree>
    <p:extLst>
      <p:ext uri="{BB962C8B-B14F-4D97-AF65-F5344CB8AC3E}">
        <p14:creationId xmlns:p14="http://schemas.microsoft.com/office/powerpoint/2010/main" val="3124862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ox(in)">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ox(in)">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ox(in)">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box(in)">
                                      <p:cBhvr>
                                        <p:cTn id="22" dur="500"/>
                                        <p:tgtEl>
                                          <p:spTgt spid="4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box(in)">
                                      <p:cBhvr>
                                        <p:cTn id="27" dur="500"/>
                                        <p:tgtEl>
                                          <p:spTgt spid="40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box(in)">
                                      <p:cBhvr>
                                        <p:cTn id="32" dur="500"/>
                                        <p:tgtEl>
                                          <p:spTgt spid="40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099">
                                            <p:txEl>
                                              <p:pRg st="6" end="6"/>
                                            </p:txEl>
                                          </p:spTgt>
                                        </p:tgtEl>
                                        <p:attrNameLst>
                                          <p:attrName>style.visibility</p:attrName>
                                        </p:attrNameLst>
                                      </p:cBhvr>
                                      <p:to>
                                        <p:strVal val="visible"/>
                                      </p:to>
                                    </p:set>
                                    <p:animEffect transition="in" filter="box(in)">
                                      <p:cBhvr>
                                        <p:cTn id="37" dur="500"/>
                                        <p:tgtEl>
                                          <p:spTgt spid="409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099">
                                            <p:txEl>
                                              <p:pRg st="7" end="7"/>
                                            </p:txEl>
                                          </p:spTgt>
                                        </p:tgtEl>
                                        <p:attrNameLst>
                                          <p:attrName>style.visibility</p:attrName>
                                        </p:attrNameLst>
                                      </p:cBhvr>
                                      <p:to>
                                        <p:strVal val="visible"/>
                                      </p:to>
                                    </p:set>
                                    <p:animEffect transition="in" filter="box(in)">
                                      <p:cBhvr>
                                        <p:cTn id="42" dur="500"/>
                                        <p:tgtEl>
                                          <p:spTgt spid="409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099">
                                            <p:txEl>
                                              <p:pRg st="8" end="8"/>
                                            </p:txEl>
                                          </p:spTgt>
                                        </p:tgtEl>
                                        <p:attrNameLst>
                                          <p:attrName>style.visibility</p:attrName>
                                        </p:attrNameLst>
                                      </p:cBhvr>
                                      <p:to>
                                        <p:strVal val="visible"/>
                                      </p:to>
                                    </p:set>
                                    <p:animEffect transition="in" filter="box(in)">
                                      <p:cBhvr>
                                        <p:cTn id="47" dur="500"/>
                                        <p:tgtEl>
                                          <p:spTgt spid="409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4099">
                                            <p:txEl>
                                              <p:pRg st="9" end="9"/>
                                            </p:txEl>
                                          </p:spTgt>
                                        </p:tgtEl>
                                        <p:attrNameLst>
                                          <p:attrName>style.visibility</p:attrName>
                                        </p:attrNameLst>
                                      </p:cBhvr>
                                      <p:to>
                                        <p:strVal val="visible"/>
                                      </p:to>
                                    </p:set>
                                    <p:animEffect transition="in" filter="box(in)">
                                      <p:cBhvr>
                                        <p:cTn id="52" dur="500"/>
                                        <p:tgtEl>
                                          <p:spTgt spid="4099">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4099">
                                            <p:txEl>
                                              <p:pRg st="10" end="10"/>
                                            </p:txEl>
                                          </p:spTgt>
                                        </p:tgtEl>
                                        <p:attrNameLst>
                                          <p:attrName>style.visibility</p:attrName>
                                        </p:attrNameLst>
                                      </p:cBhvr>
                                      <p:to>
                                        <p:strVal val="visible"/>
                                      </p:to>
                                    </p:set>
                                    <p:animEffect transition="in" filter="box(in)">
                                      <p:cBhvr>
                                        <p:cTn id="57" dur="500"/>
                                        <p:tgtEl>
                                          <p:spTgt spid="4099">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nodeType="clickEffect">
                                  <p:stCondLst>
                                    <p:cond delay="0"/>
                                  </p:stCondLst>
                                  <p:childTnLst>
                                    <p:set>
                                      <p:cBhvr>
                                        <p:cTn id="61" dur="1" fill="hold">
                                          <p:stCondLst>
                                            <p:cond delay="0"/>
                                          </p:stCondLst>
                                        </p:cTn>
                                        <p:tgtEl>
                                          <p:spTgt spid="4099">
                                            <p:txEl>
                                              <p:pRg st="11" end="11"/>
                                            </p:txEl>
                                          </p:spTgt>
                                        </p:tgtEl>
                                        <p:attrNameLst>
                                          <p:attrName>style.visibility</p:attrName>
                                        </p:attrNameLst>
                                      </p:cBhvr>
                                      <p:to>
                                        <p:strVal val="visible"/>
                                      </p:to>
                                    </p:set>
                                    <p:animEffect transition="in" filter="box(in)">
                                      <p:cBhvr>
                                        <p:cTn id="62" dur="500"/>
                                        <p:tgtEl>
                                          <p:spTgt spid="409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304800"/>
            <a:ext cx="9144000" cy="6172200"/>
          </a:xfrm>
        </p:spPr>
        <p:txBody>
          <a:bodyPr/>
          <a:lstStyle/>
          <a:p>
            <a:pPr algn="just">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Disk arm scheduling</a:t>
            </a:r>
          </a:p>
          <a:p>
            <a:pPr lvl="1" algn="just" eaLnBrk="1" hangingPunct="1"/>
            <a:r>
              <a:rPr lang="en-US" altLang="en-US" sz="2400" dirty="0">
                <a:latin typeface="Times New Roman" panose="02020603050405020304" pitchFamily="18" charset="0"/>
                <a:cs typeface="Times New Roman" panose="02020603050405020304" pitchFamily="18" charset="0"/>
              </a:rPr>
              <a:t>Seek time </a:t>
            </a:r>
          </a:p>
          <a:p>
            <a:pPr lvl="2" algn="just" eaLnBrk="1" hangingPunct="1"/>
            <a:r>
              <a:rPr lang="en-US" altLang="en-US" sz="2000" dirty="0">
                <a:latin typeface="Times New Roman" panose="02020603050405020304" pitchFamily="18" charset="0"/>
                <a:cs typeface="Times New Roman" panose="02020603050405020304" pitchFamily="18" charset="0"/>
              </a:rPr>
              <a:t>FCFS: </a:t>
            </a:r>
            <a:r>
              <a:rPr lang="en-US" altLang="en-US" sz="2000" b="1" dirty="0">
                <a:latin typeface="Times New Roman" panose="02020603050405020304" pitchFamily="18" charset="0"/>
                <a:cs typeface="Times New Roman" panose="02020603050405020304" pitchFamily="18" charset="0"/>
              </a:rPr>
              <a:t>Process</a:t>
            </a:r>
            <a:r>
              <a:rPr lang="en-US" altLang="en-US" sz="2000" dirty="0">
                <a:latin typeface="Times New Roman" panose="02020603050405020304" pitchFamily="18" charset="0"/>
                <a:cs typeface="Times New Roman" panose="02020603050405020304" pitchFamily="18" charset="0"/>
              </a:rPr>
              <a:t> request </a:t>
            </a:r>
            <a:r>
              <a:rPr lang="en-US" altLang="en-US" sz="2000" b="1" dirty="0">
                <a:latin typeface="Times New Roman" panose="02020603050405020304" pitchFamily="18" charset="0"/>
                <a:cs typeface="Times New Roman" panose="02020603050405020304" pitchFamily="18" charset="0"/>
              </a:rPr>
              <a:t>sequentially</a:t>
            </a:r>
            <a:endParaRPr lang="en-US" altLang="en-US" sz="2000" dirty="0">
              <a:latin typeface="Times New Roman" panose="02020603050405020304" pitchFamily="18" charset="0"/>
              <a:cs typeface="Times New Roman" panose="02020603050405020304" pitchFamily="18" charset="0"/>
            </a:endParaRPr>
          </a:p>
          <a:p>
            <a:pPr lvl="2" algn="just" eaLnBrk="1" hangingPunct="1"/>
            <a:r>
              <a:rPr lang="en-US" altLang="en-US" sz="2000" dirty="0">
                <a:latin typeface="Times New Roman" panose="02020603050405020304" pitchFamily="18" charset="0"/>
                <a:cs typeface="Times New Roman" panose="02020603050405020304" pitchFamily="18" charset="0"/>
              </a:rPr>
              <a:t>SSF: the </a:t>
            </a:r>
            <a:r>
              <a:rPr lang="en-US" altLang="en-US" sz="2000" b="1" dirty="0">
                <a:latin typeface="Times New Roman" panose="02020603050405020304" pitchFamily="18" charset="0"/>
                <a:cs typeface="Times New Roman" panose="02020603050405020304" pitchFamily="18" charset="0"/>
              </a:rPr>
              <a:t>least movement of the disk arm from its current head position</a:t>
            </a:r>
            <a:endParaRPr lang="en-US" altLang="en-US" sz="2000" dirty="0">
              <a:latin typeface="Times New Roman" panose="02020603050405020304" pitchFamily="18" charset="0"/>
              <a:cs typeface="Times New Roman" panose="02020603050405020304" pitchFamily="18" charset="0"/>
            </a:endParaRPr>
          </a:p>
          <a:p>
            <a:pPr lvl="2" algn="just" eaLnBrk="1" hangingPunct="1"/>
            <a:r>
              <a:rPr lang="en-US" altLang="en-US" sz="2000" dirty="0">
                <a:latin typeface="Times New Roman" panose="02020603050405020304" pitchFamily="18" charset="0"/>
                <a:cs typeface="Times New Roman" panose="02020603050405020304" pitchFamily="18" charset="0"/>
              </a:rPr>
              <a:t>Elevator</a:t>
            </a:r>
          </a:p>
          <a:p>
            <a:pPr lvl="3" algn="just" eaLnBrk="1" hangingPunct="1"/>
            <a:r>
              <a:rPr lang="en-US" altLang="en-US" b="1" dirty="0">
                <a:latin typeface="Times New Roman" panose="02020603050405020304" pitchFamily="18" charset="0"/>
                <a:cs typeface="Times New Roman" panose="02020603050405020304" pitchFamily="18" charset="0"/>
              </a:rPr>
              <a:t>Approach</a:t>
            </a:r>
            <a:r>
              <a:rPr lang="en-US" altLang="en-US" dirty="0">
                <a:latin typeface="Times New Roman" panose="02020603050405020304" pitchFamily="18" charset="0"/>
                <a:cs typeface="Times New Roman" panose="02020603050405020304" pitchFamily="18" charset="0"/>
              </a:rPr>
              <a:t>: Arm </a:t>
            </a:r>
            <a:r>
              <a:rPr lang="en-US" altLang="en-US" b="1" dirty="0">
                <a:latin typeface="Times New Roman" panose="02020603050405020304" pitchFamily="18" charset="0"/>
                <a:cs typeface="Times New Roman" panose="02020603050405020304" pitchFamily="18" charset="0"/>
              </a:rPr>
              <a:t>moves</a:t>
            </a:r>
            <a:r>
              <a:rPr lang="en-US" altLang="en-US" dirty="0">
                <a:latin typeface="Times New Roman" panose="02020603050405020304" pitchFamily="18" charset="0"/>
                <a:cs typeface="Times New Roman" panose="02020603050405020304" pitchFamily="18" charset="0"/>
              </a:rPr>
              <a:t> in </a:t>
            </a:r>
            <a:r>
              <a:rPr lang="en-US" altLang="en-US" b="1" dirty="0">
                <a:latin typeface="Times New Roman" panose="02020603050405020304" pitchFamily="18" charset="0"/>
                <a:cs typeface="Times New Roman" panose="02020603050405020304" pitchFamily="18" charset="0"/>
              </a:rPr>
              <a:t>one direction only</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satisfying</a:t>
            </a:r>
            <a:r>
              <a:rPr lang="en-US" altLang="en-US" dirty="0">
                <a:latin typeface="Times New Roman" panose="02020603050405020304" pitchFamily="18" charset="0"/>
                <a:cs typeface="Times New Roman" panose="02020603050405020304" pitchFamily="18" charset="0"/>
              </a:rPr>
              <a:t> all outstanding requests </a:t>
            </a:r>
            <a:r>
              <a:rPr lang="en-US" altLang="en-US" b="1" dirty="0">
                <a:latin typeface="Times New Roman" panose="02020603050405020304" pitchFamily="18" charset="0"/>
                <a:cs typeface="Times New Roman" panose="02020603050405020304" pitchFamily="18" charset="0"/>
              </a:rPr>
              <a:t>until</a:t>
            </a:r>
            <a:r>
              <a:rPr lang="en-US" altLang="en-US" dirty="0">
                <a:latin typeface="Times New Roman" panose="02020603050405020304" pitchFamily="18" charset="0"/>
                <a:cs typeface="Times New Roman" panose="02020603050405020304" pitchFamily="18" charset="0"/>
              </a:rPr>
              <a:t> it </a:t>
            </a:r>
            <a:r>
              <a:rPr lang="en-US" altLang="en-US" b="1" dirty="0">
                <a:latin typeface="Times New Roman" panose="02020603050405020304" pitchFamily="18" charset="0"/>
                <a:cs typeface="Times New Roman" panose="02020603050405020304" pitchFamily="18" charset="0"/>
              </a:rPr>
              <a:t>reaches the last track in</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that direction</a:t>
            </a:r>
          </a:p>
          <a:p>
            <a:pPr lvl="3" algn="just" eaLnBrk="1" hangingPunct="1"/>
            <a:r>
              <a:rPr lang="en-US" altLang="en-US" b="1" dirty="0">
                <a:latin typeface="Times New Roman" panose="02020603050405020304" pitchFamily="18" charset="0"/>
                <a:cs typeface="Times New Roman" panose="02020603050405020304" pitchFamily="18" charset="0"/>
              </a:rPr>
              <a:t>Implementation: When</a:t>
            </a:r>
            <a:r>
              <a:rPr lang="en-US" altLang="en-US" dirty="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highest numbered cylinder </a:t>
            </a:r>
            <a:r>
              <a:rPr lang="en-US" altLang="en-US" dirty="0">
                <a:latin typeface="Times New Roman" panose="02020603050405020304" pitchFamily="18" charset="0"/>
                <a:cs typeface="Times New Roman" panose="02020603050405020304" pitchFamily="18" charset="0"/>
              </a:rPr>
              <a:t>with a </a:t>
            </a:r>
            <a:r>
              <a:rPr lang="en-US" altLang="en-US" b="1" dirty="0">
                <a:latin typeface="Times New Roman" panose="02020603050405020304" pitchFamily="18" charset="0"/>
                <a:cs typeface="Times New Roman" panose="02020603050405020304" pitchFamily="18" charset="0"/>
              </a:rPr>
              <a:t>pending request </a:t>
            </a:r>
            <a:r>
              <a:rPr lang="en-US" altLang="en-US" dirty="0">
                <a:latin typeface="Times New Roman" panose="02020603050405020304" pitchFamily="18" charset="0"/>
                <a:cs typeface="Times New Roman" panose="02020603050405020304" pitchFamily="18" charset="0"/>
              </a:rPr>
              <a:t>has been services, the </a:t>
            </a:r>
            <a:r>
              <a:rPr lang="en-US" altLang="en-US" b="1" dirty="0">
                <a:latin typeface="Times New Roman" panose="02020603050405020304" pitchFamily="18" charset="0"/>
                <a:cs typeface="Times New Roman" panose="02020603050405020304" pitchFamily="18" charset="0"/>
              </a:rPr>
              <a:t>arm goes to lowest number cylinder</a:t>
            </a:r>
            <a:r>
              <a:rPr lang="en-US" altLang="en-US" dirty="0">
                <a:latin typeface="Times New Roman" panose="02020603050405020304" pitchFamily="18" charset="0"/>
                <a:cs typeface="Times New Roman" panose="02020603050405020304" pitchFamily="18" charset="0"/>
              </a:rPr>
              <a:t> with a pending request </a:t>
            </a:r>
            <a:r>
              <a:rPr lang="en-US" altLang="en-US" b="1" dirty="0">
                <a:latin typeface="Times New Roman" panose="02020603050405020304" pitchFamily="18" charset="0"/>
                <a:cs typeface="Times New Roman" panose="02020603050405020304" pitchFamily="18" charset="0"/>
              </a:rPr>
              <a:t>and</a:t>
            </a:r>
            <a:r>
              <a:rPr lang="en-US" altLang="en-US" dirty="0">
                <a:latin typeface="Times New Roman" panose="02020603050405020304" pitchFamily="18" charset="0"/>
                <a:cs typeface="Times New Roman" panose="02020603050405020304" pitchFamily="18" charset="0"/>
              </a:rPr>
              <a:t> then continues </a:t>
            </a:r>
            <a:r>
              <a:rPr lang="en-US" altLang="en-US" b="1" dirty="0">
                <a:latin typeface="Times New Roman" panose="02020603050405020304" pitchFamily="18" charset="0"/>
                <a:cs typeface="Times New Roman" panose="02020603050405020304" pitchFamily="18" charset="0"/>
              </a:rPr>
              <a:t>moving</a:t>
            </a:r>
            <a:r>
              <a:rPr lang="en-US" altLang="en-US" dirty="0">
                <a:latin typeface="Times New Roman" panose="02020603050405020304" pitchFamily="18" charset="0"/>
                <a:cs typeface="Times New Roman" panose="02020603050405020304" pitchFamily="18" charset="0"/>
              </a:rPr>
              <a:t> in </a:t>
            </a:r>
            <a:r>
              <a:rPr lang="en-US" altLang="en-US" b="1" dirty="0">
                <a:latin typeface="Times New Roman" panose="02020603050405020304" pitchFamily="18" charset="0"/>
                <a:cs typeface="Times New Roman" panose="02020603050405020304" pitchFamily="18" charset="0"/>
              </a:rPr>
              <a:t>an upward direction</a:t>
            </a:r>
            <a:endParaRPr lang="en-US" altLang="en-US" dirty="0">
              <a:latin typeface="Times New Roman" panose="02020603050405020304" pitchFamily="18" charset="0"/>
              <a:cs typeface="Times New Roman" panose="02020603050405020304" pitchFamily="18" charset="0"/>
            </a:endParaRPr>
          </a:p>
          <a:p>
            <a:pPr lvl="1" algn="just" eaLnBrk="1" hangingPunct="1"/>
            <a:r>
              <a:rPr lang="en-US" altLang="en-US" sz="2400" dirty="0">
                <a:latin typeface="Times New Roman" panose="02020603050405020304" pitchFamily="18" charset="0"/>
                <a:cs typeface="Times New Roman" panose="02020603050405020304" pitchFamily="18" charset="0"/>
              </a:rPr>
              <a:t>Rotational delay</a:t>
            </a:r>
          </a:p>
          <a:p>
            <a:pPr lvl="2" algn="just" eaLnBrk="1" hangingPunct="1"/>
            <a:r>
              <a:rPr lang="en-US" altLang="en-US" sz="2000" dirty="0">
                <a:latin typeface="Times New Roman" panose="02020603050405020304" pitchFamily="18" charset="0"/>
                <a:cs typeface="Times New Roman" panose="02020603050405020304" pitchFamily="18" charset="0"/>
              </a:rPr>
              <a:t>If </a:t>
            </a:r>
            <a:r>
              <a:rPr lang="en-US" altLang="en-US" sz="2000" b="1" dirty="0">
                <a:latin typeface="Times New Roman" panose="02020603050405020304" pitchFamily="18" charset="0"/>
                <a:cs typeface="Times New Roman" panose="02020603050405020304" pitchFamily="18" charset="0"/>
              </a:rPr>
              <a:t>two</a:t>
            </a:r>
            <a:r>
              <a:rPr lang="en-US" altLang="en-US" sz="2000" dirty="0">
                <a:latin typeface="Times New Roman" panose="02020603050405020304" pitchFamily="18" charset="0"/>
                <a:cs typeface="Times New Roman" panose="02020603050405020304" pitchFamily="18" charset="0"/>
              </a:rPr>
              <a:t> or </a:t>
            </a:r>
            <a:r>
              <a:rPr lang="en-US" altLang="en-US" sz="2000" b="1" dirty="0">
                <a:latin typeface="Times New Roman" panose="02020603050405020304" pitchFamily="18" charset="0"/>
                <a:cs typeface="Times New Roman" panose="02020603050405020304" pitchFamily="18" charset="0"/>
              </a:rPr>
              <a:t>more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requests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for</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same cylinder are pending</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driver</a:t>
            </a:r>
            <a:r>
              <a:rPr lang="en-US" altLang="en-US" sz="2000" dirty="0">
                <a:latin typeface="Times New Roman" panose="02020603050405020304" pitchFamily="18" charset="0"/>
                <a:cs typeface="Times New Roman" panose="02020603050405020304" pitchFamily="18" charset="0"/>
              </a:rPr>
              <a:t>  can </a:t>
            </a:r>
            <a:r>
              <a:rPr lang="en-US" altLang="en-US" sz="2000" b="1" dirty="0">
                <a:latin typeface="Times New Roman" panose="02020603050405020304" pitchFamily="18" charset="0"/>
                <a:cs typeface="Times New Roman" panose="02020603050405020304" pitchFamily="18" charset="0"/>
              </a:rPr>
              <a:t>issue</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request for the sector </a:t>
            </a:r>
            <a:r>
              <a:rPr lang="en-US" altLang="en-US" sz="2000" dirty="0">
                <a:latin typeface="Times New Roman" panose="02020603050405020304" pitchFamily="18" charset="0"/>
                <a:cs typeface="Times New Roman" panose="02020603050405020304" pitchFamily="18" charset="0"/>
              </a:rPr>
              <a:t>that will </a:t>
            </a:r>
            <a:r>
              <a:rPr lang="en-US" altLang="en-US" sz="2000" b="1" dirty="0">
                <a:latin typeface="Times New Roman" panose="02020603050405020304" pitchFamily="18" charset="0"/>
                <a:cs typeface="Times New Roman" panose="02020603050405020304" pitchFamily="18" charset="0"/>
              </a:rPr>
              <a:t>pass under the head next</a:t>
            </a:r>
          </a:p>
          <a:p>
            <a:pPr lvl="2" algn="just" eaLnBrk="1" hangingPunct="1"/>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OS</a:t>
            </a:r>
            <a:r>
              <a:rPr lang="en-US" altLang="en-US" sz="2000" dirty="0">
                <a:latin typeface="Times New Roman" panose="02020603050405020304" pitchFamily="18" charset="0"/>
                <a:cs typeface="Times New Roman" panose="02020603050405020304" pitchFamily="18" charset="0"/>
              </a:rPr>
              <a:t> should </a:t>
            </a:r>
            <a:r>
              <a:rPr lang="en-US" altLang="en-US" sz="2000" b="1" dirty="0">
                <a:latin typeface="Times New Roman" panose="02020603050405020304" pitchFamily="18" charset="0"/>
                <a:cs typeface="Times New Roman" panose="02020603050405020304" pitchFamily="18" charset="0"/>
              </a:rPr>
              <a:t>maintain</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pending request table for each drive, </a:t>
            </a:r>
            <a:r>
              <a:rPr lang="en-US" altLang="en-US" sz="2000" dirty="0">
                <a:latin typeface="Times New Roman" panose="02020603050405020304" pitchFamily="18" charset="0"/>
                <a:cs typeface="Times New Roman" panose="02020603050405020304" pitchFamily="18" charset="0"/>
              </a:rPr>
              <a:t>a </a:t>
            </a:r>
            <a:r>
              <a:rPr lang="en-US" altLang="en-US" sz="2000" b="1" dirty="0">
                <a:latin typeface="Times New Roman" panose="02020603050405020304" pitchFamily="18" charset="0"/>
                <a:cs typeface="Times New Roman" panose="02020603050405020304" pitchFamily="18" charset="0"/>
              </a:rPr>
              <a:t>seek</a:t>
            </a:r>
            <a:r>
              <a:rPr lang="en-US" altLang="en-US" sz="2000" dirty="0">
                <a:latin typeface="Times New Roman" panose="02020603050405020304" pitchFamily="18" charset="0"/>
                <a:cs typeface="Times New Roman" panose="02020603050405020304" pitchFamily="18" charset="0"/>
              </a:rPr>
              <a:t> should be </a:t>
            </a:r>
            <a:r>
              <a:rPr lang="en-US" altLang="en-US" sz="2000" b="1" dirty="0">
                <a:latin typeface="Times New Roman" panose="02020603050405020304" pitchFamily="18" charset="0"/>
                <a:cs typeface="Times New Roman" panose="02020603050405020304" pitchFamily="18" charset="0"/>
              </a:rPr>
              <a:t>issued</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to</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move</a:t>
            </a:r>
            <a:r>
              <a:rPr lang="en-US" altLang="en-US" sz="2000" dirty="0">
                <a:latin typeface="Times New Roman" panose="02020603050405020304" pitchFamily="18" charset="0"/>
                <a:cs typeface="Times New Roman" panose="02020603050405020304" pitchFamily="18" charset="0"/>
              </a:rPr>
              <a:t> its </a:t>
            </a:r>
            <a:r>
              <a:rPr lang="en-US" altLang="en-US" sz="2000" b="1" dirty="0">
                <a:latin typeface="Times New Roman" panose="02020603050405020304" pitchFamily="18" charset="0"/>
                <a:cs typeface="Times New Roman" panose="02020603050405020304" pitchFamily="18" charset="0"/>
              </a:rPr>
              <a:t>arm</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to the cylinder where</a:t>
            </a:r>
            <a:r>
              <a:rPr lang="en-US" altLang="en-US" sz="2000" dirty="0">
                <a:latin typeface="Times New Roman" panose="02020603050405020304" pitchFamily="18" charset="0"/>
                <a:cs typeface="Times New Roman" panose="02020603050405020304" pitchFamily="18" charset="0"/>
              </a:rPr>
              <a:t> it will be </a:t>
            </a:r>
            <a:r>
              <a:rPr lang="en-US" altLang="en-US" sz="2000" b="1" dirty="0">
                <a:latin typeface="Times New Roman" panose="02020603050405020304" pitchFamily="18" charset="0"/>
                <a:cs typeface="Times New Roman" panose="02020603050405020304" pitchFamily="18" charset="0"/>
              </a:rPr>
              <a:t>needed next</a:t>
            </a:r>
            <a:endParaRPr lang="en-US" altLang="en-US" sz="2000" dirty="0">
              <a:latin typeface="Times New Roman" panose="02020603050405020304" pitchFamily="18" charset="0"/>
              <a:cs typeface="Times New Roman" panose="02020603050405020304" pitchFamily="18" charset="0"/>
            </a:endParaRPr>
          </a:p>
          <a:p>
            <a:pPr lvl="1" algn="just" eaLnBrk="1" hangingPunct="1"/>
            <a:r>
              <a:rPr lang="en-US" altLang="en-US" sz="2400" dirty="0">
                <a:latin typeface="Times New Roman" panose="02020603050405020304" pitchFamily="18" charset="0"/>
                <a:cs typeface="Times New Roman" panose="02020603050405020304" pitchFamily="18" charset="0"/>
              </a:rPr>
              <a:t>Actual data transfer time (SATA)</a:t>
            </a:r>
          </a:p>
        </p:txBody>
      </p:sp>
    </p:spTree>
    <p:extLst>
      <p:ext uri="{BB962C8B-B14F-4D97-AF65-F5344CB8AC3E}">
        <p14:creationId xmlns:p14="http://schemas.microsoft.com/office/powerpoint/2010/main" val="693603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checkerboard(across)">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checkerboard(across)">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checkerboard(across)">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checkerboard(across)">
                                      <p:cBhvr>
                                        <p:cTn id="22" dur="500"/>
                                        <p:tgtEl>
                                          <p:spTgt spid="4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checkerboard(across)">
                                      <p:cBhvr>
                                        <p:cTn id="27" dur="500"/>
                                        <p:tgtEl>
                                          <p:spTgt spid="4099">
                                            <p:txEl>
                                              <p:pRg st="4" end="4"/>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4099">
                                            <p:txEl>
                                              <p:pRg st="5" end="5"/>
                                            </p:txEl>
                                          </p:spTgt>
                                        </p:tgtEl>
                                        <p:attrNameLst>
                                          <p:attrName>style.visibility</p:attrName>
                                        </p:attrNameLst>
                                      </p:cBhvr>
                                      <p:to>
                                        <p:strVal val="visible"/>
                                      </p:to>
                                    </p:set>
                                    <p:animEffect transition="in" filter="checkerboard(across)">
                                      <p:cBhvr>
                                        <p:cTn id="30" dur="500"/>
                                        <p:tgtEl>
                                          <p:spTgt spid="4099">
                                            <p:txEl>
                                              <p:pRg st="5" end="5"/>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4099">
                                            <p:txEl>
                                              <p:pRg st="6" end="6"/>
                                            </p:txEl>
                                          </p:spTgt>
                                        </p:tgtEl>
                                        <p:attrNameLst>
                                          <p:attrName>style.visibility</p:attrName>
                                        </p:attrNameLst>
                                      </p:cBhvr>
                                      <p:to>
                                        <p:strVal val="visible"/>
                                      </p:to>
                                    </p:set>
                                    <p:animEffect transition="in" filter="checkerboard(across)">
                                      <p:cBhvr>
                                        <p:cTn id="33" dur="500"/>
                                        <p:tgtEl>
                                          <p:spTgt spid="4099">
                                            <p:txEl>
                                              <p:pRg st="6" end="6"/>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nodeType="clickEffect">
                                  <p:stCondLst>
                                    <p:cond delay="0"/>
                                  </p:stCondLst>
                                  <p:childTnLst>
                                    <p:set>
                                      <p:cBhvr>
                                        <p:cTn id="37" dur="1" fill="hold">
                                          <p:stCondLst>
                                            <p:cond delay="0"/>
                                          </p:stCondLst>
                                        </p:cTn>
                                        <p:tgtEl>
                                          <p:spTgt spid="4099">
                                            <p:txEl>
                                              <p:pRg st="7" end="7"/>
                                            </p:txEl>
                                          </p:spTgt>
                                        </p:tgtEl>
                                        <p:attrNameLst>
                                          <p:attrName>style.visibility</p:attrName>
                                        </p:attrNameLst>
                                      </p:cBhvr>
                                      <p:to>
                                        <p:strVal val="visible"/>
                                      </p:to>
                                    </p:set>
                                    <p:animEffect transition="in" filter="checkerboard(across)">
                                      <p:cBhvr>
                                        <p:cTn id="38" dur="500"/>
                                        <p:tgtEl>
                                          <p:spTgt spid="4099">
                                            <p:txEl>
                                              <p:pRg st="7" end="7"/>
                                            </p:txEl>
                                          </p:spTgt>
                                        </p:tgtEl>
                                      </p:cBhvr>
                                    </p:animEffect>
                                  </p:childTnLst>
                                </p:cTn>
                              </p:par>
                              <p:par>
                                <p:cTn id="39" presetID="5" presetClass="entr" presetSubtype="10" fill="hold" nodeType="withEffect">
                                  <p:stCondLst>
                                    <p:cond delay="0"/>
                                  </p:stCondLst>
                                  <p:childTnLst>
                                    <p:set>
                                      <p:cBhvr>
                                        <p:cTn id="40" dur="1" fill="hold">
                                          <p:stCondLst>
                                            <p:cond delay="0"/>
                                          </p:stCondLst>
                                        </p:cTn>
                                        <p:tgtEl>
                                          <p:spTgt spid="4099">
                                            <p:txEl>
                                              <p:pRg st="8" end="8"/>
                                            </p:txEl>
                                          </p:spTgt>
                                        </p:tgtEl>
                                        <p:attrNameLst>
                                          <p:attrName>style.visibility</p:attrName>
                                        </p:attrNameLst>
                                      </p:cBhvr>
                                      <p:to>
                                        <p:strVal val="visible"/>
                                      </p:to>
                                    </p:set>
                                    <p:animEffect transition="in" filter="checkerboard(across)">
                                      <p:cBhvr>
                                        <p:cTn id="41" dur="500"/>
                                        <p:tgtEl>
                                          <p:spTgt spid="4099">
                                            <p:txEl>
                                              <p:pRg st="8" end="8"/>
                                            </p:txEl>
                                          </p:spTgt>
                                        </p:tgtEl>
                                      </p:cBhvr>
                                    </p:animEffect>
                                  </p:childTnLst>
                                </p:cTn>
                              </p:par>
                              <p:par>
                                <p:cTn id="42" presetID="5" presetClass="entr" presetSubtype="10" fill="hold" nodeType="withEffect">
                                  <p:stCondLst>
                                    <p:cond delay="0"/>
                                  </p:stCondLst>
                                  <p:childTnLst>
                                    <p:set>
                                      <p:cBhvr>
                                        <p:cTn id="43" dur="1" fill="hold">
                                          <p:stCondLst>
                                            <p:cond delay="0"/>
                                          </p:stCondLst>
                                        </p:cTn>
                                        <p:tgtEl>
                                          <p:spTgt spid="4099">
                                            <p:txEl>
                                              <p:pRg st="9" end="9"/>
                                            </p:txEl>
                                          </p:spTgt>
                                        </p:tgtEl>
                                        <p:attrNameLst>
                                          <p:attrName>style.visibility</p:attrName>
                                        </p:attrNameLst>
                                      </p:cBhvr>
                                      <p:to>
                                        <p:strVal val="visible"/>
                                      </p:to>
                                    </p:set>
                                    <p:animEffect transition="in" filter="checkerboard(across)">
                                      <p:cBhvr>
                                        <p:cTn id="44" dur="500"/>
                                        <p:tgtEl>
                                          <p:spTgt spid="4099">
                                            <p:txEl>
                                              <p:pRg st="9" end="9"/>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nodeType="clickEffect">
                                  <p:stCondLst>
                                    <p:cond delay="0"/>
                                  </p:stCondLst>
                                  <p:childTnLst>
                                    <p:set>
                                      <p:cBhvr>
                                        <p:cTn id="48" dur="1" fill="hold">
                                          <p:stCondLst>
                                            <p:cond delay="0"/>
                                          </p:stCondLst>
                                        </p:cTn>
                                        <p:tgtEl>
                                          <p:spTgt spid="4099">
                                            <p:txEl>
                                              <p:pRg st="10" end="10"/>
                                            </p:txEl>
                                          </p:spTgt>
                                        </p:tgtEl>
                                        <p:attrNameLst>
                                          <p:attrName>style.visibility</p:attrName>
                                        </p:attrNameLst>
                                      </p:cBhvr>
                                      <p:to>
                                        <p:strVal val="visible"/>
                                      </p:to>
                                    </p:set>
                                    <p:animEffect transition="in" filter="checkerboard(across)">
                                      <p:cBhvr>
                                        <p:cTn id="49" dur="500"/>
                                        <p:tgtEl>
                                          <p:spTgt spid="409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533400"/>
            <a:ext cx="9144000" cy="6172200"/>
          </a:xfrm>
        </p:spPr>
        <p:txBody>
          <a:bodyPr/>
          <a:lstStyle/>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Disk arm scheduling</a:t>
            </a:r>
          </a:p>
          <a:p>
            <a:pPr lvl="1" algn="just" eaLnBrk="1" hangingPunct="1"/>
            <a:r>
              <a:rPr lang="en-US" altLang="en-US" sz="2400">
                <a:latin typeface="Times New Roman" panose="02020603050405020304" pitchFamily="18" charset="0"/>
                <a:cs typeface="Times New Roman" panose="02020603050405020304" pitchFamily="18" charset="0"/>
              </a:rPr>
              <a:t>Error handling</a:t>
            </a:r>
          </a:p>
          <a:p>
            <a:pPr lvl="2" algn="just" eaLnBrk="1" hangingPunct="1"/>
            <a:r>
              <a:rPr lang="en-US" altLang="en-US" sz="2000">
                <a:latin typeface="Times New Roman" panose="02020603050405020304" pitchFamily="18" charset="0"/>
                <a:cs typeface="Times New Roman" panose="02020603050405020304" pitchFamily="18" charset="0"/>
              </a:rPr>
              <a:t>Bad sector</a:t>
            </a:r>
          </a:p>
          <a:p>
            <a:pPr lvl="3" algn="just" eaLnBrk="1" hangingPunct="1"/>
            <a:r>
              <a:rPr lang="en-US" altLang="en-US">
                <a:latin typeface="Times New Roman" panose="02020603050405020304" pitchFamily="18" charset="0"/>
                <a:cs typeface="Times New Roman" panose="02020603050405020304" pitchFamily="18" charset="0"/>
              </a:rPr>
              <a:t>Sectors </a:t>
            </a:r>
            <a:r>
              <a:rPr lang="en-US" altLang="en-US" b="1">
                <a:latin typeface="Times New Roman" panose="02020603050405020304" pitchFamily="18" charset="0"/>
                <a:cs typeface="Times New Roman" panose="02020603050405020304" pitchFamily="18" charset="0"/>
              </a:rPr>
              <a:t>do not correctly read back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value</a:t>
            </a:r>
            <a:r>
              <a:rPr lang="en-US" altLang="en-US">
                <a:latin typeface="Times New Roman" panose="02020603050405020304" pitchFamily="18" charset="0"/>
                <a:cs typeface="Times New Roman" panose="02020603050405020304" pitchFamily="18" charset="0"/>
              </a:rPr>
              <a:t> just </a:t>
            </a:r>
            <a:r>
              <a:rPr lang="en-US" altLang="en-US" b="1">
                <a:latin typeface="Times New Roman" panose="02020603050405020304" pitchFamily="18" charset="0"/>
                <a:cs typeface="Times New Roman" panose="02020603050405020304" pitchFamily="18" charset="0"/>
              </a:rPr>
              <a:t>written to them</a:t>
            </a:r>
          </a:p>
          <a:p>
            <a:pPr lvl="3" algn="just" eaLnBrk="1" hangingPunct="1"/>
            <a:r>
              <a:rPr lang="en-US" altLang="en-US" b="1">
                <a:latin typeface="Times New Roman" panose="02020603050405020304" pitchFamily="18" charset="0"/>
                <a:cs typeface="Times New Roman" panose="02020603050405020304" pitchFamily="18" charset="0"/>
              </a:rPr>
              <a:t>Controllers remap</a:t>
            </a:r>
            <a:r>
              <a:rPr lang="en-US" altLang="en-US">
                <a:latin typeface="Times New Roman" panose="02020603050405020304" pitchFamily="18" charset="0"/>
                <a:cs typeface="Times New Roman" panose="02020603050405020304" pitchFamily="18" charset="0"/>
              </a:rPr>
              <a:t> the bad sector </a:t>
            </a:r>
            <a:r>
              <a:rPr lang="en-US" altLang="en-US" b="1">
                <a:latin typeface="Times New Roman" panose="02020603050405020304" pitchFamily="18" charset="0"/>
                <a:cs typeface="Times New Roman" panose="02020603050405020304" pitchFamily="18" charset="0"/>
              </a:rPr>
              <a:t>to</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spare and/or Shift all </a:t>
            </a:r>
            <a:r>
              <a:rPr lang="en-US" altLang="en-US">
                <a:latin typeface="Times New Roman" panose="02020603050405020304" pitchFamily="18" charset="0"/>
                <a:cs typeface="Times New Roman" panose="02020603050405020304" pitchFamily="18" charset="0"/>
              </a:rPr>
              <a:t>the sectors up one</a:t>
            </a:r>
          </a:p>
          <a:p>
            <a:pPr lvl="3" algn="just" eaLnBrk="1" hangingPunct="1"/>
            <a:r>
              <a:rPr lang="en-US" altLang="en-US">
                <a:latin typeface="Times New Roman" panose="02020603050405020304" pitchFamily="18" charset="0"/>
                <a:cs typeface="Times New Roman" panose="02020603050405020304" pitchFamily="18" charset="0"/>
              </a:rPr>
              <a:t>OS must first </a:t>
            </a:r>
            <a:r>
              <a:rPr lang="en-US" altLang="en-US" b="1">
                <a:latin typeface="Times New Roman" panose="02020603050405020304" pitchFamily="18" charset="0"/>
                <a:cs typeface="Times New Roman" panose="02020603050405020304" pitchFamily="18" charset="0"/>
              </a:rPr>
              <a:t>acquire a list of bad sectors, then it </a:t>
            </a:r>
            <a:r>
              <a:rPr lang="en-US" altLang="en-US">
                <a:latin typeface="Times New Roman" panose="02020603050405020304" pitchFamily="18" charset="0"/>
                <a:cs typeface="Times New Roman" panose="02020603050405020304" pitchFamily="18" charset="0"/>
              </a:rPr>
              <a:t>can </a:t>
            </a:r>
            <a:r>
              <a:rPr lang="en-US" altLang="en-US" b="1">
                <a:latin typeface="Times New Roman" panose="02020603050405020304" pitchFamily="18" charset="0"/>
                <a:cs typeface="Times New Roman" panose="02020603050405020304" pitchFamily="18" charset="0"/>
              </a:rPr>
              <a:t>build remapping tables</a:t>
            </a:r>
          </a:p>
          <a:p>
            <a:pPr lvl="2" algn="just" eaLnBrk="1" hangingPunct="1"/>
            <a:r>
              <a:rPr lang="en-US" altLang="en-US" sz="2000">
                <a:latin typeface="Times New Roman" panose="02020603050405020304" pitchFamily="18" charset="0"/>
                <a:cs typeface="Times New Roman" panose="02020603050405020304" pitchFamily="18" charset="0"/>
              </a:rPr>
              <a:t>Seek errors</a:t>
            </a:r>
          </a:p>
          <a:p>
            <a:pPr lvl="3" algn="just" eaLnBrk="1" hangingPunct="1"/>
            <a:r>
              <a:rPr lang="en-US" altLang="en-US" b="1">
                <a:latin typeface="Times New Roman" panose="02020603050405020304" pitchFamily="18" charset="0"/>
                <a:cs typeface="Times New Roman" panose="02020603050405020304" pitchFamily="18" charset="0"/>
              </a:rPr>
              <a:t>Move the arm as far </a:t>
            </a:r>
            <a:r>
              <a:rPr lang="en-US" altLang="en-US">
                <a:latin typeface="Times New Roman" panose="02020603050405020304" pitchFamily="18" charset="0"/>
                <a:cs typeface="Times New Roman" panose="02020603050405020304" pitchFamily="18" charset="0"/>
              </a:rPr>
              <a:t>out as it will go </a:t>
            </a:r>
            <a:r>
              <a:rPr lang="en-US" altLang="en-US" b="1">
                <a:latin typeface="Times New Roman" panose="02020603050405020304" pitchFamily="18" charset="0"/>
                <a:cs typeface="Times New Roman" panose="02020603050405020304" pitchFamily="18" charset="0"/>
              </a:rPr>
              <a:t>and reset </a:t>
            </a:r>
            <a:r>
              <a:rPr lang="en-US" altLang="en-US">
                <a:latin typeface="Times New Roman" panose="02020603050405020304" pitchFamily="18" charset="0"/>
                <a:cs typeface="Times New Roman" panose="02020603050405020304" pitchFamily="18" charset="0"/>
              </a:rPr>
              <a:t>the controller’s internal idea of the </a:t>
            </a:r>
            <a:r>
              <a:rPr lang="en-US" altLang="en-US" b="1">
                <a:latin typeface="Times New Roman" panose="02020603050405020304" pitchFamily="18" charset="0"/>
                <a:cs typeface="Times New Roman" panose="02020603050405020304" pitchFamily="18" charset="0"/>
              </a:rPr>
              <a:t>current cylinder to 0</a:t>
            </a:r>
          </a:p>
          <a:p>
            <a:pPr lvl="1" algn="just" eaLnBrk="1" hangingPunct="1"/>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checkerboard(across)">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checkerboard(across)">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checkerboard(across)">
                                      <p:cBhvr>
                                        <p:cTn id="17" dur="500"/>
                                        <p:tgtEl>
                                          <p:spTgt spid="4099">
                                            <p:txEl>
                                              <p:pRg st="2" end="2"/>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checkerboard(across)">
                                      <p:cBhvr>
                                        <p:cTn id="20" dur="500"/>
                                        <p:tgtEl>
                                          <p:spTgt spid="4099">
                                            <p:txEl>
                                              <p:pRg st="3" end="3"/>
                                            </p:txEl>
                                          </p:spTgt>
                                        </p:tgtEl>
                                      </p:cBhvr>
                                    </p:animEffect>
                                  </p:childTnLst>
                                </p:cTn>
                              </p:par>
                              <p:par>
                                <p:cTn id="21" presetID="5" presetClass="entr" presetSubtype="10" fill="hold" nodeType="with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animEffect transition="in" filter="checkerboard(across)">
                                      <p:cBhvr>
                                        <p:cTn id="23" dur="500"/>
                                        <p:tgtEl>
                                          <p:spTgt spid="4099">
                                            <p:txEl>
                                              <p:pRg st="4" end="4"/>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4099">
                                            <p:txEl>
                                              <p:pRg st="5" end="5"/>
                                            </p:txEl>
                                          </p:spTgt>
                                        </p:tgtEl>
                                        <p:attrNameLst>
                                          <p:attrName>style.visibility</p:attrName>
                                        </p:attrNameLst>
                                      </p:cBhvr>
                                      <p:to>
                                        <p:strVal val="visible"/>
                                      </p:to>
                                    </p:set>
                                    <p:animEffect transition="in" filter="checkerboard(across)">
                                      <p:cBhvr>
                                        <p:cTn id="26" dur="500"/>
                                        <p:tgtEl>
                                          <p:spTgt spid="4099">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nodeType="clickEffect">
                                  <p:stCondLst>
                                    <p:cond delay="0"/>
                                  </p:stCondLst>
                                  <p:childTnLst>
                                    <p:set>
                                      <p:cBhvr>
                                        <p:cTn id="30" dur="1" fill="hold">
                                          <p:stCondLst>
                                            <p:cond delay="0"/>
                                          </p:stCondLst>
                                        </p:cTn>
                                        <p:tgtEl>
                                          <p:spTgt spid="4099">
                                            <p:txEl>
                                              <p:pRg st="6" end="6"/>
                                            </p:txEl>
                                          </p:spTgt>
                                        </p:tgtEl>
                                        <p:attrNameLst>
                                          <p:attrName>style.visibility</p:attrName>
                                        </p:attrNameLst>
                                      </p:cBhvr>
                                      <p:to>
                                        <p:strVal val="visible"/>
                                      </p:to>
                                    </p:set>
                                    <p:animEffect transition="in" filter="checkerboard(across)">
                                      <p:cBhvr>
                                        <p:cTn id="31" dur="500"/>
                                        <p:tgtEl>
                                          <p:spTgt spid="4099">
                                            <p:txEl>
                                              <p:pRg st="6" end="6"/>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4099">
                                            <p:txEl>
                                              <p:pRg st="7" end="7"/>
                                            </p:txEl>
                                          </p:spTgt>
                                        </p:tgtEl>
                                        <p:attrNameLst>
                                          <p:attrName>style.visibility</p:attrName>
                                        </p:attrNameLst>
                                      </p:cBhvr>
                                      <p:to>
                                        <p:strVal val="visible"/>
                                      </p:to>
                                    </p:set>
                                    <p:animEffect transition="in" filter="checkerboard(across)">
                                      <p:cBhvr>
                                        <p:cTn id="34" dur="500"/>
                                        <p:tgtEl>
                                          <p:spTgt spid="40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609600"/>
            <a:ext cx="9144000" cy="6172200"/>
          </a:xfrm>
        </p:spPr>
        <p:txBody>
          <a:bodyPr/>
          <a:lstStyle/>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Disk arm scheduling</a:t>
            </a:r>
          </a:p>
          <a:p>
            <a:pPr lvl="1" algn="just" eaLnBrk="1" hangingPunct="1"/>
            <a:r>
              <a:rPr lang="en-US" altLang="en-US" sz="2400">
                <a:latin typeface="Times New Roman" panose="02020603050405020304" pitchFamily="18" charset="0"/>
                <a:cs typeface="Times New Roman" panose="02020603050405020304" pitchFamily="18" charset="0"/>
              </a:rPr>
              <a:t>Disk Consistency</a:t>
            </a:r>
          </a:p>
          <a:p>
            <a:pPr lvl="2" algn="just" eaLnBrk="1" hangingPunct="1"/>
            <a:r>
              <a:rPr lang="en-US" altLang="en-US" sz="2000" b="1">
                <a:latin typeface="Times New Roman" panose="02020603050405020304" pitchFamily="18" charset="0"/>
                <a:cs typeface="Times New Roman" panose="02020603050405020304" pitchFamily="18" charset="0"/>
              </a:rPr>
              <a:t>Stable write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Write</a:t>
            </a:r>
            <a:r>
              <a:rPr lang="en-US" altLang="en-US" sz="2000">
                <a:latin typeface="Times New Roman" panose="02020603050405020304" pitchFamily="18" charset="0"/>
                <a:cs typeface="Times New Roman" panose="02020603050405020304" pitchFamily="18" charset="0"/>
              </a:rPr>
              <a:t> block on drive 1, </a:t>
            </a:r>
            <a:r>
              <a:rPr lang="en-US" altLang="en-US" sz="2000" b="1">
                <a:latin typeface="Times New Roman" panose="02020603050405020304" pitchFamily="18" charset="0"/>
                <a:cs typeface="Times New Roman" panose="02020603050405020304" pitchFamily="18" charset="0"/>
              </a:rPr>
              <a:t>then</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reading</a:t>
            </a:r>
            <a:r>
              <a:rPr lang="en-US" altLang="en-US" sz="2000">
                <a:latin typeface="Times New Roman" panose="02020603050405020304" pitchFamily="18" charset="0"/>
                <a:cs typeface="Times New Roman" panose="02020603050405020304" pitchFamily="18" charset="0"/>
              </a:rPr>
              <a:t> it back to verify. The </a:t>
            </a:r>
            <a:r>
              <a:rPr lang="en-US" altLang="en-US" sz="2000" b="1">
                <a:latin typeface="Times New Roman" panose="02020603050405020304" pitchFamily="18" charset="0"/>
                <a:cs typeface="Times New Roman" panose="02020603050405020304" pitchFamily="18" charset="0"/>
              </a:rPr>
              <a:t>driver 2 is written and reread until it succeeds</a:t>
            </a:r>
          </a:p>
          <a:p>
            <a:pPr lvl="2" algn="just" eaLnBrk="1" hangingPunct="1"/>
            <a:r>
              <a:rPr lang="en-US" altLang="en-US" sz="2000">
                <a:latin typeface="Times New Roman" panose="02020603050405020304" pitchFamily="18" charset="0"/>
                <a:cs typeface="Times New Roman" panose="02020603050405020304" pitchFamily="18" charset="0"/>
              </a:rPr>
              <a:t>Stable read: First </a:t>
            </a:r>
            <a:r>
              <a:rPr lang="en-US" altLang="en-US" sz="2000" b="1">
                <a:latin typeface="Times New Roman" panose="02020603050405020304" pitchFamily="18" charset="0"/>
                <a:cs typeface="Times New Roman" panose="02020603050405020304" pitchFamily="18" charset="0"/>
              </a:rPr>
              <a:t>read</a:t>
            </a:r>
            <a:r>
              <a:rPr lang="en-US" altLang="en-US" sz="2000">
                <a:latin typeface="Times New Roman" panose="02020603050405020304" pitchFamily="18" charset="0"/>
                <a:cs typeface="Times New Roman" panose="02020603050405020304" pitchFamily="18" charset="0"/>
              </a:rPr>
              <a:t> block </a:t>
            </a:r>
            <a:r>
              <a:rPr lang="en-US" altLang="en-US" sz="2000" b="1">
                <a:latin typeface="Times New Roman" panose="02020603050405020304" pitchFamily="18" charset="0"/>
                <a:cs typeface="Times New Roman" panose="02020603050405020304" pitchFamily="18" charset="0"/>
              </a:rPr>
              <a:t>on drive 1 </a:t>
            </a:r>
            <a:r>
              <a:rPr lang="en-US" altLang="en-US" sz="2000">
                <a:latin typeface="Times New Roman" panose="02020603050405020304" pitchFamily="18" charset="0"/>
                <a:cs typeface="Times New Roman" panose="02020603050405020304" pitchFamily="18" charset="0"/>
              </a:rPr>
              <a:t>in </a:t>
            </a:r>
            <a:r>
              <a:rPr lang="en-US" altLang="en-US" sz="2000" b="1">
                <a:latin typeface="Times New Roman" panose="02020603050405020304" pitchFamily="18" charset="0"/>
                <a:cs typeface="Times New Roman" panose="02020603050405020304" pitchFamily="18" charset="0"/>
              </a:rPr>
              <a:t>n times. </a:t>
            </a:r>
            <a:r>
              <a:rPr lang="en-US" altLang="en-US" sz="2000">
                <a:latin typeface="Times New Roman" panose="02020603050405020304" pitchFamily="18" charset="0"/>
                <a:cs typeface="Times New Roman" panose="02020603050405020304" pitchFamily="18" charset="0"/>
              </a:rPr>
              <a:t>If all of these </a:t>
            </a:r>
            <a:r>
              <a:rPr lang="en-US" altLang="en-US" sz="2000" b="1">
                <a:latin typeface="Times New Roman" panose="02020603050405020304" pitchFamily="18" charset="0"/>
                <a:cs typeface="Times New Roman" panose="02020603050405020304" pitchFamily="18" charset="0"/>
              </a:rPr>
              <a:t>give bad ECCs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reading on drive 2</a:t>
            </a:r>
          </a:p>
          <a:p>
            <a:pPr lvl="2" algn="just" eaLnBrk="1" hangingPunct="1"/>
            <a:r>
              <a:rPr lang="en-US" altLang="en-US" sz="2000" b="1">
                <a:latin typeface="Times New Roman" panose="02020603050405020304" pitchFamily="18" charset="0"/>
                <a:cs typeface="Times New Roman" panose="02020603050405020304" pitchFamily="18" charset="0"/>
              </a:rPr>
              <a:t>Crash recovery: scans both disks </a:t>
            </a:r>
            <a:r>
              <a:rPr lang="en-US" altLang="en-US" sz="2000">
                <a:latin typeface="Times New Roman" panose="02020603050405020304" pitchFamily="18" charset="0"/>
                <a:cs typeface="Times New Roman" panose="02020603050405020304" pitchFamily="18" charset="0"/>
              </a:rPr>
              <a:t>comparing corresponding blocks. </a:t>
            </a:r>
            <a:r>
              <a:rPr lang="en-US" altLang="en-US" sz="2000" b="1">
                <a:latin typeface="Times New Roman" panose="02020603050405020304" pitchFamily="18" charset="0"/>
                <a:cs typeface="Times New Roman" panose="02020603050405020304" pitchFamily="18" charset="0"/>
              </a:rPr>
              <a:t>Bad block </a:t>
            </a:r>
            <a:r>
              <a:rPr lang="en-US" altLang="en-US" sz="2000">
                <a:latin typeface="Times New Roman" panose="02020603050405020304" pitchFamily="18" charset="0"/>
                <a:cs typeface="Times New Roman" panose="02020603050405020304" pitchFamily="18" charset="0"/>
              </a:rPr>
              <a:t>is </a:t>
            </a:r>
            <a:r>
              <a:rPr lang="en-US" altLang="en-US" sz="2000" b="1">
                <a:latin typeface="Times New Roman" panose="02020603050405020304" pitchFamily="18" charset="0"/>
                <a:cs typeface="Times New Roman" panose="02020603050405020304" pitchFamily="18" charset="0"/>
              </a:rPr>
              <a:t>overwritten</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with the good blocks or block</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from driver 1 is written onto drive 2</a:t>
            </a:r>
          </a:p>
          <a:p>
            <a:pPr lvl="2" algn="just" eaLnBrk="1" hangingPunct="1"/>
            <a:r>
              <a:rPr lang="en-US" altLang="en-US" sz="2000" b="1">
                <a:latin typeface="Times New Roman" panose="02020603050405020304" pitchFamily="18" charset="0"/>
                <a:cs typeface="Times New Roman" panose="02020603050405020304" pitchFamily="18" charset="0"/>
              </a:rPr>
              <a:t>Optimizing: </a:t>
            </a:r>
            <a:r>
              <a:rPr lang="en-US" altLang="en-US" sz="2000">
                <a:latin typeface="Times New Roman" panose="02020603050405020304" pitchFamily="18" charset="0"/>
                <a:cs typeface="Times New Roman" panose="02020603050405020304" pitchFamily="18" charset="0"/>
              </a:rPr>
              <a:t>using Nonvolatile/ Volatile RAM to replace in using driver 2</a:t>
            </a:r>
          </a:p>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Thin Client</a:t>
            </a:r>
          </a:p>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Power Manager</a:t>
            </a:r>
          </a:p>
          <a:p>
            <a:pPr lvl="1" algn="just" eaLnBrk="1" hangingPunct="1"/>
            <a:r>
              <a:rPr lang="en-US" altLang="en-US" sz="2400">
                <a:latin typeface="Times New Roman" panose="02020603050405020304" pitchFamily="18" charset="0"/>
                <a:cs typeface="Times New Roman" panose="02020603050405020304" pitchFamily="18" charset="0"/>
              </a:rPr>
              <a:t>The programs to use less energy, even if this means providing a poorer user experience</a:t>
            </a:r>
          </a:p>
          <a:p>
            <a:pPr lvl="1" algn="just" eaLnBrk="1" hangingPunct="1"/>
            <a:r>
              <a:rPr lang="en-US" altLang="en-US" sz="2400">
                <a:latin typeface="Times New Roman" panose="02020603050405020304" pitchFamily="18" charset="0"/>
                <a:cs typeface="Times New Roman" panose="02020603050405020304" pitchFamily="18" charset="0"/>
              </a:rPr>
              <a:t>Display, HDD, CPU, Memory, Wireless, Driver Interface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checkerboard(across)">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checkerboard(across)">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checkerboard(across)">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checkerboard(across)">
                                      <p:cBhvr>
                                        <p:cTn id="22" dur="500"/>
                                        <p:tgtEl>
                                          <p:spTgt spid="4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checkerboard(across)">
                                      <p:cBhvr>
                                        <p:cTn id="27" dur="500"/>
                                        <p:tgtEl>
                                          <p:spTgt spid="40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checkerboard(across)">
                                      <p:cBhvr>
                                        <p:cTn id="32" dur="500"/>
                                        <p:tgtEl>
                                          <p:spTgt spid="40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4099">
                                            <p:txEl>
                                              <p:pRg st="6" end="6"/>
                                            </p:txEl>
                                          </p:spTgt>
                                        </p:tgtEl>
                                        <p:attrNameLst>
                                          <p:attrName>style.visibility</p:attrName>
                                        </p:attrNameLst>
                                      </p:cBhvr>
                                      <p:to>
                                        <p:strVal val="visible"/>
                                      </p:to>
                                    </p:set>
                                    <p:animEffect transition="in" filter="checkerboard(across)">
                                      <p:cBhvr>
                                        <p:cTn id="37" dur="500"/>
                                        <p:tgtEl>
                                          <p:spTgt spid="409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4099">
                                            <p:txEl>
                                              <p:pRg st="7" end="7"/>
                                            </p:txEl>
                                          </p:spTgt>
                                        </p:tgtEl>
                                        <p:attrNameLst>
                                          <p:attrName>style.visibility</p:attrName>
                                        </p:attrNameLst>
                                      </p:cBhvr>
                                      <p:to>
                                        <p:strVal val="visible"/>
                                      </p:to>
                                    </p:set>
                                    <p:animEffect transition="in" filter="checkerboard(across)">
                                      <p:cBhvr>
                                        <p:cTn id="42" dur="500"/>
                                        <p:tgtEl>
                                          <p:spTgt spid="409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4099">
                                            <p:txEl>
                                              <p:pRg st="8" end="8"/>
                                            </p:txEl>
                                          </p:spTgt>
                                        </p:tgtEl>
                                        <p:attrNameLst>
                                          <p:attrName>style.visibility</p:attrName>
                                        </p:attrNameLst>
                                      </p:cBhvr>
                                      <p:to>
                                        <p:strVal val="visible"/>
                                      </p:to>
                                    </p:set>
                                    <p:animEffect transition="in" filter="checkerboard(across)">
                                      <p:cBhvr>
                                        <p:cTn id="47" dur="500"/>
                                        <p:tgtEl>
                                          <p:spTgt spid="409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nodeType="clickEffect">
                                  <p:stCondLst>
                                    <p:cond delay="0"/>
                                  </p:stCondLst>
                                  <p:childTnLst>
                                    <p:set>
                                      <p:cBhvr>
                                        <p:cTn id="51" dur="1" fill="hold">
                                          <p:stCondLst>
                                            <p:cond delay="0"/>
                                          </p:stCondLst>
                                        </p:cTn>
                                        <p:tgtEl>
                                          <p:spTgt spid="4099">
                                            <p:txEl>
                                              <p:pRg st="9" end="9"/>
                                            </p:txEl>
                                          </p:spTgt>
                                        </p:tgtEl>
                                        <p:attrNameLst>
                                          <p:attrName>style.visibility</p:attrName>
                                        </p:attrNameLst>
                                      </p:cBhvr>
                                      <p:to>
                                        <p:strVal val="visible"/>
                                      </p:to>
                                    </p:set>
                                    <p:animEffect transition="in" filter="checkerboard(across)">
                                      <p:cBhvr>
                                        <p:cTn id="52" dur="500"/>
                                        <p:tgtEl>
                                          <p:spTgt spid="40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7171" name="Rectangle 3"/>
          <p:cNvSpPr>
            <a:spLocks noGrp="1"/>
          </p:cNvSpPr>
          <p:nvPr>
            <p:ph type="body" idx="1"/>
          </p:nvPr>
        </p:nvSpPr>
        <p:spPr>
          <a:xfrm>
            <a:off x="0" y="533400"/>
            <a:ext cx="9144000" cy="6248400"/>
          </a:xfrm>
        </p:spPr>
        <p:txBody>
          <a:bodyPr/>
          <a:lstStyle/>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Clocks</a:t>
            </a:r>
          </a:p>
          <a:p>
            <a:pPr lvl="1" algn="just" eaLnBrk="1" hangingPunct="1"/>
            <a:r>
              <a:rPr lang="en-US" altLang="en-US" sz="2000" b="1">
                <a:latin typeface="Times New Roman" panose="02020603050405020304" pitchFamily="18" charset="0"/>
                <a:cs typeface="Times New Roman" panose="02020603050405020304" pitchFamily="18" charset="0"/>
              </a:rPr>
              <a:t>02 types</a:t>
            </a:r>
            <a:endParaRPr lang="en-US" altLang="en-US" sz="2000">
              <a:latin typeface="Times New Roman" panose="02020603050405020304" pitchFamily="18" charset="0"/>
              <a:cs typeface="Times New Roman" panose="02020603050405020304" pitchFamily="18" charset="0"/>
            </a:endParaRPr>
          </a:p>
          <a:p>
            <a:pPr lvl="2" algn="just" eaLnBrk="1" hangingPunct="1"/>
            <a:r>
              <a:rPr lang="en-US" altLang="en-US" sz="2000">
                <a:latin typeface="Times New Roman" panose="02020603050405020304" pitchFamily="18" charset="0"/>
                <a:cs typeface="Times New Roman" panose="02020603050405020304" pitchFamily="18" charset="0"/>
              </a:rPr>
              <a:t>Using volt power</a:t>
            </a:r>
          </a:p>
          <a:p>
            <a:pPr lvl="2" algn="just" eaLnBrk="1" hangingPunct="1"/>
            <a:r>
              <a:rPr lang="en-US" altLang="en-US" sz="2000">
                <a:latin typeface="Times New Roman" panose="02020603050405020304" pitchFamily="18" charset="0"/>
                <a:cs typeface="Times New Roman" panose="02020603050405020304" pitchFamily="18" charset="0"/>
              </a:rPr>
              <a:t>a crystal oscillator, a counter, and a holding register</a:t>
            </a:r>
          </a:p>
          <a:p>
            <a:pPr lvl="1" algn="just" eaLnBrk="1" hangingPunct="1"/>
            <a:r>
              <a:rPr lang="en-US" altLang="en-US" sz="2000" b="1">
                <a:latin typeface="Times New Roman" panose="02020603050405020304" pitchFamily="18" charset="0"/>
                <a:cs typeface="Times New Roman" panose="02020603050405020304" pitchFamily="18" charset="0"/>
              </a:rPr>
              <a:t>2 modes</a:t>
            </a:r>
            <a:r>
              <a:rPr lang="en-US" altLang="en-US" sz="2000">
                <a:latin typeface="Times New Roman" panose="02020603050405020304" pitchFamily="18" charset="0"/>
                <a:cs typeface="Times New Roman" panose="02020603050405020304" pitchFamily="18" charset="0"/>
              </a:rPr>
              <a:t>: one shot mode, square wave mode</a:t>
            </a:r>
          </a:p>
          <a:p>
            <a:pPr lvl="1" algn="just" eaLnBrk="1" hangingPunct="1"/>
            <a:r>
              <a:rPr lang="en-US" altLang="en-US" sz="2000" b="1">
                <a:latin typeface="Times New Roman" panose="02020603050405020304" pitchFamily="18" charset="0"/>
                <a:cs typeface="Times New Roman" panose="02020603050405020304" pitchFamily="18" charset="0"/>
              </a:rPr>
              <a:t>Functions</a:t>
            </a:r>
          </a:p>
          <a:p>
            <a:pPr lvl="2" algn="just"/>
            <a:r>
              <a:rPr lang="en-US" altLang="en-US" sz="2000">
                <a:latin typeface="Times New Roman" panose="02020603050405020304" pitchFamily="18" charset="0"/>
                <a:cs typeface="Times New Roman" panose="02020603050405020304" pitchFamily="18" charset="0"/>
              </a:rPr>
              <a:t>Maintaining the time of day (real time).</a:t>
            </a:r>
          </a:p>
          <a:p>
            <a:pPr lvl="2" algn="just"/>
            <a:r>
              <a:rPr lang="en-US" altLang="en-US" sz="2000">
                <a:latin typeface="Times New Roman" panose="02020603050405020304" pitchFamily="18" charset="0"/>
                <a:cs typeface="Times New Roman" panose="02020603050405020304" pitchFamily="18" charset="0"/>
              </a:rPr>
              <a:t>Preventing processes monopolizing CPU</a:t>
            </a:r>
          </a:p>
          <a:p>
            <a:pPr lvl="2" algn="just"/>
            <a:r>
              <a:rPr lang="en-US" altLang="en-US" sz="2000">
                <a:latin typeface="Times New Roman" panose="02020603050405020304" pitchFamily="18" charset="0"/>
                <a:cs typeface="Times New Roman" panose="02020603050405020304" pitchFamily="18" charset="0"/>
              </a:rPr>
              <a:t>Accounting for CPU usage </a:t>
            </a:r>
          </a:p>
          <a:p>
            <a:pPr lvl="2" algn="just"/>
            <a:r>
              <a:rPr lang="en-US" altLang="en-US" sz="2000">
                <a:latin typeface="Times New Roman" panose="02020603050405020304" pitchFamily="18" charset="0"/>
                <a:cs typeface="Times New Roman" panose="02020603050405020304" pitchFamily="18" charset="0"/>
              </a:rPr>
              <a:t>Handling alarm system call </a:t>
            </a:r>
          </a:p>
          <a:p>
            <a:pPr lvl="2" algn="just"/>
            <a:r>
              <a:rPr lang="en-US" altLang="en-US" sz="2000">
                <a:latin typeface="Times New Roman" panose="02020603050405020304" pitchFamily="18" charset="0"/>
                <a:cs typeface="Times New Roman" panose="02020603050405020304" pitchFamily="18" charset="0"/>
              </a:rPr>
              <a:t>Providing watchdog timers</a:t>
            </a:r>
          </a:p>
          <a:p>
            <a:pPr lvl="2" algn="just"/>
            <a:r>
              <a:rPr lang="en-US" altLang="en-US" sz="2000">
                <a:latin typeface="Times New Roman" panose="02020603050405020304" pitchFamily="18" charset="0"/>
                <a:cs typeface="Times New Roman" panose="02020603050405020304" pitchFamily="18" charset="0"/>
              </a:rPr>
              <a:t>Doing profiling, monitoring, statistics gathering</a:t>
            </a:r>
          </a:p>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User Interfaces</a:t>
            </a:r>
          </a:p>
          <a:p>
            <a:pPr lvl="1" algn="just" eaLnBrk="1" hangingPunct="1"/>
            <a:r>
              <a:rPr lang="en-US" altLang="en-US" sz="2000">
                <a:latin typeface="Times New Roman" panose="02020603050405020304" pitchFamily="18" charset="0"/>
                <a:cs typeface="Times New Roman" panose="02020603050405020304" pitchFamily="18" charset="0"/>
              </a:rPr>
              <a:t>Input software (Keyboard software: scan code, echoing, tab handling, device equivalent</a:t>
            </a:r>
          </a:p>
          <a:p>
            <a:pPr lvl="1" algn="just" eaLnBrk="1" hangingPunct="1"/>
            <a:r>
              <a:rPr lang="en-US" altLang="en-US" sz="2000">
                <a:latin typeface="Times New Roman" panose="02020603050405020304" pitchFamily="18" charset="0"/>
                <a:cs typeface="Times New Roman" panose="02020603050405020304" pitchFamily="18" charset="0"/>
              </a:rPr>
              <a:t>Output software (Text window, X Window, GUI, Bitmaps, Fonts)</a:t>
            </a:r>
          </a:p>
          <a:p>
            <a:pPr lvl="1" algn="just" eaLnBrk="1" hangingPunct="1"/>
            <a:r>
              <a:rPr lang="en-US" altLang="en-US" sz="2000">
                <a:latin typeface="Times New Roman" panose="02020603050405020304" pitchFamily="18" charset="0"/>
                <a:cs typeface="Times New Roman" panose="02020603050405020304" pitchFamily="18" charset="0"/>
              </a:rPr>
              <a:t>Mouse software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checkerboard(across)">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checkerboard(across)">
                                      <p:cBhvr>
                                        <p:cTn id="12" dur="500"/>
                                        <p:tgtEl>
                                          <p:spTgt spid="7171">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animEffect transition="in" filter="checkerboard(across)">
                                      <p:cBhvr>
                                        <p:cTn id="15" dur="500"/>
                                        <p:tgtEl>
                                          <p:spTgt spid="7171">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7171">
                                            <p:txEl>
                                              <p:pRg st="3" end="3"/>
                                            </p:txEl>
                                          </p:spTgt>
                                        </p:tgtEl>
                                        <p:attrNameLst>
                                          <p:attrName>style.visibility</p:attrName>
                                        </p:attrNameLst>
                                      </p:cBhvr>
                                      <p:to>
                                        <p:strVal val="visible"/>
                                      </p:to>
                                    </p:set>
                                    <p:animEffect transition="in" filter="checkerboard(across)">
                                      <p:cBhvr>
                                        <p:cTn id="18" dur="500"/>
                                        <p:tgtEl>
                                          <p:spTgt spid="7171">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animEffect transition="in" filter="checkerboard(across)">
                                      <p:cBhvr>
                                        <p:cTn id="23" dur="500"/>
                                        <p:tgtEl>
                                          <p:spTgt spid="7171">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7171">
                                            <p:txEl>
                                              <p:pRg st="5" end="5"/>
                                            </p:txEl>
                                          </p:spTgt>
                                        </p:tgtEl>
                                        <p:attrNameLst>
                                          <p:attrName>style.visibility</p:attrName>
                                        </p:attrNameLst>
                                      </p:cBhvr>
                                      <p:to>
                                        <p:strVal val="visible"/>
                                      </p:to>
                                    </p:set>
                                    <p:animEffect transition="in" filter="checkerboard(across)">
                                      <p:cBhvr>
                                        <p:cTn id="28" dur="500"/>
                                        <p:tgtEl>
                                          <p:spTgt spid="7171">
                                            <p:txEl>
                                              <p:pRg st="5" end="5"/>
                                            </p:txEl>
                                          </p:spTgt>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7171">
                                            <p:txEl>
                                              <p:pRg st="6" end="6"/>
                                            </p:txEl>
                                          </p:spTgt>
                                        </p:tgtEl>
                                        <p:attrNameLst>
                                          <p:attrName>style.visibility</p:attrName>
                                        </p:attrNameLst>
                                      </p:cBhvr>
                                      <p:to>
                                        <p:strVal val="visible"/>
                                      </p:to>
                                    </p:set>
                                    <p:animEffect transition="in" filter="checkerboard(across)">
                                      <p:cBhvr>
                                        <p:cTn id="31" dur="500"/>
                                        <p:tgtEl>
                                          <p:spTgt spid="7171">
                                            <p:txEl>
                                              <p:pRg st="6" end="6"/>
                                            </p:txEl>
                                          </p:spTgt>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7171">
                                            <p:txEl>
                                              <p:pRg st="7" end="7"/>
                                            </p:txEl>
                                          </p:spTgt>
                                        </p:tgtEl>
                                        <p:attrNameLst>
                                          <p:attrName>style.visibility</p:attrName>
                                        </p:attrNameLst>
                                      </p:cBhvr>
                                      <p:to>
                                        <p:strVal val="visible"/>
                                      </p:to>
                                    </p:set>
                                    <p:animEffect transition="in" filter="checkerboard(across)">
                                      <p:cBhvr>
                                        <p:cTn id="34" dur="500"/>
                                        <p:tgtEl>
                                          <p:spTgt spid="7171">
                                            <p:txEl>
                                              <p:pRg st="7" end="7"/>
                                            </p:txEl>
                                          </p:spTgt>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7171">
                                            <p:txEl>
                                              <p:pRg st="8" end="8"/>
                                            </p:txEl>
                                          </p:spTgt>
                                        </p:tgtEl>
                                        <p:attrNameLst>
                                          <p:attrName>style.visibility</p:attrName>
                                        </p:attrNameLst>
                                      </p:cBhvr>
                                      <p:to>
                                        <p:strVal val="visible"/>
                                      </p:to>
                                    </p:set>
                                    <p:animEffect transition="in" filter="checkerboard(across)">
                                      <p:cBhvr>
                                        <p:cTn id="37" dur="500"/>
                                        <p:tgtEl>
                                          <p:spTgt spid="7171">
                                            <p:txEl>
                                              <p:pRg st="8" end="8"/>
                                            </p:txEl>
                                          </p:spTgt>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7171">
                                            <p:txEl>
                                              <p:pRg st="9" end="9"/>
                                            </p:txEl>
                                          </p:spTgt>
                                        </p:tgtEl>
                                        <p:attrNameLst>
                                          <p:attrName>style.visibility</p:attrName>
                                        </p:attrNameLst>
                                      </p:cBhvr>
                                      <p:to>
                                        <p:strVal val="visible"/>
                                      </p:to>
                                    </p:set>
                                    <p:animEffect transition="in" filter="checkerboard(across)">
                                      <p:cBhvr>
                                        <p:cTn id="40" dur="500"/>
                                        <p:tgtEl>
                                          <p:spTgt spid="7171">
                                            <p:txEl>
                                              <p:pRg st="9" end="9"/>
                                            </p:txEl>
                                          </p:spTgt>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7171">
                                            <p:txEl>
                                              <p:pRg st="10" end="10"/>
                                            </p:txEl>
                                          </p:spTgt>
                                        </p:tgtEl>
                                        <p:attrNameLst>
                                          <p:attrName>style.visibility</p:attrName>
                                        </p:attrNameLst>
                                      </p:cBhvr>
                                      <p:to>
                                        <p:strVal val="visible"/>
                                      </p:to>
                                    </p:set>
                                    <p:animEffect transition="in" filter="checkerboard(across)">
                                      <p:cBhvr>
                                        <p:cTn id="43" dur="500"/>
                                        <p:tgtEl>
                                          <p:spTgt spid="7171">
                                            <p:txEl>
                                              <p:pRg st="10" end="10"/>
                                            </p:txEl>
                                          </p:spTgt>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7171">
                                            <p:txEl>
                                              <p:pRg st="11" end="11"/>
                                            </p:txEl>
                                          </p:spTgt>
                                        </p:tgtEl>
                                        <p:attrNameLst>
                                          <p:attrName>style.visibility</p:attrName>
                                        </p:attrNameLst>
                                      </p:cBhvr>
                                      <p:to>
                                        <p:strVal val="visible"/>
                                      </p:to>
                                    </p:set>
                                    <p:animEffect transition="in" filter="checkerboard(across)">
                                      <p:cBhvr>
                                        <p:cTn id="46" dur="500"/>
                                        <p:tgtEl>
                                          <p:spTgt spid="7171">
                                            <p:txEl>
                                              <p:pRg st="11" end="11"/>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7171">
                                            <p:txEl>
                                              <p:pRg st="12" end="12"/>
                                            </p:txEl>
                                          </p:spTgt>
                                        </p:tgtEl>
                                        <p:attrNameLst>
                                          <p:attrName>style.visibility</p:attrName>
                                        </p:attrNameLst>
                                      </p:cBhvr>
                                      <p:to>
                                        <p:strVal val="visible"/>
                                      </p:to>
                                    </p:set>
                                    <p:animEffect transition="in" filter="checkerboard(across)">
                                      <p:cBhvr>
                                        <p:cTn id="51" dur="500"/>
                                        <p:tgtEl>
                                          <p:spTgt spid="7171">
                                            <p:txEl>
                                              <p:pRg st="12" end="12"/>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7171">
                                            <p:txEl>
                                              <p:pRg st="13" end="13"/>
                                            </p:txEl>
                                          </p:spTgt>
                                        </p:tgtEl>
                                        <p:attrNameLst>
                                          <p:attrName>style.visibility</p:attrName>
                                        </p:attrNameLst>
                                      </p:cBhvr>
                                      <p:to>
                                        <p:strVal val="visible"/>
                                      </p:to>
                                    </p:set>
                                    <p:animEffect transition="in" filter="checkerboard(across)">
                                      <p:cBhvr>
                                        <p:cTn id="56" dur="500"/>
                                        <p:tgtEl>
                                          <p:spTgt spid="7171">
                                            <p:txEl>
                                              <p:pRg st="13" end="13"/>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7171">
                                            <p:txEl>
                                              <p:pRg st="14" end="14"/>
                                            </p:txEl>
                                          </p:spTgt>
                                        </p:tgtEl>
                                        <p:attrNameLst>
                                          <p:attrName>style.visibility</p:attrName>
                                        </p:attrNameLst>
                                      </p:cBhvr>
                                      <p:to>
                                        <p:strVal val="visible"/>
                                      </p:to>
                                    </p:set>
                                    <p:animEffect transition="in" filter="checkerboard(across)">
                                      <p:cBhvr>
                                        <p:cTn id="61" dur="500"/>
                                        <p:tgtEl>
                                          <p:spTgt spid="7171">
                                            <p:txEl>
                                              <p:pRg st="14" end="14"/>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7171">
                                            <p:txEl>
                                              <p:pRg st="15" end="15"/>
                                            </p:txEl>
                                          </p:spTgt>
                                        </p:tgtEl>
                                        <p:attrNameLst>
                                          <p:attrName>style.visibility</p:attrName>
                                        </p:attrNameLst>
                                      </p:cBhvr>
                                      <p:to>
                                        <p:strVal val="visible"/>
                                      </p:to>
                                    </p:set>
                                    <p:animEffect transition="in" filter="checkerboard(across)">
                                      <p:cBhvr>
                                        <p:cTn id="66" dur="500"/>
                                        <p:tgtEl>
                                          <p:spTgt spid="7171">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457200" y="0"/>
            <a:ext cx="8229600" cy="685800"/>
          </a:xfrm>
        </p:spPr>
        <p:txBody>
          <a:bodyPr/>
          <a:lstStyle/>
          <a:p>
            <a:r>
              <a:rPr lang="en-US" altLang="en-US" sz="4000">
                <a:latin typeface="Times New Roman" panose="02020603050405020304" pitchFamily="18" charset="0"/>
                <a:cs typeface="Times New Roman" panose="02020603050405020304" pitchFamily="18" charset="0"/>
              </a:rPr>
              <a:t>Objectives</a:t>
            </a:r>
          </a:p>
        </p:txBody>
      </p:sp>
      <p:sp>
        <p:nvSpPr>
          <p:cNvPr id="12291" name="Rectangle 3"/>
          <p:cNvSpPr>
            <a:spLocks noGrp="1"/>
          </p:cNvSpPr>
          <p:nvPr>
            <p:ph type="body" idx="1"/>
          </p:nvPr>
        </p:nvSpPr>
        <p:spPr>
          <a:xfrm>
            <a:off x="-76200" y="762000"/>
            <a:ext cx="9372600" cy="6096000"/>
          </a:xfrm>
        </p:spPr>
        <p:txBody>
          <a:bodyPr/>
          <a:lstStyle/>
          <a:p>
            <a:pPr>
              <a:lnSpc>
                <a:spcPct val="9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Resources</a:t>
            </a:r>
          </a:p>
          <a:p>
            <a:pPr lvl="1">
              <a:lnSpc>
                <a:spcPct val="90000"/>
              </a:lnSpc>
            </a:pPr>
            <a:r>
              <a:rPr lang="en-US" altLang="en-US">
                <a:latin typeface="Times New Roman" panose="02020603050405020304" pitchFamily="18" charset="0"/>
                <a:cs typeface="Times New Roman" panose="02020603050405020304" pitchFamily="18" charset="0"/>
              </a:rPr>
              <a:t>Preemptable and Nonpreemptable Resources</a:t>
            </a:r>
          </a:p>
          <a:p>
            <a:pPr lvl="1">
              <a:lnSpc>
                <a:spcPct val="90000"/>
              </a:lnSpc>
            </a:pPr>
            <a:r>
              <a:rPr lang="en-US" altLang="en-US">
                <a:latin typeface="Times New Roman" panose="02020603050405020304" pitchFamily="18" charset="0"/>
                <a:cs typeface="Times New Roman" panose="02020603050405020304" pitchFamily="18" charset="0"/>
              </a:rPr>
              <a:t>Resource Acquisition</a:t>
            </a:r>
          </a:p>
          <a:p>
            <a:pPr>
              <a:lnSpc>
                <a:spcPct val="9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Introduction To Deadlocks</a:t>
            </a:r>
          </a:p>
          <a:p>
            <a:pPr lvl="1">
              <a:lnSpc>
                <a:spcPct val="90000"/>
              </a:lnSpc>
            </a:pPr>
            <a:r>
              <a:rPr lang="en-US" altLang="en-US">
                <a:latin typeface="Times New Roman" panose="02020603050405020304" pitchFamily="18" charset="0"/>
                <a:cs typeface="Times New Roman" panose="02020603050405020304" pitchFamily="18" charset="0"/>
              </a:rPr>
              <a:t>Conditions for Resource Deadlocks</a:t>
            </a:r>
          </a:p>
          <a:p>
            <a:pPr lvl="1">
              <a:lnSpc>
                <a:spcPct val="90000"/>
              </a:lnSpc>
            </a:pPr>
            <a:r>
              <a:rPr lang="en-US" altLang="en-US">
                <a:latin typeface="Times New Roman" panose="02020603050405020304" pitchFamily="18" charset="0"/>
                <a:cs typeface="Times New Roman" panose="02020603050405020304" pitchFamily="18" charset="0"/>
              </a:rPr>
              <a:t>Deadlock Modeling</a:t>
            </a:r>
          </a:p>
          <a:p>
            <a:pPr>
              <a:lnSpc>
                <a:spcPct val="9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The Ostrich Algorithm</a:t>
            </a:r>
          </a:p>
          <a:p>
            <a:pPr>
              <a:lnSpc>
                <a:spcPct val="9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Deadlock Detection &amp; Recovery</a:t>
            </a:r>
          </a:p>
          <a:p>
            <a:pPr lvl="1">
              <a:lnSpc>
                <a:spcPct val="90000"/>
              </a:lnSpc>
            </a:pPr>
            <a:r>
              <a:rPr lang="en-US" altLang="en-US">
                <a:latin typeface="Times New Roman" panose="02020603050405020304" pitchFamily="18" charset="0"/>
                <a:cs typeface="Times New Roman" panose="02020603050405020304" pitchFamily="18" charset="0"/>
              </a:rPr>
              <a:t>Deadlock Detection with One Resource of Each Type</a:t>
            </a:r>
          </a:p>
          <a:p>
            <a:pPr lvl="1">
              <a:lnSpc>
                <a:spcPct val="90000"/>
              </a:lnSpc>
            </a:pPr>
            <a:r>
              <a:rPr lang="en-US" altLang="en-US">
                <a:latin typeface="Times New Roman" panose="02020603050405020304" pitchFamily="18" charset="0"/>
                <a:cs typeface="Times New Roman" panose="02020603050405020304" pitchFamily="18" charset="0"/>
              </a:rPr>
              <a:t>Deadlock Detection with Multiple Resources of Each Type</a:t>
            </a:r>
          </a:p>
          <a:p>
            <a:pPr lvl="1">
              <a:lnSpc>
                <a:spcPct val="90000"/>
              </a:lnSpc>
            </a:pPr>
            <a:r>
              <a:rPr lang="en-US" altLang="en-US">
                <a:latin typeface="Times New Roman" panose="02020603050405020304" pitchFamily="18" charset="0"/>
                <a:cs typeface="Times New Roman" panose="02020603050405020304" pitchFamily="18" charset="0"/>
              </a:rPr>
              <a:t>Recovery from Deadlock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Overviews</a:t>
            </a:r>
          </a:p>
        </p:txBody>
      </p:sp>
      <p:sp>
        <p:nvSpPr>
          <p:cNvPr id="139267" name="Rectangle 3"/>
          <p:cNvSpPr>
            <a:spLocks noGrp="1"/>
          </p:cNvSpPr>
          <p:nvPr>
            <p:ph type="body" idx="1"/>
          </p:nvPr>
        </p:nvSpPr>
        <p:spPr>
          <a:xfrm>
            <a:off x="228600" y="609600"/>
            <a:ext cx="8915400" cy="6248400"/>
          </a:xfrm>
        </p:spPr>
        <p:txBody>
          <a:bodyPr/>
          <a:lstStyle/>
          <a:p>
            <a:pPr algn="just">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Context</a:t>
            </a:r>
          </a:p>
          <a:p>
            <a:pPr lvl="1" algn="just">
              <a:lnSpc>
                <a:spcPct val="90000"/>
              </a:lnSpc>
            </a:pPr>
            <a:r>
              <a:rPr lang="en-US" altLang="en-US" sz="2400" dirty="0">
                <a:latin typeface="Times New Roman" panose="02020603050405020304" pitchFamily="18" charset="0"/>
                <a:cs typeface="Times New Roman" panose="02020603050405020304" pitchFamily="18" charset="0"/>
              </a:rPr>
              <a:t>Computer systems are full of resources that </a:t>
            </a:r>
            <a:r>
              <a:rPr lang="en-US" altLang="en-US" sz="2400" b="1" dirty="0">
                <a:latin typeface="Times New Roman" panose="02020603050405020304" pitchFamily="18" charset="0"/>
                <a:cs typeface="Times New Roman" panose="02020603050405020304" pitchFamily="18" charset="0"/>
              </a:rPr>
              <a:t>can only be used</a:t>
            </a:r>
            <a:r>
              <a:rPr lang="en-US" altLang="en-US" sz="2400" dirty="0">
                <a:latin typeface="Times New Roman" panose="02020603050405020304" pitchFamily="18" charset="0"/>
                <a:cs typeface="Times New Roman" panose="02020603050405020304" pitchFamily="18" charset="0"/>
              </a:rPr>
              <a:t> by </a:t>
            </a:r>
            <a:r>
              <a:rPr lang="en-US" altLang="en-US" sz="2400" b="1" dirty="0">
                <a:latin typeface="Times New Roman" panose="02020603050405020304" pitchFamily="18" charset="0"/>
                <a:cs typeface="Times New Roman" panose="02020603050405020304" pitchFamily="18" charset="0"/>
              </a:rPr>
              <a:t>one process at a time</a:t>
            </a:r>
          </a:p>
          <a:p>
            <a:pPr lvl="1" algn="just">
              <a:lnSpc>
                <a:spcPct val="90000"/>
              </a:lnSpc>
            </a:pPr>
            <a:r>
              <a:rPr lang="en-US" altLang="en-US" sz="2400" dirty="0">
                <a:latin typeface="Times New Roman" panose="02020603050405020304" pitchFamily="18" charset="0"/>
                <a:cs typeface="Times New Roman" panose="02020603050405020304" pitchFamily="18" charset="0"/>
              </a:rPr>
              <a:t>All OS have the ability to (temporarily) </a:t>
            </a:r>
            <a:r>
              <a:rPr lang="en-US" altLang="en-US" sz="2400" b="1" dirty="0">
                <a:latin typeface="Times New Roman" panose="02020603050405020304" pitchFamily="18" charset="0"/>
                <a:cs typeface="Times New Roman" panose="02020603050405020304" pitchFamily="18" charset="0"/>
              </a:rPr>
              <a:t>grant a process exclusive access to certain resources</a:t>
            </a:r>
          </a:p>
          <a:p>
            <a:pPr lvl="1" algn="just">
              <a:lnSpc>
                <a:spcPct val="90000"/>
              </a:lnSpc>
            </a:pPr>
            <a:r>
              <a:rPr lang="en-US" altLang="en-US" sz="2400" dirty="0">
                <a:latin typeface="Times New Roman" panose="02020603050405020304" pitchFamily="18" charset="0"/>
                <a:cs typeface="Times New Roman" panose="02020603050405020304" pitchFamily="18" charset="0"/>
              </a:rPr>
              <a:t>A process needs </a:t>
            </a:r>
            <a:r>
              <a:rPr lang="en-US" altLang="en-US" sz="2400" b="1" dirty="0">
                <a:latin typeface="Times New Roman" panose="02020603050405020304" pitchFamily="18" charset="0"/>
                <a:cs typeface="Times New Roman" panose="02020603050405020304" pitchFamily="18" charset="0"/>
              </a:rPr>
              <a:t>exclusive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access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do not one resource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but</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several</a:t>
            </a:r>
          </a:p>
          <a:p>
            <a:pPr algn="just">
              <a:lnSpc>
                <a:spcPct val="90000"/>
              </a:lnSpc>
              <a:buClrTx/>
              <a:buSzTx/>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A </a:t>
            </a:r>
            <a:r>
              <a:rPr lang="en-US" altLang="en-US" sz="2800" b="1" dirty="0">
                <a:latin typeface="Times New Roman" panose="02020603050405020304" pitchFamily="18" charset="0"/>
                <a:cs typeface="Times New Roman" panose="02020603050405020304" pitchFamily="18" charset="0"/>
              </a:rPr>
              <a:t>set of blocked processes </a:t>
            </a:r>
            <a:r>
              <a:rPr lang="en-US" altLang="en-US" sz="2800" dirty="0">
                <a:latin typeface="Times New Roman" panose="02020603050405020304" pitchFamily="18" charset="0"/>
                <a:cs typeface="Times New Roman" panose="02020603050405020304" pitchFamily="18" charset="0"/>
              </a:rPr>
              <a:t>each </a:t>
            </a:r>
            <a:r>
              <a:rPr lang="en-US" altLang="en-US" sz="2800" b="1" dirty="0">
                <a:latin typeface="Times New Roman" panose="02020603050405020304" pitchFamily="18" charset="0"/>
                <a:cs typeface="Times New Roman" panose="02020603050405020304" pitchFamily="18" charset="0"/>
              </a:rPr>
              <a:t>holding</a:t>
            </a:r>
            <a:r>
              <a:rPr lang="en-US" altLang="en-US" sz="2800" dirty="0">
                <a:latin typeface="Times New Roman" panose="02020603050405020304" pitchFamily="18" charset="0"/>
                <a:cs typeface="Times New Roman" panose="02020603050405020304" pitchFamily="18" charset="0"/>
              </a:rPr>
              <a:t> a </a:t>
            </a:r>
            <a:r>
              <a:rPr lang="en-US" altLang="en-US" sz="2800" b="1" dirty="0">
                <a:latin typeface="Times New Roman" panose="02020603050405020304" pitchFamily="18" charset="0"/>
                <a:cs typeface="Times New Roman" panose="02020603050405020304" pitchFamily="18" charset="0"/>
              </a:rPr>
              <a:t>resource</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and</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waiting</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to</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acquire a resource held</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by</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another</a:t>
            </a:r>
            <a:r>
              <a:rPr lang="en-US" altLang="en-US" sz="2800" dirty="0">
                <a:latin typeface="Times New Roman" panose="02020603050405020304" pitchFamily="18" charset="0"/>
                <a:cs typeface="Times New Roman" panose="02020603050405020304" pitchFamily="18" charset="0"/>
              </a:rPr>
              <a:t> process </a:t>
            </a:r>
            <a:r>
              <a:rPr lang="en-US" altLang="en-US" sz="2800" b="1" dirty="0">
                <a:latin typeface="Times New Roman" panose="02020603050405020304" pitchFamily="18" charset="0"/>
                <a:cs typeface="Times New Roman" panose="02020603050405020304" pitchFamily="18" charset="0"/>
              </a:rPr>
              <a:t>in</a:t>
            </a:r>
            <a:r>
              <a:rPr lang="en-US" altLang="en-US" sz="2800" dirty="0">
                <a:latin typeface="Times New Roman" panose="02020603050405020304" pitchFamily="18" charset="0"/>
                <a:cs typeface="Times New Roman" panose="02020603050405020304" pitchFamily="18" charset="0"/>
              </a:rPr>
              <a:t> the </a:t>
            </a:r>
            <a:r>
              <a:rPr lang="en-US" altLang="en-US" sz="2800" b="1" dirty="0">
                <a:latin typeface="Times New Roman" panose="02020603050405020304" pitchFamily="18" charset="0"/>
                <a:cs typeface="Times New Roman" panose="02020603050405020304" pitchFamily="18" charset="0"/>
              </a:rPr>
              <a:t>set</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thus</a:t>
            </a:r>
            <a:r>
              <a:rPr lang="en-US" altLang="en-US" sz="2800" dirty="0">
                <a:latin typeface="Times New Roman" panose="02020603050405020304" pitchFamily="18" charset="0"/>
                <a:cs typeface="Times New Roman" panose="02020603050405020304" pitchFamily="18" charset="0"/>
              </a:rPr>
              <a:t> they will </a:t>
            </a:r>
            <a:r>
              <a:rPr lang="en-US" altLang="en-US" sz="2800" b="1" dirty="0">
                <a:latin typeface="Times New Roman" panose="02020603050405020304" pitchFamily="18" charset="0"/>
                <a:cs typeface="Times New Roman" panose="02020603050405020304" pitchFamily="18" charset="0"/>
              </a:rPr>
              <a:t>remain so forever </a:t>
            </a:r>
            <a:r>
              <a:rPr lang="en-US" altLang="en-US" sz="2800" dirty="0">
                <a:latin typeface="Times New Roman" panose="02020603050405020304" pitchFamily="18" charset="0"/>
                <a:cs typeface="Times New Roman" panose="02020603050405020304" pitchFamily="18" charset="0"/>
              </a:rPr>
              <a:t>(</a:t>
            </a:r>
            <a:r>
              <a:rPr lang="en-US" altLang="en-US" sz="2800" b="1" dirty="0">
                <a:latin typeface="Times New Roman" panose="02020603050405020304" pitchFamily="18" charset="0"/>
                <a:cs typeface="Times New Roman" panose="02020603050405020304" pitchFamily="18" charset="0"/>
              </a:rPr>
              <a:t>deadlocks</a:t>
            </a:r>
            <a:r>
              <a:rPr lang="en-US" altLang="en-US" sz="2800" dirty="0">
                <a:latin typeface="Times New Roman" panose="02020603050405020304" pitchFamily="18" charset="0"/>
                <a:cs typeface="Times New Roman" panose="02020603050405020304" pitchFamily="18" charset="0"/>
              </a:rPr>
              <a:t>). </a:t>
            </a:r>
          </a:p>
          <a:p>
            <a:pPr lvl="1" algn="just">
              <a:lnSpc>
                <a:spcPct val="90000"/>
              </a:lnSpc>
            </a:pPr>
            <a:r>
              <a:rPr lang="en-US" altLang="en-US" sz="2400" dirty="0">
                <a:latin typeface="Times New Roman" panose="02020603050405020304" pitchFamily="18" charset="0"/>
                <a:cs typeface="Times New Roman" panose="02020603050405020304" pitchFamily="18" charset="0"/>
              </a:rPr>
              <a:t>Deadlock </a:t>
            </a:r>
            <a:r>
              <a:rPr lang="en-US" altLang="en-US" sz="2400" b="1" dirty="0">
                <a:latin typeface="Times New Roman" panose="02020603050405020304" pitchFamily="18" charset="0"/>
                <a:cs typeface="Times New Roman" panose="02020603050405020304" pitchFamily="18" charset="0"/>
              </a:rPr>
              <a:t>does not occur </a:t>
            </a:r>
            <a:r>
              <a:rPr lang="en-US" altLang="en-US" sz="2400" dirty="0">
                <a:latin typeface="Times New Roman" panose="02020603050405020304" pitchFamily="18" charset="0"/>
                <a:cs typeface="Times New Roman" panose="02020603050405020304" pitchFamily="18" charset="0"/>
              </a:rPr>
              <a:t>only </a:t>
            </a:r>
            <a:r>
              <a:rPr lang="en-US" altLang="en-US" sz="2400" b="1" dirty="0">
                <a:latin typeface="Times New Roman" panose="02020603050405020304" pitchFamily="18" charset="0"/>
                <a:cs typeface="Times New Roman" panose="02020603050405020304" pitchFamily="18" charset="0"/>
              </a:rPr>
              <a:t>on local machine but</a:t>
            </a:r>
            <a:r>
              <a:rPr lang="en-US" altLang="en-US" sz="2400" dirty="0">
                <a:latin typeface="Times New Roman" panose="02020603050405020304" pitchFamily="18" charset="0"/>
                <a:cs typeface="Times New Roman" panose="02020603050405020304" pitchFamily="18" charset="0"/>
              </a:rPr>
              <a:t> also </a:t>
            </a:r>
            <a:r>
              <a:rPr lang="en-US" altLang="en-US" sz="2400" b="1" dirty="0">
                <a:latin typeface="Times New Roman" panose="02020603050405020304" pitchFamily="18" charset="0"/>
                <a:cs typeface="Times New Roman" panose="02020603050405020304" pitchFamily="18" charset="0"/>
              </a:rPr>
              <a:t>across machines</a:t>
            </a:r>
          </a:p>
          <a:p>
            <a:pPr lvl="1" algn="just">
              <a:lnSpc>
                <a:spcPct val="90000"/>
              </a:lnSpc>
            </a:pPr>
            <a:r>
              <a:rPr lang="en-US" altLang="en-US" sz="2400" dirty="0">
                <a:latin typeface="Times New Roman" panose="02020603050405020304" pitchFamily="18" charset="0"/>
                <a:cs typeface="Times New Roman" panose="02020603050405020304" pitchFamily="18" charset="0"/>
              </a:rPr>
              <a:t>Deadlocks can occur in a variety of different situations such as requesting dedicated I/O devices, on hardware or software resources</a:t>
            </a:r>
          </a:p>
        </p:txBody>
      </p:sp>
      <p:sp>
        <p:nvSpPr>
          <p:cNvPr id="13316" name="Rectangle 4"/>
          <p:cNvSpPr>
            <a:spLocks/>
          </p:cNvSpPr>
          <p:nvPr/>
        </p:nvSpPr>
        <p:spPr bwMode="auto">
          <a:xfrm>
            <a:off x="914400" y="4572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box(in)">
                                      <p:cBhvr>
                                        <p:cTn id="7" dur="500"/>
                                        <p:tgtEl>
                                          <p:spTgt spid="139267">
                                            <p:txEl>
                                              <p:pRg st="0" end="0"/>
                                            </p:txEl>
                                          </p:spTgt>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animEffect transition="in" filter="box(in)">
                                      <p:cBhvr>
                                        <p:cTn id="11" dur="500"/>
                                        <p:tgtEl>
                                          <p:spTgt spid="139267">
                                            <p:txEl>
                                              <p:pRg st="1" end="1"/>
                                            </p:txEl>
                                          </p:spTgt>
                                        </p:tgtEl>
                                      </p:cBhvr>
                                    </p:animEffect>
                                  </p:childTnLst>
                                </p:cTn>
                              </p:par>
                            </p:childTnLst>
                          </p:cTn>
                        </p:par>
                        <p:par>
                          <p:cTn id="12" fill="hold" nodeType="with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animEffect transition="in" filter="box(in)">
                                      <p:cBhvr>
                                        <p:cTn id="15" dur="500"/>
                                        <p:tgtEl>
                                          <p:spTgt spid="139267">
                                            <p:txEl>
                                              <p:pRg st="2" end="2"/>
                                            </p:txEl>
                                          </p:spTgt>
                                        </p:tgtEl>
                                      </p:cBhvr>
                                    </p:animEffect>
                                  </p:childTnLst>
                                </p:cTn>
                              </p:par>
                            </p:childTnLst>
                          </p:cTn>
                        </p:par>
                        <p:par>
                          <p:cTn id="16" fill="hold" nodeType="withGroup">
                            <p:stCondLst>
                              <p:cond delay="1500"/>
                            </p:stCondLst>
                            <p:childTnLst>
                              <p:par>
                                <p:cTn id="17" presetID="4" presetClass="entr" presetSubtype="16" fill="hold" nodeType="after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animEffect transition="in" filter="box(in)">
                                      <p:cBhvr>
                                        <p:cTn id="19" dur="500"/>
                                        <p:tgtEl>
                                          <p:spTgt spid="139267">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139267">
                                            <p:txEl>
                                              <p:pRg st="4" end="4"/>
                                            </p:txEl>
                                          </p:spTgt>
                                        </p:tgtEl>
                                        <p:attrNameLst>
                                          <p:attrName>style.visibility</p:attrName>
                                        </p:attrNameLst>
                                      </p:cBhvr>
                                      <p:to>
                                        <p:strVal val="visible"/>
                                      </p:to>
                                    </p:set>
                                    <p:animEffect transition="in" filter="box(in)">
                                      <p:cBhvr>
                                        <p:cTn id="24" dur="500"/>
                                        <p:tgtEl>
                                          <p:spTgt spid="139267">
                                            <p:txEl>
                                              <p:pRg st="4" end="4"/>
                                            </p:txEl>
                                          </p:spTgt>
                                        </p:tgtEl>
                                      </p:cBhvr>
                                    </p:animEffect>
                                  </p:childTnLst>
                                </p:cTn>
                              </p:par>
                            </p:childTnLst>
                          </p:cTn>
                        </p:par>
                        <p:par>
                          <p:cTn id="25" fill="hold" nodeType="withGroup">
                            <p:stCondLst>
                              <p:cond delay="500"/>
                            </p:stCondLst>
                            <p:childTnLst>
                              <p:par>
                                <p:cTn id="26" presetID="4" presetClass="entr" presetSubtype="16" fill="hold" nodeType="afterEffect">
                                  <p:stCondLst>
                                    <p:cond delay="0"/>
                                  </p:stCondLst>
                                  <p:childTnLst>
                                    <p:set>
                                      <p:cBhvr>
                                        <p:cTn id="27" dur="1" fill="hold">
                                          <p:stCondLst>
                                            <p:cond delay="0"/>
                                          </p:stCondLst>
                                        </p:cTn>
                                        <p:tgtEl>
                                          <p:spTgt spid="139267">
                                            <p:txEl>
                                              <p:pRg st="5" end="5"/>
                                            </p:txEl>
                                          </p:spTgt>
                                        </p:tgtEl>
                                        <p:attrNameLst>
                                          <p:attrName>style.visibility</p:attrName>
                                        </p:attrNameLst>
                                      </p:cBhvr>
                                      <p:to>
                                        <p:strVal val="visible"/>
                                      </p:to>
                                    </p:set>
                                    <p:animEffect transition="in" filter="box(in)">
                                      <p:cBhvr>
                                        <p:cTn id="28" dur="500"/>
                                        <p:tgtEl>
                                          <p:spTgt spid="139267">
                                            <p:txEl>
                                              <p:pRg st="5" end="5"/>
                                            </p:txEl>
                                          </p:spTgt>
                                        </p:tgtEl>
                                      </p:cBhvr>
                                    </p:animEffect>
                                  </p:childTnLst>
                                </p:cTn>
                              </p:par>
                            </p:childTnLst>
                          </p:cTn>
                        </p:par>
                        <p:par>
                          <p:cTn id="29" fill="hold" nodeType="withGroup">
                            <p:stCondLst>
                              <p:cond delay="1000"/>
                            </p:stCondLst>
                            <p:childTnLst>
                              <p:par>
                                <p:cTn id="30" presetID="4" presetClass="entr" presetSubtype="16" fill="hold" nodeType="afterEffect">
                                  <p:stCondLst>
                                    <p:cond delay="0"/>
                                  </p:stCondLst>
                                  <p:childTnLst>
                                    <p:set>
                                      <p:cBhvr>
                                        <p:cTn id="31" dur="1" fill="hold">
                                          <p:stCondLst>
                                            <p:cond delay="0"/>
                                          </p:stCondLst>
                                        </p:cTn>
                                        <p:tgtEl>
                                          <p:spTgt spid="139267">
                                            <p:txEl>
                                              <p:pRg st="6" end="6"/>
                                            </p:txEl>
                                          </p:spTgt>
                                        </p:tgtEl>
                                        <p:attrNameLst>
                                          <p:attrName>style.visibility</p:attrName>
                                        </p:attrNameLst>
                                      </p:cBhvr>
                                      <p:to>
                                        <p:strVal val="visible"/>
                                      </p:to>
                                    </p:set>
                                    <p:animEffect transition="in" filter="box(in)">
                                      <p:cBhvr>
                                        <p:cTn id="32" dur="500"/>
                                        <p:tgtEl>
                                          <p:spTgt spid="1392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914400" y="0"/>
            <a:ext cx="8229600" cy="533400"/>
          </a:xfrm>
        </p:spPr>
        <p:txBody>
          <a:bodyPr/>
          <a:lstStyle/>
          <a:p>
            <a:r>
              <a:rPr lang="en-US" altLang="en-US" sz="4000" b="1">
                <a:latin typeface="Times New Roman" panose="02020603050405020304" pitchFamily="18" charset="0"/>
                <a:cs typeface="Times New Roman" panose="02020603050405020304" pitchFamily="18" charset="0"/>
              </a:rPr>
              <a:t>Resources</a:t>
            </a:r>
          </a:p>
        </p:txBody>
      </p:sp>
      <p:sp>
        <p:nvSpPr>
          <p:cNvPr id="190467" name="Rectangle 3"/>
          <p:cNvSpPr>
            <a:spLocks noGrp="1"/>
          </p:cNvSpPr>
          <p:nvPr>
            <p:ph type="body" idx="1"/>
          </p:nvPr>
        </p:nvSpPr>
        <p:spPr>
          <a:xfrm>
            <a:off x="0" y="914400"/>
            <a:ext cx="9144000" cy="5943600"/>
          </a:xfrm>
        </p:spPr>
        <p:txBody>
          <a:bodyPr/>
          <a:lstStyle/>
          <a:p>
            <a:pPr algn="just" eaLnBrk="1" hangingPunct="1">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Refer the </a:t>
            </a:r>
            <a:r>
              <a:rPr lang="en-US" altLang="en-US" b="1">
                <a:latin typeface="Times New Roman" panose="02020603050405020304" pitchFamily="18" charset="0"/>
                <a:cs typeface="Times New Roman" panose="02020603050405020304" pitchFamily="18" charset="0"/>
              </a:rPr>
              <a:t>objects</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as hardware devices, data records, files, etc</a:t>
            </a:r>
            <a:r>
              <a:rPr lang="en-US" altLang="en-US">
                <a:latin typeface="Times New Roman" panose="02020603050405020304" pitchFamily="18" charset="0"/>
                <a:cs typeface="Times New Roman" panose="02020603050405020304" pitchFamily="18" charset="0"/>
              </a:rPr>
              <a:t> .. that </a:t>
            </a:r>
            <a:r>
              <a:rPr lang="en-US" altLang="en-US" b="1">
                <a:latin typeface="Times New Roman" panose="02020603050405020304" pitchFamily="18" charset="0"/>
                <a:cs typeface="Times New Roman" panose="02020603050405020304" pitchFamily="18" charset="0"/>
              </a:rPr>
              <a:t>must</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be granted, acquired, used and released</a:t>
            </a:r>
          </a:p>
          <a:p>
            <a:pPr algn="just" eaLnBrk="1" hangingPunct="1">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 computer will normally have many different resources</a:t>
            </a:r>
          </a:p>
          <a:p>
            <a:pPr lvl="1" algn="just" eaLnBrk="1" hangingPunct="1"/>
            <a:r>
              <a:rPr lang="en-US" altLang="en-US">
                <a:latin typeface="Times New Roman" panose="02020603050405020304" pitchFamily="18" charset="0"/>
                <a:cs typeface="Times New Roman" panose="02020603050405020304" pitchFamily="18" charset="0"/>
              </a:rPr>
              <a:t>Some resource is the </a:t>
            </a:r>
            <a:r>
              <a:rPr lang="en-US" altLang="en-US" b="1">
                <a:latin typeface="Times New Roman" panose="02020603050405020304" pitchFamily="18" charset="0"/>
                <a:cs typeface="Times New Roman" panose="02020603050405020304" pitchFamily="18" charset="0"/>
              </a:rPr>
              <a:t>identical</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instances</a:t>
            </a:r>
            <a:r>
              <a:rPr lang="en-US" altLang="en-US">
                <a:latin typeface="Times New Roman" panose="02020603050405020304" pitchFamily="18" charset="0"/>
                <a:cs typeface="Times New Roman" panose="02020603050405020304" pitchFamily="18" charset="0"/>
              </a:rPr>
              <a:t> may be available</a:t>
            </a:r>
          </a:p>
          <a:p>
            <a:pPr lvl="1" algn="just" eaLnBrk="1" hangingPunct="1"/>
            <a:r>
              <a:rPr lang="en-US" altLang="en-US">
                <a:latin typeface="Times New Roman" panose="02020603050405020304" pitchFamily="18" charset="0"/>
                <a:cs typeface="Times New Roman" panose="02020603050405020304" pitchFamily="18" charset="0"/>
              </a:rPr>
              <a:t>Some resource is </a:t>
            </a:r>
            <a:r>
              <a:rPr lang="en-US" altLang="en-US" b="1">
                <a:latin typeface="Times New Roman" panose="02020603050405020304" pitchFamily="18" charset="0"/>
                <a:cs typeface="Times New Roman" panose="02020603050405020304" pitchFamily="18" charset="0"/>
              </a:rPr>
              <a:t>copied</a:t>
            </a:r>
            <a:r>
              <a:rPr lang="en-US" altLang="en-US">
                <a:latin typeface="Times New Roman" panose="02020603050405020304" pitchFamily="18" charset="0"/>
                <a:cs typeface="Times New Roman" panose="02020603050405020304" pitchFamily="18" charset="0"/>
              </a:rPr>
              <a:t> of a </a:t>
            </a:r>
            <a:r>
              <a:rPr lang="en-US" altLang="en-US" b="1">
                <a:latin typeface="Times New Roman" panose="02020603050405020304" pitchFamily="18" charset="0"/>
                <a:cs typeface="Times New Roman" panose="02020603050405020304" pitchFamily="18" charset="0"/>
              </a:rPr>
              <a:t>resource</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available</a:t>
            </a:r>
          </a:p>
          <a:p>
            <a:pPr algn="just" eaLnBrk="1" hangingPunct="1">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There are </a:t>
            </a:r>
            <a:r>
              <a:rPr lang="en-US" altLang="en-US" b="1">
                <a:latin typeface="Times New Roman" panose="02020603050405020304" pitchFamily="18" charset="0"/>
                <a:cs typeface="Times New Roman" panose="02020603050405020304" pitchFamily="18" charset="0"/>
              </a:rPr>
              <a:t>two type </a:t>
            </a:r>
            <a:r>
              <a:rPr lang="en-US" altLang="en-US">
                <a:latin typeface="Times New Roman" panose="02020603050405020304" pitchFamily="18" charset="0"/>
                <a:cs typeface="Times New Roman" panose="02020603050405020304" pitchFamily="18" charset="0"/>
              </a:rPr>
              <a:t>resources</a:t>
            </a:r>
          </a:p>
          <a:p>
            <a:pPr lvl="1" algn="just" eaLnBrk="1" hangingPunct="1"/>
            <a:r>
              <a:rPr lang="en-US" altLang="en-US">
                <a:latin typeface="Times New Roman" panose="02020603050405020304" pitchFamily="18" charset="0"/>
                <a:cs typeface="Times New Roman" panose="02020603050405020304" pitchFamily="18" charset="0"/>
              </a:rPr>
              <a:t>Preemptable</a:t>
            </a:r>
          </a:p>
          <a:p>
            <a:pPr lvl="1" algn="just" eaLnBrk="1" hangingPunct="1"/>
            <a:r>
              <a:rPr lang="en-US" altLang="en-US">
                <a:latin typeface="Times New Roman" panose="02020603050405020304" pitchFamily="18" charset="0"/>
                <a:cs typeface="Times New Roman" panose="02020603050405020304" pitchFamily="18" charset="0"/>
              </a:rPr>
              <a:t>Nonpreemptable</a:t>
            </a:r>
          </a:p>
          <a:p>
            <a:pPr lvl="1" algn="just" eaLnBrk="1" hangingPunct="1"/>
            <a:endParaRPr lang="en-US" altLang="en-US">
              <a:latin typeface="Times New Roman" panose="02020603050405020304" pitchFamily="18" charset="0"/>
              <a:cs typeface="Times New Roman" panose="02020603050405020304" pitchFamily="18" charset="0"/>
            </a:endParaRPr>
          </a:p>
        </p:txBody>
      </p:sp>
      <p:sp>
        <p:nvSpPr>
          <p:cNvPr id="14340" name="Rectangle 4"/>
          <p:cNvSpPr>
            <a:spLocks/>
          </p:cNvSpPr>
          <p:nvPr/>
        </p:nvSpPr>
        <p:spPr bwMode="auto">
          <a:xfrm>
            <a:off x="914400" y="3810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animEffect transition="in" filter="box(in)">
                                      <p:cBhvr>
                                        <p:cTn id="7" dur="500"/>
                                        <p:tgtEl>
                                          <p:spTgt spid="190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90467">
                                            <p:txEl>
                                              <p:pRg st="1" end="1"/>
                                            </p:txEl>
                                          </p:spTgt>
                                        </p:tgtEl>
                                        <p:attrNameLst>
                                          <p:attrName>style.visibility</p:attrName>
                                        </p:attrNameLst>
                                      </p:cBhvr>
                                      <p:to>
                                        <p:strVal val="visible"/>
                                      </p:to>
                                    </p:set>
                                    <p:animEffect transition="in" filter="box(in)">
                                      <p:cBhvr>
                                        <p:cTn id="12" dur="500"/>
                                        <p:tgtEl>
                                          <p:spTgt spid="1904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90467">
                                            <p:txEl>
                                              <p:pRg st="2" end="2"/>
                                            </p:txEl>
                                          </p:spTgt>
                                        </p:tgtEl>
                                        <p:attrNameLst>
                                          <p:attrName>style.visibility</p:attrName>
                                        </p:attrNameLst>
                                      </p:cBhvr>
                                      <p:to>
                                        <p:strVal val="visible"/>
                                      </p:to>
                                    </p:set>
                                    <p:animEffect transition="in" filter="box(in)">
                                      <p:cBhvr>
                                        <p:cTn id="17" dur="500"/>
                                        <p:tgtEl>
                                          <p:spTgt spid="1904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90467">
                                            <p:txEl>
                                              <p:pRg st="3" end="3"/>
                                            </p:txEl>
                                          </p:spTgt>
                                        </p:tgtEl>
                                        <p:attrNameLst>
                                          <p:attrName>style.visibility</p:attrName>
                                        </p:attrNameLst>
                                      </p:cBhvr>
                                      <p:to>
                                        <p:strVal val="visible"/>
                                      </p:to>
                                    </p:set>
                                    <p:animEffect transition="in" filter="box(in)">
                                      <p:cBhvr>
                                        <p:cTn id="22" dur="500"/>
                                        <p:tgtEl>
                                          <p:spTgt spid="1904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90467">
                                            <p:txEl>
                                              <p:pRg st="4" end="4"/>
                                            </p:txEl>
                                          </p:spTgt>
                                        </p:tgtEl>
                                        <p:attrNameLst>
                                          <p:attrName>style.visibility</p:attrName>
                                        </p:attrNameLst>
                                      </p:cBhvr>
                                      <p:to>
                                        <p:strVal val="visible"/>
                                      </p:to>
                                    </p:set>
                                    <p:animEffect transition="in" filter="box(in)">
                                      <p:cBhvr>
                                        <p:cTn id="27" dur="500"/>
                                        <p:tgtEl>
                                          <p:spTgt spid="19046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90467">
                                            <p:txEl>
                                              <p:pRg st="5" end="5"/>
                                            </p:txEl>
                                          </p:spTgt>
                                        </p:tgtEl>
                                        <p:attrNameLst>
                                          <p:attrName>style.visibility</p:attrName>
                                        </p:attrNameLst>
                                      </p:cBhvr>
                                      <p:to>
                                        <p:strVal val="visible"/>
                                      </p:to>
                                    </p:set>
                                    <p:animEffect transition="in" filter="box(in)">
                                      <p:cBhvr>
                                        <p:cTn id="32" dur="500"/>
                                        <p:tgtEl>
                                          <p:spTgt spid="19046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190467">
                                            <p:txEl>
                                              <p:pRg st="6" end="6"/>
                                            </p:txEl>
                                          </p:spTgt>
                                        </p:tgtEl>
                                        <p:attrNameLst>
                                          <p:attrName>style.visibility</p:attrName>
                                        </p:attrNameLst>
                                      </p:cBhvr>
                                      <p:to>
                                        <p:strVal val="visible"/>
                                      </p:to>
                                    </p:set>
                                    <p:animEffect transition="in" filter="box(in)">
                                      <p:cBhvr>
                                        <p:cTn id="37" dur="500"/>
                                        <p:tgtEl>
                                          <p:spTgt spid="1904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Resources</a:t>
            </a:r>
          </a:p>
        </p:txBody>
      </p:sp>
      <p:sp>
        <p:nvSpPr>
          <p:cNvPr id="208899" name="Rectangle 3"/>
          <p:cNvSpPr>
            <a:spLocks noGrp="1"/>
          </p:cNvSpPr>
          <p:nvPr>
            <p:ph type="body" idx="1"/>
          </p:nvPr>
        </p:nvSpPr>
        <p:spPr>
          <a:xfrm>
            <a:off x="0" y="990600"/>
            <a:ext cx="9144000" cy="5867400"/>
          </a:xfrm>
        </p:spPr>
        <p:txBody>
          <a:bodyPr/>
          <a:lstStyle/>
          <a:p>
            <a:pPr algn="just" eaLnBrk="1" hangingPunct="1">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Is resources that can be </a:t>
            </a:r>
            <a:r>
              <a:rPr lang="en-US" altLang="en-US" sz="2800" b="1">
                <a:latin typeface="Times New Roman" panose="02020603050405020304" pitchFamily="18" charset="0"/>
                <a:cs typeface="Times New Roman" panose="02020603050405020304" pitchFamily="18" charset="0"/>
              </a:rPr>
              <a:t>taken away from</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process</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owning</a:t>
            </a:r>
            <a:r>
              <a:rPr lang="en-US" altLang="en-US" sz="2800">
                <a:latin typeface="Times New Roman" panose="02020603050405020304" pitchFamily="18" charset="0"/>
                <a:cs typeface="Times New Roman" panose="02020603050405020304" pitchFamily="18" charset="0"/>
              </a:rPr>
              <a:t> it </a:t>
            </a:r>
            <a:r>
              <a:rPr lang="en-US" altLang="en-US" sz="2800" b="1">
                <a:latin typeface="Times New Roman" panose="02020603050405020304" pitchFamily="18" charset="0"/>
                <a:cs typeface="Times New Roman" panose="02020603050405020304" pitchFamily="18" charset="0"/>
              </a:rPr>
              <a:t>with no ill effects </a:t>
            </a:r>
            <a:r>
              <a:rPr lang="en-US" altLang="en-US" sz="2800">
                <a:latin typeface="Times New Roman" panose="02020603050405020304" pitchFamily="18" charset="0"/>
                <a:cs typeface="Times New Roman" panose="02020603050405020304" pitchFamily="18" charset="0"/>
              </a:rPr>
              <a:t>(either on system or others)</a:t>
            </a:r>
          </a:p>
          <a:p>
            <a:pPr algn="just" eaLnBrk="1" hangingPunct="1">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Preemptable resources can be </a:t>
            </a:r>
            <a:r>
              <a:rPr lang="en-US" altLang="en-US" sz="2800" b="1">
                <a:latin typeface="Times New Roman" panose="02020603050405020304" pitchFamily="18" charset="0"/>
                <a:cs typeface="Times New Roman" panose="02020603050405020304" pitchFamily="18" charset="0"/>
              </a:rPr>
              <a:t>resolved deadlocks by</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reallocating resources from one process to another </a:t>
            </a:r>
          </a:p>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Ex:</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A system with 256 MB of user memory, one printer, and two of 256 MB processes that each want to print some thing</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Process A requests and gets the printer, then starts to compute the values to print. Before it has finished with the computation, it exceeds its time quantum and is swapped out (Process A has the printer, but it locates on disk)</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Process B now runs and tries, unsuccessfully to acquire the printer (Process B locates on memory, but it cannot access the printer)</a:t>
            </a:r>
          </a:p>
          <a:p>
            <a:pPr lvl="1" algn="just" eaLnBrk="1" hangingPunct="1">
              <a:lnSpc>
                <a:spcPct val="90000"/>
              </a:lnSpc>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Process A take away the B’s memory by swapping process B out &amp; swapping process A in. After finished, process A releases both</a:t>
            </a:r>
          </a:p>
        </p:txBody>
      </p:sp>
      <p:sp>
        <p:nvSpPr>
          <p:cNvPr id="15364" name="Rectangle 4"/>
          <p:cNvSpPr>
            <a:spLocks/>
          </p:cNvSpPr>
          <p:nvPr/>
        </p:nvSpPr>
        <p:spPr bwMode="auto">
          <a:xfrm>
            <a:off x="914400" y="4572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Preemptable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Effect transition="in" filter="box(in)">
                                      <p:cBhvr>
                                        <p:cTn id="7" dur="500"/>
                                        <p:tgtEl>
                                          <p:spTgt spid="208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08899">
                                            <p:txEl>
                                              <p:pRg st="1" end="1"/>
                                            </p:txEl>
                                          </p:spTgt>
                                        </p:tgtEl>
                                        <p:attrNameLst>
                                          <p:attrName>style.visibility</p:attrName>
                                        </p:attrNameLst>
                                      </p:cBhvr>
                                      <p:to>
                                        <p:strVal val="visible"/>
                                      </p:to>
                                    </p:set>
                                    <p:animEffect transition="in" filter="box(in)">
                                      <p:cBhvr>
                                        <p:cTn id="12" dur="500"/>
                                        <p:tgtEl>
                                          <p:spTgt spid="2088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08899">
                                            <p:txEl>
                                              <p:pRg st="2" end="2"/>
                                            </p:txEl>
                                          </p:spTgt>
                                        </p:tgtEl>
                                        <p:attrNameLst>
                                          <p:attrName>style.visibility</p:attrName>
                                        </p:attrNameLst>
                                      </p:cBhvr>
                                      <p:to>
                                        <p:strVal val="visible"/>
                                      </p:to>
                                    </p:set>
                                    <p:animEffect transition="in" filter="box(in)">
                                      <p:cBhvr>
                                        <p:cTn id="17" dur="500"/>
                                        <p:tgtEl>
                                          <p:spTgt spid="2088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08899">
                                            <p:txEl>
                                              <p:pRg st="3" end="3"/>
                                            </p:txEl>
                                          </p:spTgt>
                                        </p:tgtEl>
                                        <p:attrNameLst>
                                          <p:attrName>style.visibility</p:attrName>
                                        </p:attrNameLst>
                                      </p:cBhvr>
                                      <p:to>
                                        <p:strVal val="visible"/>
                                      </p:to>
                                    </p:set>
                                    <p:animEffect transition="in" filter="box(in)">
                                      <p:cBhvr>
                                        <p:cTn id="22" dur="500"/>
                                        <p:tgtEl>
                                          <p:spTgt spid="2088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08899">
                                            <p:txEl>
                                              <p:pRg st="4" end="4"/>
                                            </p:txEl>
                                          </p:spTgt>
                                        </p:tgtEl>
                                        <p:attrNameLst>
                                          <p:attrName>style.visibility</p:attrName>
                                        </p:attrNameLst>
                                      </p:cBhvr>
                                      <p:to>
                                        <p:strVal val="visible"/>
                                      </p:to>
                                    </p:set>
                                    <p:animEffect transition="in" filter="box(in)">
                                      <p:cBhvr>
                                        <p:cTn id="27" dur="500"/>
                                        <p:tgtEl>
                                          <p:spTgt spid="2088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08899">
                                            <p:txEl>
                                              <p:pRg st="5" end="5"/>
                                            </p:txEl>
                                          </p:spTgt>
                                        </p:tgtEl>
                                        <p:attrNameLst>
                                          <p:attrName>style.visibility</p:attrName>
                                        </p:attrNameLst>
                                      </p:cBhvr>
                                      <p:to>
                                        <p:strVal val="visible"/>
                                      </p:to>
                                    </p:set>
                                    <p:animEffect transition="in" filter="box(in)">
                                      <p:cBhvr>
                                        <p:cTn id="32" dur="500"/>
                                        <p:tgtEl>
                                          <p:spTgt spid="2088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08899">
                                            <p:txEl>
                                              <p:pRg st="6" end="6"/>
                                            </p:txEl>
                                          </p:spTgt>
                                        </p:tgtEl>
                                        <p:attrNameLst>
                                          <p:attrName>style.visibility</p:attrName>
                                        </p:attrNameLst>
                                      </p:cBhvr>
                                      <p:to>
                                        <p:strVal val="visible"/>
                                      </p:to>
                                    </p:set>
                                    <p:animEffect transition="in" filter="box(in)">
                                      <p:cBhvr>
                                        <p:cTn id="37" dur="500"/>
                                        <p:tgtEl>
                                          <p:spTgt spid="2088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Resources</a:t>
            </a:r>
          </a:p>
        </p:txBody>
      </p:sp>
      <p:sp>
        <p:nvSpPr>
          <p:cNvPr id="212995" name="Rectangle 3"/>
          <p:cNvSpPr>
            <a:spLocks noGrp="1"/>
          </p:cNvSpPr>
          <p:nvPr>
            <p:ph type="body" idx="1"/>
          </p:nvPr>
        </p:nvSpPr>
        <p:spPr>
          <a:xfrm>
            <a:off x="228600" y="990600"/>
            <a:ext cx="8915400" cy="5867400"/>
          </a:xfrm>
        </p:spPr>
        <p:txBody>
          <a:bodyPr/>
          <a:lstStyle/>
          <a:p>
            <a:pPr marL="365125" indent="-365125" algn="just" eaLnBrk="1" hangingPunct="1">
              <a:buClrTx/>
              <a:buSz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Is resources that </a:t>
            </a:r>
            <a:r>
              <a:rPr lang="en-US" altLang="en-US" b="1" dirty="0">
                <a:latin typeface="Times New Roman" panose="02020603050405020304" pitchFamily="18" charset="0"/>
                <a:cs typeface="Times New Roman" panose="02020603050405020304" pitchFamily="18" charset="0"/>
              </a:rPr>
              <a:t>cannot taken away from</a:t>
            </a:r>
            <a:r>
              <a:rPr lang="en-US" altLang="en-US" dirty="0">
                <a:latin typeface="Times New Roman" panose="02020603050405020304" pitchFamily="18" charset="0"/>
                <a:cs typeface="Times New Roman" panose="02020603050405020304" pitchFamily="18" charset="0"/>
              </a:rPr>
              <a:t> its </a:t>
            </a:r>
            <a:r>
              <a:rPr lang="en-US" altLang="en-US" b="1" dirty="0">
                <a:latin typeface="Times New Roman" panose="02020603050405020304" pitchFamily="18" charset="0"/>
                <a:cs typeface="Times New Roman" panose="02020603050405020304" pitchFamily="18" charset="0"/>
              </a:rPr>
              <a:t>current owner without</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causing</a:t>
            </a:r>
            <a:r>
              <a:rPr lang="en-US" altLang="en-US" dirty="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computation to fail</a:t>
            </a:r>
          </a:p>
          <a:p>
            <a:pPr marL="365125" indent="-365125" algn="just" eaLnBrk="1" hangingPunct="1">
              <a:buClrTx/>
              <a:buSzTx/>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Ex</a:t>
            </a:r>
            <a:endParaRPr lang="en-US" altLang="en-US" dirty="0">
              <a:latin typeface="Times New Roman" panose="02020603050405020304" pitchFamily="18" charset="0"/>
              <a:cs typeface="Times New Roman" panose="02020603050405020304" pitchFamily="18" charset="0"/>
            </a:endParaRPr>
          </a:p>
          <a:p>
            <a:pPr marL="765175" lvl="1" indent="-365125" algn="just" eaLnBrk="1" hangingPunct="1"/>
            <a:r>
              <a:rPr lang="en-US" altLang="en-US" dirty="0">
                <a:latin typeface="Times New Roman" panose="02020603050405020304" pitchFamily="18" charset="0"/>
                <a:cs typeface="Times New Roman" panose="02020603050405020304" pitchFamily="18" charset="0"/>
              </a:rPr>
              <a:t>If the process has begun to burn a CD-ROM, suddenly taking the CD recorder away from it and giving it to another process will result in a garbled CD</a:t>
            </a:r>
          </a:p>
          <a:p>
            <a:pPr marL="365125" indent="-365125" algn="just" eaLnBrk="1" hangingPunct="1">
              <a:buClrTx/>
              <a:buSz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Deadlocks involve </a:t>
            </a:r>
            <a:r>
              <a:rPr lang="en-US" altLang="en-US" b="1" dirty="0" err="1">
                <a:latin typeface="Times New Roman" panose="02020603050405020304" pitchFamily="18" charset="0"/>
                <a:cs typeface="Times New Roman" panose="02020603050405020304" pitchFamily="18" charset="0"/>
              </a:rPr>
              <a:t>nonpreemptable</a:t>
            </a:r>
            <a:r>
              <a:rPr lang="en-US" altLang="en-US" b="1" dirty="0">
                <a:latin typeface="Times New Roman" panose="02020603050405020304" pitchFamily="18" charset="0"/>
                <a:cs typeface="Times New Roman" panose="02020603050405020304" pitchFamily="18" charset="0"/>
              </a:rPr>
              <a:t> resources</a:t>
            </a:r>
          </a:p>
        </p:txBody>
      </p:sp>
      <p:sp>
        <p:nvSpPr>
          <p:cNvPr id="16388" name="Rectangle 4"/>
          <p:cNvSpPr>
            <a:spLocks/>
          </p:cNvSpPr>
          <p:nvPr/>
        </p:nvSpPr>
        <p:spPr bwMode="auto">
          <a:xfrm>
            <a:off x="914400" y="5334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Nonpreemptable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2995">
                                            <p:txEl>
                                              <p:pRg st="0" end="0"/>
                                            </p:txEl>
                                          </p:spTgt>
                                        </p:tgtEl>
                                        <p:attrNameLst>
                                          <p:attrName>style.visibility</p:attrName>
                                        </p:attrNameLst>
                                      </p:cBhvr>
                                      <p:to>
                                        <p:strVal val="visible"/>
                                      </p:to>
                                    </p:set>
                                    <p:animEffect transition="in" filter="box(in)">
                                      <p:cBhvr>
                                        <p:cTn id="7" dur="500"/>
                                        <p:tgtEl>
                                          <p:spTgt spid="2129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12995">
                                            <p:txEl>
                                              <p:pRg st="1" end="1"/>
                                            </p:txEl>
                                          </p:spTgt>
                                        </p:tgtEl>
                                        <p:attrNameLst>
                                          <p:attrName>style.visibility</p:attrName>
                                        </p:attrNameLst>
                                      </p:cBhvr>
                                      <p:to>
                                        <p:strVal val="visible"/>
                                      </p:to>
                                    </p:set>
                                    <p:animEffect transition="in" filter="box(in)">
                                      <p:cBhvr>
                                        <p:cTn id="12" dur="500"/>
                                        <p:tgtEl>
                                          <p:spTgt spid="2129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12995">
                                            <p:txEl>
                                              <p:pRg st="2" end="2"/>
                                            </p:txEl>
                                          </p:spTgt>
                                        </p:tgtEl>
                                        <p:attrNameLst>
                                          <p:attrName>style.visibility</p:attrName>
                                        </p:attrNameLst>
                                      </p:cBhvr>
                                      <p:to>
                                        <p:strVal val="visible"/>
                                      </p:to>
                                    </p:set>
                                    <p:animEffect transition="in" filter="box(in)">
                                      <p:cBhvr>
                                        <p:cTn id="17" dur="500"/>
                                        <p:tgtEl>
                                          <p:spTgt spid="2129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12995">
                                            <p:txEl>
                                              <p:pRg st="3" end="3"/>
                                            </p:txEl>
                                          </p:spTgt>
                                        </p:tgtEl>
                                        <p:attrNameLst>
                                          <p:attrName>style.visibility</p:attrName>
                                        </p:attrNameLst>
                                      </p:cBhvr>
                                      <p:to>
                                        <p:strVal val="visible"/>
                                      </p:to>
                                    </p:set>
                                    <p:animEffect transition="in" filter="box(in)">
                                      <p:cBhvr>
                                        <p:cTn id="22" dur="500"/>
                                        <p:tgtEl>
                                          <p:spTgt spid="2129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Resources</a:t>
            </a:r>
          </a:p>
        </p:txBody>
      </p:sp>
      <p:sp>
        <p:nvSpPr>
          <p:cNvPr id="215043" name="Rectangle 3"/>
          <p:cNvSpPr>
            <a:spLocks noGrp="1"/>
          </p:cNvSpPr>
          <p:nvPr>
            <p:ph type="body" idx="1"/>
          </p:nvPr>
        </p:nvSpPr>
        <p:spPr>
          <a:xfrm>
            <a:off x="228600" y="990600"/>
            <a:ext cx="8915400" cy="5867400"/>
          </a:xfrm>
        </p:spPr>
        <p:txBody>
          <a:bodyPr/>
          <a:lstStyle/>
          <a:p>
            <a:pPr algn="just">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sequence of events </a:t>
            </a:r>
            <a:r>
              <a:rPr lang="en-US" altLang="en-US">
                <a:latin typeface="Times New Roman" panose="02020603050405020304" pitchFamily="18" charset="0"/>
                <a:cs typeface="Times New Roman" panose="02020603050405020304" pitchFamily="18" charset="0"/>
              </a:rPr>
              <a:t>required to use resource </a:t>
            </a:r>
          </a:p>
          <a:p>
            <a:pPr lvl="1" algn="just"/>
            <a:r>
              <a:rPr lang="en-US" altLang="en-US">
                <a:latin typeface="Times New Roman" panose="02020603050405020304" pitchFamily="18" charset="0"/>
                <a:cs typeface="Times New Roman" panose="02020603050405020304" pitchFamily="18" charset="0"/>
              </a:rPr>
              <a:t>Request the resource</a:t>
            </a:r>
          </a:p>
          <a:p>
            <a:pPr lvl="1" algn="just"/>
            <a:r>
              <a:rPr lang="en-US" altLang="en-US">
                <a:latin typeface="Times New Roman" panose="02020603050405020304" pitchFamily="18" charset="0"/>
                <a:cs typeface="Times New Roman" panose="02020603050405020304" pitchFamily="18" charset="0"/>
              </a:rPr>
              <a:t>Use the resource</a:t>
            </a:r>
          </a:p>
          <a:p>
            <a:pPr lvl="1" algn="just"/>
            <a:r>
              <a:rPr lang="en-US" altLang="en-US">
                <a:latin typeface="Times New Roman" panose="02020603050405020304" pitchFamily="18" charset="0"/>
                <a:cs typeface="Times New Roman" panose="02020603050405020304" pitchFamily="18" charset="0"/>
              </a:rPr>
              <a:t>Release the resource</a:t>
            </a:r>
          </a:p>
          <a:p>
            <a:pPr algn="just">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One of way allowing user manager of resources is to associate a </a:t>
            </a:r>
            <a:r>
              <a:rPr lang="en-US" altLang="en-US" b="1">
                <a:latin typeface="Times New Roman" panose="02020603050405020304" pitchFamily="18" charset="0"/>
                <a:cs typeface="Times New Roman" panose="02020603050405020304" pitchFamily="18" charset="0"/>
              </a:rPr>
              <a:t>semaphore</a:t>
            </a:r>
            <a:r>
              <a:rPr lang="en-US" altLang="en-US">
                <a:latin typeface="Times New Roman" panose="02020603050405020304" pitchFamily="18" charset="0"/>
                <a:cs typeface="Times New Roman" panose="02020603050405020304" pitchFamily="18" charset="0"/>
              </a:rPr>
              <a:t> with each resource</a:t>
            </a:r>
          </a:p>
          <a:p>
            <a:pPr lvl="1" algn="just"/>
            <a:r>
              <a:rPr lang="en-US" altLang="en-US">
                <a:latin typeface="Times New Roman" panose="02020603050405020304" pitchFamily="18" charset="0"/>
                <a:cs typeface="Times New Roman" panose="02020603050405020304" pitchFamily="18" charset="0"/>
              </a:rPr>
              <a:t>The semaphores are all initialized to 1</a:t>
            </a:r>
          </a:p>
          <a:p>
            <a:pPr lvl="1" algn="just"/>
            <a:r>
              <a:rPr lang="en-US" altLang="en-US">
                <a:latin typeface="Times New Roman" panose="02020603050405020304" pitchFamily="18" charset="0"/>
                <a:cs typeface="Times New Roman" panose="02020603050405020304" pitchFamily="18" charset="0"/>
              </a:rPr>
              <a:t>A down to acquire the resource, using the resource</a:t>
            </a:r>
          </a:p>
          <a:p>
            <a:pPr lvl="1" algn="just"/>
            <a:r>
              <a:rPr lang="en-US" altLang="en-US">
                <a:latin typeface="Times New Roman" panose="02020603050405020304" pitchFamily="18" charset="0"/>
                <a:cs typeface="Times New Roman" panose="02020603050405020304" pitchFamily="18" charset="0"/>
              </a:rPr>
              <a:t>A up on the resource to release resource</a:t>
            </a:r>
          </a:p>
        </p:txBody>
      </p:sp>
      <p:sp>
        <p:nvSpPr>
          <p:cNvPr id="17412" name="Rectangle 4"/>
          <p:cNvSpPr>
            <a:spLocks/>
          </p:cNvSpPr>
          <p:nvPr/>
        </p:nvSpPr>
        <p:spPr bwMode="auto">
          <a:xfrm>
            <a:off x="914400" y="4572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dirty="0">
                <a:latin typeface="Times New Roman" panose="02020603050405020304" pitchFamily="18" charset="0"/>
                <a:cs typeface="Times New Roman" panose="02020603050405020304" pitchFamily="18" charset="0"/>
              </a:rPr>
              <a:t>Resource Acquisition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43">
                                            <p:txEl>
                                              <p:pRg st="0" end="0"/>
                                            </p:txEl>
                                          </p:spTgt>
                                        </p:tgtEl>
                                        <p:attrNameLst>
                                          <p:attrName>style.visibility</p:attrName>
                                        </p:attrNameLst>
                                      </p:cBhvr>
                                      <p:to>
                                        <p:strVal val="visible"/>
                                      </p:to>
                                    </p:set>
                                    <p:animEffect transition="in" filter="blinds(horizontal)">
                                      <p:cBhvr>
                                        <p:cTn id="7" dur="500"/>
                                        <p:tgtEl>
                                          <p:spTgt spid="21504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15043">
                                            <p:txEl>
                                              <p:pRg st="1" end="1"/>
                                            </p:txEl>
                                          </p:spTgt>
                                        </p:tgtEl>
                                        <p:attrNameLst>
                                          <p:attrName>style.visibility</p:attrName>
                                        </p:attrNameLst>
                                      </p:cBhvr>
                                      <p:to>
                                        <p:strVal val="visible"/>
                                      </p:to>
                                    </p:set>
                                    <p:animEffect transition="in" filter="blinds(horizontal)">
                                      <p:cBhvr>
                                        <p:cTn id="10" dur="500"/>
                                        <p:tgtEl>
                                          <p:spTgt spid="21504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15043">
                                            <p:txEl>
                                              <p:pRg st="2" end="2"/>
                                            </p:txEl>
                                          </p:spTgt>
                                        </p:tgtEl>
                                        <p:attrNameLst>
                                          <p:attrName>style.visibility</p:attrName>
                                        </p:attrNameLst>
                                      </p:cBhvr>
                                      <p:to>
                                        <p:strVal val="visible"/>
                                      </p:to>
                                    </p:set>
                                    <p:animEffect transition="in" filter="blinds(horizontal)">
                                      <p:cBhvr>
                                        <p:cTn id="13" dur="500"/>
                                        <p:tgtEl>
                                          <p:spTgt spid="21504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15043">
                                            <p:txEl>
                                              <p:pRg st="3" end="3"/>
                                            </p:txEl>
                                          </p:spTgt>
                                        </p:tgtEl>
                                        <p:attrNameLst>
                                          <p:attrName>style.visibility</p:attrName>
                                        </p:attrNameLst>
                                      </p:cBhvr>
                                      <p:to>
                                        <p:strVal val="visible"/>
                                      </p:to>
                                    </p:set>
                                    <p:animEffect transition="in" filter="blinds(horizontal)">
                                      <p:cBhvr>
                                        <p:cTn id="16" dur="500"/>
                                        <p:tgtEl>
                                          <p:spTgt spid="215043">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15043">
                                            <p:txEl>
                                              <p:pRg st="4" end="4"/>
                                            </p:txEl>
                                          </p:spTgt>
                                        </p:tgtEl>
                                        <p:attrNameLst>
                                          <p:attrName>style.visibility</p:attrName>
                                        </p:attrNameLst>
                                      </p:cBhvr>
                                      <p:to>
                                        <p:strVal val="visible"/>
                                      </p:to>
                                    </p:set>
                                    <p:animEffect transition="in" filter="blinds(horizontal)">
                                      <p:cBhvr>
                                        <p:cTn id="21" dur="500"/>
                                        <p:tgtEl>
                                          <p:spTgt spid="21504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15043">
                                            <p:txEl>
                                              <p:pRg st="5" end="5"/>
                                            </p:txEl>
                                          </p:spTgt>
                                        </p:tgtEl>
                                        <p:attrNameLst>
                                          <p:attrName>style.visibility</p:attrName>
                                        </p:attrNameLst>
                                      </p:cBhvr>
                                      <p:to>
                                        <p:strVal val="visible"/>
                                      </p:to>
                                    </p:set>
                                    <p:animEffect transition="in" filter="blinds(horizontal)">
                                      <p:cBhvr>
                                        <p:cTn id="24" dur="500"/>
                                        <p:tgtEl>
                                          <p:spTgt spid="215043">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15043">
                                            <p:txEl>
                                              <p:pRg st="6" end="6"/>
                                            </p:txEl>
                                          </p:spTgt>
                                        </p:tgtEl>
                                        <p:attrNameLst>
                                          <p:attrName>style.visibility</p:attrName>
                                        </p:attrNameLst>
                                      </p:cBhvr>
                                      <p:to>
                                        <p:strVal val="visible"/>
                                      </p:to>
                                    </p:set>
                                    <p:animEffect transition="in" filter="blinds(horizontal)">
                                      <p:cBhvr>
                                        <p:cTn id="27" dur="500"/>
                                        <p:tgtEl>
                                          <p:spTgt spid="215043">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15043">
                                            <p:txEl>
                                              <p:pRg st="7" end="7"/>
                                            </p:txEl>
                                          </p:spTgt>
                                        </p:tgtEl>
                                        <p:attrNameLst>
                                          <p:attrName>style.visibility</p:attrName>
                                        </p:attrNameLst>
                                      </p:cBhvr>
                                      <p:to>
                                        <p:strVal val="visible"/>
                                      </p:to>
                                    </p:set>
                                    <p:animEffect transition="in" filter="blinds(horizontal)">
                                      <p:cBhvr>
                                        <p:cTn id="30" dur="500"/>
                                        <p:tgtEl>
                                          <p:spTgt spid="2150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Resources</a:t>
            </a:r>
          </a:p>
        </p:txBody>
      </p:sp>
      <p:sp>
        <p:nvSpPr>
          <p:cNvPr id="18435" name="Rectangle 4"/>
          <p:cNvSpPr>
            <a:spLocks/>
          </p:cNvSpPr>
          <p:nvPr/>
        </p:nvSpPr>
        <p:spPr bwMode="auto">
          <a:xfrm>
            <a:off x="914400" y="5334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Resource Acquisition</a:t>
            </a:r>
          </a:p>
        </p:txBody>
      </p:sp>
      <p:sp>
        <p:nvSpPr>
          <p:cNvPr id="151558" name="Text Box 4"/>
          <p:cNvSpPr txBox="1">
            <a:spLocks noChangeArrowheads="1"/>
          </p:cNvSpPr>
          <p:nvPr/>
        </p:nvSpPr>
        <p:spPr bwMode="auto">
          <a:xfrm>
            <a:off x="3505200" y="55626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6-1.</a:t>
            </a:r>
          </a:p>
        </p:txBody>
      </p:sp>
      <p:pic>
        <p:nvPicPr>
          <p:cNvPr id="1843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138" y="1487488"/>
            <a:ext cx="8710612" cy="368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1558"/>
                                        </p:tgtEl>
                                        <p:attrNameLst>
                                          <p:attrName>style.visibility</p:attrName>
                                        </p:attrNameLst>
                                      </p:cBhvr>
                                      <p:to>
                                        <p:strVal val="visible"/>
                                      </p:to>
                                    </p:set>
                                    <p:animEffect transition="in" filter="box(in)">
                                      <p:cBhvr>
                                        <p:cTn id="7" dur="500"/>
                                        <p:tgtEl>
                                          <p:spTgt spid="151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Resources</a:t>
            </a:r>
          </a:p>
        </p:txBody>
      </p:sp>
      <p:sp>
        <p:nvSpPr>
          <p:cNvPr id="19459" name="Rectangle 4"/>
          <p:cNvSpPr>
            <a:spLocks/>
          </p:cNvSpPr>
          <p:nvPr/>
        </p:nvSpPr>
        <p:spPr bwMode="auto">
          <a:xfrm>
            <a:off x="914400" y="5334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dirty="0">
                <a:latin typeface="Times New Roman" panose="02020603050405020304" pitchFamily="18" charset="0"/>
                <a:cs typeface="Times New Roman" panose="02020603050405020304" pitchFamily="18" charset="0"/>
              </a:rPr>
              <a:t> Resource Acquisition</a:t>
            </a:r>
          </a:p>
        </p:txBody>
      </p:sp>
      <p:pic>
        <p:nvPicPr>
          <p:cNvPr id="1946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112839"/>
            <a:ext cx="3500438" cy="391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8" name="Text Box 4"/>
          <p:cNvSpPr txBox="1">
            <a:spLocks noChangeArrowheads="1"/>
          </p:cNvSpPr>
          <p:nvPr/>
        </p:nvSpPr>
        <p:spPr bwMode="auto">
          <a:xfrm>
            <a:off x="3505200" y="62484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6-2.</a:t>
            </a:r>
          </a:p>
        </p:txBody>
      </p:sp>
      <p:pic>
        <p:nvPicPr>
          <p:cNvPr id="922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9100" y="990600"/>
            <a:ext cx="3644900" cy="391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5715000" y="1219200"/>
            <a:ext cx="3276600" cy="368776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FF0000"/>
                </a:solidFill>
                <a:latin typeface="Times New Roman" pitchFamily="18" charset="0"/>
                <a:cs typeface="Times New Roman" pitchFamily="18" charset="0"/>
              </a:rPr>
              <a:t>Deadlock</a:t>
            </a:r>
          </a:p>
          <a:p>
            <a:pPr algn="ctr">
              <a:defRPr/>
            </a:pPr>
            <a:endParaRPr lang="en-US" dirty="0"/>
          </a:p>
        </p:txBody>
      </p:sp>
      <p:pic>
        <p:nvPicPr>
          <p:cNvPr id="3" name="Picture 2">
            <a:extLst>
              <a:ext uri="{FF2B5EF4-FFF2-40B4-BE49-F238E27FC236}">
                <a16:creationId xmlns:a16="http://schemas.microsoft.com/office/drawing/2014/main" id="{96198723-FB2B-40D6-98CA-E3627910F7D1}"/>
              </a:ext>
            </a:extLst>
          </p:cNvPr>
          <p:cNvPicPr>
            <a:picLocks noChangeAspect="1"/>
          </p:cNvPicPr>
          <p:nvPr/>
        </p:nvPicPr>
        <p:blipFill>
          <a:blip r:embed="rId5"/>
          <a:stretch>
            <a:fillRect/>
          </a:stretch>
        </p:blipFill>
        <p:spPr>
          <a:xfrm>
            <a:off x="533400" y="5051395"/>
            <a:ext cx="8305800" cy="16542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1558"/>
                                        </p:tgtEl>
                                        <p:attrNameLst>
                                          <p:attrName>style.visibility</p:attrName>
                                        </p:attrNameLst>
                                      </p:cBhvr>
                                      <p:to>
                                        <p:strVal val="visible"/>
                                      </p:to>
                                    </p:set>
                                    <p:animEffect transition="in" filter="box(in)">
                                      <p:cBhvr>
                                        <p:cTn id="7" dur="500"/>
                                        <p:tgtEl>
                                          <p:spTgt spid="1515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225"/>
                                        </p:tgtEl>
                                        <p:attrNameLst>
                                          <p:attrName>style.visibility</p:attrName>
                                        </p:attrNameLst>
                                      </p:cBhvr>
                                      <p:to>
                                        <p:strVal val="visible"/>
                                      </p:to>
                                    </p:set>
                                    <p:animEffect transition="in" filter="box(in)">
                                      <p:cBhvr>
                                        <p:cTn id="12" dur="500"/>
                                        <p:tgtEl>
                                          <p:spTgt spid="92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8" grpId="0"/>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Introduction to Deadlocks</a:t>
            </a:r>
          </a:p>
        </p:txBody>
      </p:sp>
      <p:sp>
        <p:nvSpPr>
          <p:cNvPr id="217091" name="Rectangle 3"/>
          <p:cNvSpPr>
            <a:spLocks noGrp="1"/>
          </p:cNvSpPr>
          <p:nvPr>
            <p:ph type="body" idx="1"/>
          </p:nvPr>
        </p:nvSpPr>
        <p:spPr>
          <a:xfrm>
            <a:off x="0" y="685800"/>
            <a:ext cx="9144000" cy="4876800"/>
          </a:xfrm>
        </p:spPr>
        <p:txBody>
          <a:bodyPr/>
          <a:lstStyle/>
          <a:p>
            <a:pPr algn="just" eaLnBrk="1" hangingPunct="1">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A </a:t>
            </a:r>
            <a:r>
              <a:rPr lang="en-US" altLang="en-US" sz="2800" b="1">
                <a:latin typeface="Times New Roman" panose="02020603050405020304" pitchFamily="18" charset="0"/>
                <a:cs typeface="Times New Roman" panose="02020603050405020304" pitchFamily="18" charset="0"/>
              </a:rPr>
              <a:t>set of processes </a:t>
            </a:r>
            <a:r>
              <a:rPr lang="en-US" altLang="en-US" sz="2800">
                <a:latin typeface="Times New Roman" panose="02020603050405020304" pitchFamily="18" charset="0"/>
                <a:cs typeface="Times New Roman" panose="02020603050405020304" pitchFamily="18" charset="0"/>
              </a:rPr>
              <a:t>is </a:t>
            </a:r>
            <a:r>
              <a:rPr lang="en-US" altLang="en-US" sz="2800" b="1">
                <a:latin typeface="Times New Roman" panose="02020603050405020304" pitchFamily="18" charset="0"/>
                <a:cs typeface="Times New Roman" panose="02020603050405020304" pitchFamily="18" charset="0"/>
              </a:rPr>
              <a:t>deadlocked</a:t>
            </a:r>
            <a:r>
              <a:rPr lang="en-US" altLang="en-US" sz="2800">
                <a:latin typeface="Times New Roman" panose="02020603050405020304" pitchFamily="18" charset="0"/>
                <a:cs typeface="Times New Roman" panose="02020603050405020304" pitchFamily="18" charset="0"/>
              </a:rPr>
              <a:t> if </a:t>
            </a:r>
            <a:r>
              <a:rPr lang="en-US" altLang="en-US" sz="2800" b="1">
                <a:latin typeface="Times New Roman" panose="02020603050405020304" pitchFamily="18" charset="0"/>
                <a:cs typeface="Times New Roman" panose="02020603050405020304" pitchFamily="18" charset="0"/>
              </a:rPr>
              <a:t>each process </a:t>
            </a:r>
            <a:r>
              <a:rPr lang="en-US" altLang="en-US" sz="2800">
                <a:latin typeface="Times New Roman" panose="02020603050405020304" pitchFamily="18" charset="0"/>
                <a:cs typeface="Times New Roman" panose="02020603050405020304" pitchFamily="18" charset="0"/>
              </a:rPr>
              <a:t>in the set is </a:t>
            </a:r>
            <a:r>
              <a:rPr lang="en-US" altLang="en-US" sz="2800" b="1">
                <a:latin typeface="Times New Roman" panose="02020603050405020304" pitchFamily="18" charset="0"/>
                <a:cs typeface="Times New Roman" panose="02020603050405020304" pitchFamily="18" charset="0"/>
              </a:rPr>
              <a:t>waiting</a:t>
            </a:r>
            <a:r>
              <a:rPr lang="en-US" altLang="en-US" sz="2800">
                <a:latin typeface="Times New Roman" panose="02020603050405020304" pitchFamily="18" charset="0"/>
                <a:cs typeface="Times New Roman" panose="02020603050405020304" pitchFamily="18" charset="0"/>
              </a:rPr>
              <a:t> for an </a:t>
            </a:r>
            <a:r>
              <a:rPr lang="en-US" altLang="en-US" sz="2800" b="1">
                <a:latin typeface="Times New Roman" panose="02020603050405020304" pitchFamily="18" charset="0"/>
                <a:cs typeface="Times New Roman" panose="02020603050405020304" pitchFamily="18" charset="0"/>
              </a:rPr>
              <a:t>event</a:t>
            </a:r>
            <a:r>
              <a:rPr lang="en-US" altLang="en-US" sz="2800">
                <a:latin typeface="Times New Roman" panose="02020603050405020304" pitchFamily="18" charset="0"/>
                <a:cs typeface="Times New Roman" panose="02020603050405020304" pitchFamily="18" charset="0"/>
              </a:rPr>
              <a:t> that </a:t>
            </a:r>
            <a:r>
              <a:rPr lang="en-US" altLang="en-US" sz="2800" b="1">
                <a:latin typeface="Times New Roman" panose="02020603050405020304" pitchFamily="18" charset="0"/>
                <a:cs typeface="Times New Roman" panose="02020603050405020304" pitchFamily="18" charset="0"/>
              </a:rPr>
              <a:t>only</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another process in</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set can cause</a:t>
            </a:r>
          </a:p>
          <a:p>
            <a:pPr lvl="1" algn="just" eaLnBrk="1" hangingPunct="1"/>
            <a:r>
              <a:rPr lang="en-US" altLang="en-US" sz="2400" b="1">
                <a:latin typeface="Times New Roman" panose="02020603050405020304" pitchFamily="18" charset="0"/>
                <a:cs typeface="Times New Roman" panose="02020603050405020304" pitchFamily="18" charset="0"/>
              </a:rPr>
              <a:t>None</a:t>
            </a:r>
            <a:r>
              <a:rPr lang="en-US" altLang="en-US" sz="2400">
                <a:latin typeface="Times New Roman" panose="02020603050405020304" pitchFamily="18" charset="0"/>
                <a:cs typeface="Times New Roman" panose="02020603050405020304" pitchFamily="18" charset="0"/>
              </a:rPr>
              <a:t> of processes can </a:t>
            </a:r>
            <a:r>
              <a:rPr lang="en-US" altLang="en-US" sz="2400" b="1">
                <a:latin typeface="Times New Roman" panose="02020603050405020304" pitchFamily="18" charset="0"/>
                <a:cs typeface="Times New Roman" panose="02020603050405020304" pitchFamily="18" charset="0"/>
              </a:rPr>
              <a:t>run</a:t>
            </a:r>
          </a:p>
          <a:p>
            <a:pPr lvl="1" algn="just" eaLnBrk="1" hangingPunct="1"/>
            <a:r>
              <a:rPr lang="en-US" altLang="en-US" sz="2400" b="1">
                <a:latin typeface="Times New Roman" panose="02020603050405020304" pitchFamily="18" charset="0"/>
                <a:cs typeface="Times New Roman" panose="02020603050405020304" pitchFamily="18" charset="0"/>
              </a:rPr>
              <a:t>None</a:t>
            </a:r>
            <a:r>
              <a:rPr lang="en-US" altLang="en-US" sz="2400">
                <a:latin typeface="Times New Roman" panose="02020603050405020304" pitchFamily="18" charset="0"/>
                <a:cs typeface="Times New Roman" panose="02020603050405020304" pitchFamily="18" charset="0"/>
              </a:rPr>
              <a:t> of them can </a:t>
            </a:r>
            <a:r>
              <a:rPr lang="en-US" altLang="en-US" sz="2400" b="1">
                <a:latin typeface="Times New Roman" panose="02020603050405020304" pitchFamily="18" charset="0"/>
                <a:cs typeface="Times New Roman" panose="02020603050405020304" pitchFamily="18" charset="0"/>
              </a:rPr>
              <a:t>release any resources</a:t>
            </a:r>
          </a:p>
          <a:p>
            <a:pPr lvl="1" algn="just" eaLnBrk="1" hangingPunct="1"/>
            <a:r>
              <a:rPr lang="en-US" altLang="en-US" sz="2400" b="1">
                <a:latin typeface="Times New Roman" panose="02020603050405020304" pitchFamily="18" charset="0"/>
                <a:cs typeface="Times New Roman" panose="02020603050405020304" pitchFamily="18" charset="0"/>
              </a:rPr>
              <a:t>None</a:t>
            </a:r>
            <a:r>
              <a:rPr lang="en-US" altLang="en-US" sz="2400">
                <a:latin typeface="Times New Roman" panose="02020603050405020304" pitchFamily="18" charset="0"/>
                <a:cs typeface="Times New Roman" panose="02020603050405020304" pitchFamily="18" charset="0"/>
              </a:rPr>
              <a:t> of them can </a:t>
            </a:r>
            <a:r>
              <a:rPr lang="en-US" altLang="en-US" sz="2400" b="1">
                <a:latin typeface="Times New Roman" panose="02020603050405020304" pitchFamily="18" charset="0"/>
                <a:cs typeface="Times New Roman" panose="02020603050405020304" pitchFamily="18" charset="0"/>
              </a:rPr>
              <a:t>be awakened</a:t>
            </a:r>
          </a:p>
          <a:p>
            <a:pPr lvl="1" algn="just" eaLnBrk="1" hangingPunct="1">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All the processes </a:t>
            </a:r>
            <a:r>
              <a:rPr lang="en-US" altLang="en-US" sz="2400" b="1">
                <a:latin typeface="Times New Roman" panose="02020603050405020304" pitchFamily="18" charset="0"/>
                <a:cs typeface="Times New Roman" panose="02020603050405020304" pitchFamily="18" charset="0"/>
              </a:rPr>
              <a:t>continue to wait forever</a:t>
            </a:r>
          </a:p>
          <a:p>
            <a:pPr algn="just" eaLnBrk="1" hangingPunct="1">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Assume</a:t>
            </a:r>
          </a:p>
          <a:p>
            <a:pPr lvl="1" algn="just" eaLnBrk="1" hangingPunct="1"/>
            <a:r>
              <a:rPr lang="en-US" altLang="en-US" sz="2400">
                <a:latin typeface="Times New Roman" panose="02020603050405020304" pitchFamily="18" charset="0"/>
                <a:cs typeface="Times New Roman" panose="02020603050405020304" pitchFamily="18" charset="0"/>
              </a:rPr>
              <a:t>Processes </a:t>
            </a:r>
            <a:r>
              <a:rPr lang="en-US" altLang="en-US" sz="2400" b="1">
                <a:latin typeface="Times New Roman" panose="02020603050405020304" pitchFamily="18" charset="0"/>
                <a:cs typeface="Times New Roman" panose="02020603050405020304" pitchFamily="18" charset="0"/>
              </a:rPr>
              <a:t>have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only a single thread </a:t>
            </a:r>
            <a:r>
              <a:rPr lang="en-US" altLang="en-US" sz="2400">
                <a:latin typeface="Times New Roman" panose="02020603050405020304" pitchFamily="18" charset="0"/>
                <a:cs typeface="Times New Roman" panose="02020603050405020304" pitchFamily="18" charset="0"/>
              </a:rPr>
              <a:t>and </a:t>
            </a:r>
          </a:p>
          <a:p>
            <a:pPr lvl="1" algn="just" eaLnBrk="1" hangingPunct="1"/>
            <a:r>
              <a:rPr lang="en-US" altLang="en-US" sz="2400">
                <a:latin typeface="Times New Roman" panose="02020603050405020304" pitchFamily="18" charset="0"/>
                <a:cs typeface="Times New Roman" panose="02020603050405020304" pitchFamily="18" charset="0"/>
              </a:rPr>
              <a:t>There are </a:t>
            </a:r>
            <a:r>
              <a:rPr lang="en-US" altLang="en-US" sz="2400" b="1">
                <a:latin typeface="Times New Roman" panose="02020603050405020304" pitchFamily="18" charset="0"/>
                <a:cs typeface="Times New Roman" panose="02020603050405020304" pitchFamily="18" charset="0"/>
              </a:rPr>
              <a:t>no interrupts possible to wake up </a:t>
            </a:r>
            <a:r>
              <a:rPr lang="en-US" altLang="en-US" sz="2400">
                <a:latin typeface="Times New Roman" panose="02020603050405020304" pitchFamily="18" charset="0"/>
                <a:cs typeface="Times New Roman" panose="02020603050405020304" pitchFamily="18" charset="0"/>
              </a:rPr>
              <a:t>a blocked processes</a:t>
            </a:r>
          </a:p>
        </p:txBody>
      </p:sp>
      <p:sp>
        <p:nvSpPr>
          <p:cNvPr id="20484" name="Rectangle 4"/>
          <p:cNvSpPr>
            <a:spLocks/>
          </p:cNvSpPr>
          <p:nvPr/>
        </p:nvSpPr>
        <p:spPr bwMode="auto">
          <a:xfrm>
            <a:off x="914400" y="4572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en-US" altLang="en-US" sz="3200">
              <a:latin typeface="Times New Roman" panose="02020603050405020304" pitchFamily="18" charset="0"/>
              <a:cs typeface="Times New Roman" panose="02020603050405020304" pitchFamily="18" charset="0"/>
            </a:endParaRPr>
          </a:p>
        </p:txBody>
      </p:sp>
      <p:pic>
        <p:nvPicPr>
          <p:cNvPr id="1127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5122863"/>
            <a:ext cx="5867400" cy="150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Effect transition="in" filter="box(in)">
                                      <p:cBhvr>
                                        <p:cTn id="7" dur="500"/>
                                        <p:tgtEl>
                                          <p:spTgt spid="2170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17091">
                                            <p:txEl>
                                              <p:pRg st="1" end="1"/>
                                            </p:txEl>
                                          </p:spTgt>
                                        </p:tgtEl>
                                        <p:attrNameLst>
                                          <p:attrName>style.visibility</p:attrName>
                                        </p:attrNameLst>
                                      </p:cBhvr>
                                      <p:to>
                                        <p:strVal val="visible"/>
                                      </p:to>
                                    </p:set>
                                    <p:animEffect transition="in" filter="box(in)">
                                      <p:cBhvr>
                                        <p:cTn id="12" dur="500"/>
                                        <p:tgtEl>
                                          <p:spTgt spid="2170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17091">
                                            <p:txEl>
                                              <p:pRg st="2" end="2"/>
                                            </p:txEl>
                                          </p:spTgt>
                                        </p:tgtEl>
                                        <p:attrNameLst>
                                          <p:attrName>style.visibility</p:attrName>
                                        </p:attrNameLst>
                                      </p:cBhvr>
                                      <p:to>
                                        <p:strVal val="visible"/>
                                      </p:to>
                                    </p:set>
                                    <p:animEffect transition="in" filter="box(in)">
                                      <p:cBhvr>
                                        <p:cTn id="17" dur="500"/>
                                        <p:tgtEl>
                                          <p:spTgt spid="2170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17091">
                                            <p:txEl>
                                              <p:pRg st="3" end="3"/>
                                            </p:txEl>
                                          </p:spTgt>
                                        </p:tgtEl>
                                        <p:attrNameLst>
                                          <p:attrName>style.visibility</p:attrName>
                                        </p:attrNameLst>
                                      </p:cBhvr>
                                      <p:to>
                                        <p:strVal val="visible"/>
                                      </p:to>
                                    </p:set>
                                    <p:animEffect transition="in" filter="box(in)">
                                      <p:cBhvr>
                                        <p:cTn id="22" dur="500"/>
                                        <p:tgtEl>
                                          <p:spTgt spid="2170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17091">
                                            <p:txEl>
                                              <p:pRg st="4" end="4"/>
                                            </p:txEl>
                                          </p:spTgt>
                                        </p:tgtEl>
                                        <p:attrNameLst>
                                          <p:attrName>style.visibility</p:attrName>
                                        </p:attrNameLst>
                                      </p:cBhvr>
                                      <p:to>
                                        <p:strVal val="visible"/>
                                      </p:to>
                                    </p:set>
                                    <p:animEffect transition="in" filter="box(in)">
                                      <p:cBhvr>
                                        <p:cTn id="27" dur="500"/>
                                        <p:tgtEl>
                                          <p:spTgt spid="2170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17091">
                                            <p:txEl>
                                              <p:pRg st="5" end="5"/>
                                            </p:txEl>
                                          </p:spTgt>
                                        </p:tgtEl>
                                        <p:attrNameLst>
                                          <p:attrName>style.visibility</p:attrName>
                                        </p:attrNameLst>
                                      </p:cBhvr>
                                      <p:to>
                                        <p:strVal val="visible"/>
                                      </p:to>
                                    </p:set>
                                    <p:animEffect transition="in" filter="box(in)">
                                      <p:cBhvr>
                                        <p:cTn id="32" dur="500"/>
                                        <p:tgtEl>
                                          <p:spTgt spid="2170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17091">
                                            <p:txEl>
                                              <p:pRg st="6" end="6"/>
                                            </p:txEl>
                                          </p:spTgt>
                                        </p:tgtEl>
                                        <p:attrNameLst>
                                          <p:attrName>style.visibility</p:attrName>
                                        </p:attrNameLst>
                                      </p:cBhvr>
                                      <p:to>
                                        <p:strVal val="visible"/>
                                      </p:to>
                                    </p:set>
                                    <p:animEffect transition="in" filter="box(in)">
                                      <p:cBhvr>
                                        <p:cTn id="37" dur="500"/>
                                        <p:tgtEl>
                                          <p:spTgt spid="2170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217091">
                                            <p:txEl>
                                              <p:pRg st="7" end="7"/>
                                            </p:txEl>
                                          </p:spTgt>
                                        </p:tgtEl>
                                        <p:attrNameLst>
                                          <p:attrName>style.visibility</p:attrName>
                                        </p:attrNameLst>
                                      </p:cBhvr>
                                      <p:to>
                                        <p:strVal val="visible"/>
                                      </p:to>
                                    </p:set>
                                    <p:animEffect transition="in" filter="box(in)">
                                      <p:cBhvr>
                                        <p:cTn id="42" dur="500"/>
                                        <p:tgtEl>
                                          <p:spTgt spid="21709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11270"/>
                                        </p:tgtEl>
                                        <p:attrNameLst>
                                          <p:attrName>style.visibility</p:attrName>
                                        </p:attrNameLst>
                                      </p:cBhvr>
                                      <p:to>
                                        <p:strVal val="visible"/>
                                      </p:to>
                                    </p:set>
                                    <p:animEffect transition="in" filter="box(in)">
                                      <p:cBhvr>
                                        <p:cTn id="47"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Introduction to Deadlocks</a:t>
            </a:r>
          </a:p>
        </p:txBody>
      </p:sp>
      <p:sp>
        <p:nvSpPr>
          <p:cNvPr id="219139" name="Rectangle 3"/>
          <p:cNvSpPr>
            <a:spLocks noGrp="1"/>
          </p:cNvSpPr>
          <p:nvPr>
            <p:ph type="body" idx="1"/>
          </p:nvPr>
        </p:nvSpPr>
        <p:spPr>
          <a:xfrm>
            <a:off x="0" y="762000"/>
            <a:ext cx="9144000" cy="6248400"/>
          </a:xfrm>
        </p:spPr>
        <p:txBody>
          <a:bodyPr/>
          <a:lstStyle/>
          <a:p>
            <a:pPr marL="274638" indent="-274638" algn="just">
              <a:buClrTx/>
              <a:buSzTx/>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Resource Deadlocks</a:t>
            </a:r>
          </a:p>
          <a:p>
            <a:pPr marL="808038" lvl="1" indent="-354013" algn="just"/>
            <a:r>
              <a:rPr lang="en-US" altLang="en-US" sz="2400" dirty="0">
                <a:latin typeface="Times New Roman" panose="02020603050405020304" pitchFamily="18" charset="0"/>
                <a:cs typeface="Times New Roman" panose="02020603050405020304" pitchFamily="18" charset="0"/>
              </a:rPr>
              <a:t>A resource that is owned by a deadlocked process</a:t>
            </a:r>
          </a:p>
          <a:p>
            <a:pPr marL="274638" indent="-274638" algn="just">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Four conditions </a:t>
            </a:r>
            <a:r>
              <a:rPr lang="en-US" altLang="en-US" sz="2800" dirty="0">
                <a:latin typeface="Times New Roman" panose="02020603050405020304" pitchFamily="18" charset="0"/>
                <a:cs typeface="Times New Roman" panose="02020603050405020304" pitchFamily="18" charset="0"/>
              </a:rPr>
              <a:t>must hold for there to be a deadlock</a:t>
            </a:r>
          </a:p>
          <a:p>
            <a:r>
              <a:rPr lang="en-US" sz="1600" b="1" dirty="0"/>
              <a:t>Mutual Exclusion:</a:t>
            </a:r>
            <a:br>
              <a:rPr lang="en-US" sz="1600" dirty="0"/>
            </a:br>
            <a:r>
              <a:rPr lang="en-US" sz="1600" dirty="0"/>
              <a:t>When two people meet in the landings, they can’t just walk through because there is space only for one person. This condition to allow only one person (or process) to use the step between them (or the resource) is the first condition necessary for the occurrence of the deadlock.</a:t>
            </a:r>
          </a:p>
          <a:p>
            <a:r>
              <a:rPr lang="en-US" sz="1600" b="1" dirty="0"/>
              <a:t>Hold and Wait:</a:t>
            </a:r>
            <a:br>
              <a:rPr lang="en-US" sz="1600" dirty="0"/>
            </a:br>
            <a:r>
              <a:rPr lang="en-US" sz="1600" dirty="0"/>
              <a:t>When the 2 people refuses to retreat and hold their grounds, it is called holding. This is the next necessary condition for the </a:t>
            </a:r>
            <a:r>
              <a:rPr lang="en-US" sz="1600" dirty="0" err="1"/>
              <a:t>the</a:t>
            </a:r>
            <a:r>
              <a:rPr lang="en-US" sz="1600" dirty="0"/>
              <a:t> deadlock.</a:t>
            </a:r>
          </a:p>
          <a:p>
            <a:r>
              <a:rPr lang="en-US" sz="1600" b="1" dirty="0"/>
              <a:t>No Preemption:</a:t>
            </a:r>
            <a:br>
              <a:rPr lang="en-US" sz="1600" dirty="0"/>
            </a:br>
            <a:r>
              <a:rPr lang="en-US" sz="1600" dirty="0"/>
              <a:t>For resolving the deadlock one can simply cancel one of the processes for other to continue. But Operating System doesn’t do so. It allocates the resources to the processors for as much time needed until the task is completed. Hence, there is no temporary reallocation of the resources. It is third condition for deadlock.</a:t>
            </a:r>
          </a:p>
          <a:p>
            <a:r>
              <a:rPr lang="en-US" sz="1600" b="1" dirty="0"/>
              <a:t>Circular Wait:</a:t>
            </a:r>
            <a:br>
              <a:rPr lang="en-US" sz="1600" dirty="0"/>
            </a:br>
            <a:r>
              <a:rPr lang="en-US" sz="1600" dirty="0"/>
              <a:t>When the two people refuses to retreat and wait for each other to retreat, so that they can complete their task, it is called circular wait. It is the last condition for the deadlock to occur.</a:t>
            </a:r>
          </a:p>
          <a:p>
            <a:r>
              <a:rPr lang="en-US" sz="1600" b="1" dirty="0"/>
              <a:t>Note:</a:t>
            </a:r>
            <a:br>
              <a:rPr lang="en-US" sz="1600" dirty="0"/>
            </a:br>
            <a:r>
              <a:rPr lang="en-US" sz="1600" dirty="0"/>
              <a:t>All the 4 conditions are necessary for the deadlock to occur. If any one is prevented or resolved, the deadlock is resolved.</a:t>
            </a:r>
          </a:p>
        </p:txBody>
      </p:sp>
      <p:sp>
        <p:nvSpPr>
          <p:cNvPr id="21508" name="Rectangle 4"/>
          <p:cNvSpPr>
            <a:spLocks/>
          </p:cNvSpPr>
          <p:nvPr/>
        </p:nvSpPr>
        <p:spPr bwMode="auto">
          <a:xfrm>
            <a:off x="914400" y="4572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Conditionals for Resource Deadlocks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19139">
                                            <p:txEl>
                                              <p:pRg st="2" end="2"/>
                                            </p:txEl>
                                          </p:spTgt>
                                        </p:tgtEl>
                                        <p:attrNameLst>
                                          <p:attrName>style.visibility</p:attrName>
                                        </p:attrNameLst>
                                      </p:cBhvr>
                                      <p:to>
                                        <p:strVal val="visible"/>
                                      </p:to>
                                    </p:set>
                                    <p:animEffect transition="in" filter="circle(in)">
                                      <p:cBhvr>
                                        <p:cTn id="7" dur="2000"/>
                                        <p:tgtEl>
                                          <p:spTgt spid="2191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bldLvl="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914400" y="0"/>
            <a:ext cx="8229600" cy="1066800"/>
          </a:xfrm>
        </p:spPr>
        <p:txBody>
          <a:bodyPr/>
          <a:lstStyle/>
          <a:p>
            <a:r>
              <a:rPr lang="en-US" altLang="en-US" sz="4000" b="1">
                <a:latin typeface="Times New Roman" panose="02020603050405020304" pitchFamily="18" charset="0"/>
                <a:cs typeface="Times New Roman" panose="02020603050405020304" pitchFamily="18" charset="0"/>
              </a:rPr>
              <a:t>Introduction to Deadlocks </a:t>
            </a:r>
            <a:br>
              <a:rPr lang="en-US" altLang="en-US" sz="4000" b="1">
                <a:latin typeface="Times New Roman" panose="02020603050405020304" pitchFamily="18" charset="0"/>
                <a:cs typeface="Times New Roman" panose="02020603050405020304" pitchFamily="18" charset="0"/>
              </a:rPr>
            </a:br>
            <a:r>
              <a:rPr lang="en-US" altLang="en-US" sz="40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Deadlock Modeling</a:t>
            </a:r>
            <a:r>
              <a:rPr lang="en-US" altLang="en-US" sz="4000" b="1">
                <a:latin typeface="Times New Roman" panose="02020603050405020304" pitchFamily="18" charset="0"/>
                <a:cs typeface="Times New Roman" panose="02020603050405020304" pitchFamily="18" charset="0"/>
              </a:rPr>
              <a:t> </a:t>
            </a:r>
          </a:p>
        </p:txBody>
      </p:sp>
      <p:sp>
        <p:nvSpPr>
          <p:cNvPr id="13315" name="Rectangle 3"/>
          <p:cNvSpPr>
            <a:spLocks noGrp="1"/>
          </p:cNvSpPr>
          <p:nvPr>
            <p:ph type="body" idx="1"/>
          </p:nvPr>
        </p:nvSpPr>
        <p:spPr>
          <a:xfrm>
            <a:off x="0" y="1066800"/>
            <a:ext cx="7086600" cy="5791200"/>
          </a:xfrm>
        </p:spPr>
        <p:txBody>
          <a:bodyPr/>
          <a:lstStyle/>
          <a:p>
            <a:pPr algn="just">
              <a:lnSpc>
                <a:spcPct val="90000"/>
              </a:lnSpc>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Four conditions for resource deadlocks can be </a:t>
            </a:r>
            <a:r>
              <a:rPr lang="en-US" altLang="en-US" b="1">
                <a:latin typeface="Times New Roman" panose="02020603050405020304" pitchFamily="18" charset="0"/>
                <a:cs typeface="Times New Roman" panose="02020603050405020304" pitchFamily="18" charset="0"/>
              </a:rPr>
              <a:t>modeled using directed graphs </a:t>
            </a:r>
            <a:r>
              <a:rPr lang="en-US" altLang="en-US">
                <a:latin typeface="Times New Roman" panose="02020603050405020304" pitchFamily="18" charset="0"/>
                <a:cs typeface="Times New Roman" panose="02020603050405020304" pitchFamily="18" charset="0"/>
              </a:rPr>
              <a:t>(Holt – 1972)</a:t>
            </a:r>
          </a:p>
          <a:p>
            <a:pPr algn="just">
              <a:lnSpc>
                <a:spcPct val="90000"/>
              </a:lnSpc>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graphs have </a:t>
            </a:r>
            <a:r>
              <a:rPr lang="en-US" altLang="en-US" b="1">
                <a:latin typeface="Times New Roman" panose="02020603050405020304" pitchFamily="18" charset="0"/>
                <a:cs typeface="Times New Roman" panose="02020603050405020304" pitchFamily="18" charset="0"/>
              </a:rPr>
              <a:t>two kinds of nodes</a:t>
            </a:r>
          </a:p>
          <a:p>
            <a:pPr lvl="1" algn="just">
              <a:lnSpc>
                <a:spcPct val="90000"/>
              </a:lnSpc>
            </a:pPr>
            <a:r>
              <a:rPr lang="en-US" altLang="en-US" b="1">
                <a:latin typeface="Times New Roman" panose="02020603050405020304" pitchFamily="18" charset="0"/>
                <a:cs typeface="Times New Roman" panose="02020603050405020304" pitchFamily="18" charset="0"/>
              </a:rPr>
              <a:t>Processes</a:t>
            </a:r>
            <a:r>
              <a:rPr lang="en-US" altLang="en-US">
                <a:latin typeface="Times New Roman" panose="02020603050405020304" pitchFamily="18" charset="0"/>
                <a:cs typeface="Times New Roman" panose="02020603050405020304" pitchFamily="18" charset="0"/>
              </a:rPr>
              <a:t> that are shown as </a:t>
            </a:r>
            <a:r>
              <a:rPr lang="en-US" altLang="en-US" b="1">
                <a:latin typeface="Times New Roman" panose="02020603050405020304" pitchFamily="18" charset="0"/>
                <a:cs typeface="Times New Roman" panose="02020603050405020304" pitchFamily="18" charset="0"/>
              </a:rPr>
              <a:t>circles</a:t>
            </a:r>
          </a:p>
          <a:p>
            <a:pPr lvl="1" algn="just">
              <a:lnSpc>
                <a:spcPct val="90000"/>
              </a:lnSpc>
            </a:pPr>
            <a:r>
              <a:rPr lang="en-US" altLang="en-US" b="1">
                <a:latin typeface="Times New Roman" panose="02020603050405020304" pitchFamily="18" charset="0"/>
                <a:cs typeface="Times New Roman" panose="02020603050405020304" pitchFamily="18" charset="0"/>
              </a:rPr>
              <a:t>Resources</a:t>
            </a:r>
            <a:r>
              <a:rPr lang="en-US" altLang="en-US">
                <a:latin typeface="Times New Roman" panose="02020603050405020304" pitchFamily="18" charset="0"/>
                <a:cs typeface="Times New Roman" panose="02020603050405020304" pitchFamily="18" charset="0"/>
              </a:rPr>
              <a:t> that are shown as </a:t>
            </a:r>
            <a:r>
              <a:rPr lang="en-US" altLang="en-US" b="1">
                <a:latin typeface="Times New Roman" panose="02020603050405020304" pitchFamily="18" charset="0"/>
                <a:cs typeface="Times New Roman" panose="02020603050405020304" pitchFamily="18" charset="0"/>
              </a:rPr>
              <a:t>squares</a:t>
            </a:r>
          </a:p>
          <a:p>
            <a:pPr lvl="1" algn="just">
              <a:lnSpc>
                <a:spcPct val="90000"/>
              </a:lnSpc>
            </a:pPr>
            <a:r>
              <a:rPr lang="en-US" altLang="en-US">
                <a:latin typeface="Times New Roman" panose="02020603050405020304" pitchFamily="18" charset="0"/>
                <a:cs typeface="Times New Roman" panose="02020603050405020304" pitchFamily="18" charset="0"/>
              </a:rPr>
              <a:t>A </a:t>
            </a:r>
            <a:r>
              <a:rPr lang="en-US" altLang="en-US" b="1">
                <a:latin typeface="Times New Roman" panose="02020603050405020304" pitchFamily="18" charset="0"/>
                <a:cs typeface="Times New Roman" panose="02020603050405020304" pitchFamily="18" charset="0"/>
              </a:rPr>
              <a:t>directed arc </a:t>
            </a:r>
            <a:r>
              <a:rPr lang="en-US" altLang="en-US">
                <a:latin typeface="Times New Roman" panose="02020603050405020304" pitchFamily="18" charset="0"/>
                <a:cs typeface="Times New Roman" panose="02020603050405020304" pitchFamily="18" charset="0"/>
              </a:rPr>
              <a:t>from a </a:t>
            </a:r>
            <a:r>
              <a:rPr lang="en-US" altLang="en-US" b="1">
                <a:latin typeface="Times New Roman" panose="02020603050405020304" pitchFamily="18" charset="0"/>
                <a:cs typeface="Times New Roman" panose="02020603050405020304" pitchFamily="18" charset="0"/>
              </a:rPr>
              <a:t>resource to process </a:t>
            </a:r>
          </a:p>
          <a:p>
            <a:pPr lvl="2" algn="just">
              <a:lnSpc>
                <a:spcPct val="90000"/>
              </a:lnSpc>
            </a:pPr>
            <a:r>
              <a:rPr lang="en-US" altLang="en-US">
                <a:latin typeface="Times New Roman" panose="02020603050405020304" pitchFamily="18" charset="0"/>
                <a:cs typeface="Times New Roman" panose="02020603050405020304" pitchFamily="18" charset="0"/>
              </a:rPr>
              <a:t>The process is holding an instance of resource</a:t>
            </a:r>
          </a:p>
          <a:p>
            <a:pPr lvl="1" algn="just">
              <a:lnSpc>
                <a:spcPct val="90000"/>
              </a:lnSpc>
            </a:pPr>
            <a:r>
              <a:rPr lang="en-US" altLang="en-US">
                <a:latin typeface="Times New Roman" panose="02020603050405020304" pitchFamily="18" charset="0"/>
                <a:cs typeface="Times New Roman" panose="02020603050405020304" pitchFamily="18" charset="0"/>
              </a:rPr>
              <a:t>A </a:t>
            </a:r>
            <a:r>
              <a:rPr lang="en-US" altLang="en-US" b="1">
                <a:latin typeface="Times New Roman" panose="02020603050405020304" pitchFamily="18" charset="0"/>
                <a:cs typeface="Times New Roman" panose="02020603050405020304" pitchFamily="18" charset="0"/>
              </a:rPr>
              <a:t>directed arc </a:t>
            </a:r>
            <a:r>
              <a:rPr lang="en-US" altLang="en-US">
                <a:latin typeface="Times New Roman" panose="02020603050405020304" pitchFamily="18" charset="0"/>
                <a:cs typeface="Times New Roman" panose="02020603050405020304" pitchFamily="18" charset="0"/>
              </a:rPr>
              <a:t>from a </a:t>
            </a:r>
            <a:r>
              <a:rPr lang="en-US" altLang="en-US" b="1">
                <a:latin typeface="Times New Roman" panose="02020603050405020304" pitchFamily="18" charset="0"/>
                <a:cs typeface="Times New Roman" panose="02020603050405020304" pitchFamily="18" charset="0"/>
              </a:rPr>
              <a:t>process to resource</a:t>
            </a:r>
          </a:p>
          <a:p>
            <a:pPr lvl="2" algn="just">
              <a:lnSpc>
                <a:spcPct val="90000"/>
              </a:lnSpc>
            </a:pPr>
            <a:r>
              <a:rPr lang="en-US" altLang="en-US">
                <a:latin typeface="Times New Roman" panose="02020603050405020304" pitchFamily="18" charset="0"/>
                <a:cs typeface="Times New Roman" panose="02020603050405020304" pitchFamily="18" charset="0"/>
              </a:rPr>
              <a:t>The process is currently blocked and requests instance of resource</a:t>
            </a:r>
          </a:p>
        </p:txBody>
      </p:sp>
      <p:pic>
        <p:nvPicPr>
          <p:cNvPr id="133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895600"/>
            <a:ext cx="6096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3505200"/>
            <a:ext cx="60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2800" y="2819400"/>
            <a:ext cx="579438"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7200" y="4038600"/>
            <a:ext cx="614363"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8" name="Text Box 4"/>
          <p:cNvSpPr txBox="1">
            <a:spLocks noChangeArrowheads="1"/>
          </p:cNvSpPr>
          <p:nvPr/>
        </p:nvSpPr>
        <p:spPr bwMode="auto">
          <a:xfrm>
            <a:off x="6172200" y="62484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ox(in)">
                                      <p:cBhvr>
                                        <p:cTn id="7" dur="500"/>
                                        <p:tgtEl>
                                          <p:spTgt spid="13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ox(in)">
                                      <p:cBhvr>
                                        <p:cTn id="12" dur="500"/>
                                        <p:tgtEl>
                                          <p:spTgt spid="133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ox(in)">
                                      <p:cBhvr>
                                        <p:cTn id="17" dur="500"/>
                                        <p:tgtEl>
                                          <p:spTgt spid="13315">
                                            <p:txEl>
                                              <p:pRg st="2" end="2"/>
                                            </p:txEl>
                                          </p:spTgt>
                                        </p:tgtEl>
                                      </p:cBhvr>
                                    </p:animEffect>
                                  </p:childTnLst>
                                </p:cTn>
                              </p:par>
                            </p:childTnLst>
                          </p:cTn>
                        </p:par>
                        <p:par>
                          <p:cTn id="18" fill="hold" nodeType="afterGroup">
                            <p:stCondLst>
                              <p:cond delay="500"/>
                            </p:stCondLst>
                            <p:childTnLst>
                              <p:par>
                                <p:cTn id="19" presetID="4" presetClass="entr" presetSubtype="16" fill="hold" nodeType="afterEffect">
                                  <p:stCondLst>
                                    <p:cond delay="0"/>
                                  </p:stCondLst>
                                  <p:childTnLst>
                                    <p:set>
                                      <p:cBhvr>
                                        <p:cTn id="20" dur="1" fill="hold">
                                          <p:stCondLst>
                                            <p:cond delay="0"/>
                                          </p:stCondLst>
                                        </p:cTn>
                                        <p:tgtEl>
                                          <p:spTgt spid="13317"/>
                                        </p:tgtEl>
                                        <p:attrNameLst>
                                          <p:attrName>style.visibility</p:attrName>
                                        </p:attrNameLst>
                                      </p:cBhvr>
                                      <p:to>
                                        <p:strVal val="visible"/>
                                      </p:to>
                                    </p:set>
                                    <p:animEffect transition="in" filter="box(in)">
                                      <p:cBhvr>
                                        <p:cTn id="21" dur="500"/>
                                        <p:tgtEl>
                                          <p:spTgt spid="1331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13315">
                                            <p:txEl>
                                              <p:pRg st="3" end="3"/>
                                            </p:txEl>
                                          </p:spTgt>
                                        </p:tgtEl>
                                        <p:attrNameLst>
                                          <p:attrName>style.visibility</p:attrName>
                                        </p:attrNameLst>
                                      </p:cBhvr>
                                      <p:to>
                                        <p:strVal val="visible"/>
                                      </p:to>
                                    </p:set>
                                    <p:animEffect transition="in" filter="checkerboard(across)">
                                      <p:cBhvr>
                                        <p:cTn id="26" dur="500"/>
                                        <p:tgtEl>
                                          <p:spTgt spid="13315">
                                            <p:txEl>
                                              <p:pRg st="3" end="3"/>
                                            </p:txEl>
                                          </p:spTgt>
                                        </p:tgtEl>
                                      </p:cBhvr>
                                    </p:animEffect>
                                  </p:childTnLst>
                                </p:cTn>
                              </p:par>
                            </p:childTnLst>
                          </p:cTn>
                        </p:par>
                        <p:par>
                          <p:cTn id="27" fill="hold" nodeType="afterGroup">
                            <p:stCondLst>
                              <p:cond delay="500"/>
                            </p:stCondLst>
                            <p:childTnLst>
                              <p:par>
                                <p:cTn id="28" presetID="4" presetClass="entr" presetSubtype="16" fill="hold" nodeType="afterEffect">
                                  <p:stCondLst>
                                    <p:cond delay="0"/>
                                  </p:stCondLst>
                                  <p:childTnLst>
                                    <p:set>
                                      <p:cBhvr>
                                        <p:cTn id="29" dur="1" fill="hold">
                                          <p:stCondLst>
                                            <p:cond delay="0"/>
                                          </p:stCondLst>
                                        </p:cTn>
                                        <p:tgtEl>
                                          <p:spTgt spid="13318"/>
                                        </p:tgtEl>
                                        <p:attrNameLst>
                                          <p:attrName>style.visibility</p:attrName>
                                        </p:attrNameLst>
                                      </p:cBhvr>
                                      <p:to>
                                        <p:strVal val="visible"/>
                                      </p:to>
                                    </p:set>
                                    <p:animEffect transition="in" filter="box(in)">
                                      <p:cBhvr>
                                        <p:cTn id="30" dur="500"/>
                                        <p:tgtEl>
                                          <p:spTgt spid="1331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13315">
                                            <p:txEl>
                                              <p:pRg st="4" end="4"/>
                                            </p:txEl>
                                          </p:spTgt>
                                        </p:tgtEl>
                                        <p:attrNameLst>
                                          <p:attrName>style.visibility</p:attrName>
                                        </p:attrNameLst>
                                      </p:cBhvr>
                                      <p:to>
                                        <p:strVal val="visible"/>
                                      </p:to>
                                    </p:set>
                                    <p:animEffect transition="in" filter="box(in)">
                                      <p:cBhvr>
                                        <p:cTn id="35" dur="500"/>
                                        <p:tgtEl>
                                          <p:spTgt spid="13315">
                                            <p:txEl>
                                              <p:pRg st="4" end="4"/>
                                            </p:txEl>
                                          </p:spTgt>
                                        </p:tgtEl>
                                      </p:cBhvr>
                                    </p:animEffect>
                                  </p:childTnLst>
                                </p:cTn>
                              </p:par>
                              <p:par>
                                <p:cTn id="36" presetID="4" presetClass="entr" presetSubtype="16" fill="hold" nodeType="withEffect">
                                  <p:stCondLst>
                                    <p:cond delay="0"/>
                                  </p:stCondLst>
                                  <p:childTnLst>
                                    <p:set>
                                      <p:cBhvr>
                                        <p:cTn id="37" dur="1" fill="hold">
                                          <p:stCondLst>
                                            <p:cond delay="0"/>
                                          </p:stCondLst>
                                        </p:cTn>
                                        <p:tgtEl>
                                          <p:spTgt spid="13315">
                                            <p:txEl>
                                              <p:pRg st="5" end="5"/>
                                            </p:txEl>
                                          </p:spTgt>
                                        </p:tgtEl>
                                        <p:attrNameLst>
                                          <p:attrName>style.visibility</p:attrName>
                                        </p:attrNameLst>
                                      </p:cBhvr>
                                      <p:to>
                                        <p:strVal val="visible"/>
                                      </p:to>
                                    </p:set>
                                    <p:animEffect transition="in" filter="box(in)">
                                      <p:cBhvr>
                                        <p:cTn id="38" dur="500"/>
                                        <p:tgtEl>
                                          <p:spTgt spid="13315">
                                            <p:txEl>
                                              <p:pRg st="5" end="5"/>
                                            </p:txEl>
                                          </p:spTgt>
                                        </p:tgtEl>
                                      </p:cBhvr>
                                    </p:animEffect>
                                  </p:childTnLst>
                                </p:cTn>
                              </p:par>
                            </p:childTnLst>
                          </p:cTn>
                        </p:par>
                        <p:par>
                          <p:cTn id="39" fill="hold" nodeType="afterGroup">
                            <p:stCondLst>
                              <p:cond delay="500"/>
                            </p:stCondLst>
                            <p:childTnLst>
                              <p:par>
                                <p:cTn id="40" presetID="5" presetClass="entr" presetSubtype="10" fill="hold" nodeType="afterEffect">
                                  <p:stCondLst>
                                    <p:cond delay="0"/>
                                  </p:stCondLst>
                                  <p:childTnLst>
                                    <p:set>
                                      <p:cBhvr>
                                        <p:cTn id="41" dur="1" fill="hold">
                                          <p:stCondLst>
                                            <p:cond delay="0"/>
                                          </p:stCondLst>
                                        </p:cTn>
                                        <p:tgtEl>
                                          <p:spTgt spid="13319"/>
                                        </p:tgtEl>
                                        <p:attrNameLst>
                                          <p:attrName>style.visibility</p:attrName>
                                        </p:attrNameLst>
                                      </p:cBhvr>
                                      <p:to>
                                        <p:strVal val="visible"/>
                                      </p:to>
                                    </p:set>
                                    <p:animEffect transition="in" filter="checkerboard(across)">
                                      <p:cBhvr>
                                        <p:cTn id="42" dur="500"/>
                                        <p:tgtEl>
                                          <p:spTgt spid="1331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13315">
                                            <p:txEl>
                                              <p:pRg st="6" end="6"/>
                                            </p:txEl>
                                          </p:spTgt>
                                        </p:tgtEl>
                                        <p:attrNameLst>
                                          <p:attrName>style.visibility</p:attrName>
                                        </p:attrNameLst>
                                      </p:cBhvr>
                                      <p:to>
                                        <p:strVal val="visible"/>
                                      </p:to>
                                    </p:set>
                                    <p:animEffect transition="in" filter="box(in)">
                                      <p:cBhvr>
                                        <p:cTn id="47" dur="500"/>
                                        <p:tgtEl>
                                          <p:spTgt spid="13315">
                                            <p:txEl>
                                              <p:pRg st="6" end="6"/>
                                            </p:txEl>
                                          </p:spTgt>
                                        </p:tgtEl>
                                      </p:cBhvr>
                                    </p:animEffect>
                                  </p:childTnLst>
                                </p:cTn>
                              </p:par>
                              <p:par>
                                <p:cTn id="48" presetID="4" presetClass="entr" presetSubtype="16" fill="hold" nodeType="withEffect">
                                  <p:stCondLst>
                                    <p:cond delay="0"/>
                                  </p:stCondLst>
                                  <p:childTnLst>
                                    <p:set>
                                      <p:cBhvr>
                                        <p:cTn id="49" dur="1" fill="hold">
                                          <p:stCondLst>
                                            <p:cond delay="0"/>
                                          </p:stCondLst>
                                        </p:cTn>
                                        <p:tgtEl>
                                          <p:spTgt spid="13315">
                                            <p:txEl>
                                              <p:pRg st="7" end="7"/>
                                            </p:txEl>
                                          </p:spTgt>
                                        </p:tgtEl>
                                        <p:attrNameLst>
                                          <p:attrName>style.visibility</p:attrName>
                                        </p:attrNameLst>
                                      </p:cBhvr>
                                      <p:to>
                                        <p:strVal val="visible"/>
                                      </p:to>
                                    </p:set>
                                    <p:animEffect transition="in" filter="box(in)">
                                      <p:cBhvr>
                                        <p:cTn id="50" dur="500"/>
                                        <p:tgtEl>
                                          <p:spTgt spid="13315">
                                            <p:txEl>
                                              <p:pRg st="7" end="7"/>
                                            </p:txEl>
                                          </p:spTgt>
                                        </p:tgtEl>
                                      </p:cBhvr>
                                    </p:animEffect>
                                  </p:childTnLst>
                                </p:cTn>
                              </p:par>
                            </p:childTnLst>
                          </p:cTn>
                        </p:par>
                        <p:par>
                          <p:cTn id="51" fill="hold" nodeType="afterGroup">
                            <p:stCondLst>
                              <p:cond delay="500"/>
                            </p:stCondLst>
                            <p:childTnLst>
                              <p:par>
                                <p:cTn id="52" presetID="4" presetClass="entr" presetSubtype="16" fill="hold" nodeType="afterEffect">
                                  <p:stCondLst>
                                    <p:cond delay="0"/>
                                  </p:stCondLst>
                                  <p:childTnLst>
                                    <p:set>
                                      <p:cBhvr>
                                        <p:cTn id="53" dur="1" fill="hold">
                                          <p:stCondLst>
                                            <p:cond delay="0"/>
                                          </p:stCondLst>
                                        </p:cTn>
                                        <p:tgtEl>
                                          <p:spTgt spid="13320"/>
                                        </p:tgtEl>
                                        <p:attrNameLst>
                                          <p:attrName>style.visibility</p:attrName>
                                        </p:attrNameLst>
                                      </p:cBhvr>
                                      <p:to>
                                        <p:strVal val="visible"/>
                                      </p:to>
                                    </p:set>
                                    <p:animEffect transition="in" filter="box(in)">
                                      <p:cBhvr>
                                        <p:cTn id="54" dur="500"/>
                                        <p:tgtEl>
                                          <p:spTgt spid="13320"/>
                                        </p:tgtEl>
                                      </p:cBhvr>
                                    </p:animEffect>
                                  </p:childTnLst>
                                </p:cTn>
                              </p:par>
                              <p:par>
                                <p:cTn id="55" presetID="4" presetClass="entr" presetSubtype="16" fill="hold" grpId="0" nodeType="withEffect">
                                  <p:stCondLst>
                                    <p:cond delay="0"/>
                                  </p:stCondLst>
                                  <p:childTnLst>
                                    <p:set>
                                      <p:cBhvr>
                                        <p:cTn id="56" dur="1" fill="hold">
                                          <p:stCondLst>
                                            <p:cond delay="0"/>
                                          </p:stCondLst>
                                        </p:cTn>
                                        <p:tgtEl>
                                          <p:spTgt spid="151558"/>
                                        </p:tgtEl>
                                        <p:attrNameLst>
                                          <p:attrName>style.visibility</p:attrName>
                                        </p:attrNameLst>
                                      </p:cBhvr>
                                      <p:to>
                                        <p:strVal val="visible"/>
                                      </p:to>
                                    </p:set>
                                    <p:animEffect transition="in" filter="box(in)">
                                      <p:cBhvr>
                                        <p:cTn id="57" dur="500"/>
                                        <p:tgtEl>
                                          <p:spTgt spid="151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idx="4294967295"/>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Introduction to Deadlocks</a:t>
            </a:r>
          </a:p>
        </p:txBody>
      </p:sp>
      <p:sp>
        <p:nvSpPr>
          <p:cNvPr id="23555" name="Rectangle 4"/>
          <p:cNvSpPr>
            <a:spLocks/>
          </p:cNvSpPr>
          <p:nvPr/>
        </p:nvSpPr>
        <p:spPr bwMode="auto">
          <a:xfrm>
            <a:off x="914400" y="5334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Deadlock Modeling – Examples </a:t>
            </a:r>
          </a:p>
        </p:txBody>
      </p:sp>
      <p:sp>
        <p:nvSpPr>
          <p:cNvPr id="151558" name="Text Box 4"/>
          <p:cNvSpPr txBox="1">
            <a:spLocks noChangeArrowheads="1"/>
          </p:cNvSpPr>
          <p:nvPr/>
        </p:nvSpPr>
        <p:spPr bwMode="auto">
          <a:xfrm>
            <a:off x="4038600" y="6172200"/>
            <a:ext cx="1762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6-3</a:t>
            </a:r>
          </a:p>
        </p:txBody>
      </p:sp>
      <p:pic>
        <p:nvPicPr>
          <p:cNvPr id="2355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371600"/>
            <a:ext cx="3835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1558"/>
                                        </p:tgtEl>
                                        <p:attrNameLst>
                                          <p:attrName>style.visibility</p:attrName>
                                        </p:attrNameLst>
                                      </p:cBhvr>
                                      <p:to>
                                        <p:strVal val="visible"/>
                                      </p:to>
                                    </p:set>
                                    <p:animEffect transition="in" filter="box(in)">
                                      <p:cBhvr>
                                        <p:cTn id="7" dur="500"/>
                                        <p:tgtEl>
                                          <p:spTgt spid="151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Introduction to Deadlocks </a:t>
            </a:r>
            <a:br>
              <a:rPr lang="en-US" altLang="en-US" sz="4000" b="1">
                <a:latin typeface="Times New Roman" panose="02020603050405020304" pitchFamily="18" charset="0"/>
                <a:cs typeface="Times New Roman" panose="02020603050405020304" pitchFamily="18" charset="0"/>
              </a:rPr>
            </a:br>
            <a:r>
              <a:rPr lang="en-US" altLang="en-US" sz="40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Deadlock Modeling – Examples </a:t>
            </a:r>
          </a:p>
        </p:txBody>
      </p:sp>
      <p:sp>
        <p:nvSpPr>
          <p:cNvPr id="153606" name="Text Box 4"/>
          <p:cNvSpPr txBox="1">
            <a:spLocks noChangeArrowheads="1"/>
          </p:cNvSpPr>
          <p:nvPr/>
        </p:nvSpPr>
        <p:spPr bwMode="auto">
          <a:xfrm>
            <a:off x="4267200" y="63246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6-4.</a:t>
            </a:r>
          </a:p>
        </p:txBody>
      </p:sp>
      <p:grpSp>
        <p:nvGrpSpPr>
          <p:cNvPr id="24580" name="Group 8"/>
          <p:cNvGrpSpPr>
            <a:grpSpLocks/>
          </p:cNvGrpSpPr>
          <p:nvPr/>
        </p:nvGrpSpPr>
        <p:grpSpPr bwMode="auto">
          <a:xfrm>
            <a:off x="762000" y="1219200"/>
            <a:ext cx="7808913" cy="5173663"/>
            <a:chOff x="480" y="768"/>
            <a:chExt cx="4919" cy="3259"/>
          </a:xfrm>
        </p:grpSpPr>
        <p:pic>
          <p:nvPicPr>
            <p:cNvPr id="245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768"/>
              <a:ext cx="4919" cy="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8" y="2880"/>
              <a:ext cx="3504" cy="1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box(in)">
                                      <p:cBhvr>
                                        <p:cTn id="7" dur="500"/>
                                        <p:tgtEl>
                                          <p:spTgt spid="153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Introduction to Deadlocks </a:t>
            </a:r>
            <a:br>
              <a:rPr lang="en-US" altLang="en-US" sz="4000" b="1">
                <a:latin typeface="Times New Roman" panose="02020603050405020304" pitchFamily="18" charset="0"/>
                <a:cs typeface="Times New Roman" panose="02020603050405020304" pitchFamily="18" charset="0"/>
              </a:rPr>
            </a:br>
            <a:r>
              <a:rPr lang="en-US" altLang="en-US" sz="40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Deadlock Modeling – Examples</a:t>
            </a:r>
          </a:p>
        </p:txBody>
      </p:sp>
      <p:sp>
        <p:nvSpPr>
          <p:cNvPr id="153606" name="Text Box 4"/>
          <p:cNvSpPr txBox="1">
            <a:spLocks noChangeArrowheads="1"/>
          </p:cNvSpPr>
          <p:nvPr/>
        </p:nvSpPr>
        <p:spPr bwMode="auto">
          <a:xfrm>
            <a:off x="3352800" y="6324600"/>
            <a:ext cx="1762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6-4</a:t>
            </a:r>
          </a:p>
        </p:txBody>
      </p:sp>
      <p:pic>
        <p:nvPicPr>
          <p:cNvPr id="2560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067675"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box(in)">
                                      <p:cBhvr>
                                        <p:cTn id="7" dur="500"/>
                                        <p:tgtEl>
                                          <p:spTgt spid="153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Introduction to Deadlocks</a:t>
            </a:r>
          </a:p>
        </p:txBody>
      </p:sp>
      <p:sp>
        <p:nvSpPr>
          <p:cNvPr id="223235" name="Rectangle 3"/>
          <p:cNvSpPr>
            <a:spLocks noGrp="1"/>
          </p:cNvSpPr>
          <p:nvPr>
            <p:ph type="body" idx="1"/>
          </p:nvPr>
        </p:nvSpPr>
        <p:spPr>
          <a:xfrm>
            <a:off x="228600" y="1066800"/>
            <a:ext cx="8915400" cy="5791200"/>
          </a:xfrm>
        </p:spPr>
        <p:txBody>
          <a:bodyPr/>
          <a:lstStyle/>
          <a:p>
            <a:pPr marL="176213" indent="-176213" algn="just" eaLnBrk="1" hangingPunct="1">
              <a:lnSpc>
                <a:spcPct val="90000"/>
              </a:lnSpc>
              <a:buClrTx/>
              <a:buSz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Resource graphs </a:t>
            </a:r>
            <a:r>
              <a:rPr lang="en-US" altLang="en-US" b="1" dirty="0">
                <a:latin typeface="Times New Roman" panose="02020603050405020304" pitchFamily="18" charset="0"/>
                <a:cs typeface="Times New Roman" panose="02020603050405020304" pitchFamily="18" charset="0"/>
              </a:rPr>
              <a:t>are a tool </a:t>
            </a:r>
            <a:r>
              <a:rPr lang="en-US" altLang="en-US" dirty="0">
                <a:latin typeface="Times New Roman" panose="02020603050405020304" pitchFamily="18" charset="0"/>
                <a:cs typeface="Times New Roman" panose="02020603050405020304" pitchFamily="18" charset="0"/>
              </a:rPr>
              <a:t>that </a:t>
            </a:r>
          </a:p>
          <a:p>
            <a:pPr marL="530225" lvl="1" indent="-174625" algn="just" eaLnBrk="1" hangingPunct="1">
              <a:lnSpc>
                <a:spcPct val="90000"/>
              </a:lnSpc>
            </a:pPr>
            <a:r>
              <a:rPr lang="en-US" altLang="en-US" b="1" dirty="0">
                <a:latin typeface="Times New Roman" panose="02020603050405020304" pitchFamily="18" charset="0"/>
                <a:cs typeface="Times New Roman" panose="02020603050405020304" pitchFamily="18" charset="0"/>
              </a:rPr>
              <a:t>Let</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see</a:t>
            </a:r>
            <a:r>
              <a:rPr lang="en-US" altLang="en-US" dirty="0">
                <a:latin typeface="Times New Roman" panose="02020603050405020304" pitchFamily="18" charset="0"/>
                <a:cs typeface="Times New Roman" panose="02020603050405020304" pitchFamily="18" charset="0"/>
              </a:rPr>
              <a:t> of a </a:t>
            </a:r>
            <a:r>
              <a:rPr lang="en-US" altLang="en-US" b="1" dirty="0">
                <a:latin typeface="Times New Roman" panose="02020603050405020304" pitchFamily="18" charset="0"/>
                <a:cs typeface="Times New Roman" panose="02020603050405020304" pitchFamily="18" charset="0"/>
              </a:rPr>
              <a:t>given request/ release request sequence </a:t>
            </a:r>
            <a:r>
              <a:rPr lang="en-US" altLang="en-US" dirty="0">
                <a:latin typeface="Times New Roman" panose="02020603050405020304" pitchFamily="18" charset="0"/>
                <a:cs typeface="Times New Roman" panose="02020603050405020304" pitchFamily="18" charset="0"/>
              </a:rPr>
              <a:t>leads to deadlock</a:t>
            </a:r>
          </a:p>
          <a:p>
            <a:pPr marL="530225" lvl="1" indent="-174625" algn="just" eaLnBrk="1" hangingPunct="1">
              <a:lnSpc>
                <a:spcPct val="90000"/>
              </a:lnSpc>
            </a:pPr>
            <a:r>
              <a:rPr lang="en-US" altLang="en-US" b="1" dirty="0">
                <a:latin typeface="Times New Roman" panose="02020603050405020304" pitchFamily="18" charset="0"/>
                <a:cs typeface="Times New Roman" panose="02020603050405020304" pitchFamily="18" charset="0"/>
              </a:rPr>
              <a:t>Help carrying out </a:t>
            </a:r>
            <a:r>
              <a:rPr lang="en-US" altLang="en-US" dirty="0">
                <a:latin typeface="Times New Roman" panose="02020603050405020304" pitchFamily="18" charset="0"/>
                <a:cs typeface="Times New Roman" panose="02020603050405020304" pitchFamily="18" charset="0"/>
              </a:rPr>
              <a:t>the </a:t>
            </a:r>
            <a:r>
              <a:rPr lang="en-US" altLang="en-US" b="1" dirty="0">
                <a:latin typeface="Times New Roman" panose="02020603050405020304" pitchFamily="18" charset="0"/>
                <a:cs typeface="Times New Roman" panose="02020603050405020304" pitchFamily="18" charset="0"/>
              </a:rPr>
              <a:t>requests and releases step by step</a:t>
            </a:r>
            <a:r>
              <a:rPr lang="en-US" altLang="en-US" dirty="0">
                <a:latin typeface="Times New Roman" panose="02020603050405020304" pitchFamily="18" charset="0"/>
                <a:cs typeface="Times New Roman" panose="02020603050405020304" pitchFamily="18" charset="0"/>
              </a:rPr>
              <a:t>, and </a:t>
            </a:r>
            <a:r>
              <a:rPr lang="en-US" altLang="en-US" b="1" dirty="0">
                <a:latin typeface="Times New Roman" panose="02020603050405020304" pitchFamily="18" charset="0"/>
                <a:cs typeface="Times New Roman" panose="02020603050405020304" pitchFamily="18" charset="0"/>
              </a:rPr>
              <a:t>after</a:t>
            </a:r>
            <a:r>
              <a:rPr lang="en-US" altLang="en-US" dirty="0">
                <a:latin typeface="Times New Roman" panose="02020603050405020304" pitchFamily="18" charset="0"/>
                <a:cs typeface="Times New Roman" panose="02020603050405020304" pitchFamily="18" charset="0"/>
              </a:rPr>
              <a:t> every </a:t>
            </a:r>
            <a:r>
              <a:rPr lang="en-US" altLang="en-US" b="1" dirty="0">
                <a:latin typeface="Times New Roman" panose="02020603050405020304" pitchFamily="18" charset="0"/>
                <a:cs typeface="Times New Roman" panose="02020603050405020304" pitchFamily="18" charset="0"/>
              </a:rPr>
              <a:t>step</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check the graph to </a:t>
            </a:r>
            <a:r>
              <a:rPr lang="en-US" altLang="en-US" dirty="0">
                <a:latin typeface="Times New Roman" panose="02020603050405020304" pitchFamily="18" charset="0"/>
                <a:cs typeface="Times New Roman" panose="02020603050405020304" pitchFamily="18" charset="0"/>
              </a:rPr>
              <a:t>see if it contains any cycles to </a:t>
            </a:r>
            <a:r>
              <a:rPr lang="en-US" altLang="en-US" b="1" dirty="0">
                <a:latin typeface="Times New Roman" panose="02020603050405020304" pitchFamily="18" charset="0"/>
                <a:cs typeface="Times New Roman" panose="02020603050405020304" pitchFamily="18" charset="0"/>
              </a:rPr>
              <a:t>check deadlock or not</a:t>
            </a:r>
          </a:p>
          <a:p>
            <a:pPr marL="530225" lvl="1" indent="-174625" algn="just" eaLnBrk="1" hangingPunct="1">
              <a:lnSpc>
                <a:spcPct val="90000"/>
              </a:lnSpc>
            </a:pPr>
            <a:r>
              <a:rPr lang="en-US" altLang="en-US" dirty="0">
                <a:latin typeface="Times New Roman" panose="02020603050405020304" pitchFamily="18" charset="0"/>
                <a:cs typeface="Times New Roman" panose="02020603050405020304" pitchFamily="18" charset="0"/>
              </a:rPr>
              <a:t>Can </a:t>
            </a:r>
            <a:r>
              <a:rPr lang="en-US" altLang="en-US" b="1" dirty="0">
                <a:latin typeface="Times New Roman" panose="02020603050405020304" pitchFamily="18" charset="0"/>
                <a:cs typeface="Times New Roman" panose="02020603050405020304" pitchFamily="18" charset="0"/>
              </a:rPr>
              <a:t>generalized to handle either single resource or multiple resource</a:t>
            </a:r>
          </a:p>
          <a:p>
            <a:pPr marL="176213" indent="-176213" algn="just" eaLnBrk="1" hangingPunct="1">
              <a:lnSpc>
                <a:spcPct val="90000"/>
              </a:lnSpc>
              <a:buClrTx/>
              <a:buSzTx/>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Basic facts</a:t>
            </a:r>
          </a:p>
          <a:p>
            <a:pPr marL="530225" lvl="1" indent="-174625" algn="just" eaLnBrk="1" hangingPunct="1">
              <a:lnSpc>
                <a:spcPct val="90000"/>
              </a:lnSpc>
            </a:pPr>
            <a:r>
              <a:rPr lang="en-US" altLang="en-US" dirty="0">
                <a:latin typeface="Times New Roman" panose="02020603050405020304" pitchFamily="18" charset="0"/>
                <a:cs typeface="Times New Roman" panose="02020603050405020304" pitchFamily="18" charset="0"/>
              </a:rPr>
              <a:t>If graph contains </a:t>
            </a:r>
            <a:r>
              <a:rPr lang="en-US" altLang="en-US" b="1" dirty="0">
                <a:latin typeface="Times New Roman" panose="02020603050405020304" pitchFamily="18" charset="0"/>
                <a:cs typeface="Times New Roman" panose="02020603050405020304" pitchFamily="18" charset="0"/>
              </a:rPr>
              <a:t>no cycles </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no deadlock</a:t>
            </a:r>
          </a:p>
          <a:p>
            <a:pPr marL="530225" lvl="1" indent="-174625">
              <a:lnSpc>
                <a:spcPct val="90000"/>
              </a:lnSpc>
            </a:pPr>
            <a:r>
              <a:rPr lang="en-US" altLang="en-US" dirty="0">
                <a:latin typeface="Times New Roman" panose="02020603050405020304" pitchFamily="18" charset="0"/>
                <a:cs typeface="Times New Roman" panose="02020603050405020304" pitchFamily="18" charset="0"/>
              </a:rPr>
              <a:t>If graph contains </a:t>
            </a:r>
            <a:r>
              <a:rPr lang="en-US" altLang="en-US" b="1" dirty="0">
                <a:latin typeface="Times New Roman" panose="02020603050405020304" pitchFamily="18" charset="0"/>
                <a:cs typeface="Times New Roman" panose="02020603050405020304" pitchFamily="18" charset="0"/>
              </a:rPr>
              <a:t>a cycle</a:t>
            </a:r>
          </a:p>
          <a:p>
            <a:pPr lvl="2">
              <a:lnSpc>
                <a:spcPct val="90000"/>
              </a:lnSpc>
            </a:pPr>
            <a:r>
              <a:rPr lang="en-US" altLang="en-US" dirty="0">
                <a:latin typeface="Times New Roman" panose="02020603050405020304" pitchFamily="18" charset="0"/>
                <a:cs typeface="Times New Roman" panose="02020603050405020304" pitchFamily="18" charset="0"/>
              </a:rPr>
              <a:t>If only </a:t>
            </a:r>
            <a:r>
              <a:rPr lang="en-US" altLang="en-US" b="1" dirty="0">
                <a:latin typeface="Times New Roman" panose="02020603050405020304" pitchFamily="18" charset="0"/>
                <a:cs typeface="Times New Roman" panose="02020603050405020304" pitchFamily="18" charset="0"/>
              </a:rPr>
              <a:t>one instance </a:t>
            </a:r>
            <a:r>
              <a:rPr lang="en-US" altLang="en-US" dirty="0">
                <a:latin typeface="Times New Roman" panose="02020603050405020304" pitchFamily="18" charset="0"/>
                <a:cs typeface="Times New Roman" panose="02020603050405020304" pitchFamily="18" charset="0"/>
              </a:rPr>
              <a:t>per resource type, then </a:t>
            </a:r>
            <a:r>
              <a:rPr lang="en-US" altLang="en-US" b="1" dirty="0">
                <a:latin typeface="Times New Roman" panose="02020603050405020304" pitchFamily="18" charset="0"/>
                <a:cs typeface="Times New Roman" panose="02020603050405020304" pitchFamily="18" charset="0"/>
              </a:rPr>
              <a:t>deadlock</a:t>
            </a:r>
          </a:p>
          <a:p>
            <a:pPr lvl="2">
              <a:lnSpc>
                <a:spcPct val="90000"/>
              </a:lnSpc>
            </a:pPr>
            <a:r>
              <a:rPr lang="en-US" altLang="en-US" dirty="0">
                <a:latin typeface="Times New Roman" panose="02020603050405020304" pitchFamily="18" charset="0"/>
                <a:cs typeface="Times New Roman" panose="02020603050405020304" pitchFamily="18" charset="0"/>
              </a:rPr>
              <a:t>If </a:t>
            </a:r>
            <a:r>
              <a:rPr lang="en-US" altLang="en-US" b="1" dirty="0">
                <a:latin typeface="Times New Roman" panose="02020603050405020304" pitchFamily="18" charset="0"/>
                <a:cs typeface="Times New Roman" panose="02020603050405020304" pitchFamily="18" charset="0"/>
              </a:rPr>
              <a:t>several instances </a:t>
            </a:r>
            <a:r>
              <a:rPr lang="en-US" altLang="en-US" dirty="0">
                <a:latin typeface="Times New Roman" panose="02020603050405020304" pitchFamily="18" charset="0"/>
                <a:cs typeface="Times New Roman" panose="02020603050405020304" pitchFamily="18" charset="0"/>
              </a:rPr>
              <a:t>per resource type, possibility of deadlock</a:t>
            </a:r>
          </a:p>
        </p:txBody>
      </p:sp>
      <p:sp>
        <p:nvSpPr>
          <p:cNvPr id="26628" name="Rectangle 4"/>
          <p:cNvSpPr>
            <a:spLocks/>
          </p:cNvSpPr>
          <p:nvPr/>
        </p:nvSpPr>
        <p:spPr bwMode="auto">
          <a:xfrm>
            <a:off x="914400" y="4572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Deadlock Modeling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3235">
                                            <p:txEl>
                                              <p:pRg st="1" end="1"/>
                                            </p:txEl>
                                          </p:spTgt>
                                        </p:tgtEl>
                                        <p:attrNameLst>
                                          <p:attrName>style.visibility</p:attrName>
                                        </p:attrNameLst>
                                      </p:cBhvr>
                                      <p:to>
                                        <p:strVal val="visible"/>
                                      </p:to>
                                    </p:set>
                                    <p:animEffect transition="in" filter="box(in)">
                                      <p:cBhvr>
                                        <p:cTn id="7" dur="500"/>
                                        <p:tgtEl>
                                          <p:spTgt spid="2232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23235">
                                            <p:txEl>
                                              <p:pRg st="2" end="2"/>
                                            </p:txEl>
                                          </p:spTgt>
                                        </p:tgtEl>
                                        <p:attrNameLst>
                                          <p:attrName>style.visibility</p:attrName>
                                        </p:attrNameLst>
                                      </p:cBhvr>
                                      <p:to>
                                        <p:strVal val="visible"/>
                                      </p:to>
                                    </p:set>
                                    <p:animEffect transition="in" filter="box(in)">
                                      <p:cBhvr>
                                        <p:cTn id="12" dur="500"/>
                                        <p:tgtEl>
                                          <p:spTgt spid="2232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23235">
                                            <p:txEl>
                                              <p:pRg st="3" end="3"/>
                                            </p:txEl>
                                          </p:spTgt>
                                        </p:tgtEl>
                                        <p:attrNameLst>
                                          <p:attrName>style.visibility</p:attrName>
                                        </p:attrNameLst>
                                      </p:cBhvr>
                                      <p:to>
                                        <p:strVal val="visible"/>
                                      </p:to>
                                    </p:set>
                                    <p:animEffect transition="in" filter="box(in)">
                                      <p:cBhvr>
                                        <p:cTn id="17" dur="500"/>
                                        <p:tgtEl>
                                          <p:spTgt spid="22323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23235">
                                            <p:txEl>
                                              <p:pRg st="4" end="4"/>
                                            </p:txEl>
                                          </p:spTgt>
                                        </p:tgtEl>
                                        <p:attrNameLst>
                                          <p:attrName>style.visibility</p:attrName>
                                        </p:attrNameLst>
                                      </p:cBhvr>
                                      <p:to>
                                        <p:strVal val="visible"/>
                                      </p:to>
                                    </p:set>
                                    <p:animEffect transition="in" filter="box(in)">
                                      <p:cBhvr>
                                        <p:cTn id="22" dur="500"/>
                                        <p:tgtEl>
                                          <p:spTgt spid="22323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23235">
                                            <p:txEl>
                                              <p:pRg st="5" end="5"/>
                                            </p:txEl>
                                          </p:spTgt>
                                        </p:tgtEl>
                                        <p:attrNameLst>
                                          <p:attrName>style.visibility</p:attrName>
                                        </p:attrNameLst>
                                      </p:cBhvr>
                                      <p:to>
                                        <p:strVal val="visible"/>
                                      </p:to>
                                    </p:set>
                                    <p:animEffect transition="in" filter="box(in)">
                                      <p:cBhvr>
                                        <p:cTn id="27" dur="500"/>
                                        <p:tgtEl>
                                          <p:spTgt spid="22323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23235">
                                            <p:txEl>
                                              <p:pRg st="6" end="6"/>
                                            </p:txEl>
                                          </p:spTgt>
                                        </p:tgtEl>
                                        <p:attrNameLst>
                                          <p:attrName>style.visibility</p:attrName>
                                        </p:attrNameLst>
                                      </p:cBhvr>
                                      <p:to>
                                        <p:strVal val="visible"/>
                                      </p:to>
                                    </p:set>
                                    <p:animEffect transition="in" filter="box(in)">
                                      <p:cBhvr>
                                        <p:cTn id="32" dur="500"/>
                                        <p:tgtEl>
                                          <p:spTgt spid="22323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23235">
                                            <p:txEl>
                                              <p:pRg st="7" end="7"/>
                                            </p:txEl>
                                          </p:spTgt>
                                        </p:tgtEl>
                                        <p:attrNameLst>
                                          <p:attrName>style.visibility</p:attrName>
                                        </p:attrNameLst>
                                      </p:cBhvr>
                                      <p:to>
                                        <p:strVal val="visible"/>
                                      </p:to>
                                    </p:set>
                                    <p:animEffect transition="in" filter="box(in)">
                                      <p:cBhvr>
                                        <p:cTn id="37" dur="500"/>
                                        <p:tgtEl>
                                          <p:spTgt spid="22323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223235">
                                            <p:txEl>
                                              <p:pRg st="8" end="8"/>
                                            </p:txEl>
                                          </p:spTgt>
                                        </p:tgtEl>
                                        <p:attrNameLst>
                                          <p:attrName>style.visibility</p:attrName>
                                        </p:attrNameLst>
                                      </p:cBhvr>
                                      <p:to>
                                        <p:strVal val="visible"/>
                                      </p:to>
                                    </p:set>
                                    <p:animEffect transition="in" filter="box(in)">
                                      <p:cBhvr>
                                        <p:cTn id="42" dur="500"/>
                                        <p:tgtEl>
                                          <p:spTgt spid="22323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Introduction to Deadlocks </a:t>
            </a:r>
            <a:br>
              <a:rPr lang="en-US" altLang="en-US" sz="4000" b="1">
                <a:latin typeface="Times New Roman" panose="02020603050405020304" pitchFamily="18" charset="0"/>
                <a:cs typeface="Times New Roman" panose="02020603050405020304" pitchFamily="18" charset="0"/>
              </a:rPr>
            </a:br>
            <a:r>
              <a:rPr lang="en-US" altLang="en-US" sz="40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Deadlock Modeling</a:t>
            </a:r>
          </a:p>
        </p:txBody>
      </p:sp>
      <p:sp>
        <p:nvSpPr>
          <p:cNvPr id="27651" name="Rectangle 3"/>
          <p:cNvSpPr>
            <a:spLocks noGrp="1"/>
          </p:cNvSpPr>
          <p:nvPr>
            <p:ph type="body" idx="1"/>
          </p:nvPr>
        </p:nvSpPr>
        <p:spPr>
          <a:xfrm>
            <a:off x="304800" y="1143000"/>
            <a:ext cx="8839200" cy="5486400"/>
          </a:xfrm>
        </p:spPr>
        <p:txBody>
          <a:bodyPr/>
          <a:lstStyle/>
          <a:p>
            <a:pPr marL="274638" indent="-274638" algn="just">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Strategies</a:t>
            </a:r>
            <a:r>
              <a:rPr lang="en-US" altLang="en-US">
                <a:latin typeface="Times New Roman" panose="02020603050405020304" pitchFamily="18" charset="0"/>
                <a:cs typeface="Times New Roman" panose="02020603050405020304" pitchFamily="18" charset="0"/>
              </a:rPr>
              <a:t> for dealing with deadlocks</a:t>
            </a:r>
            <a:endParaRPr lang="en-US" altLang="en-US" sz="2800">
              <a:latin typeface="Times New Roman" panose="02020603050405020304" pitchFamily="18" charset="0"/>
              <a:cs typeface="Times New Roman" panose="02020603050405020304" pitchFamily="18" charset="0"/>
            </a:endParaRPr>
          </a:p>
          <a:p>
            <a:pPr marL="808038" lvl="1" indent="-354013" algn="just"/>
            <a:r>
              <a:rPr lang="en-US" altLang="en-US" b="1">
                <a:latin typeface="Times New Roman" panose="02020603050405020304" pitchFamily="18" charset="0"/>
                <a:cs typeface="Times New Roman" panose="02020603050405020304" pitchFamily="18" charset="0"/>
              </a:rPr>
              <a:t>Just ignore the problem</a:t>
            </a:r>
          </a:p>
          <a:p>
            <a:pPr marL="1638300" lvl="2" indent="-381000" algn="just"/>
            <a:r>
              <a:rPr lang="en-US" altLang="en-US">
                <a:latin typeface="Times New Roman" panose="02020603050405020304" pitchFamily="18" charset="0"/>
                <a:cs typeface="Times New Roman" panose="02020603050405020304" pitchFamily="18" charset="0"/>
              </a:rPr>
              <a:t>Maybe if you ignore it, it will ignore you</a:t>
            </a:r>
          </a:p>
          <a:p>
            <a:pPr marL="808038" lvl="1" indent="-354013" algn="just"/>
            <a:r>
              <a:rPr lang="en-US" altLang="en-US" b="1">
                <a:latin typeface="Times New Roman" panose="02020603050405020304" pitchFamily="18" charset="0"/>
                <a:cs typeface="Times New Roman" panose="02020603050405020304" pitchFamily="18" charset="0"/>
              </a:rPr>
              <a:t>Detection and recovery. </a:t>
            </a:r>
          </a:p>
          <a:p>
            <a:pPr marL="1638300" lvl="2" indent="-381000" algn="just"/>
            <a:r>
              <a:rPr lang="en-US" altLang="en-US">
                <a:latin typeface="Times New Roman" panose="02020603050405020304" pitchFamily="18" charset="0"/>
                <a:cs typeface="Times New Roman" panose="02020603050405020304" pitchFamily="18" charset="0"/>
              </a:rPr>
              <a:t>Let deadlocks occur, detect them, take action.</a:t>
            </a:r>
          </a:p>
          <a:p>
            <a:pPr marL="808038" lvl="1" indent="-354013" algn="just"/>
            <a:r>
              <a:rPr lang="en-US" altLang="en-US" b="1">
                <a:latin typeface="Times New Roman" panose="02020603050405020304" pitchFamily="18" charset="0"/>
                <a:cs typeface="Times New Roman" panose="02020603050405020304" pitchFamily="18" charset="0"/>
              </a:rPr>
              <a:t>Dynamic avoidance </a:t>
            </a:r>
            <a:r>
              <a:rPr lang="en-US" altLang="en-US">
                <a:latin typeface="Times New Roman" panose="02020603050405020304" pitchFamily="18" charset="0"/>
                <a:cs typeface="Times New Roman" panose="02020603050405020304" pitchFamily="18" charset="0"/>
              </a:rPr>
              <a:t>by careful resource allocation.</a:t>
            </a:r>
          </a:p>
          <a:p>
            <a:pPr marL="808038" lvl="1" indent="-354013" algn="just"/>
            <a:r>
              <a:rPr lang="en-US" altLang="en-US" b="1">
                <a:latin typeface="Times New Roman" panose="02020603050405020304" pitchFamily="18" charset="0"/>
                <a:cs typeface="Times New Roman" panose="02020603050405020304" pitchFamily="18" charset="0"/>
              </a:rPr>
              <a:t>Prevention</a:t>
            </a:r>
            <a:r>
              <a:rPr lang="en-US" altLang="en-US">
                <a:latin typeface="Times New Roman" panose="02020603050405020304" pitchFamily="18" charset="0"/>
                <a:cs typeface="Times New Roman" panose="02020603050405020304" pitchFamily="18" charset="0"/>
              </a:rPr>
              <a:t>, by structurally negating one of the four required conditions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914400" y="0"/>
            <a:ext cx="8229600" cy="762000"/>
          </a:xfrm>
        </p:spPr>
        <p:txBody>
          <a:bodyPr/>
          <a:lstStyle/>
          <a:p>
            <a:r>
              <a:rPr lang="en-US" altLang="en-US" sz="4000" b="1">
                <a:latin typeface="Times New Roman" panose="02020603050405020304" pitchFamily="18" charset="0"/>
                <a:cs typeface="Times New Roman" panose="02020603050405020304" pitchFamily="18" charset="0"/>
              </a:rPr>
              <a:t>The Ostrich Algorithms </a:t>
            </a:r>
          </a:p>
        </p:txBody>
      </p:sp>
      <p:sp>
        <p:nvSpPr>
          <p:cNvPr id="28675" name="Rectangle 3"/>
          <p:cNvSpPr>
            <a:spLocks noGrp="1"/>
          </p:cNvSpPr>
          <p:nvPr>
            <p:ph type="body" idx="1"/>
          </p:nvPr>
        </p:nvSpPr>
        <p:spPr>
          <a:xfrm>
            <a:off x="0" y="685800"/>
            <a:ext cx="9144000" cy="6172200"/>
          </a:xfrm>
        </p:spPr>
        <p:txBody>
          <a:bodyPr/>
          <a:lstStyle/>
          <a:p>
            <a:pPr algn="just">
              <a:lnSpc>
                <a:spcPct val="9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Just ignore the problem</a:t>
            </a:r>
          </a:p>
          <a:p>
            <a:pPr lvl="1" algn="just">
              <a:lnSpc>
                <a:spcPct val="90000"/>
              </a:lnSpc>
            </a:pPr>
            <a:r>
              <a:rPr lang="en-US" altLang="en-US">
                <a:latin typeface="Times New Roman" panose="02020603050405020304" pitchFamily="18" charset="0"/>
                <a:cs typeface="Times New Roman" panose="02020603050405020304" pitchFamily="18" charset="0"/>
              </a:rPr>
              <a:t>Stick your head in the sand and pretend is no problem at all</a:t>
            </a:r>
          </a:p>
          <a:p>
            <a:pPr lvl="1" algn="just">
              <a:lnSpc>
                <a:spcPct val="90000"/>
              </a:lnSpc>
            </a:pPr>
            <a:r>
              <a:rPr lang="en-US" altLang="en-US">
                <a:latin typeface="Times New Roman" panose="02020603050405020304" pitchFamily="18" charset="0"/>
                <a:cs typeface="Times New Roman" panose="02020603050405020304" pitchFamily="18" charset="0"/>
              </a:rPr>
              <a:t>Different people react in different ways</a:t>
            </a:r>
          </a:p>
          <a:p>
            <a:pPr algn="just">
              <a:lnSpc>
                <a:spcPct val="9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Mathematicians</a:t>
            </a:r>
          </a:p>
          <a:p>
            <a:pPr lvl="1" algn="just">
              <a:lnSpc>
                <a:spcPct val="90000"/>
              </a:lnSpc>
            </a:pPr>
            <a:r>
              <a:rPr lang="en-US" altLang="en-US">
                <a:latin typeface="Times New Roman" panose="02020603050405020304" pitchFamily="18" charset="0"/>
                <a:cs typeface="Times New Roman" panose="02020603050405020304" pitchFamily="18" charset="0"/>
              </a:rPr>
              <a:t>Totally unacceptable and must prevent deadlocks at all costs</a:t>
            </a:r>
          </a:p>
          <a:p>
            <a:pPr algn="just">
              <a:lnSpc>
                <a:spcPct val="9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Engineers</a:t>
            </a:r>
          </a:p>
          <a:p>
            <a:pPr lvl="1" algn="just">
              <a:lnSpc>
                <a:spcPct val="90000"/>
              </a:lnSpc>
            </a:pPr>
            <a:r>
              <a:rPr lang="en-US" altLang="en-US">
                <a:latin typeface="Times New Roman" panose="02020603050405020304" pitchFamily="18" charset="0"/>
                <a:cs typeface="Times New Roman" panose="02020603050405020304" pitchFamily="18" charset="0"/>
              </a:rPr>
              <a:t>Would not be willing pay a large penalty in performance or convenience to eliminate deadlocks</a:t>
            </a:r>
          </a:p>
          <a:p>
            <a:pPr algn="just">
              <a:lnSpc>
                <a:spcPct val="9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OS blocks caller </a:t>
            </a:r>
            <a:r>
              <a:rPr lang="en-US" altLang="en-US">
                <a:latin typeface="Times New Roman" panose="02020603050405020304" pitchFamily="18" charset="0"/>
                <a:cs typeface="Times New Roman" panose="02020603050405020304" pitchFamily="18" charset="0"/>
              </a:rPr>
              <a:t>that requests the busy device</a:t>
            </a:r>
          </a:p>
          <a:p>
            <a:pPr lvl="1" algn="just">
              <a:lnSpc>
                <a:spcPct val="90000"/>
              </a:lnSpc>
            </a:pPr>
            <a:r>
              <a:rPr lang="en-US" altLang="en-US">
                <a:latin typeface="Times New Roman" panose="02020603050405020304" pitchFamily="18" charset="0"/>
                <a:cs typeface="Times New Roman" panose="02020603050405020304" pitchFamily="18" charset="0"/>
              </a:rPr>
              <a:t>The device driver decide blocking or returning an error code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idx="4294967295"/>
          </p:nvPr>
        </p:nvSpPr>
        <p:spPr>
          <a:xfrm>
            <a:off x="0" y="0"/>
            <a:ext cx="9144000" cy="1143000"/>
          </a:xfrm>
        </p:spPr>
        <p:txBody>
          <a:bodyPr/>
          <a:lstStyle/>
          <a:p>
            <a:r>
              <a:rPr lang="en-US" altLang="en-US" sz="4000" b="1">
                <a:latin typeface="Times New Roman" panose="02020603050405020304" pitchFamily="18" charset="0"/>
                <a:cs typeface="Times New Roman" panose="02020603050405020304" pitchFamily="18" charset="0"/>
              </a:rPr>
              <a:t>              Deadlock Detection &amp; Recovery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Deadlock Detection with One Resource of Each Type</a:t>
            </a:r>
          </a:p>
        </p:txBody>
      </p:sp>
      <p:sp>
        <p:nvSpPr>
          <p:cNvPr id="153606" name="Text Box 4"/>
          <p:cNvSpPr txBox="1">
            <a:spLocks noChangeArrowheads="1"/>
          </p:cNvSpPr>
          <p:nvPr/>
        </p:nvSpPr>
        <p:spPr bwMode="auto">
          <a:xfrm>
            <a:off x="3505200" y="59436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6-5.</a:t>
            </a:r>
          </a:p>
        </p:txBody>
      </p:sp>
      <p:pic>
        <p:nvPicPr>
          <p:cNvPr id="2970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325" y="1473200"/>
            <a:ext cx="7966075"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box(in)">
                                      <p:cBhvr>
                                        <p:cTn id="7" dur="500"/>
                                        <p:tgtEl>
                                          <p:spTgt spid="153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0" y="0"/>
            <a:ext cx="9144000" cy="1143000"/>
          </a:xfrm>
        </p:spPr>
        <p:txBody>
          <a:bodyPr/>
          <a:lstStyle/>
          <a:p>
            <a:r>
              <a:rPr lang="en-US" altLang="en-US" sz="4000" b="1">
                <a:latin typeface="Times New Roman" panose="02020603050405020304" pitchFamily="18" charset="0"/>
                <a:cs typeface="Times New Roman" panose="02020603050405020304" pitchFamily="18" charset="0"/>
              </a:rPr>
              <a:t>           Deadlock Detection &amp; Recovery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Deadlock Detection with One Resource of Each Type</a:t>
            </a:r>
          </a:p>
        </p:txBody>
      </p:sp>
      <p:sp>
        <p:nvSpPr>
          <p:cNvPr id="30723" name="Rectangle 3"/>
          <p:cNvSpPr>
            <a:spLocks noGrp="1"/>
          </p:cNvSpPr>
          <p:nvPr>
            <p:ph type="body" idx="4294967295"/>
          </p:nvPr>
        </p:nvSpPr>
        <p:spPr>
          <a:xfrm>
            <a:off x="0" y="1143000"/>
            <a:ext cx="9144000" cy="5715000"/>
          </a:xfrm>
        </p:spPr>
        <p:txBody>
          <a:bodyPr/>
          <a:lstStyle/>
          <a:p>
            <a:pPr marL="274638" indent="-274638" algn="just"/>
            <a:r>
              <a:rPr lang="en-US" altLang="en-US" sz="2800" dirty="0">
                <a:latin typeface="Times New Roman" panose="02020603050405020304" pitchFamily="18" charset="0"/>
                <a:cs typeface="Times New Roman" panose="02020603050405020304" pitchFamily="18" charset="0"/>
              </a:rPr>
              <a:t>Algorithm for detecting deadlock:</a:t>
            </a:r>
          </a:p>
          <a:p>
            <a:pPr marL="715963" lvl="1" indent="-261938" algn="just">
              <a:buFont typeface="Arial" panose="020B0604020202020204" pitchFamily="34" charset="0"/>
              <a:buAutoNum type="arabicPeriod"/>
            </a:pPr>
            <a:r>
              <a:rPr lang="en-US" altLang="en-US" sz="2400" dirty="0">
                <a:latin typeface="Times New Roman" panose="02020603050405020304" pitchFamily="18" charset="0"/>
                <a:cs typeface="Times New Roman" panose="02020603050405020304" pitchFamily="18" charset="0"/>
              </a:rPr>
              <a:t>For </a:t>
            </a:r>
            <a:r>
              <a:rPr lang="en-US" altLang="en-US" sz="2400" b="1" dirty="0">
                <a:latin typeface="Times New Roman" panose="02020603050405020304" pitchFamily="18" charset="0"/>
                <a:cs typeface="Times New Roman" panose="02020603050405020304" pitchFamily="18" charset="0"/>
              </a:rPr>
              <a:t>each node</a:t>
            </a:r>
            <a:r>
              <a:rPr lang="en-US" altLang="en-US" sz="2400" dirty="0">
                <a:latin typeface="Times New Roman" panose="02020603050405020304" pitchFamily="18" charset="0"/>
                <a:cs typeface="Times New Roman" panose="02020603050405020304" pitchFamily="18" charset="0"/>
              </a:rPr>
              <a:t>, N in the graph, </a:t>
            </a:r>
            <a:r>
              <a:rPr lang="en-US" altLang="en-US" sz="2400" b="1" dirty="0">
                <a:latin typeface="Times New Roman" panose="02020603050405020304" pitchFamily="18" charset="0"/>
                <a:cs typeface="Times New Roman" panose="02020603050405020304" pitchFamily="18" charset="0"/>
              </a:rPr>
              <a:t>perform</a:t>
            </a:r>
            <a:r>
              <a:rPr lang="en-US" altLang="en-US" sz="2400" dirty="0">
                <a:latin typeface="Times New Roman" panose="02020603050405020304" pitchFamily="18" charset="0"/>
                <a:cs typeface="Times New Roman" panose="02020603050405020304" pitchFamily="18" charset="0"/>
              </a:rPr>
              <a:t> the following </a:t>
            </a:r>
            <a:r>
              <a:rPr lang="en-US" altLang="en-US" sz="2400" b="1" dirty="0">
                <a:latin typeface="Times New Roman" panose="02020603050405020304" pitchFamily="18" charset="0"/>
                <a:cs typeface="Times New Roman" panose="02020603050405020304" pitchFamily="18" charset="0"/>
              </a:rPr>
              <a:t>five steps </a:t>
            </a:r>
            <a:r>
              <a:rPr lang="en-US" altLang="en-US" sz="2400" dirty="0">
                <a:latin typeface="Times New Roman" panose="02020603050405020304" pitchFamily="18" charset="0"/>
                <a:cs typeface="Times New Roman" panose="02020603050405020304" pitchFamily="18" charset="0"/>
              </a:rPr>
              <a:t>with N as the starting node.</a:t>
            </a:r>
          </a:p>
          <a:p>
            <a:pPr marL="715963" lvl="1" indent="-261938" algn="just">
              <a:buFont typeface="Arial" panose="020B0604020202020204" pitchFamily="34" charset="0"/>
              <a:buAutoNum type="arabicPeriod"/>
            </a:pPr>
            <a:r>
              <a:rPr lang="en-US" altLang="en-US" sz="2400" b="1" dirty="0">
                <a:latin typeface="Times New Roman" panose="02020603050405020304" pitchFamily="18" charset="0"/>
                <a:cs typeface="Times New Roman" panose="02020603050405020304" pitchFamily="18" charset="0"/>
              </a:rPr>
              <a:t>Initialize</a:t>
            </a:r>
            <a:r>
              <a:rPr lang="en-US" altLang="en-US" sz="2400" dirty="0">
                <a:latin typeface="Times New Roman" panose="02020603050405020304" pitchFamily="18" charset="0"/>
                <a:cs typeface="Times New Roman" panose="02020603050405020304" pitchFamily="18" charset="0"/>
              </a:rPr>
              <a:t> L to the </a:t>
            </a:r>
            <a:r>
              <a:rPr lang="en-US" altLang="en-US" sz="2400" b="1" dirty="0">
                <a:latin typeface="Times New Roman" panose="02020603050405020304" pitchFamily="18" charset="0"/>
                <a:cs typeface="Times New Roman" panose="02020603050405020304" pitchFamily="18" charset="0"/>
              </a:rPr>
              <a:t>empty list</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designate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all arcs </a:t>
            </a:r>
            <a:r>
              <a:rPr lang="en-US" altLang="en-US" sz="2400" dirty="0">
                <a:latin typeface="Times New Roman" panose="02020603050405020304" pitchFamily="18" charset="0"/>
                <a:cs typeface="Times New Roman" panose="02020603050405020304" pitchFamily="18" charset="0"/>
              </a:rPr>
              <a:t>as </a:t>
            </a:r>
            <a:r>
              <a:rPr lang="en-US" altLang="en-US" sz="2400" b="1" dirty="0">
                <a:latin typeface="Times New Roman" panose="02020603050405020304" pitchFamily="18" charset="0"/>
                <a:cs typeface="Times New Roman" panose="02020603050405020304" pitchFamily="18" charset="0"/>
              </a:rPr>
              <a:t>unmarked</a:t>
            </a:r>
            <a:r>
              <a:rPr lang="en-US" altLang="en-US" sz="2400" dirty="0">
                <a:latin typeface="Times New Roman" panose="02020603050405020304" pitchFamily="18" charset="0"/>
                <a:cs typeface="Times New Roman" panose="02020603050405020304" pitchFamily="18" charset="0"/>
              </a:rPr>
              <a:t>.</a:t>
            </a:r>
          </a:p>
          <a:p>
            <a:pPr marL="715963" lvl="1" indent="-261938" algn="just">
              <a:buFont typeface="Arial" panose="020B0604020202020204" pitchFamily="34" charset="0"/>
              <a:buAutoNum type="arabicPeriod"/>
            </a:pPr>
            <a:r>
              <a:rPr lang="en-US" altLang="en-US" sz="2400" b="1" dirty="0">
                <a:latin typeface="Times New Roman" panose="02020603050405020304" pitchFamily="18" charset="0"/>
                <a:cs typeface="Times New Roman" panose="02020603050405020304" pitchFamily="18" charset="0"/>
              </a:rPr>
              <a:t>Add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current</a:t>
            </a:r>
            <a:r>
              <a:rPr lang="en-US" altLang="en-US" sz="2400" dirty="0">
                <a:latin typeface="Times New Roman" panose="02020603050405020304" pitchFamily="18" charset="0"/>
                <a:cs typeface="Times New Roman" panose="02020603050405020304" pitchFamily="18" charset="0"/>
              </a:rPr>
              <a:t> node </a:t>
            </a:r>
            <a:r>
              <a:rPr lang="en-US" altLang="en-US" sz="2400" b="1" dirty="0">
                <a:latin typeface="Times New Roman" panose="02020603050405020304" pitchFamily="18" charset="0"/>
                <a:cs typeface="Times New Roman" panose="02020603050405020304" pitchFamily="18" charset="0"/>
              </a:rPr>
              <a:t>to</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end</a:t>
            </a:r>
            <a:r>
              <a:rPr lang="en-US" altLang="en-US" sz="2400" dirty="0">
                <a:latin typeface="Times New Roman" panose="02020603050405020304" pitchFamily="18" charset="0"/>
                <a:cs typeface="Times New Roman" panose="02020603050405020304" pitchFamily="18" charset="0"/>
              </a:rPr>
              <a:t> of </a:t>
            </a:r>
            <a:r>
              <a:rPr lang="en-US" altLang="en-US" sz="2400" b="1" dirty="0">
                <a:latin typeface="Times New Roman" panose="02020603050405020304" pitchFamily="18" charset="0"/>
                <a:cs typeface="Times New Roman" panose="02020603050405020304" pitchFamily="18" charset="0"/>
              </a:rPr>
              <a:t>L</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check</a:t>
            </a:r>
            <a:r>
              <a:rPr lang="en-US" altLang="en-US" sz="2400" dirty="0">
                <a:latin typeface="Times New Roman" panose="02020603050405020304" pitchFamily="18" charset="0"/>
                <a:cs typeface="Times New Roman" panose="02020603050405020304" pitchFamily="18" charset="0"/>
              </a:rPr>
              <a:t> to see if </a:t>
            </a:r>
            <a:r>
              <a:rPr lang="en-US" altLang="en-US" sz="2400" b="1" dirty="0">
                <a:latin typeface="Times New Roman" panose="02020603050405020304" pitchFamily="18" charset="0"/>
                <a:cs typeface="Times New Roman" panose="02020603050405020304" pitchFamily="18" charset="0"/>
              </a:rPr>
              <a:t>node</a:t>
            </a:r>
            <a:r>
              <a:rPr lang="en-US" altLang="en-US" sz="2400" dirty="0">
                <a:latin typeface="Times New Roman" panose="02020603050405020304" pitchFamily="18" charset="0"/>
                <a:cs typeface="Times New Roman" panose="02020603050405020304" pitchFamily="18" charset="0"/>
              </a:rPr>
              <a:t> now </a:t>
            </a:r>
            <a:r>
              <a:rPr lang="en-US" altLang="en-US" sz="2400" b="1" dirty="0">
                <a:latin typeface="Times New Roman" panose="02020603050405020304" pitchFamily="18" charset="0"/>
                <a:cs typeface="Times New Roman" panose="02020603050405020304" pitchFamily="18" charset="0"/>
              </a:rPr>
              <a:t>appears</a:t>
            </a:r>
            <a:r>
              <a:rPr lang="en-US" altLang="en-US" sz="2400" dirty="0">
                <a:latin typeface="Times New Roman" panose="02020603050405020304" pitchFamily="18" charset="0"/>
                <a:cs typeface="Times New Roman" panose="02020603050405020304" pitchFamily="18" charset="0"/>
              </a:rPr>
              <a:t> in L </a:t>
            </a:r>
            <a:r>
              <a:rPr lang="en-US" altLang="en-US" sz="2400" b="1" dirty="0">
                <a:latin typeface="Times New Roman" panose="02020603050405020304" pitchFamily="18" charset="0"/>
                <a:cs typeface="Times New Roman" panose="02020603050405020304" pitchFamily="18" charset="0"/>
              </a:rPr>
              <a:t>two times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If it does, graph contains a cycle (listed in L), algorithm terminates</a:t>
            </a:r>
            <a:r>
              <a:rPr lang="en-US" altLang="en-US" sz="2400" dirty="0">
                <a:latin typeface="Times New Roman" panose="02020603050405020304" pitchFamily="18" charset="0"/>
                <a:cs typeface="Times New Roman" panose="02020603050405020304" pitchFamily="18" charset="0"/>
              </a:rPr>
              <a:t>.</a:t>
            </a:r>
          </a:p>
          <a:p>
            <a:pPr marL="715963" lvl="1" indent="-261938" algn="just">
              <a:buFont typeface="Arial" panose="020B0604020202020204" pitchFamily="34" charset="0"/>
              <a:buAutoNum type="arabicPeriod"/>
            </a:pPr>
            <a:r>
              <a:rPr lang="en-US" altLang="en-US" sz="2400" b="1" dirty="0">
                <a:latin typeface="Times New Roman" panose="02020603050405020304" pitchFamily="18" charset="0"/>
                <a:cs typeface="Times New Roman" panose="02020603050405020304" pitchFamily="18" charset="0"/>
              </a:rPr>
              <a:t>From</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given node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see</a:t>
            </a:r>
            <a:r>
              <a:rPr lang="en-US" altLang="en-US" sz="2400" dirty="0">
                <a:latin typeface="Times New Roman" panose="02020603050405020304" pitchFamily="18" charset="0"/>
                <a:cs typeface="Times New Roman" panose="02020603050405020304" pitchFamily="18" charset="0"/>
              </a:rPr>
              <a:t> if </a:t>
            </a:r>
            <a:r>
              <a:rPr lang="en-US" altLang="en-US" sz="2400" b="1" dirty="0">
                <a:latin typeface="Times New Roman" panose="02020603050405020304" pitchFamily="18" charset="0"/>
                <a:cs typeface="Times New Roman" panose="02020603050405020304" pitchFamily="18" charset="0"/>
              </a:rPr>
              <a:t>any unmarked outgoing arcs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If so</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go</a:t>
            </a:r>
            <a:r>
              <a:rPr lang="en-US" altLang="en-US" sz="2400" dirty="0">
                <a:latin typeface="Times New Roman" panose="02020603050405020304" pitchFamily="18" charset="0"/>
                <a:cs typeface="Times New Roman" panose="02020603050405020304" pitchFamily="18" charset="0"/>
              </a:rPr>
              <a:t> to </a:t>
            </a:r>
            <a:r>
              <a:rPr lang="en-US" altLang="en-US" sz="2400" b="1" dirty="0">
                <a:latin typeface="Times New Roman" panose="02020603050405020304" pitchFamily="18" charset="0"/>
                <a:cs typeface="Times New Roman" panose="02020603050405020304" pitchFamily="18" charset="0"/>
              </a:rPr>
              <a:t>step 5; </a:t>
            </a:r>
            <a:r>
              <a:rPr lang="en-US" altLang="en-US" sz="2400" dirty="0">
                <a:latin typeface="Times New Roman" panose="02020603050405020304" pitchFamily="18" charset="0"/>
                <a:cs typeface="Times New Roman" panose="02020603050405020304" pitchFamily="18" charset="0"/>
              </a:rPr>
              <a:t>if </a:t>
            </a:r>
            <a:r>
              <a:rPr lang="en-US" altLang="en-US" sz="2400" b="1" dirty="0">
                <a:latin typeface="Times New Roman" panose="02020603050405020304" pitchFamily="18" charset="0"/>
                <a:cs typeface="Times New Roman" panose="02020603050405020304" pitchFamily="18" charset="0"/>
              </a:rPr>
              <a:t>not</a:t>
            </a:r>
            <a:r>
              <a:rPr lang="en-US" altLang="en-US" sz="2400" dirty="0">
                <a:latin typeface="Times New Roman" panose="02020603050405020304" pitchFamily="18" charset="0"/>
                <a:cs typeface="Times New Roman" panose="02020603050405020304" pitchFamily="18" charset="0"/>
              </a:rPr>
              <a:t>, go to </a:t>
            </a:r>
            <a:r>
              <a:rPr lang="en-US" altLang="en-US" sz="2400" b="1" dirty="0">
                <a:latin typeface="Times New Roman" panose="02020603050405020304" pitchFamily="18" charset="0"/>
                <a:cs typeface="Times New Roman" panose="02020603050405020304" pitchFamily="18" charset="0"/>
              </a:rPr>
              <a:t>step 6.</a:t>
            </a:r>
          </a:p>
          <a:p>
            <a:pPr marL="715963" lvl="1" indent="-261938" algn="just">
              <a:buFont typeface="Arial" panose="020B0604020202020204" pitchFamily="34" charset="0"/>
              <a:buAutoNum type="arabicPeriod"/>
            </a:pPr>
            <a:r>
              <a:rPr lang="en-US" altLang="en-US" sz="2400" b="1" dirty="0">
                <a:latin typeface="Times New Roman" panose="02020603050405020304" pitchFamily="18" charset="0"/>
                <a:cs typeface="Times New Roman" panose="02020603050405020304" pitchFamily="18" charset="0"/>
              </a:rPr>
              <a:t>Pick</a:t>
            </a:r>
            <a:r>
              <a:rPr lang="en-US" altLang="en-US" sz="2400" dirty="0">
                <a:latin typeface="Times New Roman" panose="02020603050405020304" pitchFamily="18" charset="0"/>
                <a:cs typeface="Times New Roman" panose="02020603050405020304" pitchFamily="18" charset="0"/>
              </a:rPr>
              <a:t> an </a:t>
            </a:r>
            <a:r>
              <a:rPr lang="en-US" altLang="en-US" sz="2400" b="1" dirty="0">
                <a:latin typeface="Times New Roman" panose="02020603050405020304" pitchFamily="18" charset="0"/>
                <a:cs typeface="Times New Roman" panose="02020603050405020304" pitchFamily="18" charset="0"/>
              </a:rPr>
              <a:t>unmarked outgoing arc at random </a:t>
            </a:r>
            <a:r>
              <a:rPr lang="en-US" altLang="en-US" sz="2400" dirty="0">
                <a:latin typeface="Times New Roman" panose="02020603050405020304" pitchFamily="18" charset="0"/>
                <a:cs typeface="Times New Roman" panose="02020603050405020304" pitchFamily="18" charset="0"/>
              </a:rPr>
              <a:t>and </a:t>
            </a:r>
            <a:r>
              <a:rPr lang="en-US" altLang="en-US" sz="2400" b="1" dirty="0">
                <a:latin typeface="Times New Roman" panose="02020603050405020304" pitchFamily="18" charset="0"/>
                <a:cs typeface="Times New Roman" panose="02020603050405020304" pitchFamily="18" charset="0"/>
              </a:rPr>
              <a:t>mark it. Then</a:t>
            </a:r>
            <a:r>
              <a:rPr lang="en-US" altLang="en-US" sz="2400" dirty="0">
                <a:latin typeface="Times New Roman" panose="02020603050405020304" pitchFamily="18" charset="0"/>
                <a:cs typeface="Times New Roman" panose="02020603050405020304" pitchFamily="18" charset="0"/>
              </a:rPr>
              <a:t> follow it to the new current node and </a:t>
            </a:r>
            <a:r>
              <a:rPr lang="en-US" altLang="en-US" sz="2400" b="1" dirty="0">
                <a:latin typeface="Times New Roman" panose="02020603050405020304" pitchFamily="18" charset="0"/>
                <a:cs typeface="Times New Roman" panose="02020603050405020304" pitchFamily="18" charset="0"/>
              </a:rPr>
              <a:t>go to step 3</a:t>
            </a:r>
            <a:r>
              <a:rPr lang="en-US" altLang="en-US" sz="2400" dirty="0">
                <a:latin typeface="Times New Roman" panose="02020603050405020304" pitchFamily="18" charset="0"/>
                <a:cs typeface="Times New Roman" panose="02020603050405020304" pitchFamily="18" charset="0"/>
              </a:rPr>
              <a:t>.</a:t>
            </a:r>
          </a:p>
          <a:p>
            <a:pPr marL="715963" lvl="1" indent="-261938" algn="just">
              <a:buFont typeface="Arial" panose="020B0604020202020204" pitchFamily="34" charset="0"/>
              <a:buAutoNum type="arabicPeriod"/>
            </a:pPr>
            <a:r>
              <a:rPr lang="en-US" altLang="en-US" sz="2400" b="1" dirty="0">
                <a:latin typeface="Times New Roman" panose="02020603050405020304" pitchFamily="18" charset="0"/>
                <a:cs typeface="Times New Roman" panose="02020603050405020304" pitchFamily="18" charset="0"/>
              </a:rPr>
              <a:t>If</a:t>
            </a:r>
            <a:r>
              <a:rPr lang="en-US" altLang="en-US" sz="2400" dirty="0">
                <a:latin typeface="Times New Roman" panose="02020603050405020304" pitchFamily="18" charset="0"/>
                <a:cs typeface="Times New Roman" panose="02020603050405020304" pitchFamily="18" charset="0"/>
              </a:rPr>
              <a:t> this is </a:t>
            </a:r>
            <a:r>
              <a:rPr lang="en-US" altLang="en-US" sz="2400" b="1" dirty="0">
                <a:latin typeface="Times New Roman" panose="02020603050405020304" pitchFamily="18" charset="0"/>
                <a:cs typeface="Times New Roman" panose="02020603050405020304" pitchFamily="18" charset="0"/>
              </a:rPr>
              <a:t>initial node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graph</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does not </a:t>
            </a:r>
            <a:r>
              <a:rPr lang="en-US" altLang="en-US" sz="2400" dirty="0">
                <a:latin typeface="Times New Roman" panose="02020603050405020304" pitchFamily="18" charset="0"/>
                <a:cs typeface="Times New Roman" panose="02020603050405020304" pitchFamily="18" charset="0"/>
              </a:rPr>
              <a:t>contain </a:t>
            </a:r>
            <a:r>
              <a:rPr lang="en-US" altLang="en-US" sz="2400" b="1" dirty="0">
                <a:latin typeface="Times New Roman" panose="02020603050405020304" pitchFamily="18" charset="0"/>
                <a:cs typeface="Times New Roman" panose="02020603050405020304" pitchFamily="18" charset="0"/>
              </a:rPr>
              <a:t>any cycles</a:t>
            </a:r>
            <a:r>
              <a:rPr lang="en-US" altLang="en-US" sz="2400" dirty="0">
                <a:latin typeface="Times New Roman" panose="02020603050405020304" pitchFamily="18" charset="0"/>
                <a:cs typeface="Times New Roman" panose="02020603050405020304" pitchFamily="18" charset="0"/>
              </a:rPr>
              <a:t>, algorithm </a:t>
            </a:r>
            <a:r>
              <a:rPr lang="en-US" altLang="en-US" sz="2400" b="1" dirty="0">
                <a:latin typeface="Times New Roman" panose="02020603050405020304" pitchFamily="18" charset="0"/>
                <a:cs typeface="Times New Roman" panose="02020603050405020304" pitchFamily="18" charset="0"/>
              </a:rPr>
              <a:t>terminates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Otherwise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dead end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Remove</a:t>
            </a:r>
            <a:r>
              <a:rPr lang="en-US" altLang="en-US" sz="2400" dirty="0">
                <a:latin typeface="Times New Roman" panose="02020603050405020304" pitchFamily="18" charset="0"/>
                <a:cs typeface="Times New Roman" panose="02020603050405020304" pitchFamily="18" charset="0"/>
              </a:rPr>
              <a:t> it, </a:t>
            </a:r>
            <a:r>
              <a:rPr lang="en-US" altLang="en-US" sz="2400" b="1" dirty="0">
                <a:latin typeface="Times New Roman" panose="02020603050405020304" pitchFamily="18" charset="0"/>
                <a:cs typeface="Times New Roman" panose="02020603050405020304" pitchFamily="18" charset="0"/>
              </a:rPr>
              <a:t>go back </a:t>
            </a:r>
            <a:r>
              <a:rPr lang="en-US" altLang="en-US" sz="2400" dirty="0">
                <a:latin typeface="Times New Roman" panose="02020603050405020304" pitchFamily="18" charset="0"/>
                <a:cs typeface="Times New Roman" panose="02020603050405020304" pitchFamily="18" charset="0"/>
              </a:rPr>
              <a:t>to </a:t>
            </a:r>
            <a:r>
              <a:rPr lang="en-US" altLang="en-US" sz="2400" b="1" dirty="0">
                <a:latin typeface="Times New Roman" panose="02020603050405020304" pitchFamily="18" charset="0"/>
                <a:cs typeface="Times New Roman" panose="02020603050405020304" pitchFamily="18" charset="0"/>
              </a:rPr>
              <a:t>previous node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make</a:t>
            </a:r>
            <a:r>
              <a:rPr lang="en-US" altLang="en-US" sz="2400" dirty="0">
                <a:latin typeface="Times New Roman" panose="02020603050405020304" pitchFamily="18" charset="0"/>
                <a:cs typeface="Times New Roman" panose="02020603050405020304" pitchFamily="18" charset="0"/>
              </a:rPr>
              <a:t> that </a:t>
            </a:r>
            <a:r>
              <a:rPr lang="en-US" altLang="en-US" sz="2400" b="1" dirty="0">
                <a:latin typeface="Times New Roman" panose="02020603050405020304" pitchFamily="18" charset="0"/>
                <a:cs typeface="Times New Roman" panose="02020603050405020304" pitchFamily="18" charset="0"/>
              </a:rPr>
              <a:t>one current node, go</a:t>
            </a:r>
            <a:r>
              <a:rPr lang="en-US" altLang="en-US" sz="2400" dirty="0">
                <a:latin typeface="Times New Roman" panose="02020603050405020304" pitchFamily="18" charset="0"/>
                <a:cs typeface="Times New Roman" panose="02020603050405020304" pitchFamily="18" charset="0"/>
              </a:rPr>
              <a:t> to </a:t>
            </a:r>
            <a:r>
              <a:rPr lang="en-US" altLang="en-US" sz="2400" b="1" dirty="0">
                <a:latin typeface="Times New Roman" panose="02020603050405020304" pitchFamily="18" charset="0"/>
                <a:cs typeface="Times New Roman" panose="02020603050405020304" pitchFamily="18" charset="0"/>
              </a:rPr>
              <a:t>step 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0" y="0"/>
            <a:ext cx="9144000" cy="1143000"/>
          </a:xfrm>
        </p:spPr>
        <p:txBody>
          <a:bodyPr/>
          <a:lstStyle/>
          <a:p>
            <a:r>
              <a:rPr lang="en-US" altLang="en-US" sz="4000" b="1">
                <a:latin typeface="Times New Roman" panose="02020603050405020304" pitchFamily="18" charset="0"/>
                <a:cs typeface="Times New Roman" panose="02020603050405020304" pitchFamily="18" charset="0"/>
              </a:rPr>
              <a:t>              Deadlock Detection &amp; Recovery </a:t>
            </a:r>
            <a:br>
              <a:rPr lang="en-US" altLang="en-US" sz="4000" b="1">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Deadlock Detection with Multiple Resource of Each Type</a:t>
            </a:r>
          </a:p>
        </p:txBody>
      </p:sp>
      <p:sp>
        <p:nvSpPr>
          <p:cNvPr id="31747" name="Rectangle 3"/>
          <p:cNvSpPr>
            <a:spLocks noGrp="1"/>
          </p:cNvSpPr>
          <p:nvPr>
            <p:ph type="body" idx="1"/>
          </p:nvPr>
        </p:nvSpPr>
        <p:spPr>
          <a:xfrm>
            <a:off x="0" y="990600"/>
            <a:ext cx="9144000" cy="5867400"/>
          </a:xfrm>
        </p:spPr>
        <p:txBody>
          <a:bodyPr/>
          <a:lstStyle/>
          <a:p>
            <a:pPr algn="just">
              <a:lnSpc>
                <a:spcPct val="8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A matrix-based algorithm among </a:t>
            </a:r>
            <a:r>
              <a:rPr lang="en-US" altLang="en-US" sz="2800" b="1">
                <a:latin typeface="Times New Roman" panose="02020603050405020304" pitchFamily="18" charset="0"/>
                <a:cs typeface="Times New Roman" panose="02020603050405020304" pitchFamily="18" charset="0"/>
              </a:rPr>
              <a:t>n processes</a:t>
            </a:r>
            <a:r>
              <a:rPr lang="en-US" altLang="en-US" sz="2800">
                <a:latin typeface="Times New Roman" panose="02020603050405020304" pitchFamily="18" charset="0"/>
                <a:cs typeface="Times New Roman" panose="02020603050405020304" pitchFamily="18" charset="0"/>
              </a:rPr>
              <a:t>, P</a:t>
            </a:r>
            <a:r>
              <a:rPr lang="en-US" altLang="en-US" sz="2800" baseline="-25000">
                <a:latin typeface="Times New Roman" panose="02020603050405020304" pitchFamily="18" charset="0"/>
                <a:cs typeface="Times New Roman" panose="02020603050405020304" pitchFamily="18" charset="0"/>
              </a:rPr>
              <a:t>1</a:t>
            </a:r>
            <a:r>
              <a:rPr lang="en-US" altLang="en-US" sz="2800">
                <a:latin typeface="Times New Roman" panose="02020603050405020304" pitchFamily="18" charset="0"/>
                <a:cs typeface="Times New Roman" panose="02020603050405020304" pitchFamily="18" charset="0"/>
              </a:rPr>
              <a:t> through P</a:t>
            </a:r>
            <a:r>
              <a:rPr lang="en-US" altLang="en-US" sz="2800" baseline="-25000">
                <a:latin typeface="Times New Roman" panose="02020603050405020304" pitchFamily="18" charset="0"/>
                <a:cs typeface="Times New Roman" panose="02020603050405020304" pitchFamily="18" charset="0"/>
              </a:rPr>
              <a:t>n </a:t>
            </a:r>
            <a:r>
              <a:rPr lang="en-US" altLang="en-US" sz="2800">
                <a:latin typeface="Times New Roman" panose="02020603050405020304" pitchFamily="18" charset="0"/>
                <a:cs typeface="Times New Roman" panose="02020603050405020304" pitchFamily="18" charset="0"/>
              </a:rPr>
              <a:t>and </a:t>
            </a:r>
            <a:r>
              <a:rPr lang="en-US" altLang="en-US" sz="2800" b="1">
                <a:latin typeface="Times New Roman" panose="02020603050405020304" pitchFamily="18" charset="0"/>
                <a:cs typeface="Times New Roman" panose="02020603050405020304" pitchFamily="18" charset="0"/>
              </a:rPr>
              <a:t>m resource classes</a:t>
            </a:r>
            <a:r>
              <a:rPr lang="en-US" altLang="en-US" sz="2800">
                <a:latin typeface="Times New Roman" panose="02020603050405020304" pitchFamily="18" charset="0"/>
                <a:cs typeface="Times New Roman" panose="02020603050405020304" pitchFamily="18" charset="0"/>
              </a:rPr>
              <a:t>, E</a:t>
            </a:r>
            <a:r>
              <a:rPr lang="en-US" altLang="en-US" sz="2800" baseline="-25000">
                <a:latin typeface="Times New Roman" panose="02020603050405020304" pitchFamily="18" charset="0"/>
                <a:cs typeface="Times New Roman" panose="02020603050405020304" pitchFamily="18" charset="0"/>
              </a:rPr>
              <a:t>1</a:t>
            </a:r>
            <a:r>
              <a:rPr lang="en-US" altLang="en-US" sz="2800">
                <a:latin typeface="Times New Roman" panose="02020603050405020304" pitchFamily="18" charset="0"/>
                <a:cs typeface="Times New Roman" panose="02020603050405020304" pitchFamily="18" charset="0"/>
              </a:rPr>
              <a:t> through E</a:t>
            </a:r>
            <a:r>
              <a:rPr lang="en-US" altLang="en-US" sz="2800" baseline="-25000">
                <a:latin typeface="Times New Roman" panose="02020603050405020304" pitchFamily="18" charset="0"/>
                <a:cs typeface="Times New Roman" panose="02020603050405020304" pitchFamily="18" charset="0"/>
              </a:rPr>
              <a:t>m</a:t>
            </a:r>
            <a:endParaRPr lang="en-US" altLang="en-US" sz="2800">
              <a:latin typeface="Times New Roman" panose="02020603050405020304" pitchFamily="18" charset="0"/>
              <a:cs typeface="Times New Roman" panose="02020603050405020304" pitchFamily="18" charset="0"/>
            </a:endParaRPr>
          </a:p>
          <a:p>
            <a:pPr algn="just">
              <a:lnSpc>
                <a:spcPct val="8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Let </a:t>
            </a:r>
            <a:r>
              <a:rPr lang="en-US" altLang="en-US" sz="2800" b="1">
                <a:latin typeface="Times New Roman" panose="02020603050405020304" pitchFamily="18" charset="0"/>
                <a:cs typeface="Times New Roman" panose="02020603050405020304" pitchFamily="18" charset="0"/>
              </a:rPr>
              <a:t>E</a:t>
            </a:r>
            <a:r>
              <a:rPr lang="en-US" altLang="en-US" sz="2800">
                <a:latin typeface="Times New Roman" panose="02020603050405020304" pitchFamily="18" charset="0"/>
                <a:cs typeface="Times New Roman" panose="02020603050405020304" pitchFamily="18" charset="0"/>
              </a:rPr>
              <a:t> be the </a:t>
            </a:r>
            <a:r>
              <a:rPr lang="en-US" altLang="en-US" sz="2800" b="1">
                <a:latin typeface="Times New Roman" panose="02020603050405020304" pitchFamily="18" charset="0"/>
                <a:cs typeface="Times New Roman" panose="02020603050405020304" pitchFamily="18" charset="0"/>
              </a:rPr>
              <a:t>existing resource vector</a:t>
            </a:r>
            <a:r>
              <a:rPr lang="en-US" altLang="en-US" sz="2800">
                <a:latin typeface="Times New Roman" panose="02020603050405020304" pitchFamily="18" charset="0"/>
                <a:cs typeface="Times New Roman" panose="02020603050405020304" pitchFamily="18" charset="0"/>
              </a:rPr>
              <a:t> that gives the total number of instance of each resource in existence </a:t>
            </a:r>
          </a:p>
          <a:p>
            <a:pPr algn="just">
              <a:lnSpc>
                <a:spcPct val="8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Let </a:t>
            </a:r>
            <a:r>
              <a:rPr lang="en-US" altLang="en-US" sz="2800" b="1">
                <a:latin typeface="Times New Roman" panose="02020603050405020304" pitchFamily="18" charset="0"/>
                <a:cs typeface="Times New Roman" panose="02020603050405020304" pitchFamily="18" charset="0"/>
              </a:rPr>
              <a:t>A</a:t>
            </a:r>
            <a:r>
              <a:rPr lang="en-US" altLang="en-US" sz="2800">
                <a:latin typeface="Times New Roman" panose="02020603050405020304" pitchFamily="18" charset="0"/>
                <a:cs typeface="Times New Roman" panose="02020603050405020304" pitchFamily="18" charset="0"/>
              </a:rPr>
              <a:t> be the </a:t>
            </a:r>
            <a:r>
              <a:rPr lang="en-US" altLang="en-US" sz="2800" b="1">
                <a:latin typeface="Times New Roman" panose="02020603050405020304" pitchFamily="18" charset="0"/>
                <a:cs typeface="Times New Roman" panose="02020603050405020304" pitchFamily="18" charset="0"/>
              </a:rPr>
              <a:t>available resource vector</a:t>
            </a:r>
            <a:r>
              <a:rPr lang="en-US" altLang="en-US" sz="2800">
                <a:latin typeface="Times New Roman" panose="02020603050405020304" pitchFamily="18" charset="0"/>
                <a:cs typeface="Times New Roman" panose="02020603050405020304" pitchFamily="18" charset="0"/>
              </a:rPr>
              <a:t>, with A</a:t>
            </a:r>
            <a:r>
              <a:rPr lang="en-US" altLang="en-US" sz="2800" baseline="-25000">
                <a:latin typeface="Times New Roman" panose="02020603050405020304" pitchFamily="18" charset="0"/>
                <a:cs typeface="Times New Roman" panose="02020603050405020304" pitchFamily="18" charset="0"/>
              </a:rPr>
              <a:t>i</a:t>
            </a:r>
            <a:r>
              <a:rPr lang="en-US" altLang="en-US" sz="2800">
                <a:latin typeface="Times New Roman" panose="02020603050405020304" pitchFamily="18" charset="0"/>
                <a:cs typeface="Times New Roman" panose="02020603050405020304" pitchFamily="18" charset="0"/>
              </a:rPr>
              <a:t> giving the number of instances of resource i that are current available/ unsigned</a:t>
            </a:r>
          </a:p>
          <a:p>
            <a:pPr algn="just">
              <a:lnSpc>
                <a:spcPct val="8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Let C be the </a:t>
            </a:r>
            <a:r>
              <a:rPr lang="en-US" altLang="en-US" sz="2800" b="1">
                <a:latin typeface="Times New Roman" panose="02020603050405020304" pitchFamily="18" charset="0"/>
                <a:cs typeface="Times New Roman" panose="02020603050405020304" pitchFamily="18" charset="0"/>
              </a:rPr>
              <a:t>current allocation matrix</a:t>
            </a:r>
            <a:r>
              <a:rPr lang="en-US" altLang="en-US" sz="2800">
                <a:latin typeface="Times New Roman" panose="02020603050405020304" pitchFamily="18" charset="0"/>
                <a:cs typeface="Times New Roman" panose="02020603050405020304" pitchFamily="18" charset="0"/>
              </a:rPr>
              <a:t>, with </a:t>
            </a:r>
          </a:p>
          <a:p>
            <a:pPr lvl="1" algn="just">
              <a:lnSpc>
                <a:spcPct val="80000"/>
              </a:lnSpc>
            </a:pPr>
            <a:r>
              <a:rPr lang="en-US" altLang="en-US" sz="2400">
                <a:latin typeface="Times New Roman" panose="02020603050405020304" pitchFamily="18" charset="0"/>
                <a:cs typeface="Times New Roman" panose="02020603050405020304" pitchFamily="18" charset="0"/>
              </a:rPr>
              <a:t>The i-th row of C tells how many instances of each resource class P</a:t>
            </a:r>
            <a:r>
              <a:rPr lang="en-US" altLang="en-US" sz="2400" baseline="-25000">
                <a:latin typeface="Times New Roman" panose="02020603050405020304" pitchFamily="18" charset="0"/>
                <a:cs typeface="Times New Roman" panose="02020603050405020304" pitchFamily="18" charset="0"/>
              </a:rPr>
              <a:t>i</a:t>
            </a:r>
            <a:r>
              <a:rPr lang="en-US" altLang="en-US" sz="2400">
                <a:latin typeface="Times New Roman" panose="02020603050405020304" pitchFamily="18" charset="0"/>
                <a:cs typeface="Times New Roman" panose="02020603050405020304" pitchFamily="18" charset="0"/>
              </a:rPr>
              <a:t> currently holds</a:t>
            </a:r>
          </a:p>
          <a:p>
            <a:pPr lvl="1" algn="just">
              <a:lnSpc>
                <a:spcPct val="80000"/>
              </a:lnSpc>
            </a:pPr>
            <a:r>
              <a:rPr lang="en-US" altLang="en-US" sz="2400">
                <a:latin typeface="Times New Roman" panose="02020603050405020304" pitchFamily="18" charset="0"/>
                <a:cs typeface="Times New Roman" panose="02020603050405020304" pitchFamily="18" charset="0"/>
              </a:rPr>
              <a:t>C</a:t>
            </a:r>
            <a:r>
              <a:rPr lang="en-US" altLang="en-US" sz="2400" baseline="-25000">
                <a:latin typeface="Times New Roman" panose="02020603050405020304" pitchFamily="18" charset="0"/>
                <a:cs typeface="Times New Roman" panose="02020603050405020304" pitchFamily="18" charset="0"/>
              </a:rPr>
              <a:t>ij</a:t>
            </a:r>
            <a:r>
              <a:rPr lang="en-US" altLang="en-US" sz="2400">
                <a:latin typeface="Times New Roman" panose="02020603050405020304" pitchFamily="18" charset="0"/>
                <a:cs typeface="Times New Roman" panose="02020603050405020304" pitchFamily="18" charset="0"/>
              </a:rPr>
              <a:t> is the number of instances of resource j that P</a:t>
            </a:r>
            <a:r>
              <a:rPr lang="en-US" altLang="en-US" sz="2400" baseline="-25000">
                <a:latin typeface="Times New Roman" panose="02020603050405020304" pitchFamily="18" charset="0"/>
                <a:cs typeface="Times New Roman" panose="02020603050405020304" pitchFamily="18" charset="0"/>
              </a:rPr>
              <a:t>i </a:t>
            </a:r>
            <a:r>
              <a:rPr lang="en-US" altLang="en-US" sz="2400">
                <a:latin typeface="Times New Roman" panose="02020603050405020304" pitchFamily="18" charset="0"/>
                <a:cs typeface="Times New Roman" panose="02020603050405020304" pitchFamily="18" charset="0"/>
              </a:rPr>
              <a:t>holds</a:t>
            </a:r>
          </a:p>
          <a:p>
            <a:pPr algn="just">
              <a:lnSpc>
                <a:spcPct val="8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Let R be the </a:t>
            </a:r>
            <a:r>
              <a:rPr lang="en-US" altLang="en-US" sz="2800" b="1">
                <a:latin typeface="Times New Roman" panose="02020603050405020304" pitchFamily="18" charset="0"/>
                <a:cs typeface="Times New Roman" panose="02020603050405020304" pitchFamily="18" charset="0"/>
              </a:rPr>
              <a:t>request matrix</a:t>
            </a:r>
            <a:r>
              <a:rPr lang="en-US" altLang="en-US" sz="2800">
                <a:latin typeface="Times New Roman" panose="02020603050405020304" pitchFamily="18" charset="0"/>
                <a:cs typeface="Times New Roman" panose="02020603050405020304" pitchFamily="18" charset="0"/>
              </a:rPr>
              <a:t>, with</a:t>
            </a:r>
          </a:p>
          <a:p>
            <a:pPr lvl="1" algn="just">
              <a:lnSpc>
                <a:spcPct val="80000"/>
              </a:lnSpc>
            </a:pPr>
            <a:r>
              <a:rPr lang="en-US" altLang="en-US" sz="2400">
                <a:latin typeface="Times New Roman" panose="02020603050405020304" pitchFamily="18" charset="0"/>
                <a:cs typeface="Times New Roman" panose="02020603050405020304" pitchFamily="18" charset="0"/>
              </a:rPr>
              <a:t>The i-th row of P tells how many instances of each resource class P</a:t>
            </a:r>
            <a:r>
              <a:rPr lang="en-US" altLang="en-US" sz="2400" baseline="-25000">
                <a:latin typeface="Times New Roman" panose="02020603050405020304" pitchFamily="18" charset="0"/>
                <a:cs typeface="Times New Roman" panose="02020603050405020304" pitchFamily="18" charset="0"/>
              </a:rPr>
              <a:t>i</a:t>
            </a:r>
            <a:r>
              <a:rPr lang="en-US" altLang="en-US" sz="2400">
                <a:latin typeface="Times New Roman" panose="02020603050405020304" pitchFamily="18" charset="0"/>
                <a:cs typeface="Times New Roman" panose="02020603050405020304" pitchFamily="18" charset="0"/>
              </a:rPr>
              <a:t> currently wants</a:t>
            </a:r>
          </a:p>
          <a:p>
            <a:pPr lvl="1" algn="just">
              <a:lnSpc>
                <a:spcPct val="80000"/>
              </a:lnSpc>
            </a:pPr>
            <a:r>
              <a:rPr lang="en-US" altLang="en-US" sz="2400">
                <a:latin typeface="Times New Roman" panose="02020603050405020304" pitchFamily="18" charset="0"/>
                <a:cs typeface="Times New Roman" panose="02020603050405020304" pitchFamily="18" charset="0"/>
              </a:rPr>
              <a:t>R</a:t>
            </a:r>
            <a:r>
              <a:rPr lang="en-US" altLang="en-US" sz="2400" baseline="-25000">
                <a:latin typeface="Times New Roman" panose="02020603050405020304" pitchFamily="18" charset="0"/>
                <a:cs typeface="Times New Roman" panose="02020603050405020304" pitchFamily="18" charset="0"/>
              </a:rPr>
              <a:t>ij</a:t>
            </a:r>
            <a:r>
              <a:rPr lang="en-US" altLang="en-US" sz="2400">
                <a:latin typeface="Times New Roman" panose="02020603050405020304" pitchFamily="18" charset="0"/>
                <a:cs typeface="Times New Roman" panose="02020603050405020304" pitchFamily="18" charset="0"/>
              </a:rPr>
              <a:t> is the number of instances of resource j that P</a:t>
            </a:r>
            <a:r>
              <a:rPr lang="en-US" altLang="en-US" sz="2400" baseline="-25000">
                <a:latin typeface="Times New Roman" panose="02020603050405020304" pitchFamily="18" charset="0"/>
                <a:cs typeface="Times New Roman" panose="02020603050405020304" pitchFamily="18" charset="0"/>
              </a:rPr>
              <a:t>i</a:t>
            </a:r>
            <a:r>
              <a:rPr lang="en-US" altLang="en-US" sz="2400">
                <a:latin typeface="Times New Roman" panose="02020603050405020304" pitchFamily="18" charset="0"/>
                <a:cs typeface="Times New Roman" panose="02020603050405020304" pitchFamily="18" charset="0"/>
              </a:rPr>
              <a:t> wants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p:cNvSpPr>
          <p:nvPr>
            <p:ph type="title"/>
          </p:nvPr>
        </p:nvSpPr>
        <p:spPr>
          <a:xfrm>
            <a:off x="152400" y="76200"/>
            <a:ext cx="9144000" cy="762000"/>
          </a:xfrm>
        </p:spPr>
        <p:txBody>
          <a:bodyPr/>
          <a:lstStyle/>
          <a:p>
            <a:r>
              <a:rPr lang="en-US" altLang="en-US" sz="4000" b="1">
                <a:latin typeface="Times New Roman" panose="02020603050405020304" pitchFamily="18" charset="0"/>
                <a:cs typeface="Times New Roman" panose="02020603050405020304" pitchFamily="18" charset="0"/>
              </a:rPr>
              <a:t>            Deadlock Detection &amp; Recovery </a:t>
            </a:r>
            <a:br>
              <a:rPr lang="en-US" altLang="en-US" sz="4000" b="1">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Deadlock Detection with Multiple Resource of Each Type</a:t>
            </a:r>
          </a:p>
        </p:txBody>
      </p:sp>
      <p:pic>
        <p:nvPicPr>
          <p:cNvPr id="102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66800"/>
            <a:ext cx="9144000" cy="416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26" name="Object 7"/>
          <p:cNvGraphicFramePr>
            <a:graphicFrameLocks noChangeAspect="1"/>
          </p:cNvGraphicFramePr>
          <p:nvPr/>
        </p:nvGraphicFramePr>
        <p:xfrm>
          <a:off x="3276600" y="5181600"/>
          <a:ext cx="2743200" cy="1195388"/>
        </p:xfrm>
        <a:graphic>
          <a:graphicData uri="http://schemas.openxmlformats.org/presentationml/2006/ole">
            <mc:AlternateContent xmlns:mc="http://schemas.openxmlformats.org/markup-compatibility/2006">
              <mc:Choice xmlns:v="urn:schemas-microsoft-com:vml" Requires="v">
                <p:oleObj spid="_x0000_s1032" name="Equation" r:id="rId5" imgW="990360" imgH="431640" progId="Equation.3">
                  <p:embed/>
                </p:oleObj>
              </mc:Choice>
              <mc:Fallback>
                <p:oleObj name="Equation" r:id="rId5" imgW="990360" imgH="43164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5181600"/>
                        <a:ext cx="2743200" cy="1195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0370" name="Text Box 4"/>
          <p:cNvSpPr txBox="1">
            <a:spLocks noChangeArrowheads="1"/>
          </p:cNvSpPr>
          <p:nvPr/>
        </p:nvSpPr>
        <p:spPr bwMode="auto">
          <a:xfrm>
            <a:off x="3733800" y="4800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5-46.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228600" y="0"/>
            <a:ext cx="9144000" cy="990600"/>
          </a:xfrm>
        </p:spPr>
        <p:txBody>
          <a:bodyPr/>
          <a:lstStyle/>
          <a:p>
            <a:r>
              <a:rPr lang="en-US" altLang="en-US" sz="4000" b="1">
                <a:latin typeface="Times New Roman" panose="02020603050405020304" pitchFamily="18" charset="0"/>
                <a:cs typeface="Times New Roman" panose="02020603050405020304" pitchFamily="18" charset="0"/>
              </a:rPr>
              <a:t>          Deadlock Detection &amp; Recovery </a:t>
            </a:r>
            <a:br>
              <a:rPr lang="en-US" altLang="en-US" sz="4000" b="1">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Deadlock Detection with Multiple Resource of Each Type</a:t>
            </a:r>
          </a:p>
        </p:txBody>
      </p:sp>
      <p:sp>
        <p:nvSpPr>
          <p:cNvPr id="32771" name="Rectangle 3"/>
          <p:cNvSpPr>
            <a:spLocks noGrp="1"/>
          </p:cNvSpPr>
          <p:nvPr>
            <p:ph type="body" idx="1"/>
          </p:nvPr>
        </p:nvSpPr>
        <p:spPr>
          <a:xfrm>
            <a:off x="0" y="1066800"/>
            <a:ext cx="9144000" cy="5791200"/>
          </a:xfrm>
        </p:spPr>
        <p:txBody>
          <a:bodyPr/>
          <a:lstStyle/>
          <a:p>
            <a:pPr marL="274638" indent="-274638"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Each process </a:t>
            </a:r>
            <a:r>
              <a:rPr lang="en-US" altLang="en-US" sz="2800">
                <a:latin typeface="Times New Roman" panose="02020603050405020304" pitchFamily="18" charset="0"/>
                <a:cs typeface="Times New Roman" panose="02020603050405020304" pitchFamily="18" charset="0"/>
              </a:rPr>
              <a:t>is </a:t>
            </a:r>
            <a:r>
              <a:rPr lang="en-US" altLang="en-US" sz="2800" b="1">
                <a:latin typeface="Times New Roman" panose="02020603050405020304" pitchFamily="18" charset="0"/>
                <a:cs typeface="Times New Roman" panose="02020603050405020304" pitchFamily="18" charset="0"/>
              </a:rPr>
              <a:t>initially</a:t>
            </a:r>
            <a:r>
              <a:rPr lang="en-US" altLang="en-US" sz="2800">
                <a:latin typeface="Times New Roman" panose="02020603050405020304" pitchFamily="18" charset="0"/>
                <a:cs typeface="Times New Roman" panose="02020603050405020304" pitchFamily="18" charset="0"/>
              </a:rPr>
              <a:t> said to be </a:t>
            </a:r>
            <a:r>
              <a:rPr lang="en-US" altLang="en-US" sz="2800" b="1">
                <a:latin typeface="Times New Roman" panose="02020603050405020304" pitchFamily="18" charset="0"/>
                <a:cs typeface="Times New Roman" panose="02020603050405020304" pitchFamily="18" charset="0"/>
              </a:rPr>
              <a:t>unmarked</a:t>
            </a:r>
          </a:p>
          <a:p>
            <a:pPr marL="274638" indent="-274638"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Deadlock detection </a:t>
            </a:r>
            <a:r>
              <a:rPr lang="en-US" altLang="en-US" sz="2800" b="1">
                <a:latin typeface="Times New Roman" panose="02020603050405020304" pitchFamily="18" charset="0"/>
                <a:cs typeface="Times New Roman" panose="02020603050405020304" pitchFamily="18" charset="0"/>
              </a:rPr>
              <a:t>algorithm</a:t>
            </a:r>
          </a:p>
          <a:p>
            <a:pPr marL="898525" lvl="1" indent="-365125" algn="just">
              <a:lnSpc>
                <a:spcPct val="90000"/>
              </a:lnSpc>
              <a:buFont typeface="Arial" panose="020B0604020202020204" pitchFamily="34" charset="0"/>
              <a:buAutoNum type="arabicPeriod"/>
            </a:pPr>
            <a:r>
              <a:rPr lang="en-US" altLang="en-US" sz="2400" b="1">
                <a:latin typeface="Times New Roman" panose="02020603050405020304" pitchFamily="18" charset="0"/>
                <a:cs typeface="Times New Roman" panose="02020603050405020304" pitchFamily="18" charset="0"/>
              </a:rPr>
              <a:t>Look</a:t>
            </a:r>
            <a:r>
              <a:rPr lang="en-US" altLang="en-US" sz="2400">
                <a:latin typeface="Times New Roman" panose="02020603050405020304" pitchFamily="18" charset="0"/>
                <a:cs typeface="Times New Roman" panose="02020603050405020304" pitchFamily="18" charset="0"/>
              </a:rPr>
              <a:t> for an </a:t>
            </a:r>
            <a:r>
              <a:rPr lang="en-US" altLang="en-US" sz="2400" b="1">
                <a:latin typeface="Times New Roman" panose="02020603050405020304" pitchFamily="18" charset="0"/>
                <a:cs typeface="Times New Roman" panose="02020603050405020304" pitchFamily="18" charset="0"/>
              </a:rPr>
              <a:t>unmarked process</a:t>
            </a:r>
            <a:r>
              <a:rPr lang="en-US" altLang="en-US" sz="2400">
                <a:latin typeface="Times New Roman" panose="02020603050405020304" pitchFamily="18" charset="0"/>
                <a:cs typeface="Times New Roman" panose="02020603050405020304" pitchFamily="18" charset="0"/>
              </a:rPr>
              <a:t>, P</a:t>
            </a:r>
            <a:r>
              <a:rPr lang="en-US" altLang="en-US" sz="2400" baseline="-25000">
                <a:latin typeface="Times New Roman" panose="02020603050405020304" pitchFamily="18" charset="0"/>
                <a:cs typeface="Times New Roman" panose="02020603050405020304" pitchFamily="18" charset="0"/>
              </a:rPr>
              <a:t>i</a:t>
            </a:r>
            <a:r>
              <a:rPr lang="en-US" altLang="en-US" sz="2400">
                <a:latin typeface="Times New Roman" panose="02020603050405020304" pitchFamily="18" charset="0"/>
                <a:cs typeface="Times New Roman" panose="02020603050405020304" pitchFamily="18" charset="0"/>
              </a:rPr>
              <a:t>, for which the </a:t>
            </a:r>
            <a:r>
              <a:rPr lang="en-US" altLang="en-US" sz="2400" b="1">
                <a:latin typeface="Times New Roman" panose="02020603050405020304" pitchFamily="18" charset="0"/>
                <a:cs typeface="Times New Roman" panose="02020603050405020304" pitchFamily="18" charset="0"/>
              </a:rPr>
              <a:t>R</a:t>
            </a:r>
            <a:r>
              <a:rPr lang="en-US" altLang="en-US" sz="2400" b="1" baseline="-25000">
                <a:latin typeface="Times New Roman" panose="02020603050405020304" pitchFamily="18" charset="0"/>
                <a:cs typeface="Times New Roman" panose="02020603050405020304" pitchFamily="18" charset="0"/>
              </a:rPr>
              <a:t>i</a:t>
            </a:r>
            <a:r>
              <a:rPr lang="en-US" altLang="en-US" sz="2400" b="1">
                <a:latin typeface="Times New Roman" panose="02020603050405020304" pitchFamily="18" charset="0"/>
                <a:cs typeface="Times New Roman" panose="02020603050405020304" pitchFamily="18" charset="0"/>
              </a:rPr>
              <a:t> is less than or equal to A.</a:t>
            </a:r>
          </a:p>
          <a:p>
            <a:pPr marL="898525" lvl="1" indent="-365125" algn="just">
              <a:lnSpc>
                <a:spcPct val="90000"/>
              </a:lnSpc>
              <a:buFont typeface="Arial" panose="020B0604020202020204" pitchFamily="34" charset="0"/>
              <a:buAutoNum type="arabicPeriod"/>
            </a:pPr>
            <a:r>
              <a:rPr lang="en-US" altLang="en-US" sz="2400">
                <a:latin typeface="Times New Roman" panose="02020603050405020304" pitchFamily="18" charset="0"/>
                <a:cs typeface="Times New Roman" panose="02020603050405020304" pitchFamily="18" charset="0"/>
              </a:rPr>
              <a:t>If such a </a:t>
            </a:r>
            <a:r>
              <a:rPr lang="en-US" altLang="en-US" sz="2400" b="1">
                <a:latin typeface="Times New Roman" panose="02020603050405020304" pitchFamily="18" charset="0"/>
                <a:cs typeface="Times New Roman" panose="02020603050405020304" pitchFamily="18" charset="0"/>
              </a:rPr>
              <a:t>process is found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add C</a:t>
            </a:r>
            <a:r>
              <a:rPr lang="en-US" altLang="en-US" sz="2400" b="1" baseline="-25000">
                <a:latin typeface="Times New Roman" panose="02020603050405020304" pitchFamily="18" charset="0"/>
                <a:cs typeface="Times New Roman" panose="02020603050405020304" pitchFamily="18" charset="0"/>
              </a:rPr>
              <a:t>i</a:t>
            </a:r>
            <a:r>
              <a:rPr lang="en-US" altLang="en-US" sz="2400" b="1">
                <a:latin typeface="Times New Roman" panose="02020603050405020304" pitchFamily="18" charset="0"/>
                <a:cs typeface="Times New Roman" panose="02020603050405020304" pitchFamily="18" charset="0"/>
              </a:rPr>
              <a:t> to A</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mark</a:t>
            </a:r>
            <a:r>
              <a:rPr lang="en-US" altLang="en-US" sz="2400">
                <a:latin typeface="Times New Roman" panose="02020603050405020304" pitchFamily="18" charset="0"/>
                <a:cs typeface="Times New Roman" panose="02020603050405020304" pitchFamily="18" charset="0"/>
              </a:rPr>
              <a:t> the process, and </a:t>
            </a:r>
            <a:r>
              <a:rPr lang="en-US" altLang="en-US" sz="2400" b="1">
                <a:latin typeface="Times New Roman" panose="02020603050405020304" pitchFamily="18" charset="0"/>
                <a:cs typeface="Times New Roman" panose="02020603050405020304" pitchFamily="18" charset="0"/>
              </a:rPr>
              <a:t>go back to step 1</a:t>
            </a:r>
            <a:r>
              <a:rPr lang="en-US" altLang="en-US" sz="2400">
                <a:latin typeface="Times New Roman" panose="02020603050405020304" pitchFamily="18" charset="0"/>
                <a:cs typeface="Times New Roman" panose="02020603050405020304" pitchFamily="18" charset="0"/>
              </a:rPr>
              <a:t>.</a:t>
            </a:r>
          </a:p>
          <a:p>
            <a:pPr marL="898525" lvl="1" indent="-365125" algn="just">
              <a:lnSpc>
                <a:spcPct val="90000"/>
              </a:lnSpc>
              <a:buFont typeface="Arial" panose="020B0604020202020204" pitchFamily="34" charset="0"/>
              <a:buAutoNum type="arabicPeriod"/>
            </a:pPr>
            <a:r>
              <a:rPr lang="en-US" altLang="en-US" sz="2400">
                <a:latin typeface="Times New Roman" panose="02020603050405020304" pitchFamily="18" charset="0"/>
                <a:cs typeface="Times New Roman" panose="02020603050405020304" pitchFamily="18" charset="0"/>
              </a:rPr>
              <a:t>If </a:t>
            </a:r>
            <a:r>
              <a:rPr lang="en-US" altLang="en-US" sz="2400" b="1">
                <a:latin typeface="Times New Roman" panose="02020603050405020304" pitchFamily="18" charset="0"/>
                <a:cs typeface="Times New Roman" panose="02020603050405020304" pitchFamily="18" charset="0"/>
              </a:rPr>
              <a:t>no such process exists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algorithm terminates</a:t>
            </a:r>
          </a:p>
          <a:p>
            <a:pPr marL="274638" indent="-274638"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As the </a:t>
            </a:r>
            <a:r>
              <a:rPr lang="en-US" altLang="en-US" sz="2800" b="1">
                <a:latin typeface="Times New Roman" panose="02020603050405020304" pitchFamily="18" charset="0"/>
                <a:cs typeface="Times New Roman" panose="02020603050405020304" pitchFamily="18" charset="0"/>
              </a:rPr>
              <a:t>algorithm progresses</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processes</a:t>
            </a:r>
            <a:r>
              <a:rPr lang="en-US" altLang="en-US" sz="2800">
                <a:latin typeface="Times New Roman" panose="02020603050405020304" pitchFamily="18" charset="0"/>
                <a:cs typeface="Times New Roman" panose="02020603050405020304" pitchFamily="18" charset="0"/>
              </a:rPr>
              <a:t> will be </a:t>
            </a:r>
            <a:r>
              <a:rPr lang="en-US" altLang="en-US" sz="2800" b="1">
                <a:latin typeface="Times New Roman" panose="02020603050405020304" pitchFamily="18" charset="0"/>
                <a:cs typeface="Times New Roman" panose="02020603050405020304" pitchFamily="18" charset="0"/>
              </a:rPr>
              <a:t>marked</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indicating</a:t>
            </a:r>
            <a:r>
              <a:rPr lang="en-US" altLang="en-US" sz="2800">
                <a:latin typeface="Times New Roman" panose="02020603050405020304" pitchFamily="18" charset="0"/>
                <a:cs typeface="Times New Roman" panose="02020603050405020304" pitchFamily="18" charset="0"/>
              </a:rPr>
              <a:t> that they are able to </a:t>
            </a:r>
            <a:r>
              <a:rPr lang="en-US" altLang="en-US" sz="2800" b="1">
                <a:latin typeface="Times New Roman" panose="02020603050405020304" pitchFamily="18" charset="0"/>
                <a:cs typeface="Times New Roman" panose="02020603050405020304" pitchFamily="18" charset="0"/>
              </a:rPr>
              <a:t>complete</a:t>
            </a:r>
            <a:r>
              <a:rPr lang="en-US" altLang="en-US" sz="2800">
                <a:latin typeface="Times New Roman" panose="02020603050405020304" pitchFamily="18" charset="0"/>
                <a:cs typeface="Times New Roman" panose="02020603050405020304" pitchFamily="18" charset="0"/>
              </a:rPr>
              <a:t> and are thus </a:t>
            </a:r>
            <a:r>
              <a:rPr lang="en-US" altLang="en-US" sz="2800" b="1">
                <a:latin typeface="Times New Roman" panose="02020603050405020304" pitchFamily="18" charset="0"/>
                <a:cs typeface="Times New Roman" panose="02020603050405020304" pitchFamily="18" charset="0"/>
              </a:rPr>
              <a:t>not deadlocked</a:t>
            </a:r>
          </a:p>
          <a:p>
            <a:pPr marL="274638" indent="-274638"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When the </a:t>
            </a:r>
            <a:r>
              <a:rPr lang="en-US" altLang="en-US" sz="2800" b="1">
                <a:latin typeface="Times New Roman" panose="02020603050405020304" pitchFamily="18" charset="0"/>
                <a:cs typeface="Times New Roman" panose="02020603050405020304" pitchFamily="18" charset="0"/>
              </a:rPr>
              <a:t>algorithm terminates</a:t>
            </a:r>
            <a:r>
              <a:rPr lang="en-US" altLang="en-US" sz="2800">
                <a:latin typeface="Times New Roman" panose="02020603050405020304" pitchFamily="18" charset="0"/>
                <a:cs typeface="Times New Roman" panose="02020603050405020304" pitchFamily="18" charset="0"/>
              </a:rPr>
              <a:t>, any </a:t>
            </a:r>
            <a:r>
              <a:rPr lang="en-US" altLang="en-US" sz="2800" b="1">
                <a:latin typeface="Times New Roman" panose="02020603050405020304" pitchFamily="18" charset="0"/>
                <a:cs typeface="Times New Roman" panose="02020603050405020304" pitchFamily="18" charset="0"/>
              </a:rPr>
              <a:t>unmarked processes </a:t>
            </a:r>
            <a:r>
              <a:rPr lang="en-US" altLang="en-US" sz="2800">
                <a:latin typeface="Times New Roman" panose="02020603050405020304" pitchFamily="18" charset="0"/>
                <a:cs typeface="Times New Roman" panose="02020603050405020304" pitchFamily="18" charset="0"/>
              </a:rPr>
              <a:t>are known to </a:t>
            </a:r>
            <a:r>
              <a:rPr lang="en-US" altLang="en-US" sz="2800" b="1">
                <a:latin typeface="Times New Roman" panose="02020603050405020304" pitchFamily="18" charset="0"/>
                <a:cs typeface="Times New Roman" panose="02020603050405020304" pitchFamily="18" charset="0"/>
              </a:rPr>
              <a:t>be deadlocked</a:t>
            </a:r>
          </a:p>
          <a:p>
            <a:pPr marL="274638" indent="-274638"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This algorithm </a:t>
            </a:r>
            <a:r>
              <a:rPr lang="en-US" altLang="en-US" sz="2800" b="1">
                <a:latin typeface="Times New Roman" panose="02020603050405020304" pitchFamily="18" charset="0"/>
                <a:cs typeface="Times New Roman" panose="02020603050405020304" pitchFamily="18" charset="0"/>
              </a:rPr>
              <a:t>assumes a worst-case scenario</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all</a:t>
            </a:r>
            <a:r>
              <a:rPr lang="en-US" altLang="en-US" sz="2800">
                <a:latin typeface="Times New Roman" panose="02020603050405020304" pitchFamily="18" charset="0"/>
                <a:cs typeface="Times New Roman" panose="02020603050405020304" pitchFamily="18" charset="0"/>
              </a:rPr>
              <a:t> processes </a:t>
            </a:r>
            <a:r>
              <a:rPr lang="en-US" altLang="en-US" sz="2800" b="1">
                <a:latin typeface="Times New Roman" panose="02020603050405020304" pitchFamily="18" charset="0"/>
                <a:cs typeface="Times New Roman" panose="02020603050405020304" pitchFamily="18" charset="0"/>
              </a:rPr>
              <a:t>keep</a:t>
            </a:r>
            <a:r>
              <a:rPr lang="en-US" altLang="en-US" sz="2800">
                <a:latin typeface="Times New Roman" panose="02020603050405020304" pitchFamily="18" charset="0"/>
                <a:cs typeface="Times New Roman" panose="02020603050405020304" pitchFamily="18" charset="0"/>
              </a:rPr>
              <a:t> all </a:t>
            </a:r>
            <a:r>
              <a:rPr lang="en-US" altLang="en-US" sz="2800" b="1">
                <a:latin typeface="Times New Roman" panose="02020603050405020304" pitchFamily="18" charset="0"/>
                <a:cs typeface="Times New Roman" panose="02020603050405020304" pitchFamily="18" charset="0"/>
              </a:rPr>
              <a:t>acquired resources until they exit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idx="4294967295"/>
          </p:nvPr>
        </p:nvSpPr>
        <p:spPr>
          <a:xfrm>
            <a:off x="0" y="76200"/>
            <a:ext cx="9144000" cy="762000"/>
          </a:xfrm>
        </p:spPr>
        <p:txBody>
          <a:bodyPr/>
          <a:lstStyle/>
          <a:p>
            <a:r>
              <a:rPr lang="en-US" altLang="en-US"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Detection &amp; Recovery </a:t>
            </a:r>
            <a:br>
              <a:rPr lang="en-US" altLang="en-US" sz="4000" b="1">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Deadlock Detection with Multiple Resource of Each Type</a:t>
            </a:r>
          </a:p>
        </p:txBody>
      </p:sp>
      <p:sp>
        <p:nvSpPr>
          <p:cNvPr id="160370" name="Text Box 4"/>
          <p:cNvSpPr txBox="1">
            <a:spLocks noChangeArrowheads="1"/>
          </p:cNvSpPr>
          <p:nvPr/>
        </p:nvSpPr>
        <p:spPr bwMode="auto">
          <a:xfrm>
            <a:off x="3429000" y="62484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6-7.</a:t>
            </a:r>
          </a:p>
        </p:txBody>
      </p:sp>
      <p:pic>
        <p:nvPicPr>
          <p:cNvPr id="3379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90600"/>
            <a:ext cx="8991600" cy="529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0" name="Text Box 8"/>
          <p:cNvSpPr txBox="1">
            <a:spLocks noChangeArrowheads="1"/>
          </p:cNvSpPr>
          <p:nvPr/>
        </p:nvSpPr>
        <p:spPr bwMode="auto">
          <a:xfrm>
            <a:off x="6324600" y="5334000"/>
            <a:ext cx="16764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Arial Unicode MS" pitchFamily="34" charset="-128"/>
                <a:ea typeface="Arial Unicode MS" pitchFamily="34" charset="-128"/>
              </a:rPr>
              <a:t>2    1    0    1</a:t>
            </a:r>
          </a:p>
        </p:txBody>
      </p:sp>
      <p:sp>
        <p:nvSpPr>
          <p:cNvPr id="90121" name="Line 9"/>
          <p:cNvSpPr>
            <a:spLocks noChangeShapeType="1"/>
          </p:cNvSpPr>
          <p:nvPr/>
        </p:nvSpPr>
        <p:spPr bwMode="auto">
          <a:xfrm flipV="1">
            <a:off x="3657600" y="2590800"/>
            <a:ext cx="1447800" cy="3810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0122" name="Text Box 10"/>
          <p:cNvSpPr txBox="1">
            <a:spLocks noChangeArrowheads="1"/>
          </p:cNvSpPr>
          <p:nvPr/>
        </p:nvSpPr>
        <p:spPr bwMode="auto">
          <a:xfrm>
            <a:off x="685800" y="2667000"/>
            <a:ext cx="3124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No Process deadlock</a:t>
            </a:r>
          </a:p>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Progress: 3, 2, 1</a:t>
            </a:r>
          </a:p>
        </p:txBody>
      </p:sp>
      <p:sp>
        <p:nvSpPr>
          <p:cNvPr id="90123" name="Text Box 11"/>
          <p:cNvSpPr txBox="1">
            <a:spLocks noChangeArrowheads="1"/>
          </p:cNvSpPr>
          <p:nvPr/>
        </p:nvSpPr>
        <p:spPr bwMode="auto">
          <a:xfrm>
            <a:off x="685800" y="3505200"/>
            <a:ext cx="31242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Process 1, 2 deadlock</a:t>
            </a:r>
          </a:p>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Progress: 3</a:t>
            </a:r>
          </a:p>
        </p:txBody>
      </p:sp>
      <p:sp>
        <p:nvSpPr>
          <p:cNvPr id="90124" name="Line 12"/>
          <p:cNvSpPr>
            <a:spLocks noChangeShapeType="1"/>
          </p:cNvSpPr>
          <p:nvPr/>
        </p:nvSpPr>
        <p:spPr bwMode="auto">
          <a:xfrm>
            <a:off x="3657600" y="3886200"/>
            <a:ext cx="2590800" cy="14478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0122"/>
                                        </p:tgtEl>
                                        <p:attrNameLst>
                                          <p:attrName>style.visibility</p:attrName>
                                        </p:attrNameLst>
                                      </p:cBhvr>
                                      <p:to>
                                        <p:strVal val="visible"/>
                                      </p:to>
                                    </p:set>
                                    <p:animEffect transition="in" filter="box(in)">
                                      <p:cBhvr>
                                        <p:cTn id="12" dur="500"/>
                                        <p:tgtEl>
                                          <p:spTgt spid="90122"/>
                                        </p:tgtEl>
                                      </p:cBhvr>
                                    </p:animEffect>
                                  </p:childTnLst>
                                </p:cTn>
                              </p:par>
                              <p:par>
                                <p:cTn id="13" presetID="18" presetClass="entr" presetSubtype="3" fill="hold" nodeType="withEffect">
                                  <p:stCondLst>
                                    <p:cond delay="0"/>
                                  </p:stCondLst>
                                  <p:childTnLst>
                                    <p:set>
                                      <p:cBhvr>
                                        <p:cTn id="14" dur="1" fill="hold">
                                          <p:stCondLst>
                                            <p:cond delay="0"/>
                                          </p:stCondLst>
                                        </p:cTn>
                                        <p:tgtEl>
                                          <p:spTgt spid="90121"/>
                                        </p:tgtEl>
                                        <p:attrNameLst>
                                          <p:attrName>style.visibility</p:attrName>
                                        </p:attrNameLst>
                                      </p:cBhvr>
                                      <p:to>
                                        <p:strVal val="visible"/>
                                      </p:to>
                                    </p:set>
                                    <p:animEffect transition="in" filter="strips(upRight)">
                                      <p:cBhvr>
                                        <p:cTn id="15" dur="500"/>
                                        <p:tgtEl>
                                          <p:spTgt spid="9012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90120"/>
                                        </p:tgtEl>
                                        <p:attrNameLst>
                                          <p:attrName>style.visibility</p:attrName>
                                        </p:attrNameLst>
                                      </p:cBhvr>
                                      <p:to>
                                        <p:strVal val="visible"/>
                                      </p:to>
                                    </p:set>
                                    <p:animEffect transition="in" filter="box(in)">
                                      <p:cBhvr>
                                        <p:cTn id="20" dur="500"/>
                                        <p:tgtEl>
                                          <p:spTgt spid="9012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90123"/>
                                        </p:tgtEl>
                                        <p:attrNameLst>
                                          <p:attrName>style.visibility</p:attrName>
                                        </p:attrNameLst>
                                      </p:cBhvr>
                                      <p:to>
                                        <p:strVal val="visible"/>
                                      </p:to>
                                    </p:set>
                                    <p:animEffect transition="in" filter="box(in)">
                                      <p:cBhvr>
                                        <p:cTn id="25" dur="500"/>
                                        <p:tgtEl>
                                          <p:spTgt spid="90123"/>
                                        </p:tgtEl>
                                      </p:cBhvr>
                                    </p:animEffect>
                                  </p:childTnLst>
                                </p:cTn>
                              </p:par>
                              <p:par>
                                <p:cTn id="26" presetID="18" presetClass="entr" presetSubtype="3" fill="hold" nodeType="withEffect">
                                  <p:stCondLst>
                                    <p:cond delay="0"/>
                                  </p:stCondLst>
                                  <p:childTnLst>
                                    <p:set>
                                      <p:cBhvr>
                                        <p:cTn id="27" dur="1" fill="hold">
                                          <p:stCondLst>
                                            <p:cond delay="0"/>
                                          </p:stCondLst>
                                        </p:cTn>
                                        <p:tgtEl>
                                          <p:spTgt spid="90124"/>
                                        </p:tgtEl>
                                        <p:attrNameLst>
                                          <p:attrName>style.visibility</p:attrName>
                                        </p:attrNameLst>
                                      </p:cBhvr>
                                      <p:to>
                                        <p:strVal val="visible"/>
                                      </p:to>
                                    </p:set>
                                    <p:animEffect transition="in" filter="strips(upRight)">
                                      <p:cBhvr>
                                        <p:cTn id="28" dur="500"/>
                                        <p:tgtEl>
                                          <p:spTgt spid="90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P spid="90120" grpId="0" animBg="1"/>
      <p:bldP spid="90122" grpId="0"/>
      <p:bldP spid="901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p:cNvSpPr>
          <p:nvPr>
            <p:ph type="title" idx="4294967295"/>
          </p:nvPr>
        </p:nvSpPr>
        <p:spPr>
          <a:xfrm>
            <a:off x="0" y="76200"/>
            <a:ext cx="9144000" cy="762000"/>
          </a:xfrm>
        </p:spPr>
        <p:txBody>
          <a:bodyPr/>
          <a:lstStyle/>
          <a:p>
            <a:r>
              <a:rPr lang="en-US" altLang="en-US"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Detection &amp; Recovery </a:t>
            </a:r>
            <a:br>
              <a:rPr lang="en-US" altLang="en-US" sz="4000" b="1">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Deadlock Detection with Multiple Resource of Each Type</a:t>
            </a:r>
          </a:p>
        </p:txBody>
      </p:sp>
      <p:graphicFrame>
        <p:nvGraphicFramePr>
          <p:cNvPr id="2050" name="Object 10"/>
          <p:cNvGraphicFramePr>
            <a:graphicFrameLocks noChangeAspect="1"/>
          </p:cNvGraphicFramePr>
          <p:nvPr/>
        </p:nvGraphicFramePr>
        <p:xfrm>
          <a:off x="1143000" y="1066800"/>
          <a:ext cx="6934200" cy="4254500"/>
        </p:xfrm>
        <a:graphic>
          <a:graphicData uri="http://schemas.openxmlformats.org/presentationml/2006/ole">
            <mc:AlternateContent xmlns:mc="http://schemas.openxmlformats.org/markup-compatibility/2006">
              <mc:Choice xmlns:v="urn:schemas-microsoft-com:vml" Requires="v">
                <p:oleObj spid="_x0000_s2056" name="Equation" r:id="rId4" imgW="2234880" imgH="1371600" progId="Equation.3">
                  <p:embed/>
                </p:oleObj>
              </mc:Choice>
              <mc:Fallback>
                <p:oleObj name="Equation" r:id="rId4" imgW="2234880" imgH="13716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066800"/>
                        <a:ext cx="6934200" cy="425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71" name="Text Box 11"/>
          <p:cNvSpPr txBox="1">
            <a:spLocks noChangeArrowheads="1"/>
          </p:cNvSpPr>
          <p:nvPr/>
        </p:nvSpPr>
        <p:spPr bwMode="auto">
          <a:xfrm>
            <a:off x="3657600" y="57912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No Process deadlock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171"/>
                                        </p:tgtEl>
                                        <p:attrNameLst>
                                          <p:attrName>style.visibility</p:attrName>
                                        </p:attrNameLst>
                                      </p:cBhvr>
                                      <p:to>
                                        <p:strVal val="visible"/>
                                      </p:to>
                                    </p:set>
                                    <p:animEffect transition="in" filter="box(in)">
                                      <p:cBhvr>
                                        <p:cTn id="7" dur="500"/>
                                        <p:tgtEl>
                                          <p:spTgt spid="92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p:cNvSpPr>
          <p:nvPr>
            <p:ph type="title" idx="4294967295"/>
          </p:nvPr>
        </p:nvSpPr>
        <p:spPr>
          <a:xfrm>
            <a:off x="0" y="76200"/>
            <a:ext cx="9144000" cy="762000"/>
          </a:xfrm>
        </p:spPr>
        <p:txBody>
          <a:bodyPr/>
          <a:lstStyle/>
          <a:p>
            <a:r>
              <a:rPr lang="en-US" altLang="en-US"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Detection &amp; Recovery </a:t>
            </a:r>
            <a:br>
              <a:rPr lang="en-US" altLang="en-US" sz="4000" b="1">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Deadlock Detection with Multiple Resource of Each Type</a:t>
            </a:r>
          </a:p>
        </p:txBody>
      </p:sp>
      <p:graphicFrame>
        <p:nvGraphicFramePr>
          <p:cNvPr id="3074" name="Object 3"/>
          <p:cNvGraphicFramePr>
            <a:graphicFrameLocks noChangeAspect="1"/>
          </p:cNvGraphicFramePr>
          <p:nvPr/>
        </p:nvGraphicFramePr>
        <p:xfrm>
          <a:off x="1143000" y="1066800"/>
          <a:ext cx="6934200" cy="4254500"/>
        </p:xfrm>
        <a:graphic>
          <a:graphicData uri="http://schemas.openxmlformats.org/presentationml/2006/ole">
            <mc:AlternateContent xmlns:mc="http://schemas.openxmlformats.org/markup-compatibility/2006">
              <mc:Choice xmlns:v="urn:schemas-microsoft-com:vml" Requires="v">
                <p:oleObj spid="_x0000_s3080" name="Equation" r:id="rId4" imgW="2234880" imgH="1371600" progId="Equation.3">
                  <p:embed/>
                </p:oleObj>
              </mc:Choice>
              <mc:Fallback>
                <p:oleObj name="Equation" r:id="rId4" imgW="2234880" imgH="1371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066800"/>
                        <a:ext cx="6934200" cy="425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2" name="Text Box 4"/>
          <p:cNvSpPr txBox="1">
            <a:spLocks noChangeArrowheads="1"/>
          </p:cNvSpPr>
          <p:nvPr/>
        </p:nvSpPr>
        <p:spPr bwMode="auto">
          <a:xfrm>
            <a:off x="3124200" y="57912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Process 2, 3, 4, 5 deadlock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box(in)">
                                      <p:cBhvr>
                                        <p:cTn id="7" dur="500"/>
                                        <p:tgtEl>
                                          <p:spTgt spid="94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1524000" y="0"/>
            <a:ext cx="7772400" cy="1143000"/>
          </a:xfrm>
        </p:spPr>
        <p:txBody>
          <a:bodyPr/>
          <a:lstStyle/>
          <a:p>
            <a:r>
              <a:rPr lang="en-US" altLang="en-US" sz="4000" b="1">
                <a:latin typeface="Times New Roman" panose="02020603050405020304" pitchFamily="18" charset="0"/>
                <a:cs typeface="Times New Roman" panose="02020603050405020304" pitchFamily="18" charset="0"/>
              </a:rPr>
              <a:t>Deadlock Detection &amp; Recovery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Recovery from Deadlock</a:t>
            </a:r>
          </a:p>
        </p:txBody>
      </p:sp>
      <p:sp>
        <p:nvSpPr>
          <p:cNvPr id="29699" name="Rectangle 3"/>
          <p:cNvSpPr>
            <a:spLocks noGrp="1"/>
          </p:cNvSpPr>
          <p:nvPr>
            <p:ph type="body" idx="1"/>
          </p:nvPr>
        </p:nvSpPr>
        <p:spPr>
          <a:xfrm>
            <a:off x="0" y="1066800"/>
            <a:ext cx="9144000" cy="5791200"/>
          </a:xfrm>
        </p:spPr>
        <p:txBody>
          <a:bodyPr/>
          <a:lstStyle/>
          <a:p>
            <a:pPr algn="just">
              <a:buClrTx/>
              <a:buSzTx/>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Recovery through Preemption</a:t>
            </a:r>
          </a:p>
          <a:p>
            <a:pPr lvl="1" algn="just"/>
            <a:r>
              <a:rPr lang="en-US" altLang="en-US" dirty="0">
                <a:latin typeface="Times New Roman" panose="02020603050405020304" pitchFamily="18" charset="0"/>
                <a:cs typeface="Times New Roman" panose="02020603050405020304" pitchFamily="18" charset="0"/>
              </a:rPr>
              <a:t>The ability to </a:t>
            </a:r>
            <a:r>
              <a:rPr lang="en-US" altLang="en-US" b="1" dirty="0">
                <a:latin typeface="Times New Roman" panose="02020603050405020304" pitchFamily="18" charset="0"/>
                <a:cs typeface="Times New Roman" panose="02020603050405020304" pitchFamily="18" charset="0"/>
              </a:rPr>
              <a:t>take a resource away from a process</a:t>
            </a:r>
            <a:r>
              <a:rPr lang="en-US" altLang="en-US" dirty="0">
                <a:latin typeface="Times New Roman" panose="02020603050405020304" pitchFamily="18" charset="0"/>
                <a:cs typeface="Times New Roman" panose="02020603050405020304" pitchFamily="18" charset="0"/>
              </a:rPr>
              <a:t>, have </a:t>
            </a:r>
            <a:r>
              <a:rPr lang="en-US" altLang="en-US" b="1" dirty="0">
                <a:latin typeface="Times New Roman" panose="02020603050405020304" pitchFamily="18" charset="0"/>
                <a:cs typeface="Times New Roman" panose="02020603050405020304" pitchFamily="18" charset="0"/>
              </a:rPr>
              <a:t>another</a:t>
            </a:r>
            <a:r>
              <a:rPr lang="en-US" altLang="en-US" dirty="0">
                <a:latin typeface="Times New Roman" panose="02020603050405020304" pitchFamily="18" charset="0"/>
                <a:cs typeface="Times New Roman" panose="02020603050405020304" pitchFamily="18" charset="0"/>
              </a:rPr>
              <a:t> process </a:t>
            </a:r>
            <a:r>
              <a:rPr lang="en-US" altLang="en-US" b="1" dirty="0">
                <a:latin typeface="Times New Roman" panose="02020603050405020304" pitchFamily="18" charset="0"/>
                <a:cs typeface="Times New Roman" panose="02020603050405020304" pitchFamily="18" charset="0"/>
              </a:rPr>
              <a:t>use</a:t>
            </a:r>
            <a:r>
              <a:rPr lang="en-US" altLang="en-US" dirty="0">
                <a:latin typeface="Times New Roman" panose="02020603050405020304" pitchFamily="18" charset="0"/>
                <a:cs typeface="Times New Roman" panose="02020603050405020304" pitchFamily="18" charset="0"/>
              </a:rPr>
              <a:t> it, and </a:t>
            </a:r>
            <a:r>
              <a:rPr lang="en-US" altLang="en-US" b="1" dirty="0">
                <a:latin typeface="Times New Roman" panose="02020603050405020304" pitchFamily="18" charset="0"/>
                <a:cs typeface="Times New Roman" panose="02020603050405020304" pitchFamily="18" charset="0"/>
              </a:rPr>
              <a:t>then</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give</a:t>
            </a:r>
            <a:r>
              <a:rPr lang="en-US" altLang="en-US" dirty="0">
                <a:latin typeface="Times New Roman" panose="02020603050405020304" pitchFamily="18" charset="0"/>
                <a:cs typeface="Times New Roman" panose="02020603050405020304" pitchFamily="18" charset="0"/>
              </a:rPr>
              <a:t> it </a:t>
            </a:r>
            <a:r>
              <a:rPr lang="en-US" altLang="en-US" b="1" dirty="0">
                <a:latin typeface="Times New Roman" panose="02020603050405020304" pitchFamily="18" charset="0"/>
                <a:cs typeface="Times New Roman" panose="02020603050405020304" pitchFamily="18" charset="0"/>
              </a:rPr>
              <a:t>back</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without</a:t>
            </a:r>
            <a:r>
              <a:rPr lang="en-US" altLang="en-US" dirty="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process noticing </a:t>
            </a:r>
            <a:r>
              <a:rPr lang="en-US" altLang="en-US" dirty="0">
                <a:latin typeface="Times New Roman" panose="02020603050405020304" pitchFamily="18" charset="0"/>
                <a:cs typeface="Times New Roman" panose="02020603050405020304" pitchFamily="18" charset="0"/>
              </a:rPr>
              <a:t>it is highly dependent on the nature of the resource</a:t>
            </a:r>
          </a:p>
          <a:p>
            <a:pPr lvl="2" algn="just"/>
            <a:r>
              <a:rPr lang="en-US" altLang="en-US" dirty="0">
                <a:latin typeface="Times New Roman" panose="02020603050405020304" pitchFamily="18" charset="0"/>
                <a:cs typeface="Times New Roman" panose="02020603050405020304" pitchFamily="18" charset="0"/>
              </a:rPr>
              <a:t>It may be </a:t>
            </a:r>
            <a:r>
              <a:rPr lang="en-US" altLang="en-US" b="1" dirty="0">
                <a:latin typeface="Times New Roman" panose="02020603050405020304" pitchFamily="18" charset="0"/>
                <a:cs typeface="Times New Roman" panose="02020603050405020304" pitchFamily="18" charset="0"/>
              </a:rPr>
              <a:t>possible</a:t>
            </a:r>
            <a:r>
              <a:rPr lang="en-US" altLang="en-US" dirty="0">
                <a:latin typeface="Times New Roman" panose="02020603050405020304" pitchFamily="18" charset="0"/>
                <a:cs typeface="Times New Roman" panose="02020603050405020304" pitchFamily="18" charset="0"/>
              </a:rPr>
              <a:t> to </a:t>
            </a:r>
            <a:r>
              <a:rPr lang="en-US" altLang="en-US" b="1" dirty="0">
                <a:latin typeface="Times New Roman" panose="02020603050405020304" pitchFamily="18" charset="0"/>
                <a:cs typeface="Times New Roman" panose="02020603050405020304" pitchFamily="18" charset="0"/>
              </a:rPr>
              <a:t>temporarily</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take a resource away from</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its current owner and</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give</a:t>
            </a:r>
            <a:r>
              <a:rPr lang="en-US" altLang="en-US" dirty="0">
                <a:latin typeface="Times New Roman" panose="02020603050405020304" pitchFamily="18" charset="0"/>
                <a:cs typeface="Times New Roman" panose="02020603050405020304" pitchFamily="18" charset="0"/>
              </a:rPr>
              <a:t> it to </a:t>
            </a:r>
            <a:r>
              <a:rPr lang="en-US" altLang="en-US" b="1" dirty="0">
                <a:latin typeface="Times New Roman" panose="02020603050405020304" pitchFamily="18" charset="0"/>
                <a:cs typeface="Times New Roman" panose="02020603050405020304" pitchFamily="18" charset="0"/>
              </a:rPr>
              <a:t>another</a:t>
            </a:r>
            <a:r>
              <a:rPr lang="en-US" altLang="en-US" dirty="0">
                <a:latin typeface="Times New Roman" panose="02020603050405020304" pitchFamily="18" charset="0"/>
                <a:cs typeface="Times New Roman" panose="02020603050405020304" pitchFamily="18" charset="0"/>
              </a:rPr>
              <a:t> process</a:t>
            </a:r>
          </a:p>
          <a:p>
            <a:pPr lvl="2" algn="just"/>
            <a:r>
              <a:rPr lang="en-US" altLang="en-US" b="1" dirty="0">
                <a:latin typeface="Times New Roman" panose="02020603050405020304" pitchFamily="18" charset="0"/>
                <a:cs typeface="Times New Roman" panose="02020603050405020304" pitchFamily="18" charset="0"/>
              </a:rPr>
              <a:t>Choosing</a:t>
            </a:r>
            <a:r>
              <a:rPr lang="en-US" altLang="en-US" dirty="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process</a:t>
            </a:r>
            <a:r>
              <a:rPr lang="en-US" altLang="en-US" dirty="0">
                <a:latin typeface="Times New Roman" panose="02020603050405020304" pitchFamily="18" charset="0"/>
                <a:cs typeface="Times New Roman" panose="02020603050405020304" pitchFamily="18" charset="0"/>
              </a:rPr>
              <a:t> to </a:t>
            </a:r>
            <a:r>
              <a:rPr lang="en-US" altLang="en-US" b="1" dirty="0">
                <a:latin typeface="Times New Roman" panose="02020603050405020304" pitchFamily="18" charset="0"/>
                <a:cs typeface="Times New Roman" panose="02020603050405020304" pitchFamily="18" charset="0"/>
              </a:rPr>
              <a:t>suspends largely </a:t>
            </a:r>
            <a:r>
              <a:rPr lang="en-US" altLang="en-US" dirty="0">
                <a:latin typeface="Times New Roman" panose="02020603050405020304" pitchFamily="18" charset="0"/>
                <a:cs typeface="Times New Roman" panose="02020603050405020304" pitchFamily="18" charset="0"/>
              </a:rPr>
              <a:t>on which ones have </a:t>
            </a:r>
            <a:r>
              <a:rPr lang="en-US" altLang="en-US" b="1" dirty="0">
                <a:latin typeface="Times New Roman" panose="02020603050405020304" pitchFamily="18" charset="0"/>
                <a:cs typeface="Times New Roman" panose="02020603050405020304" pitchFamily="18" charset="0"/>
              </a:rPr>
              <a:t>resources</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that</a:t>
            </a:r>
            <a:r>
              <a:rPr lang="en-US" altLang="en-US" dirty="0">
                <a:latin typeface="Times New Roman" panose="02020603050405020304" pitchFamily="18" charset="0"/>
                <a:cs typeface="Times New Roman" panose="02020603050405020304" pitchFamily="18" charset="0"/>
              </a:rPr>
              <a:t> can </a:t>
            </a:r>
            <a:r>
              <a:rPr lang="en-US" altLang="en-US" b="1" dirty="0">
                <a:latin typeface="Times New Roman" panose="02020603050405020304" pitchFamily="18" charset="0"/>
                <a:cs typeface="Times New Roman" panose="02020603050405020304" pitchFamily="18" charset="0"/>
              </a:rPr>
              <a:t>easily be taken back</a:t>
            </a:r>
          </a:p>
          <a:p>
            <a:pPr lvl="2" algn="just"/>
            <a:r>
              <a:rPr lang="en-US" altLang="en-US" dirty="0">
                <a:latin typeface="Times New Roman" panose="02020603050405020304" pitchFamily="18" charset="0"/>
                <a:cs typeface="Times New Roman" panose="02020603050405020304" pitchFamily="18" charset="0"/>
              </a:rPr>
              <a:t>In many cases, manual intervention may be required, especially in batch processing OS running on mainframes</a:t>
            </a:r>
          </a:p>
          <a:p>
            <a:pPr lvl="1" algn="just">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→Is </a:t>
            </a:r>
            <a:r>
              <a:rPr lang="en-US" altLang="en-US" b="1" dirty="0">
                <a:latin typeface="Times New Roman" panose="02020603050405020304" pitchFamily="18" charset="0"/>
                <a:cs typeface="Times New Roman" panose="02020603050405020304" pitchFamily="18" charset="0"/>
              </a:rPr>
              <a:t>frequently difficult or impossible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box(in)">
                                      <p:cBhvr>
                                        <p:cTn id="7" dur="500"/>
                                        <p:tgtEl>
                                          <p:spTgt spid="29699">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9699">
                                            <p:txEl>
                                              <p:pRg st="2" end="2"/>
                                            </p:txEl>
                                          </p:spTgt>
                                        </p:tgtEl>
                                        <p:attrNameLst>
                                          <p:attrName>style.visibility</p:attrName>
                                        </p:attrNameLst>
                                      </p:cBhvr>
                                      <p:to>
                                        <p:strVal val="visible"/>
                                      </p:to>
                                    </p:set>
                                    <p:animEffect transition="in" filter="box(in)">
                                      <p:cBhvr>
                                        <p:cTn id="10" dur="500"/>
                                        <p:tgtEl>
                                          <p:spTgt spid="29699">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animEffect transition="in" filter="box(in)">
                                      <p:cBhvr>
                                        <p:cTn id="13" dur="500"/>
                                        <p:tgtEl>
                                          <p:spTgt spid="29699">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9699">
                                            <p:txEl>
                                              <p:pRg st="4" end="4"/>
                                            </p:txEl>
                                          </p:spTgt>
                                        </p:tgtEl>
                                        <p:attrNameLst>
                                          <p:attrName>style.visibility</p:attrName>
                                        </p:attrNameLst>
                                      </p:cBhvr>
                                      <p:to>
                                        <p:strVal val="visible"/>
                                      </p:to>
                                    </p:set>
                                    <p:animEffect transition="in" filter="box(in)">
                                      <p:cBhvr>
                                        <p:cTn id="16" dur="500"/>
                                        <p:tgtEl>
                                          <p:spTgt spid="29699">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9699">
                                            <p:txEl>
                                              <p:pRg st="5" end="5"/>
                                            </p:txEl>
                                          </p:spTgt>
                                        </p:tgtEl>
                                        <p:attrNameLst>
                                          <p:attrName>style.visibility</p:attrName>
                                        </p:attrNameLst>
                                      </p:cBhvr>
                                      <p:to>
                                        <p:strVal val="visible"/>
                                      </p:to>
                                    </p:set>
                                    <p:animEffect transition="in" filter="box(in)">
                                      <p:cBhvr>
                                        <p:cTn id="19" dur="500"/>
                                        <p:tgtEl>
                                          <p:spTgt spid="296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1524000" y="76200"/>
            <a:ext cx="7772400" cy="914400"/>
          </a:xfrm>
        </p:spPr>
        <p:txBody>
          <a:bodyPr/>
          <a:lstStyle/>
          <a:p>
            <a:r>
              <a:rPr lang="en-US" altLang="en-US" sz="4000" b="1">
                <a:latin typeface="Times New Roman" panose="02020603050405020304" pitchFamily="18" charset="0"/>
                <a:cs typeface="Times New Roman" panose="02020603050405020304" pitchFamily="18" charset="0"/>
              </a:rPr>
              <a:t>Deadlock Detection &amp; Recovery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Recovery through Rollback</a:t>
            </a:r>
          </a:p>
        </p:txBody>
      </p:sp>
      <p:sp>
        <p:nvSpPr>
          <p:cNvPr id="30723" name="Rectangle 3"/>
          <p:cNvSpPr>
            <a:spLocks noGrp="1"/>
          </p:cNvSpPr>
          <p:nvPr>
            <p:ph type="body" idx="1"/>
          </p:nvPr>
        </p:nvSpPr>
        <p:spPr>
          <a:xfrm>
            <a:off x="0" y="914400"/>
            <a:ext cx="9144000" cy="5943600"/>
          </a:xfrm>
        </p:spPr>
        <p:txBody>
          <a:bodyPr/>
          <a:lstStyle/>
          <a:p>
            <a:pPr algn="just">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Checkpoint</a:t>
            </a:r>
          </a:p>
          <a:p>
            <a:pPr lvl="1" algn="just">
              <a:lnSpc>
                <a:spcPct val="80000"/>
              </a:lnSpc>
            </a:pPr>
            <a:r>
              <a:rPr lang="en-US" altLang="en-US" sz="2400">
                <a:latin typeface="Times New Roman" panose="02020603050405020304" pitchFamily="18" charset="0"/>
                <a:cs typeface="Times New Roman" panose="02020603050405020304" pitchFamily="18" charset="0"/>
              </a:rPr>
              <a:t>Is supported the system designers and machine operators know that deadlocks are likely</a:t>
            </a:r>
          </a:p>
          <a:p>
            <a:pPr lvl="1" algn="just">
              <a:lnSpc>
                <a:spcPct val="80000"/>
              </a:lnSpc>
            </a:pPr>
            <a:r>
              <a:rPr lang="en-US" altLang="en-US" sz="2400" b="1">
                <a:latin typeface="Times New Roman" panose="02020603050405020304" pitchFamily="18" charset="0"/>
                <a:cs typeface="Times New Roman" panose="02020603050405020304" pitchFamily="18" charset="0"/>
              </a:rPr>
              <a:t>Contains</a:t>
            </a:r>
            <a:r>
              <a:rPr lang="en-US" altLang="en-US" sz="2400">
                <a:latin typeface="Times New Roman" panose="02020603050405020304" pitchFamily="18" charset="0"/>
                <a:cs typeface="Times New Roman" panose="02020603050405020304" pitchFamily="18" charset="0"/>
              </a:rPr>
              <a:t> not only the </a:t>
            </a:r>
            <a:r>
              <a:rPr lang="en-US" altLang="en-US" sz="2400" b="1">
                <a:latin typeface="Times New Roman" panose="02020603050405020304" pitchFamily="18" charset="0"/>
                <a:cs typeface="Times New Roman" panose="02020603050405020304" pitchFamily="18" charset="0"/>
              </a:rPr>
              <a:t>memory image</a:t>
            </a:r>
            <a:r>
              <a:rPr lang="en-US" altLang="en-US" sz="2400">
                <a:latin typeface="Times New Roman" panose="02020603050405020304" pitchFamily="18" charset="0"/>
                <a:cs typeface="Times New Roman" panose="02020603050405020304" pitchFamily="18" charset="0"/>
              </a:rPr>
              <a:t>, but also the </a:t>
            </a:r>
            <a:r>
              <a:rPr lang="en-US" altLang="en-US" sz="2400" b="1">
                <a:latin typeface="Times New Roman" panose="02020603050405020304" pitchFamily="18" charset="0"/>
                <a:cs typeface="Times New Roman" panose="02020603050405020304" pitchFamily="18" charset="0"/>
              </a:rPr>
              <a:t>resource state assigning currently to the process</a:t>
            </a:r>
          </a:p>
          <a:p>
            <a:pPr algn="just">
              <a:lnSpc>
                <a:spcPct val="80000"/>
              </a:lnSpc>
              <a:buClrTx/>
              <a:buSzTx/>
              <a:buFont typeface="Wingdings" pitchFamily="2" charset="2"/>
              <a:buNone/>
            </a:pPr>
            <a:r>
              <a:rPr lang="en-US" altLang="en-US" sz="2800">
                <a:latin typeface="Times New Roman" panose="02020603050405020304" pitchFamily="18" charset="0"/>
                <a:cs typeface="Times New Roman" panose="02020603050405020304" pitchFamily="18" charset="0"/>
              </a:rPr>
              <a:t>	→ Checkpointing a process</a:t>
            </a:r>
          </a:p>
          <a:p>
            <a:pPr lvl="1" algn="just">
              <a:lnSpc>
                <a:spcPct val="80000"/>
              </a:lnSpc>
            </a:pPr>
            <a:r>
              <a:rPr lang="en-US" altLang="en-US" sz="2400">
                <a:latin typeface="Times New Roman" panose="02020603050405020304" pitchFamily="18" charset="0"/>
                <a:cs typeface="Times New Roman" panose="02020603050405020304" pitchFamily="18" charset="0"/>
              </a:rPr>
              <a:t>Process’s state is </a:t>
            </a:r>
            <a:r>
              <a:rPr lang="en-US" altLang="en-US" sz="2400" b="1">
                <a:latin typeface="Times New Roman" panose="02020603050405020304" pitchFamily="18" charset="0"/>
                <a:cs typeface="Times New Roman" panose="02020603050405020304" pitchFamily="18" charset="0"/>
              </a:rPr>
              <a:t>written to a file </a:t>
            </a:r>
            <a:r>
              <a:rPr lang="en-US" altLang="en-US" sz="2400">
                <a:latin typeface="Times New Roman" panose="02020603050405020304" pitchFamily="18" charset="0"/>
                <a:cs typeface="Times New Roman" panose="02020603050405020304" pitchFamily="18" charset="0"/>
              </a:rPr>
              <a:t>so </a:t>
            </a:r>
            <a:r>
              <a:rPr lang="en-US" altLang="en-US" sz="2400" b="1">
                <a:latin typeface="Times New Roman" panose="02020603050405020304" pitchFamily="18" charset="0"/>
                <a:cs typeface="Times New Roman" panose="02020603050405020304" pitchFamily="18" charset="0"/>
              </a:rPr>
              <a:t>that</a:t>
            </a:r>
            <a:r>
              <a:rPr lang="en-US" altLang="en-US" sz="2400">
                <a:latin typeface="Times New Roman" panose="02020603050405020304" pitchFamily="18" charset="0"/>
                <a:cs typeface="Times New Roman" panose="02020603050405020304" pitchFamily="18" charset="0"/>
              </a:rPr>
              <a:t> it can be </a:t>
            </a:r>
            <a:r>
              <a:rPr lang="en-US" altLang="en-US" sz="2400" b="1">
                <a:latin typeface="Times New Roman" panose="02020603050405020304" pitchFamily="18" charset="0"/>
                <a:cs typeface="Times New Roman" panose="02020603050405020304" pitchFamily="18" charset="0"/>
              </a:rPr>
              <a:t>restarted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later</a:t>
            </a:r>
          </a:p>
          <a:p>
            <a:pPr lvl="1" algn="just">
              <a:lnSpc>
                <a:spcPct val="80000"/>
              </a:lnSpc>
            </a:pPr>
            <a:r>
              <a:rPr lang="en-US" altLang="en-US" sz="2400">
                <a:latin typeface="Times New Roman" panose="02020603050405020304" pitchFamily="18" charset="0"/>
                <a:cs typeface="Times New Roman" panose="02020603050405020304" pitchFamily="18" charset="0"/>
              </a:rPr>
              <a:t>To be </a:t>
            </a:r>
            <a:r>
              <a:rPr lang="en-US" altLang="en-US" sz="2400" b="1">
                <a:latin typeface="Times New Roman" panose="02020603050405020304" pitchFamily="18" charset="0"/>
                <a:cs typeface="Times New Roman" panose="02020603050405020304" pitchFamily="18" charset="0"/>
              </a:rPr>
              <a:t>most effective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new</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checkpoints</a:t>
            </a:r>
            <a:r>
              <a:rPr lang="en-US" altLang="en-US" sz="2400">
                <a:latin typeface="Times New Roman" panose="02020603050405020304" pitchFamily="18" charset="0"/>
                <a:cs typeface="Times New Roman" panose="02020603050405020304" pitchFamily="18" charset="0"/>
              </a:rPr>
              <a:t> should </a:t>
            </a:r>
            <a:r>
              <a:rPr lang="en-US" altLang="en-US" sz="2400" b="1">
                <a:latin typeface="Times New Roman" panose="02020603050405020304" pitchFamily="18" charset="0"/>
                <a:cs typeface="Times New Roman" panose="02020603050405020304" pitchFamily="18" charset="0"/>
              </a:rPr>
              <a:t>not overwrite old </a:t>
            </a:r>
            <a:r>
              <a:rPr lang="en-US" altLang="en-US" sz="2400">
                <a:latin typeface="Times New Roman" panose="02020603050405020304" pitchFamily="18" charset="0"/>
                <a:cs typeface="Times New Roman" panose="02020603050405020304" pitchFamily="18" charset="0"/>
              </a:rPr>
              <a:t>ones </a:t>
            </a:r>
            <a:r>
              <a:rPr lang="en-US" altLang="en-US" sz="2400" b="1">
                <a:latin typeface="Times New Roman" panose="02020603050405020304" pitchFamily="18" charset="0"/>
                <a:cs typeface="Times New Roman" panose="02020603050405020304" pitchFamily="18" charset="0"/>
              </a:rPr>
              <a:t>but</a:t>
            </a:r>
            <a:r>
              <a:rPr lang="en-US" altLang="en-US" sz="2400">
                <a:latin typeface="Times New Roman" panose="02020603050405020304" pitchFamily="18" charset="0"/>
                <a:cs typeface="Times New Roman" panose="02020603050405020304" pitchFamily="18" charset="0"/>
              </a:rPr>
              <a:t> should be </a:t>
            </a:r>
            <a:r>
              <a:rPr lang="en-US" altLang="en-US" sz="2400" b="1">
                <a:latin typeface="Times New Roman" panose="02020603050405020304" pitchFamily="18" charset="0"/>
                <a:cs typeface="Times New Roman" panose="02020603050405020304" pitchFamily="18" charset="0"/>
              </a:rPr>
              <a:t>written to new files</a:t>
            </a:r>
            <a:r>
              <a:rPr lang="en-US" altLang="en-US" sz="2400">
                <a:latin typeface="Times New Roman" panose="02020603050405020304" pitchFamily="18" charset="0"/>
                <a:cs typeface="Times New Roman" panose="02020603050405020304" pitchFamily="18" charset="0"/>
              </a:rPr>
              <a:t>, so as the process execute, a whole sequence accumulates</a:t>
            </a:r>
          </a:p>
          <a:p>
            <a:pPr algn="just">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Recovery</a:t>
            </a:r>
          </a:p>
          <a:p>
            <a:pPr lvl="1" algn="just">
              <a:lnSpc>
                <a:spcPct val="80000"/>
              </a:lnSpc>
            </a:pPr>
            <a:r>
              <a:rPr lang="en-US" altLang="en-US" sz="2400" b="1">
                <a:latin typeface="Times New Roman" panose="02020603050405020304" pitchFamily="18" charset="0"/>
                <a:cs typeface="Times New Roman" panose="02020603050405020304" pitchFamily="18" charset="0"/>
              </a:rPr>
              <a:t>When</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deadlock</a:t>
            </a:r>
            <a:r>
              <a:rPr lang="en-US" altLang="en-US" sz="2400">
                <a:latin typeface="Times New Roman" panose="02020603050405020304" pitchFamily="18" charset="0"/>
                <a:cs typeface="Times New Roman" panose="02020603050405020304" pitchFamily="18" charset="0"/>
              </a:rPr>
              <a:t> is </a:t>
            </a:r>
            <a:r>
              <a:rPr lang="en-US" altLang="en-US" sz="2400" b="1">
                <a:latin typeface="Times New Roman" panose="02020603050405020304" pitchFamily="18" charset="0"/>
                <a:cs typeface="Times New Roman" panose="02020603050405020304" pitchFamily="18" charset="0"/>
              </a:rPr>
              <a:t>detected</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process</a:t>
            </a:r>
            <a:r>
              <a:rPr lang="en-US" altLang="en-US" sz="2400">
                <a:latin typeface="Times New Roman" panose="02020603050405020304" pitchFamily="18" charset="0"/>
                <a:cs typeface="Times New Roman" panose="02020603050405020304" pitchFamily="18" charset="0"/>
              </a:rPr>
              <a:t> is </a:t>
            </a:r>
            <a:r>
              <a:rPr lang="en-US" altLang="en-US" sz="2400" b="1">
                <a:latin typeface="Times New Roman" panose="02020603050405020304" pitchFamily="18" charset="0"/>
                <a:cs typeface="Times New Roman" panose="02020603050405020304" pitchFamily="18" charset="0"/>
              </a:rPr>
              <a:t>reset</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to</a:t>
            </a:r>
            <a:r>
              <a:rPr lang="en-US" altLang="en-US" sz="2400">
                <a:latin typeface="Times New Roman" panose="02020603050405020304" pitchFamily="18" charset="0"/>
                <a:cs typeface="Times New Roman" panose="02020603050405020304" pitchFamily="18" charset="0"/>
              </a:rPr>
              <a:t> an </a:t>
            </a:r>
            <a:r>
              <a:rPr lang="en-US" altLang="en-US" sz="2400" b="1">
                <a:latin typeface="Times New Roman" panose="02020603050405020304" pitchFamily="18" charset="0"/>
                <a:cs typeface="Times New Roman" panose="02020603050405020304" pitchFamily="18" charset="0"/>
              </a:rPr>
              <a:t>earlier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checkpoint</a:t>
            </a:r>
            <a:r>
              <a:rPr lang="en-US" altLang="en-US" sz="2400">
                <a:latin typeface="Times New Roman" panose="02020603050405020304" pitchFamily="18" charset="0"/>
                <a:cs typeface="Times New Roman" panose="02020603050405020304" pitchFamily="18" charset="0"/>
              </a:rPr>
              <a:t> that did not have the resource </a:t>
            </a:r>
          </a:p>
          <a:p>
            <a:pPr lvl="1" algn="just">
              <a:lnSpc>
                <a:spcPct val="80000"/>
              </a:lnSpc>
            </a:pPr>
            <a:r>
              <a:rPr lang="en-US" altLang="en-US" sz="2400" b="1">
                <a:latin typeface="Times New Roman" panose="02020603050405020304" pitchFamily="18" charset="0"/>
                <a:cs typeface="Times New Roman" panose="02020603050405020304" pitchFamily="18" charset="0"/>
              </a:rPr>
              <a:t>Then</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resource</a:t>
            </a:r>
            <a:r>
              <a:rPr lang="en-US" altLang="en-US" sz="2400">
                <a:latin typeface="Times New Roman" panose="02020603050405020304" pitchFamily="18" charset="0"/>
                <a:cs typeface="Times New Roman" panose="02020603050405020304" pitchFamily="18" charset="0"/>
              </a:rPr>
              <a:t> is </a:t>
            </a:r>
            <a:r>
              <a:rPr lang="en-US" altLang="en-US" sz="2400" b="1">
                <a:latin typeface="Times New Roman" panose="02020603050405020304" pitchFamily="18" charset="0"/>
                <a:cs typeface="Times New Roman" panose="02020603050405020304" pitchFamily="18" charset="0"/>
              </a:rPr>
              <a:t>assigned</a:t>
            </a:r>
            <a:r>
              <a:rPr lang="en-US" altLang="en-US" sz="2400">
                <a:latin typeface="Times New Roman" panose="02020603050405020304" pitchFamily="18" charset="0"/>
                <a:cs typeface="Times New Roman" panose="02020603050405020304" pitchFamily="18" charset="0"/>
              </a:rPr>
              <a:t> to one of the </a:t>
            </a:r>
            <a:r>
              <a:rPr lang="en-US" altLang="en-US" sz="2400" b="1">
                <a:latin typeface="Times New Roman" panose="02020603050405020304" pitchFamily="18" charset="0"/>
                <a:cs typeface="Times New Roman" panose="02020603050405020304" pitchFamily="18" charset="0"/>
              </a:rPr>
              <a:t>deadlock processes</a:t>
            </a:r>
          </a:p>
          <a:p>
            <a:pPr lvl="1" algn="just">
              <a:lnSpc>
                <a:spcPct val="80000"/>
              </a:lnSpc>
            </a:pPr>
            <a:r>
              <a:rPr lang="en-US" altLang="en-US" sz="2400">
                <a:latin typeface="Times New Roman" panose="02020603050405020304" pitchFamily="18" charset="0"/>
                <a:cs typeface="Times New Roman" panose="02020603050405020304" pitchFamily="18" charset="0"/>
              </a:rPr>
              <a:t>If the restarted process tries to acquire the resource again, it will have to wait until resource becomes available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blinds(horizontal)">
                                      <p:cBhvr>
                                        <p:cTn id="7" dur="500"/>
                                        <p:tgtEl>
                                          <p:spTgt spid="30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idx="4294967295"/>
          </p:nvPr>
        </p:nvSpPr>
        <p:spPr>
          <a:xfrm>
            <a:off x="1600200" y="76200"/>
            <a:ext cx="7772400" cy="914400"/>
          </a:xfrm>
        </p:spPr>
        <p:txBody>
          <a:bodyPr/>
          <a:lstStyle/>
          <a:p>
            <a:r>
              <a:rPr lang="en-US" altLang="en-US" sz="4000" b="1">
                <a:latin typeface="Times New Roman" panose="02020603050405020304" pitchFamily="18" charset="0"/>
                <a:cs typeface="Times New Roman" panose="02020603050405020304" pitchFamily="18" charset="0"/>
              </a:rPr>
              <a:t>Deadlock Detection &amp; Recovery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Recovery through Killing Processes</a:t>
            </a:r>
          </a:p>
        </p:txBody>
      </p:sp>
      <p:sp>
        <p:nvSpPr>
          <p:cNvPr id="31747" name="Rectangle 3"/>
          <p:cNvSpPr>
            <a:spLocks noGrp="1"/>
          </p:cNvSpPr>
          <p:nvPr>
            <p:ph type="body" idx="4294967295"/>
          </p:nvPr>
        </p:nvSpPr>
        <p:spPr>
          <a:xfrm>
            <a:off x="0" y="914400"/>
            <a:ext cx="9144000" cy="5943600"/>
          </a:xfrm>
        </p:spPr>
        <p:txBody>
          <a:bodyPr/>
          <a:lstStyle/>
          <a:p>
            <a:pPr algn="just"/>
            <a:r>
              <a:rPr lang="en-US" altLang="en-US" sz="2800" b="1">
                <a:latin typeface="Times New Roman" panose="02020603050405020304" pitchFamily="18" charset="0"/>
                <a:cs typeface="Times New Roman" panose="02020603050405020304" pitchFamily="18" charset="0"/>
              </a:rPr>
              <a:t>Kill</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one</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or more </a:t>
            </a:r>
            <a:r>
              <a:rPr lang="en-US" altLang="en-US" sz="2800">
                <a:latin typeface="Times New Roman" panose="02020603050405020304" pitchFamily="18" charset="0"/>
                <a:cs typeface="Times New Roman" panose="02020603050405020304" pitchFamily="18" charset="0"/>
              </a:rPr>
              <a:t>process(es) </a:t>
            </a:r>
            <a:r>
              <a:rPr lang="en-US" altLang="en-US" sz="2800" b="1">
                <a:latin typeface="Times New Roman" panose="02020603050405020304" pitchFamily="18" charset="0"/>
                <a:cs typeface="Times New Roman" panose="02020603050405020304" pitchFamily="18" charset="0"/>
              </a:rPr>
              <a:t>in the cycle </a:t>
            </a:r>
            <a:r>
              <a:rPr lang="en-US" altLang="en-US" sz="2800">
                <a:latin typeface="Times New Roman" panose="02020603050405020304" pitchFamily="18" charset="0"/>
                <a:cs typeface="Times New Roman" panose="02020603050405020304" pitchFamily="18" charset="0"/>
              </a:rPr>
              <a:t>(it’s crudest but simplest)</a:t>
            </a:r>
          </a:p>
          <a:p>
            <a:pPr algn="just"/>
            <a:r>
              <a:rPr lang="en-US" altLang="en-US" sz="2800" b="1">
                <a:latin typeface="Times New Roman" panose="02020603050405020304" pitchFamily="18" charset="0"/>
                <a:cs typeface="Times New Roman" panose="02020603050405020304" pitchFamily="18" charset="0"/>
              </a:rPr>
              <a:t>First approach</a:t>
            </a:r>
          </a:p>
          <a:p>
            <a:pPr lvl="1" algn="just"/>
            <a:r>
              <a:rPr lang="en-US" altLang="en-US" sz="2400" b="1">
                <a:latin typeface="Times New Roman" panose="02020603050405020304" pitchFamily="18" charset="0"/>
                <a:cs typeface="Times New Roman" panose="02020603050405020304" pitchFamily="18" charset="0"/>
              </a:rPr>
              <a:t>Repeating</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until</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cycle</a:t>
            </a:r>
            <a:r>
              <a:rPr lang="en-US" altLang="en-US" sz="2400">
                <a:latin typeface="Times New Roman" panose="02020603050405020304" pitchFamily="18" charset="0"/>
                <a:cs typeface="Times New Roman" panose="02020603050405020304" pitchFamily="18" charset="0"/>
              </a:rPr>
              <a:t> is </a:t>
            </a:r>
            <a:r>
              <a:rPr lang="en-US" altLang="en-US" sz="2400" b="1">
                <a:latin typeface="Times New Roman" panose="02020603050405020304" pitchFamily="18" charset="0"/>
                <a:cs typeface="Times New Roman" panose="02020603050405020304" pitchFamily="18" charset="0"/>
              </a:rPr>
              <a:t>broken</a:t>
            </a:r>
          </a:p>
          <a:p>
            <a:pPr lvl="1" algn="just"/>
            <a:r>
              <a:rPr lang="en-US" altLang="en-US" sz="2400" b="1">
                <a:latin typeface="Times New Roman" panose="02020603050405020304" pitchFamily="18" charset="0"/>
                <a:cs typeface="Times New Roman" panose="02020603050405020304" pitchFamily="18" charset="0"/>
              </a:rPr>
              <a:t>Kill</a:t>
            </a:r>
            <a:r>
              <a:rPr lang="en-US" altLang="en-US" sz="2400">
                <a:latin typeface="Times New Roman" panose="02020603050405020304" pitchFamily="18" charset="0"/>
                <a:cs typeface="Times New Roman" panose="02020603050405020304" pitchFamily="18" charset="0"/>
              </a:rPr>
              <a:t> process </a:t>
            </a:r>
            <a:r>
              <a:rPr lang="en-US" altLang="en-US" sz="2400" b="1">
                <a:latin typeface="Times New Roman" panose="02020603050405020304" pitchFamily="18" charset="0"/>
                <a:cs typeface="Times New Roman" panose="02020603050405020304" pitchFamily="18" charset="0"/>
              </a:rPr>
              <a:t>in</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cycle</a:t>
            </a:r>
          </a:p>
          <a:p>
            <a:pPr lvl="1" algn="just"/>
            <a:r>
              <a:rPr lang="en-US" altLang="en-US" sz="2400" b="1">
                <a:latin typeface="Times New Roman" panose="02020603050405020304" pitchFamily="18" charset="0"/>
                <a:cs typeface="Times New Roman" panose="02020603050405020304" pitchFamily="18" charset="0"/>
              </a:rPr>
              <a:t>Check</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cycle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if so</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go back </a:t>
            </a:r>
            <a:r>
              <a:rPr lang="en-US" altLang="en-US" sz="2400">
                <a:latin typeface="Times New Roman" panose="02020603050405020304" pitchFamily="18" charset="0"/>
                <a:cs typeface="Times New Roman" panose="02020603050405020304" pitchFamily="18" charset="0"/>
              </a:rPr>
              <a:t>to the </a:t>
            </a:r>
            <a:r>
              <a:rPr lang="en-US" altLang="en-US" sz="2400" b="1">
                <a:latin typeface="Times New Roman" panose="02020603050405020304" pitchFamily="18" charset="0"/>
                <a:cs typeface="Times New Roman" panose="02020603050405020304" pitchFamily="18" charset="0"/>
              </a:rPr>
              <a:t>first</a:t>
            </a:r>
            <a:r>
              <a:rPr lang="en-US" altLang="en-US" sz="2400">
                <a:latin typeface="Times New Roman" panose="02020603050405020304" pitchFamily="18" charset="0"/>
                <a:cs typeface="Times New Roman" panose="02020603050405020304" pitchFamily="18" charset="0"/>
              </a:rPr>
              <a:t> line</a:t>
            </a:r>
          </a:p>
          <a:p>
            <a:pPr algn="just"/>
            <a:r>
              <a:rPr lang="en-US" altLang="en-US" sz="2800" b="1">
                <a:latin typeface="Times New Roman" panose="02020603050405020304" pitchFamily="18" charset="0"/>
                <a:cs typeface="Times New Roman" panose="02020603050405020304" pitchFamily="18" charset="0"/>
              </a:rPr>
              <a:t>Second approach</a:t>
            </a:r>
          </a:p>
          <a:p>
            <a:pPr lvl="1" algn="just"/>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process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not</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in</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cycle</a:t>
            </a:r>
            <a:r>
              <a:rPr lang="en-US" altLang="en-US" sz="2400">
                <a:latin typeface="Times New Roman" panose="02020603050405020304" pitchFamily="18" charset="0"/>
                <a:cs typeface="Times New Roman" panose="02020603050405020304" pitchFamily="18" charset="0"/>
              </a:rPr>
              <a:t> can be chosen as the victim in order to release its resource</a:t>
            </a:r>
          </a:p>
          <a:p>
            <a:pPr lvl="1" algn="just"/>
            <a:r>
              <a:rPr lang="en-US" altLang="en-US" sz="2400">
                <a:latin typeface="Times New Roman" panose="02020603050405020304" pitchFamily="18" charset="0"/>
                <a:cs typeface="Times New Roman" panose="02020603050405020304" pitchFamily="18" charset="0"/>
              </a:rPr>
              <a:t>The process to </a:t>
            </a:r>
            <a:r>
              <a:rPr lang="en-US" altLang="en-US" sz="2400" b="1">
                <a:latin typeface="Times New Roman" panose="02020603050405020304" pitchFamily="18" charset="0"/>
                <a:cs typeface="Times New Roman" panose="02020603050405020304" pitchFamily="18" charset="0"/>
              </a:rPr>
              <a:t>be killed </a:t>
            </a:r>
            <a:r>
              <a:rPr lang="en-US" altLang="en-US" sz="2400">
                <a:latin typeface="Times New Roman" panose="02020603050405020304" pitchFamily="18" charset="0"/>
                <a:cs typeface="Times New Roman" panose="02020603050405020304" pitchFamily="18" charset="0"/>
              </a:rPr>
              <a:t>is carefully </a:t>
            </a:r>
            <a:r>
              <a:rPr lang="en-US" altLang="en-US" sz="2400" b="1">
                <a:latin typeface="Times New Roman" panose="02020603050405020304" pitchFamily="18" charset="0"/>
                <a:cs typeface="Times New Roman" panose="02020603050405020304" pitchFamily="18" charset="0"/>
              </a:rPr>
              <a:t>chosen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because</a:t>
            </a:r>
            <a:r>
              <a:rPr lang="en-US" altLang="en-US" sz="2400">
                <a:latin typeface="Times New Roman" panose="02020603050405020304" pitchFamily="18" charset="0"/>
                <a:cs typeface="Times New Roman" panose="02020603050405020304" pitchFamily="18" charset="0"/>
              </a:rPr>
              <a:t> it is </a:t>
            </a:r>
            <a:r>
              <a:rPr lang="en-US" altLang="en-US" sz="2400" b="1">
                <a:latin typeface="Times New Roman" panose="02020603050405020304" pitchFamily="18" charset="0"/>
                <a:cs typeface="Times New Roman" panose="02020603050405020304" pitchFamily="18" charset="0"/>
              </a:rPr>
              <a:t>holding</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resources</a:t>
            </a:r>
            <a:r>
              <a:rPr lang="en-US" altLang="en-US" sz="2400">
                <a:latin typeface="Times New Roman" panose="02020603050405020304" pitchFamily="18" charset="0"/>
                <a:cs typeface="Times New Roman" panose="02020603050405020304" pitchFamily="18" charset="0"/>
              </a:rPr>
              <a:t> that </a:t>
            </a:r>
            <a:r>
              <a:rPr lang="en-US" altLang="en-US" sz="2400" b="1">
                <a:latin typeface="Times New Roman" panose="02020603050405020304" pitchFamily="18" charset="0"/>
                <a:cs typeface="Times New Roman" panose="02020603050405020304" pitchFamily="18" charset="0"/>
              </a:rPr>
              <a:t>some process in the cycle needs</a:t>
            </a:r>
          </a:p>
          <a:p>
            <a:pPr algn="just"/>
            <a:r>
              <a:rPr lang="en-US" altLang="en-US" sz="2800" b="1">
                <a:latin typeface="Times New Roman" panose="02020603050405020304" pitchFamily="18" charset="0"/>
                <a:cs typeface="Times New Roman" panose="02020603050405020304" pitchFamily="18" charset="0"/>
              </a:rPr>
              <a:t>Notes</a:t>
            </a:r>
            <a:r>
              <a:rPr lang="en-US" altLang="en-US" sz="2800">
                <a:latin typeface="Times New Roman" panose="02020603050405020304" pitchFamily="18" charset="0"/>
                <a:cs typeface="Times New Roman" panose="02020603050405020304" pitchFamily="18" charset="0"/>
              </a:rPr>
              <a:t>: The process victim should be chosen only if it can be rerun from the beginning with no ill effects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ox(in)">
                                      <p:cBhvr>
                                        <p:cTn id="7" dur="500"/>
                                        <p:tgtEl>
                                          <p:spTgt spid="31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37891" name="Rectangle 3"/>
          <p:cNvSpPr>
            <a:spLocks noGrp="1"/>
          </p:cNvSpPr>
          <p:nvPr>
            <p:ph type="body" idx="1"/>
          </p:nvPr>
        </p:nvSpPr>
        <p:spPr>
          <a:xfrm>
            <a:off x="457200" y="1600200"/>
            <a:ext cx="8229600" cy="3200400"/>
          </a:xfrm>
        </p:spPr>
        <p:txBody>
          <a:bodyPr/>
          <a:lstStyle/>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Resources</a:t>
            </a:r>
          </a:p>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Introduction To Deadlocks</a:t>
            </a:r>
          </a:p>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The Ostrich Algorithm</a:t>
            </a:r>
          </a:p>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Deadlock Detection &amp; Recovery</a:t>
            </a:r>
          </a:p>
        </p:txBody>
      </p:sp>
      <p:sp>
        <p:nvSpPr>
          <p:cNvPr id="37892"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38915" name="Rectangle 3"/>
          <p:cNvSpPr>
            <a:spLocks noGrp="1"/>
          </p:cNvSpPr>
          <p:nvPr>
            <p:ph type="body" idx="1"/>
          </p:nvPr>
        </p:nvSpPr>
        <p:spPr>
          <a:xfrm>
            <a:off x="457200" y="1600200"/>
            <a:ext cx="8229600" cy="3200400"/>
          </a:xfrm>
        </p:spPr>
        <p:txBody>
          <a:bodyPr/>
          <a:lstStyle/>
          <a:p>
            <a:pPr eaLnBrk="1" hangingPunct="1">
              <a:lnSpc>
                <a:spcPct val="8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Deadlock Avoidance</a:t>
            </a:r>
          </a:p>
          <a:p>
            <a:pPr eaLnBrk="1" hangingPunct="1">
              <a:lnSpc>
                <a:spcPct val="8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Deadlock Prevention</a:t>
            </a:r>
          </a:p>
          <a:p>
            <a:pPr eaLnBrk="1" hangingPunct="1">
              <a:lnSpc>
                <a:spcPct val="8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Other Issues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13928</TotalTime>
  <Words>2929</Words>
  <Application>Microsoft Office PowerPoint</Application>
  <PresentationFormat>On-screen Show (4:3)</PresentationFormat>
  <Paragraphs>296</Paragraphs>
  <Slides>37</Slides>
  <Notes>35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4" baseType="lpstr">
      <vt:lpstr>Arial</vt:lpstr>
      <vt:lpstr>Arial Unicode MS</vt:lpstr>
      <vt:lpstr>Calibri</vt:lpstr>
      <vt:lpstr>Times New Roman</vt:lpstr>
      <vt:lpstr>Wingdings</vt:lpstr>
      <vt:lpstr>Office Theme</vt:lpstr>
      <vt:lpstr>Equation</vt:lpstr>
      <vt:lpstr>DEADLOCKS   Resources Introduction To Deadlocks The Ostrich Algorithm Deadlock Detection &amp; Recovery</vt:lpstr>
      <vt:lpstr>Review</vt:lpstr>
      <vt:lpstr>Review</vt:lpstr>
      <vt:lpstr>Review</vt:lpstr>
      <vt:lpstr>Review</vt:lpstr>
      <vt:lpstr>Review</vt:lpstr>
      <vt:lpstr>Review</vt:lpstr>
      <vt:lpstr>Objectives</vt:lpstr>
      <vt:lpstr>Overviews</vt:lpstr>
      <vt:lpstr>Resources</vt:lpstr>
      <vt:lpstr>Resources</vt:lpstr>
      <vt:lpstr>Resources</vt:lpstr>
      <vt:lpstr>Resources</vt:lpstr>
      <vt:lpstr>Resources</vt:lpstr>
      <vt:lpstr>Resources</vt:lpstr>
      <vt:lpstr>Introduction to Deadlocks</vt:lpstr>
      <vt:lpstr>Introduction to Deadlocks</vt:lpstr>
      <vt:lpstr>Introduction to Deadlocks   Deadlock Modeling </vt:lpstr>
      <vt:lpstr>Introduction to Deadlocks</vt:lpstr>
      <vt:lpstr>Introduction to Deadlocks   Deadlock Modeling – Examples </vt:lpstr>
      <vt:lpstr>Introduction to Deadlocks   Deadlock Modeling – Examples</vt:lpstr>
      <vt:lpstr>Introduction to Deadlocks</vt:lpstr>
      <vt:lpstr>Introduction to Deadlocks   Deadlock Modeling</vt:lpstr>
      <vt:lpstr>The Ostrich Algorithms </vt:lpstr>
      <vt:lpstr>              Deadlock Detection &amp; Recovery  Deadlock Detection with One Resource of Each Type</vt:lpstr>
      <vt:lpstr>           Deadlock Detection &amp; Recovery  Deadlock Detection with One Resource of Each Type</vt:lpstr>
      <vt:lpstr>              Deadlock Detection &amp; Recovery  Deadlock Detection with Multiple Resource of Each Type</vt:lpstr>
      <vt:lpstr>            Deadlock Detection &amp; Recovery  Deadlock Detection with Multiple Resource of Each Type</vt:lpstr>
      <vt:lpstr>          Deadlock Detection &amp; Recovery  Deadlock Detection with Multiple Resource of Each Type</vt:lpstr>
      <vt:lpstr>            Deadlock Detection &amp; Recovery  Deadlock Detection with Multiple Resource of Each Type</vt:lpstr>
      <vt:lpstr>            Deadlock Detection &amp; Recovery  Deadlock Detection with Multiple Resource of Each Type</vt:lpstr>
      <vt:lpstr>            Deadlock Detection &amp; Recovery  Deadlock Detection with Multiple Resource of Each Type</vt:lpstr>
      <vt:lpstr>Deadlock Detection &amp; Recovery  Recovery from Deadlock</vt:lpstr>
      <vt:lpstr>Deadlock Detection &amp; Recovery  Recovery through Rollback</vt:lpstr>
      <vt:lpstr>Deadlock Detection &amp; Recovery  Recovery through Killing Processes</vt:lpstr>
      <vt:lpstr>Summary</vt:lpstr>
      <vt:lpstr>Next Lecture</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3322</cp:revision>
  <dcterms:created xsi:type="dcterms:W3CDTF">2007-08-21T04:43:22Z</dcterms:created>
  <dcterms:modified xsi:type="dcterms:W3CDTF">2021-11-02T13:38:49Z</dcterms:modified>
</cp:coreProperties>
</file>