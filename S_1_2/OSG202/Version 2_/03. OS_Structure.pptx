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notesMasterIdLst>
    <p:notesMasterId r:id="rId20"/>
  </p:notesMasterIdLst>
  <p:sldIdLst>
    <p:sldId id="256" r:id="rId2"/>
    <p:sldId id="436" r:id="rId3"/>
    <p:sldId id="437" r:id="rId4"/>
    <p:sldId id="414" r:id="rId5"/>
    <p:sldId id="379" r:id="rId6"/>
    <p:sldId id="425" r:id="rId7"/>
    <p:sldId id="430" r:id="rId8"/>
    <p:sldId id="431" r:id="rId9"/>
    <p:sldId id="403" r:id="rId10"/>
    <p:sldId id="404" r:id="rId11"/>
    <p:sldId id="405" r:id="rId12"/>
    <p:sldId id="422" r:id="rId13"/>
    <p:sldId id="423" r:id="rId14"/>
    <p:sldId id="424" r:id="rId15"/>
    <p:sldId id="420" r:id="rId16"/>
    <p:sldId id="435" r:id="rId17"/>
    <p:sldId id="394" r:id="rId18"/>
    <p:sldId id="433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FF3300"/>
    <a:srgbClr val="FF66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54" autoAdjust="0"/>
    <p:restoredTop sz="93127" autoAdjust="0"/>
  </p:normalViewPr>
  <p:slideViewPr>
    <p:cSldViewPr>
      <p:cViewPr>
        <p:scale>
          <a:sx n="70" d="100"/>
          <a:sy n="70" d="100"/>
        </p:scale>
        <p:origin x="1752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6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9B36340-5A09-4122-83F8-52F8E5196560}" type="datetimeFigureOut">
              <a:rPr lang="en-US"/>
              <a:pPr>
                <a:defRPr/>
              </a:pPr>
              <a:t>12/09/2021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B59C8E2-67C5-46A9-885F-A8DB4A4F9FB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 err="1"/>
              <a:t>Monolithic:nguyên</a:t>
            </a:r>
            <a:r>
              <a:rPr lang="en-US" altLang="en-US" dirty="0"/>
              <a:t> </a:t>
            </a:r>
            <a:r>
              <a:rPr lang="en-US" altLang="en-US" dirty="0" err="1"/>
              <a:t>khối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Encapsulation: </a:t>
            </a:r>
            <a:r>
              <a:rPr lang="en-US" altLang="en-US" dirty="0" err="1"/>
              <a:t>đóng</a:t>
            </a:r>
            <a:r>
              <a:rPr lang="en-US" altLang="en-US" dirty="0"/>
              <a:t> </a:t>
            </a:r>
            <a:r>
              <a:rPr lang="en-US" altLang="en-US" dirty="0" err="1"/>
              <a:t>gói</a:t>
            </a:r>
            <a:endParaRPr lang="en-US" altLang="en-US" dirty="0"/>
          </a:p>
          <a:p>
            <a:r>
              <a:rPr lang="en-US" altLang="en-US" dirty="0"/>
              <a:t>Modularity: module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534F13-1D82-4767-B337-B4D74D2A7037}" type="datetime1">
              <a:rPr lang="en-US"/>
              <a:pPr>
                <a:defRPr/>
              </a:pPr>
              <a:t>12/09/2021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53A506-72BB-4CCC-A992-623DF506677C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31180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2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  <a:defRPr>
                <a:latin typeface="Arial" pitchFamily="34" charset="0"/>
                <a:cs typeface="Arial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259632-E538-425B-A210-82EB4215890A}" type="datetime1">
              <a:rPr lang="en-US"/>
              <a:pPr>
                <a:defRPr/>
              </a:pPr>
              <a:t>12/09/2021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19FDCC-BA6B-4B08-B6AC-9EC4E537854E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576609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E7C2A-D5AD-47D2-A8FA-C0A7F8F25DA8}" type="datetime1">
              <a:rPr lang="en-US"/>
              <a:pPr>
                <a:defRPr/>
              </a:pPr>
              <a:t>12/09/2021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895AAB-5FD5-4E5E-8854-282CFEF0E584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153225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8DE9E6-D804-4B87-87DB-A66EDAB25E52}" type="datetime1">
              <a:rPr lang="en-US"/>
              <a:pPr>
                <a:defRPr/>
              </a:pPr>
              <a:t>12/09/2021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259FA4-7BF5-461D-B81B-44B01355346E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154983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BC8954-4EE5-4405-AAAB-CA6E65382C26}" type="datetime1">
              <a:rPr lang="en-US"/>
              <a:pPr>
                <a:defRPr/>
              </a:pPr>
              <a:t>12/09/2021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FBA9B3-C514-435B-9D61-3D6EDA326D7B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986249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F6B41-1405-4035-8C42-75ADFCC72250}" type="datetime1">
              <a:rPr lang="en-US"/>
              <a:pPr>
                <a:defRPr/>
              </a:pPr>
              <a:t>12/09/2021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F00803-FA3E-439D-B09C-62BE55BB40DB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212700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8C43E-A4EC-4745-953D-3EFEC10EE7AC}" type="datetime1">
              <a:rPr lang="en-US"/>
              <a:pPr>
                <a:defRPr/>
              </a:pPr>
              <a:t>12/09/2021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E979C3-3ECC-4E15-B52D-F97A626ADB1F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056821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AEA1DC-80ED-413D-BA88-CBA2E0D46A15}" type="datetime1">
              <a:rPr lang="en-US"/>
              <a:pPr>
                <a:defRPr/>
              </a:pPr>
              <a:t>12/09/2021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84576E-EE03-49A2-89FC-BF4A9CFECE92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602062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5FDB62-699A-40FB-A086-EF2169DE2036}" type="datetime1">
              <a:rPr lang="en-US"/>
              <a:pPr>
                <a:defRPr/>
              </a:pPr>
              <a:t>12/09/2021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E7E221-3FA9-440B-A451-E67AD4FEFDFB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012065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498EF0-BA4E-4721-A371-0F32C58CFCC6}" type="datetime1">
              <a:rPr lang="en-US"/>
              <a:pPr>
                <a:defRPr/>
              </a:pPr>
              <a:t>12/09/2021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7AD857-3232-45C6-8BF9-D751712B2F4D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733564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57962E-2C78-4819-9BE9-A2D588DDBAB2}" type="datetime1">
              <a:rPr lang="en-US"/>
              <a:pPr>
                <a:defRPr/>
              </a:pPr>
              <a:t>12/09/2021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B7F618-9DC0-45C1-97D2-2CE1398391B3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957797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CA979-C175-40A1-965A-487BF4F0B2F1}" type="datetime1">
              <a:rPr lang="en-US"/>
              <a:pPr>
                <a:defRPr/>
              </a:pPr>
              <a:t>12/09/2021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C4D148-33FA-4DF1-BC57-20D43B7FF137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196163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28E9C2-E691-4D08-9E78-E4C8F99C690A}" type="datetime1">
              <a:rPr lang="en-US"/>
              <a:pPr>
                <a:defRPr/>
              </a:pPr>
              <a:t>12/09/2021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65CFBE-25A4-45CF-BD02-0D946F270F3D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725374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fld id="{E34A387E-3DF5-4CCE-90AC-7B748B5C2188}" type="datetime1">
              <a:rPr lang="en-US"/>
              <a:pPr>
                <a:defRPr/>
              </a:pPr>
              <a:t>12/09/2021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1FDF834C-F6F8-4E9C-A19C-CFB96C457926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  <p:pic>
        <p:nvPicPr>
          <p:cNvPr id="3079" name="Picture 8" descr="logoNhoFPT.jpg"/>
          <p:cNvPicPr>
            <a:picLocks noChangeAspect="1"/>
          </p:cNvPicPr>
          <p:nvPr userDrawn="1"/>
        </p:nvPicPr>
        <p:blipFill>
          <a:blip r:embed="rId15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8120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0" y="1676400"/>
            <a:ext cx="9144000" cy="2438400"/>
          </a:xfrm>
        </p:spPr>
        <p:txBody>
          <a:bodyPr/>
          <a:lstStyle/>
          <a:p>
            <a:pPr eaLnBrk="1" hangingPunct="1"/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Structure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body" idx="4294967295"/>
          </p:nvPr>
        </p:nvSpPr>
        <p:spPr>
          <a:xfrm>
            <a:off x="0" y="685800"/>
            <a:ext cx="9144000" cy="5791200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software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Locates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mode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and make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resource</a:t>
            </a:r>
          </a:p>
          <a:p>
            <a:pPr algn="just">
              <a:lnSpc>
                <a:spcPct val="80000"/>
              </a:lnSpc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Terminology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mode,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time 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user mode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 kernel mode</a:t>
            </a:r>
          </a:p>
          <a:p>
            <a:pPr lvl="2" algn="just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CPU a process to other process together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space</a:t>
            </a:r>
          </a:p>
          <a:p>
            <a:pPr algn="just">
              <a:lnSpc>
                <a:spcPct val="80000"/>
              </a:lnSpc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Management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File, Directory, Special file (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vs. character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</a:t>
            </a:r>
          </a:p>
          <a:p>
            <a:pPr algn="just">
              <a:lnSpc>
                <a:spcPct val="80000"/>
              </a:lnSpc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management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vs. Dedicated device, I/O software layer (device independent)</a:t>
            </a:r>
          </a:p>
          <a:p>
            <a:pPr algn="just">
              <a:lnSpc>
                <a:spcPct val="80000"/>
              </a:lnSpc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61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61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61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61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 idx="4294967295"/>
          </p:nvPr>
        </p:nvSpPr>
        <p:spPr>
          <a:xfrm>
            <a:off x="914400" y="0"/>
            <a:ext cx="8229600" cy="12192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4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type="body" idx="4294967295"/>
          </p:nvPr>
        </p:nvSpPr>
        <p:spPr>
          <a:xfrm>
            <a:off x="228600" y="1143000"/>
            <a:ext cx="8610600" cy="4114800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program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 execution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program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loaded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into memory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executing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Associated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with each process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set of resources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such as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executable code, data, stack, CPU registers value, PC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other information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needing to run a program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Associated with each process is its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address space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(i.e., all memory locations that the process can read and write)</a:t>
            </a:r>
          </a:p>
          <a:p>
            <a:pPr algn="just">
              <a:lnSpc>
                <a:spcPct val="80000"/>
              </a:lnSpc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 table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(array or linked list) stores all the information of processes</a:t>
            </a:r>
          </a:p>
          <a:p>
            <a:pPr algn="just">
              <a:lnSpc>
                <a:spcPct val="8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 hierarchy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(tree)</a:t>
            </a:r>
          </a:p>
        </p:txBody>
      </p:sp>
      <p:pic>
        <p:nvPicPr>
          <p:cNvPr id="151557" name="Picture 5"/>
          <p:cNvPicPr>
            <a:picLocks noChangeAspect="1" noChangeArrowheads="1"/>
          </p:cNvPicPr>
          <p:nvPr/>
        </p:nvPicPr>
        <p:blipFill>
          <a:blip r:embed="rId3">
            <a:lum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495800"/>
            <a:ext cx="2438400" cy="182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1558" name="Text Box 4"/>
          <p:cNvSpPr txBox="1">
            <a:spLocks noChangeArrowheads="1"/>
          </p:cNvSpPr>
          <p:nvPr/>
        </p:nvSpPr>
        <p:spPr bwMode="auto">
          <a:xfrm>
            <a:off x="6477000" y="63246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1-13.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5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  <p:bldP spid="15155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85800"/>
          </a:xfrm>
        </p:spPr>
        <p:txBody>
          <a:bodyPr/>
          <a:lstStyle/>
          <a:p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7171" name="Rectangle 3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</p:spPr>
        <p:txBody>
          <a:bodyPr/>
          <a:lstStyle/>
          <a:p>
            <a:pPr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OS Structures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Monolithic Systems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Layered Systems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Micro kernels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Client – Server Models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990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OS Structure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Monolithic Systems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28" name="Rectangle 3"/>
          <p:cNvSpPr>
            <a:spLocks noGrp="1"/>
          </p:cNvSpPr>
          <p:nvPr>
            <p:ph type="body" sz="half" idx="1"/>
          </p:nvPr>
        </p:nvSpPr>
        <p:spPr>
          <a:xfrm>
            <a:off x="0" y="990600"/>
            <a:ext cx="9144000" cy="3886200"/>
          </a:xfrm>
        </p:spPr>
        <p:txBody>
          <a:bodyPr/>
          <a:lstStyle/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entire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OS runs as a single program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 kernel mode</a:t>
            </a:r>
          </a:p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OS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written as a collection of procedures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linked together into a single large executable binary program</a:t>
            </a:r>
          </a:p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basic structure</a:t>
            </a:r>
          </a:p>
          <a:p>
            <a:pPr lvl="1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main program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that invokes the requested service procedure.</a:t>
            </a:r>
          </a:p>
          <a:p>
            <a:pPr lvl="1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set of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service procedures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that carry out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084263" lvl="2" indent="-169863" algn="just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For each system call there is one service procedure that takes care of it and executes it</a:t>
            </a:r>
          </a:p>
          <a:p>
            <a:pPr lvl="1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set of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utility procedures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that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084263" lvl="2" indent="-169863" algn="just"/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Help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the service procedures.</a:t>
            </a:r>
          </a:p>
          <a:p>
            <a:pPr marL="1084263" lvl="2" indent="-169863" algn="just"/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Do things that are needed by several service procedures (e.g fetch data)</a:t>
            </a:r>
          </a:p>
        </p:txBody>
      </p:sp>
      <p:graphicFrame>
        <p:nvGraphicFramePr>
          <p:cNvPr id="1026" name="Object 0"/>
          <p:cNvGraphicFramePr>
            <a:graphicFrameLocks noGrp="1" noChangeAspect="1"/>
          </p:cNvGraphicFramePr>
          <p:nvPr>
            <p:ph sz="half" idx="2"/>
          </p:nvPr>
        </p:nvGraphicFramePr>
        <p:xfrm>
          <a:off x="1676400" y="4800600"/>
          <a:ext cx="3505200" cy="160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Bitmap Image" r:id="rId4" imgW="5477640" imgH="2514286" progId="Paint.Picture">
                  <p:embed/>
                </p:oleObj>
              </mc:Choice>
              <mc:Fallback>
                <p:oleObj name="Bitmap Image" r:id="rId4" imgW="5477640" imgH="2514286" progId="Paint.Picture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42000" contrast="78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800600"/>
                        <a:ext cx="3505200" cy="160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81" name="Text Box 4"/>
          <p:cNvSpPr txBox="1">
            <a:spLocks noChangeArrowheads="1"/>
          </p:cNvSpPr>
          <p:nvPr/>
        </p:nvSpPr>
        <p:spPr bwMode="auto">
          <a:xfrm>
            <a:off x="6324600" y="51816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1-24.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6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8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 idx="4294967295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OS Structure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Monolithic Systems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sz="half" idx="4294967295"/>
          </p:nvPr>
        </p:nvSpPr>
        <p:spPr>
          <a:xfrm>
            <a:off x="228600" y="1219200"/>
            <a:ext cx="8915400" cy="5638800"/>
          </a:xfrm>
        </p:spPr>
        <p:txBody>
          <a:bodyPr/>
          <a:lstStyle/>
          <a:p>
            <a:pPr algn="just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lvl="1"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program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Run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only one single large executable binary program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(not flexibility)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not protection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but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hide information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free to call any other ones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Can uses low level language (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Having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thousands of procedure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call each other </a:t>
            </a:r>
          </a:p>
          <a:p>
            <a:pPr lvl="2" algn="just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Using procedure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(static) → cannot manage  user environments</a:t>
            </a:r>
          </a:p>
          <a:p>
            <a:pPr algn="just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lvl="1"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(fast)</a:t>
            </a:r>
          </a:p>
          <a:p>
            <a:pPr algn="just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MS-DOS</a:t>
            </a:r>
          </a:p>
          <a:p>
            <a:pPr lvl="2" algn="just"/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 idx="4294967295"/>
          </p:nvPr>
        </p:nvSpPr>
        <p:spPr>
          <a:xfrm>
            <a:off x="381000" y="0"/>
            <a:ext cx="8229600" cy="9144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OS Structure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Layered Systems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2403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990600"/>
            <a:ext cx="9144000" cy="60198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The OS is </a:t>
            </a:r>
            <a:r>
              <a:rPr lang="en-US" altLang="en-US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broken up </a:t>
            </a:r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into a </a:t>
            </a:r>
            <a:r>
              <a:rPr lang="en-US" altLang="en-US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number of layer</a:t>
            </a:r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, each built on top of lower</a:t>
            </a:r>
          </a:p>
          <a:p>
            <a:pPr algn="just">
              <a:lnSpc>
                <a:spcPct val="90000"/>
              </a:lnSpc>
            </a:pPr>
            <a:r>
              <a:rPr lang="en-US" altLang="en-US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Assuming</a:t>
            </a:r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 that the </a:t>
            </a:r>
            <a:r>
              <a:rPr lang="en-US" altLang="en-US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bottom layer </a:t>
            </a:r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altLang="en-US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, and the </a:t>
            </a:r>
            <a:r>
              <a:rPr lang="en-US" altLang="en-US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highest layer </a:t>
            </a:r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altLang="en-US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, layers are  selected so that each one uses functions, operations and services of only lower-level layers.</a:t>
            </a:r>
          </a:p>
          <a:p>
            <a:pPr algn="just">
              <a:lnSpc>
                <a:spcPct val="90000"/>
              </a:lnSpc>
            </a:pPr>
            <a:r>
              <a:rPr lang="en-US" altLang="en-US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Lower layers </a:t>
            </a:r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(usually called the kernel) </a:t>
            </a:r>
            <a:r>
              <a:rPr lang="en-US" altLang="en-US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contains</a:t>
            </a:r>
            <a:r>
              <a:rPr lang="en-US" altLang="en-US" sz="23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most fundamental functions to manage system resources.</a:t>
            </a:r>
          </a:p>
          <a:p>
            <a:pPr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There are 6 layers</a:t>
            </a:r>
          </a:p>
          <a:p>
            <a:pPr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How many layers?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What’re functions?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Slow</a:t>
            </a:r>
          </a:p>
          <a:p>
            <a:pPr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Easy to maintain, support, manage errors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Modularity, encapsulation</a:t>
            </a:r>
          </a:p>
          <a:p>
            <a:pPr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OS/2, Windows NT, Vista and Unix (describe the system, do not build the system)</a:t>
            </a:r>
          </a:p>
        </p:txBody>
      </p:sp>
      <p:pic>
        <p:nvPicPr>
          <p:cNvPr id="20173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276600"/>
            <a:ext cx="4648200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1736" name="Text Box 4"/>
          <p:cNvSpPr txBox="1">
            <a:spLocks noChangeArrowheads="1"/>
          </p:cNvSpPr>
          <p:nvPr/>
        </p:nvSpPr>
        <p:spPr bwMode="auto">
          <a:xfrm>
            <a:off x="6324600" y="55626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1-25.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01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0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02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024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 idx="4294967295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OS Structure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Microkernels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243" name="Rectangle 3"/>
          <p:cNvSpPr>
            <a:spLocks noGrp="1"/>
          </p:cNvSpPr>
          <p:nvPr>
            <p:ph type="body" sz="half" idx="4294967295"/>
          </p:nvPr>
        </p:nvSpPr>
        <p:spPr>
          <a:xfrm>
            <a:off x="228600" y="1066800"/>
            <a:ext cx="8915400" cy="5791200"/>
          </a:xfrm>
        </p:spPr>
        <p:txBody>
          <a:bodyPr/>
          <a:lstStyle/>
          <a:p>
            <a:pPr algn="just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OS Kernels have problems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10bugs/ 1000 lines code (buggy,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bring down the system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layers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went in the kernel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complexity, large, and difficult to manage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" t="10139" r="380" b="10139"/>
          <a:stretch>
            <a:fillRect/>
          </a:stretch>
        </p:blipFill>
        <p:spPr bwMode="auto">
          <a:xfrm>
            <a:off x="1676400" y="2895600"/>
            <a:ext cx="6019800" cy="3627438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OS Structure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Microkernels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267" name="Rectangle 3"/>
          <p:cNvSpPr>
            <a:spLocks noGrp="1"/>
          </p:cNvSpPr>
          <p:nvPr>
            <p:ph type="body" sz="half" idx="1"/>
          </p:nvPr>
        </p:nvSpPr>
        <p:spPr>
          <a:xfrm>
            <a:off x="228600" y="1066800"/>
            <a:ext cx="8915400" cy="5791200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Microkernels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Remove all nonessential components from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them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on user mode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(splitting the OS into small, well-defined modules)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each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as an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independent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(separate)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→ resist crashing the entire system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run user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mode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→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protection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against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bugs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Making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minimal kernel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by put the mechanism for doing something in the kernel but not the policy (scheduling with highest priority process)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facility using message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passing between the client program and the various series in user mode</a:t>
            </a:r>
          </a:p>
          <a:p>
            <a:pPr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components are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nonessential or essential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? (depending on the design ideas or requirements)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overhead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of user space to kernel space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  <a:p>
            <a:pPr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Easy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extending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and port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new architectures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Advance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(less code is running in kernel mode)</a:t>
            </a:r>
          </a:p>
          <a:p>
            <a:pPr algn="just">
              <a:lnSpc>
                <a:spcPct val="8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Symbian, Apple MacOS X Server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990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OS Structure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Client – Server Model</a:t>
            </a:r>
            <a:endParaRPr lang="en-US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2" name="Rectangle 3"/>
          <p:cNvSpPr>
            <a:spLocks noGrp="1"/>
          </p:cNvSpPr>
          <p:nvPr>
            <p:ph type="body" sz="half" idx="1"/>
          </p:nvPr>
        </p:nvSpPr>
        <p:spPr>
          <a:xfrm>
            <a:off x="228600" y="838200"/>
            <a:ext cx="8915400" cy="1676400"/>
          </a:xfrm>
        </p:spPr>
        <p:txBody>
          <a:bodyPr/>
          <a:lstStyle/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some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satisfy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client’s request</a:t>
            </a:r>
          </a:p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Client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server’s services</a:t>
            </a:r>
          </a:p>
          <a:p>
            <a:pPr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Message passing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or same computers</a:t>
            </a:r>
          </a:p>
        </p:txBody>
      </p:sp>
      <p:graphicFrame>
        <p:nvGraphicFramePr>
          <p:cNvPr id="204804" name="Object 8"/>
          <p:cNvGraphicFramePr>
            <a:graphicFrameLocks noGrp="1" noChangeAspect="1"/>
          </p:cNvGraphicFramePr>
          <p:nvPr>
            <p:ph sz="half" idx="2"/>
          </p:nvPr>
        </p:nvGraphicFramePr>
        <p:xfrm>
          <a:off x="457200" y="2590800"/>
          <a:ext cx="8153400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Bitmap Image" r:id="rId4" imgW="4828571" imgH="1324160" progId="Paint.Picture">
                  <p:embed/>
                </p:oleObj>
              </mc:Choice>
              <mc:Fallback>
                <p:oleObj name="Bitmap Image" r:id="rId4" imgW="4828571" imgH="1324160" progId="Paint.Picture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8000" contrast="38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590800"/>
                        <a:ext cx="8153400" cy="215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06" name="Picture 6" descr="01-2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724400"/>
            <a:ext cx="7734300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07" name="Text Box 4"/>
          <p:cNvSpPr txBox="1">
            <a:spLocks noChangeArrowheads="1"/>
          </p:cNvSpPr>
          <p:nvPr/>
        </p:nvSpPr>
        <p:spPr bwMode="auto">
          <a:xfrm>
            <a:off x="4572000" y="63246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1-27.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4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OS Structure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Machines (VM)</a:t>
            </a:r>
            <a:endParaRPr lang="en-US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1" name="Rectangle 3"/>
          <p:cNvSpPr>
            <a:spLocks noGrp="1"/>
          </p:cNvSpPr>
          <p:nvPr>
            <p:ph type="body" sz="half" idx="1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Each virtual machine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not extended machine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identical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true hardware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(provide an exact duplicate of the underlying real machine)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run any OS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that will run directly on the bare hardware at the same time</a:t>
            </a:r>
          </a:p>
          <a:p>
            <a:pPr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Software: 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VMware Workstation, MS Virtual PC, Virtual Box, …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OS running on CD (Linux, Ubuntu …)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JVM (Java Virtual Machine): 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Java compiler produces code through Java interpreter. </a:t>
            </a:r>
          </a:p>
          <a:p>
            <a:pPr lvl="2" algn="just">
              <a:lnSpc>
                <a:spcPct val="9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Can be shipped on Internet and run on the computer that has a JVM</a:t>
            </a:r>
          </a:p>
          <a:p>
            <a:pPr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Completely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protecting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resources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solving system compatibility system and do not disrupt the normal system operation</a:t>
            </a:r>
          </a:p>
          <a:p>
            <a:pPr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not allocate all disks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VM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OS Structure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Machines (VM)</a:t>
            </a:r>
            <a:endParaRPr lang="en-US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5" name="Rectangle 6"/>
          <p:cNvSpPr>
            <a:spLocks noChangeArrowheads="1"/>
          </p:cNvSpPr>
          <p:nvPr/>
        </p:nvSpPr>
        <p:spPr bwMode="auto">
          <a:xfrm>
            <a:off x="457200" y="1765300"/>
            <a:ext cx="7351713" cy="448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(a) Nonvirtual machine		 (b) virtual machine</a:t>
            </a:r>
          </a:p>
        </p:txBody>
      </p:sp>
      <p:pic>
        <p:nvPicPr>
          <p:cNvPr id="13316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" t="5431" r="610" b="5159"/>
          <a:stretch>
            <a:fillRect/>
          </a:stretch>
        </p:blipFill>
        <p:spPr bwMode="auto">
          <a:xfrm>
            <a:off x="1371600" y="1143000"/>
            <a:ext cx="6172200" cy="418147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17" name="TextBox 4"/>
          <p:cNvSpPr txBox="1">
            <a:spLocks noChangeArrowheads="1"/>
          </p:cNvSpPr>
          <p:nvPr/>
        </p:nvSpPr>
        <p:spPr bwMode="auto">
          <a:xfrm>
            <a:off x="304800" y="5867400"/>
            <a:ext cx="8839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Virtual-machine implementation is called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 monitor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layer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hypervisor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 idx="4294967295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OS Structure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Machines (VM)</a:t>
            </a:r>
            <a:endParaRPr lang="en-US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457200" y="2374900"/>
            <a:ext cx="7351713" cy="448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VMWare Architecture</a:t>
            </a:r>
          </a:p>
        </p:txBody>
      </p:sp>
      <p:pic>
        <p:nvPicPr>
          <p:cNvPr id="1434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" t="3047" r="381" b="4318"/>
          <a:stretch>
            <a:fillRect/>
          </a:stretch>
        </p:blipFill>
        <p:spPr bwMode="auto">
          <a:xfrm>
            <a:off x="1143000" y="1295400"/>
            <a:ext cx="6616700" cy="463232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 idx="4294967295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OS Structure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Machines (VM)</a:t>
            </a:r>
            <a:endParaRPr lang="en-US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533400" y="1447800"/>
            <a:ext cx="7351713" cy="448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JVM</a:t>
            </a:r>
          </a:p>
        </p:txBody>
      </p:sp>
      <p:pic>
        <p:nvPicPr>
          <p:cNvPr id="1536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" t="18935" r="395" b="18935"/>
          <a:stretch>
            <a:fillRect/>
          </a:stretch>
        </p:blipFill>
        <p:spPr bwMode="auto">
          <a:xfrm>
            <a:off x="1447800" y="1749425"/>
            <a:ext cx="6388100" cy="300037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990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OS Structure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Exokernels</a:t>
            </a:r>
            <a:endParaRPr lang="en-US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7" name="Rectangle 3"/>
          <p:cNvSpPr>
            <a:spLocks noGrp="1"/>
          </p:cNvSpPr>
          <p:nvPr>
            <p:ph type="body" sz="half" idx="1"/>
          </p:nvPr>
        </p:nvSpPr>
        <p:spPr>
          <a:xfrm>
            <a:off x="0" y="990600"/>
            <a:ext cx="9144000" cy="57912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running in kernel mode</a:t>
            </a:r>
          </a:p>
          <a:p>
            <a:pPr algn="just">
              <a:lnSpc>
                <a:spcPct val="90000"/>
              </a:lnSpc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Giving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each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subset of the resource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(instead of exact copying entire of underlying real machine)</a:t>
            </a:r>
          </a:p>
          <a:p>
            <a:pPr algn="just">
              <a:lnSpc>
                <a:spcPct val="90000"/>
              </a:lnSpc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Allocate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machines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ensure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protection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of them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Moreover, exokernels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VM thinking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it has its own disk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(0 to maximum size of partition area)</a:t>
            </a:r>
          </a:p>
          <a:p>
            <a:pPr algn="just">
              <a:lnSpc>
                <a:spcPct val="90000"/>
              </a:lnSpc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exokernel scheme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saved a layer mapping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keep track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of which virtual machine has been assigned which resource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Separate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multiprogramming in user mode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(protection from real machine)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Less overhead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they keep the VM out of each other’s hair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OS Structure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Exokernels – Example </a:t>
            </a:r>
            <a:endParaRPr lang="en-US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1447800"/>
            <a:ext cx="8809037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1447800" y="4191000"/>
            <a:ext cx="2286000" cy="38100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18435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5146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Concepts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OS Structures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1295400" y="4800600"/>
            <a:ext cx="6629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Next Lecture</a:t>
            </a:r>
          </a:p>
        </p:txBody>
      </p:sp>
      <p:sp>
        <p:nvSpPr>
          <p:cNvPr id="19459" name="Rectangle 3"/>
          <p:cNvSpPr>
            <a:spLocks noGrp="1"/>
          </p:cNvSpPr>
          <p:nvPr>
            <p:ph type="body" idx="1"/>
          </p:nvPr>
        </p:nvSpPr>
        <p:spPr>
          <a:xfrm>
            <a:off x="381000" y="1600200"/>
            <a:ext cx="8534400" cy="25146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structure, mechanism, implementation, …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Threads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structure, mechanism, implementation, vs. Processes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IPC 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How, comparatives, protection of processes/ threads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3897</TotalTime>
  <Words>1098</Words>
  <Application>Microsoft Office PowerPoint</Application>
  <PresentationFormat>On-screen Show (4:3)</PresentationFormat>
  <Paragraphs>173</Paragraphs>
  <Slides>18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Office Theme</vt:lpstr>
      <vt:lpstr>Bitmap Image</vt:lpstr>
      <vt:lpstr>Introduction   Operating System Structure </vt:lpstr>
      <vt:lpstr>Review</vt:lpstr>
      <vt:lpstr>Review… </vt:lpstr>
      <vt:lpstr>Objectives</vt:lpstr>
      <vt:lpstr>OS Structure Monolithic Systems </vt:lpstr>
      <vt:lpstr>OS Structure Monolithic Systems </vt:lpstr>
      <vt:lpstr>OS Structure Layered Systems </vt:lpstr>
      <vt:lpstr>OS Structure Microkernels </vt:lpstr>
      <vt:lpstr>OS Structure Microkernels </vt:lpstr>
      <vt:lpstr>OS Structure Client – Server Model</vt:lpstr>
      <vt:lpstr>OS Structure Virtual Machines (VM)</vt:lpstr>
      <vt:lpstr>OS Structure Virtual Machines (VM)</vt:lpstr>
      <vt:lpstr>OS Structure Virtual Machines (VM)</vt:lpstr>
      <vt:lpstr>OS Structure Virtual Machines (VM)</vt:lpstr>
      <vt:lpstr>OS Structure Exokernels</vt:lpstr>
      <vt:lpstr>OS Structure Exokernels – Example </vt:lpstr>
      <vt:lpstr>Summary</vt:lpstr>
      <vt:lpstr>Next Lecture</vt:lpstr>
    </vt:vector>
  </TitlesOfParts>
  <Company>FPT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OS-Introduction</dc:title>
  <dc:creator>Kieu Trong Khanh</dc:creator>
  <cp:lastModifiedBy>Tong Phuoc Quan (FE FPTU HCM)</cp:lastModifiedBy>
  <cp:revision>1348</cp:revision>
  <dcterms:created xsi:type="dcterms:W3CDTF">2007-08-21T04:43:22Z</dcterms:created>
  <dcterms:modified xsi:type="dcterms:W3CDTF">2021-09-12T12:13:49Z</dcterms:modified>
</cp:coreProperties>
</file>