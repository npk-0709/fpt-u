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notesMasterIdLst>
    <p:notesMasterId r:id="rId35"/>
  </p:notesMasterIdLst>
  <p:sldIdLst>
    <p:sldId id="256" r:id="rId2"/>
    <p:sldId id="443" r:id="rId3"/>
    <p:sldId id="444" r:id="rId4"/>
    <p:sldId id="441" r:id="rId5"/>
    <p:sldId id="442" r:id="rId6"/>
    <p:sldId id="359" r:id="rId7"/>
    <p:sldId id="376" r:id="rId8"/>
    <p:sldId id="425" r:id="rId9"/>
    <p:sldId id="377" r:id="rId10"/>
    <p:sldId id="429" r:id="rId11"/>
    <p:sldId id="433" r:id="rId12"/>
    <p:sldId id="378" r:id="rId13"/>
    <p:sldId id="404" r:id="rId14"/>
    <p:sldId id="379" r:id="rId15"/>
    <p:sldId id="434" r:id="rId16"/>
    <p:sldId id="445" r:id="rId17"/>
    <p:sldId id="402" r:id="rId18"/>
    <p:sldId id="403" r:id="rId19"/>
    <p:sldId id="405" r:id="rId20"/>
    <p:sldId id="435" r:id="rId21"/>
    <p:sldId id="411" r:id="rId22"/>
    <p:sldId id="413" r:id="rId23"/>
    <p:sldId id="431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21" r:id="rId32"/>
    <p:sldId id="394" r:id="rId33"/>
    <p:sldId id="436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66FFFF"/>
    <a:srgbClr val="FFFF66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54" autoAdjust="0"/>
    <p:restoredTop sz="92784" autoAdjust="0"/>
  </p:normalViewPr>
  <p:slideViewPr>
    <p:cSldViewPr>
      <p:cViewPr varScale="1">
        <p:scale>
          <a:sx n="72" d="100"/>
          <a:sy n="72" d="100"/>
        </p:scale>
        <p:origin x="169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6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F5DD9F9-99A6-4A90-AB48-976519B40122}" type="datetimeFigureOut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3C4CED4-1C4D-44D0-B465-88663E415CB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Compromise :</a:t>
            </a:r>
            <a:r>
              <a:rPr lang="en-US" altLang="en-US" dirty="0" err="1"/>
              <a:t>thỏa</a:t>
            </a:r>
            <a:r>
              <a:rPr lang="en-US" altLang="en-US" dirty="0"/>
              <a:t> </a:t>
            </a:r>
            <a:r>
              <a:rPr lang="en-US" altLang="en-US" dirty="0" err="1"/>
              <a:t>hiệp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/>
              <a:t>Waiting time A: 1,B 10, C:9(vì </a:t>
            </a:r>
            <a:r>
              <a:rPr lang="en-US" altLang="en-US" dirty="0" err="1"/>
              <a:t>chạy</a:t>
            </a:r>
            <a:r>
              <a:rPr lang="en-US" altLang="en-US" dirty="0"/>
              <a:t> </a:t>
            </a:r>
            <a:r>
              <a:rPr lang="en-US" altLang="en-US" dirty="0" err="1"/>
              <a:t>trể</a:t>
            </a:r>
            <a:r>
              <a:rPr lang="en-US" altLang="en-US" dirty="0"/>
              <a:t> 1) D: 9 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chạy</a:t>
            </a:r>
            <a:r>
              <a:rPr lang="en-US" altLang="en-US" dirty="0"/>
              <a:t> </a:t>
            </a:r>
            <a:r>
              <a:rPr lang="en-US" altLang="en-US" dirty="0" err="1"/>
              <a:t>trể</a:t>
            </a:r>
            <a:r>
              <a:rPr lang="en-US" altLang="en-US" dirty="0"/>
              <a:t> 1) E: 5(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chạy</a:t>
            </a:r>
            <a:r>
              <a:rPr lang="en-US" altLang="en-US" dirty="0"/>
              <a:t> </a:t>
            </a:r>
            <a:r>
              <a:rPr lang="en-US" altLang="en-US" dirty="0" err="1"/>
              <a:t>trễ</a:t>
            </a:r>
            <a:r>
              <a:rPr lang="en-US" altLang="en-US" dirty="0"/>
              <a:t> 2)</a:t>
            </a:r>
          </a:p>
          <a:p>
            <a:r>
              <a:rPr lang="en-US" altLang="en-US" dirty="0"/>
              <a:t>Turnaround time : A:4-3,B:18-6,C:17-4,D:20-5,E:15-2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Predetermine: </a:t>
            </a:r>
            <a:r>
              <a:rPr lang="en-US" altLang="en-US" dirty="0" err="1"/>
              <a:t>đinh</a:t>
            </a:r>
            <a:r>
              <a:rPr lang="en-US" altLang="en-US" dirty="0"/>
              <a:t> tr</a:t>
            </a:r>
            <a:r>
              <a:rPr lang="vi-VN" altLang="en-US" dirty="0"/>
              <a:t>ư</a:t>
            </a:r>
            <a:r>
              <a:rPr lang="en-US" altLang="en-US" dirty="0" err="1"/>
              <a:t>ớc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Waiting time A: 0,B 12(14-2), C:0 D: 3(7-4) E: 6(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chạy</a:t>
            </a:r>
            <a:r>
              <a:rPr lang="en-US" altLang="en-US" dirty="0"/>
              <a:t> </a:t>
            </a:r>
            <a:r>
              <a:rPr lang="en-US" altLang="en-US" dirty="0" err="1"/>
              <a:t>trễ</a:t>
            </a:r>
            <a:r>
              <a:rPr lang="en-US" altLang="en-US" dirty="0"/>
              <a:t> 12-6)=21</a:t>
            </a:r>
          </a:p>
          <a:p>
            <a:r>
              <a:rPr lang="en-US" altLang="en-US" dirty="0"/>
              <a:t>A:3-(0+3) B:20-(6+2) C:7-(4+3) D: 12-(5+4) E: 14-(6+2)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Turnaround Time = Completion Time - Arrival Time   A:3-0,B:20-2,C:7-3,D:12-4,E:14-6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 Time = Turn Around Time - Burst Time   </a:t>
            </a:r>
          </a:p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0AB0506-23AE-48EF-810F-64D4BD064100}" type="slidenum">
              <a:rPr lang="en-US" altLang="en-US"/>
              <a:pPr eaLnBrk="1" hangingPunct="1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5D362A-8B27-47CF-81BA-4A1DFF5BE1FB}" type="slidenum">
              <a:rPr lang="en-US" altLang="en-US"/>
              <a:pPr eaLnBrk="1" hangingPunct="1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WT : 0+5.5+9.5+14.5+0</a:t>
            </a:r>
          </a:p>
          <a:p>
            <a:r>
              <a:rPr lang="en-US" altLang="en-US" dirty="0"/>
              <a:t>TT</a:t>
            </a:r>
            <a:r>
              <a:rPr lang="en-US" altLang="en-US"/>
              <a:t>:5.5+9.5+14.5+20.5+5.5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264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D34B8A-E8A4-40C0-8895-9C33D45524D0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Lên</a:t>
            </a:r>
            <a:r>
              <a:rPr lang="en-US" altLang="en-US" dirty="0"/>
              <a:t> </a:t>
            </a:r>
            <a:r>
              <a:rPr lang="en-US" altLang="en-US" dirty="0" err="1"/>
              <a:t>lịch</a:t>
            </a:r>
            <a:r>
              <a:rPr lang="en-US" altLang="en-US" dirty="0"/>
              <a:t> di </a:t>
            </a:r>
            <a:r>
              <a:rPr lang="en-US" altLang="en-US" dirty="0" err="1"/>
              <a:t>choi</a:t>
            </a:r>
            <a:r>
              <a:rPr lang="en-US" altLang="en-US" dirty="0"/>
              <a:t> :static</a:t>
            </a:r>
          </a:p>
          <a:p>
            <a:r>
              <a:rPr lang="en-US" altLang="en-US" dirty="0" err="1"/>
              <a:t>Khi</a:t>
            </a:r>
            <a:r>
              <a:rPr lang="en-US" altLang="en-US" dirty="0"/>
              <a:t> di </a:t>
            </a:r>
            <a:r>
              <a:rPr lang="en-US" altLang="en-US" dirty="0" err="1"/>
              <a:t>mua</a:t>
            </a:r>
            <a:r>
              <a:rPr lang="en-US" altLang="en-US" dirty="0"/>
              <a:t> do: dynamic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Dining philosophers: an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triết</a:t>
            </a:r>
            <a:r>
              <a:rPr lang="en-US" altLang="en-US" dirty="0"/>
              <a:t> </a:t>
            </a:r>
            <a:r>
              <a:rPr lang="en-US" altLang="en-US" dirty="0" err="1"/>
              <a:t>gia</a:t>
            </a:r>
            <a:endParaRPr lang="en-US" altLang="en-US" dirty="0"/>
          </a:p>
          <a:p>
            <a:r>
              <a:rPr lang="en-US" altLang="en-US" dirty="0"/>
              <a:t>Stuck :</a:t>
            </a:r>
            <a:r>
              <a:rPr lang="en-US" altLang="en-US" dirty="0" err="1"/>
              <a:t>mắc</a:t>
            </a:r>
            <a:r>
              <a:rPr lang="en-US" altLang="en-US" dirty="0"/>
              <a:t> </a:t>
            </a:r>
            <a:r>
              <a:rPr lang="en-US" altLang="en-US" dirty="0" err="1"/>
              <a:t>kẹt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/>
              <a:t>Starvation:chết</a:t>
            </a:r>
            <a:r>
              <a:rPr lang="en-US" altLang="en-US" dirty="0"/>
              <a:t> </a:t>
            </a:r>
            <a:r>
              <a:rPr lang="en-US" altLang="en-US" dirty="0" err="1"/>
              <a:t>đói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06843-0762-41F2-A38C-50CA3D437D9E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18ABF-6E16-4E1A-955B-97D78FC5496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657200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2">
                  <a:lumMod val="60000"/>
                  <a:lumOff val="40000"/>
                </a:schemeClr>
              </a:buClr>
              <a:buSzPct val="80000"/>
              <a:buFont typeface="Wingdings" pitchFamily="2" charset="2"/>
              <a:buChar char="l"/>
              <a:defRPr>
                <a:latin typeface="Arial" pitchFamily="34" charset="0"/>
                <a:cs typeface="Arial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1E119-8289-4649-8D14-EBDC0373EAC9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B4D3D-2071-4682-B772-3B90CE8732A1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11560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A987D-D5F3-4738-B0C6-8FDB7FC1A937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8F8B90-8A84-4B3E-8CD7-747E854B780D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652484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660D2-A9DE-462F-82E5-540B0E7E811D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EDDC4-0FC9-448D-8977-05832D65560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6488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88C53-B3B9-4ABD-AD37-D5DDCB8B2C85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C887A-7CE3-4F66-A389-C9D3AB4C9D2F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59114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D9D511-032C-4A7C-8A4B-009159B1A1F2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0EA9B5-3772-4ABD-91FD-FBEB388BF2A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06697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638EA-6831-49D6-BB43-196D71F10291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EF5E3C-3D04-40DF-9809-D2E623267AA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139311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8BC854-5C1D-4FD1-947F-2DE680BF57E4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69EDE8-8F7E-408D-AEFD-91FC000D900B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48230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BEFC8-72CD-4037-8B24-89353BE44D07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759D2-DA71-4E4B-9590-B015442EF004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52656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B8F93-65A3-4EB7-90DC-52610EAE52E2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A65AD-AB8E-4704-8247-E9BBDF4CC5A8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06268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F0F0B4-611A-4976-B418-CA3A0227D715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0F268A-4026-4562-92F6-2EFF93FFB947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2611763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45C82-1240-46C7-8F17-506532008E16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6FF23A-CCA6-41B9-872C-07FB968A55D3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315558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E7D0B-DCAC-4E91-980B-EDB092D1240E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2ED8C-2436-49C2-AB65-F34858358BFA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  <p:extLst>
      <p:ext uri="{BB962C8B-B14F-4D97-AF65-F5344CB8AC3E}">
        <p14:creationId xmlns:p14="http://schemas.microsoft.com/office/powerpoint/2010/main" val="2979626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7" descr="logoNhoFPT.jpg"/>
          <p:cNvPicPr>
            <a:picLocks noChangeAspect="1"/>
          </p:cNvPicPr>
          <p:nvPr userDrawn="1"/>
        </p:nvPicPr>
        <p:blipFill>
          <a:blip r:embed="rId15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81200" cy="74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F08EE568-47DC-428D-8F9D-18B3972100D1}" type="datetime1">
              <a:rPr lang="en-US"/>
              <a:pPr>
                <a:defRPr/>
              </a:pPr>
              <a:t>23/09/2021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Module A -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50281AB4-0111-47FC-B961-21A63053B320}" type="slidenum">
              <a:rPr lang="en-US" altLang="en-US"/>
              <a:pPr/>
              <a:t>‹#›</a:t>
            </a:fld>
            <a:r>
              <a:rPr lang="en-US" altLang="en-US"/>
              <a:t>/40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0" y="1676400"/>
            <a:ext cx="9144000" cy="24384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&amp; Threads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Model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Pseudo-parallelism (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Multi-programming, quantum or time slice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Switch (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mode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 kernel mode, switch CPU to other process – load/store PCB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algorithm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PCB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Id, registers, scheduling information, memory management information, accounting information, I/O status information, …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(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New, Running, Ready, Blocked, Terminal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utilization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–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 eaLnBrk="1" hangingPunct="1">
              <a:lnSpc>
                <a:spcPct val="90000"/>
              </a:lnSpc>
              <a:buNone/>
            </a:pPr>
            <a:endParaRPr lang="en-US" alt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838200"/>
            <a:ext cx="91440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address space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process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Each thread has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its own PC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stack of execution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 protection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between threads in one process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its own stack</a:t>
            </a:r>
          </a:p>
          <a:p>
            <a:pPr lvl="1" algn="just" eaLnBrk="1" hangingPunct="1">
              <a:lnSpc>
                <a:spcPct val="90000"/>
              </a:lnSpc>
              <a:buFont typeface="Symbol" panose="05050102010706020507" pitchFamily="18" charset="2"/>
              <a:buChar char="®"/>
            </a:pP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Improve context switch among processes, optimize quantum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de-DE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Are implemented in </a:t>
            </a:r>
            <a:r>
              <a:rPr lang="de-DE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 modes: user, kernel, hybrid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5334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IPC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Resolving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(Critical Region)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Busy waiting (Priority Inversion)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 solution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race condition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Peterson solution (2 control variables)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TSL (atomically, individual)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Good solution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and busy waiting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binary semaphore (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recommending about order in using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), monitors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mutexes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6096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291" name="Rectangle 3"/>
          <p:cNvSpPr>
            <a:spLocks noGrp="1"/>
          </p:cNvSpPr>
          <p:nvPr>
            <p:ph type="body" idx="1"/>
          </p:nvPr>
        </p:nvSpPr>
        <p:spPr>
          <a:xfrm>
            <a:off x="0" y="533400"/>
            <a:ext cx="9144000" cy="6248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 component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Event: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creation, termination, blocking, Interrupt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non-preemptive, preemptive 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Criteria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Fairness, Policy enforcement, Throughput, Turnaround time, CPU utilization, Response time, Proportionality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(New, Running, Ready, Blocked, Terminal)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(Compute-bound, I/O-bound)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Batch System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enters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state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it will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the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 terminal state, convey effect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SJF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non-preemptive,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picks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shorted job first, event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the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 terminal state, optimal algorithms but it not realism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SRT: preemptive,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chooses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whose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remaining runtime is the shortest, event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the process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is new (priority) or terminal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0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40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40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0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40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1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/>
          <a:lstStyle/>
          <a:p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219" name="Rectangle 3"/>
          <p:cNvSpPr>
            <a:spLocks noGrp="1"/>
          </p:cNvSpPr>
          <p:nvPr>
            <p:ph type="body" idx="1"/>
          </p:nvPr>
        </p:nvSpPr>
        <p:spPr>
          <a:xfrm>
            <a:off x="457200" y="685800"/>
            <a:ext cx="8229600" cy="61722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Real-time System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Thread schedulings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  <a:p>
            <a:pPr lvl="1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676400" y="0"/>
            <a:ext cx="7543800" cy="11430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 Scheduling (RR)</a:t>
            </a:r>
          </a:p>
        </p:txBody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>
          <a:xfrm>
            <a:off x="0" y="990600"/>
            <a:ext cx="9144000" cy="5029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a time interval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(time quantum or slice)</a:t>
            </a:r>
          </a:p>
          <a:p>
            <a:pPr algn="just"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preemptive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First-Come-First-Served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with the following addition:</a:t>
            </a:r>
          </a:p>
          <a:p>
            <a:pPr lvl="1" algn="just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of quantum or time slice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if it still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the quantum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head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ready queue;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tail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ready queue 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queue is treated as circular queue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finished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elapsed,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done the process blocks</a:t>
            </a:r>
          </a:p>
          <a:p>
            <a:pPr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 many process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short interactive requests 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FCFS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20-50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msec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reasonable compromise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Process:BurstTime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(P1:24), (P2:3), (P3:3) with quantum = 4</a:t>
            </a:r>
          </a:p>
          <a:p>
            <a:pPr lvl="1" algn="just"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 = (6 + 4 + 7)/3 = 5.7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 = (30 + 7 + 10)/ 3 = 15.6</a:t>
            </a:r>
          </a:p>
        </p:txBody>
      </p:sp>
      <p:pic>
        <p:nvPicPr>
          <p:cNvPr id="23556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257800"/>
            <a:ext cx="4419600" cy="93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55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1600200" y="76200"/>
            <a:ext cx="76962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Example (quantum = 1)</a:t>
            </a: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68" y="1043782"/>
            <a:ext cx="5810250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268" name="Group 4"/>
          <p:cNvGrpSpPr>
            <a:grpSpLocks/>
          </p:cNvGrpSpPr>
          <p:nvPr/>
        </p:nvGrpSpPr>
        <p:grpSpPr bwMode="auto">
          <a:xfrm>
            <a:off x="1524000" y="3857625"/>
            <a:ext cx="6403975" cy="692150"/>
            <a:chOff x="903" y="960"/>
            <a:chExt cx="4034" cy="436"/>
          </a:xfrm>
        </p:grpSpPr>
        <p:sp>
          <p:nvSpPr>
            <p:cNvPr id="11362" name="Line 5"/>
            <p:cNvSpPr>
              <a:spLocks noChangeShapeType="1"/>
            </p:cNvSpPr>
            <p:nvPr/>
          </p:nvSpPr>
          <p:spPr bwMode="auto">
            <a:xfrm>
              <a:off x="1013" y="1392"/>
              <a:ext cx="38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3" name="Line 6"/>
            <p:cNvSpPr>
              <a:spLocks noChangeShapeType="1"/>
            </p:cNvSpPr>
            <p:nvPr/>
          </p:nvSpPr>
          <p:spPr bwMode="auto">
            <a:xfrm flipV="1">
              <a:off x="100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4" name="Line 7"/>
            <p:cNvSpPr>
              <a:spLocks noChangeShapeType="1"/>
            </p:cNvSpPr>
            <p:nvPr/>
          </p:nvSpPr>
          <p:spPr bwMode="auto">
            <a:xfrm flipV="1">
              <a:off x="120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5" name="Line 8"/>
            <p:cNvSpPr>
              <a:spLocks noChangeShapeType="1"/>
            </p:cNvSpPr>
            <p:nvPr/>
          </p:nvSpPr>
          <p:spPr bwMode="auto">
            <a:xfrm flipV="1">
              <a:off x="139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6" name="Line 9"/>
            <p:cNvSpPr>
              <a:spLocks noChangeShapeType="1"/>
            </p:cNvSpPr>
            <p:nvPr/>
          </p:nvSpPr>
          <p:spPr bwMode="auto">
            <a:xfrm flipV="1">
              <a:off x="158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7" name="Line 10"/>
            <p:cNvSpPr>
              <a:spLocks noChangeShapeType="1"/>
            </p:cNvSpPr>
            <p:nvPr/>
          </p:nvSpPr>
          <p:spPr bwMode="auto">
            <a:xfrm flipV="1">
              <a:off x="177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8" name="Line 11"/>
            <p:cNvSpPr>
              <a:spLocks noChangeShapeType="1"/>
            </p:cNvSpPr>
            <p:nvPr/>
          </p:nvSpPr>
          <p:spPr bwMode="auto">
            <a:xfrm flipV="1">
              <a:off x="196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9" name="Line 12"/>
            <p:cNvSpPr>
              <a:spLocks noChangeShapeType="1"/>
            </p:cNvSpPr>
            <p:nvPr/>
          </p:nvSpPr>
          <p:spPr bwMode="auto">
            <a:xfrm flipV="1">
              <a:off x="216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0" name="Line 13"/>
            <p:cNvSpPr>
              <a:spLocks noChangeShapeType="1"/>
            </p:cNvSpPr>
            <p:nvPr/>
          </p:nvSpPr>
          <p:spPr bwMode="auto">
            <a:xfrm flipV="1">
              <a:off x="235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1" name="Line 14"/>
            <p:cNvSpPr>
              <a:spLocks noChangeShapeType="1"/>
            </p:cNvSpPr>
            <p:nvPr/>
          </p:nvSpPr>
          <p:spPr bwMode="auto">
            <a:xfrm flipV="1">
              <a:off x="254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2" name="Line 15"/>
            <p:cNvSpPr>
              <a:spLocks noChangeShapeType="1"/>
            </p:cNvSpPr>
            <p:nvPr/>
          </p:nvSpPr>
          <p:spPr bwMode="auto">
            <a:xfrm flipV="1">
              <a:off x="273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3" name="Line 16"/>
            <p:cNvSpPr>
              <a:spLocks noChangeShapeType="1"/>
            </p:cNvSpPr>
            <p:nvPr/>
          </p:nvSpPr>
          <p:spPr bwMode="auto">
            <a:xfrm flipV="1">
              <a:off x="292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4" name="Line 17"/>
            <p:cNvSpPr>
              <a:spLocks noChangeShapeType="1"/>
            </p:cNvSpPr>
            <p:nvPr/>
          </p:nvSpPr>
          <p:spPr bwMode="auto">
            <a:xfrm flipV="1">
              <a:off x="312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5" name="Line 18"/>
            <p:cNvSpPr>
              <a:spLocks noChangeShapeType="1"/>
            </p:cNvSpPr>
            <p:nvPr/>
          </p:nvSpPr>
          <p:spPr bwMode="auto">
            <a:xfrm flipV="1">
              <a:off x="331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6" name="Line 19"/>
            <p:cNvSpPr>
              <a:spLocks noChangeShapeType="1"/>
            </p:cNvSpPr>
            <p:nvPr/>
          </p:nvSpPr>
          <p:spPr bwMode="auto">
            <a:xfrm flipV="1">
              <a:off x="350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7" name="Line 20"/>
            <p:cNvSpPr>
              <a:spLocks noChangeShapeType="1"/>
            </p:cNvSpPr>
            <p:nvPr/>
          </p:nvSpPr>
          <p:spPr bwMode="auto">
            <a:xfrm flipV="1">
              <a:off x="369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8" name="Line 21"/>
            <p:cNvSpPr>
              <a:spLocks noChangeShapeType="1"/>
            </p:cNvSpPr>
            <p:nvPr/>
          </p:nvSpPr>
          <p:spPr bwMode="auto">
            <a:xfrm flipV="1">
              <a:off x="388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79" name="Line 22"/>
            <p:cNvSpPr>
              <a:spLocks noChangeShapeType="1"/>
            </p:cNvSpPr>
            <p:nvPr/>
          </p:nvSpPr>
          <p:spPr bwMode="auto">
            <a:xfrm flipV="1">
              <a:off x="408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80" name="Line 23"/>
            <p:cNvSpPr>
              <a:spLocks noChangeShapeType="1"/>
            </p:cNvSpPr>
            <p:nvPr/>
          </p:nvSpPr>
          <p:spPr bwMode="auto">
            <a:xfrm flipV="1">
              <a:off x="427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81" name="Line 24"/>
            <p:cNvSpPr>
              <a:spLocks noChangeShapeType="1"/>
            </p:cNvSpPr>
            <p:nvPr/>
          </p:nvSpPr>
          <p:spPr bwMode="auto">
            <a:xfrm flipV="1">
              <a:off x="446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82" name="Line 25"/>
            <p:cNvSpPr>
              <a:spLocks noChangeShapeType="1"/>
            </p:cNvSpPr>
            <p:nvPr/>
          </p:nvSpPr>
          <p:spPr bwMode="auto">
            <a:xfrm flipV="1">
              <a:off x="465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83" name="Line 26"/>
            <p:cNvSpPr>
              <a:spLocks noChangeShapeType="1"/>
            </p:cNvSpPr>
            <p:nvPr/>
          </p:nvSpPr>
          <p:spPr bwMode="auto">
            <a:xfrm flipV="1">
              <a:off x="484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84" name="Rectangle 27"/>
            <p:cNvSpPr>
              <a:spLocks noChangeArrowheads="1"/>
            </p:cNvSpPr>
            <p:nvPr/>
          </p:nvSpPr>
          <p:spPr bwMode="auto">
            <a:xfrm>
              <a:off x="903" y="1008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385" name="Rectangle 28"/>
            <p:cNvSpPr>
              <a:spLocks noChangeArrowheads="1"/>
            </p:cNvSpPr>
            <p:nvPr/>
          </p:nvSpPr>
          <p:spPr bwMode="auto">
            <a:xfrm>
              <a:off x="1863" y="960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1386" name="Rectangle 29"/>
            <p:cNvSpPr>
              <a:spLocks noChangeArrowheads="1"/>
            </p:cNvSpPr>
            <p:nvPr/>
          </p:nvSpPr>
          <p:spPr bwMode="auto">
            <a:xfrm>
              <a:off x="2823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1387" name="Rectangle 30"/>
            <p:cNvSpPr>
              <a:spLocks noChangeArrowheads="1"/>
            </p:cNvSpPr>
            <p:nvPr/>
          </p:nvSpPr>
          <p:spPr bwMode="auto">
            <a:xfrm>
              <a:off x="373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1388" name="Rectangle 31"/>
            <p:cNvSpPr>
              <a:spLocks noChangeArrowheads="1"/>
            </p:cNvSpPr>
            <p:nvPr/>
          </p:nvSpPr>
          <p:spPr bwMode="auto">
            <a:xfrm>
              <a:off x="469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24581" name="Line 82"/>
          <p:cNvSpPr>
            <a:spLocks noChangeShapeType="1"/>
          </p:cNvSpPr>
          <p:nvPr/>
        </p:nvSpPr>
        <p:spPr bwMode="auto">
          <a:xfrm>
            <a:off x="1670050" y="47259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83"/>
          <p:cNvSpPr>
            <a:spLocks noChangeShapeType="1"/>
          </p:cNvSpPr>
          <p:nvPr/>
        </p:nvSpPr>
        <p:spPr bwMode="auto">
          <a:xfrm>
            <a:off x="2279650" y="4725988"/>
            <a:ext cx="0" cy="3032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Line 84"/>
          <p:cNvSpPr>
            <a:spLocks noChangeShapeType="1"/>
          </p:cNvSpPr>
          <p:nvPr/>
        </p:nvSpPr>
        <p:spPr bwMode="auto">
          <a:xfrm>
            <a:off x="2584450" y="5037138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Rectangle 85"/>
          <p:cNvSpPr>
            <a:spLocks noChangeArrowheads="1"/>
          </p:cNvSpPr>
          <p:nvPr/>
        </p:nvSpPr>
        <p:spPr bwMode="auto">
          <a:xfrm>
            <a:off x="1198563" y="4724400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585" name="Rectangle 86"/>
          <p:cNvSpPr>
            <a:spLocks noChangeArrowheads="1"/>
          </p:cNvSpPr>
          <p:nvPr/>
        </p:nvSpPr>
        <p:spPr bwMode="auto">
          <a:xfrm>
            <a:off x="1198563" y="5105400"/>
            <a:ext cx="3159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4586" name="Rectangle 87"/>
          <p:cNvSpPr>
            <a:spLocks noChangeArrowheads="1"/>
          </p:cNvSpPr>
          <p:nvPr/>
        </p:nvSpPr>
        <p:spPr bwMode="auto">
          <a:xfrm>
            <a:off x="1198563" y="5410200"/>
            <a:ext cx="3159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4587" name="Rectangle 88"/>
          <p:cNvSpPr>
            <a:spLocks noChangeArrowheads="1"/>
          </p:cNvSpPr>
          <p:nvPr/>
        </p:nvSpPr>
        <p:spPr bwMode="auto">
          <a:xfrm>
            <a:off x="1198563" y="5715000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4588" name="Rectangle 89"/>
          <p:cNvSpPr>
            <a:spLocks noChangeArrowheads="1"/>
          </p:cNvSpPr>
          <p:nvPr/>
        </p:nvSpPr>
        <p:spPr bwMode="auto">
          <a:xfrm>
            <a:off x="1198563" y="6019800"/>
            <a:ext cx="304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4589" name="Line 90"/>
          <p:cNvSpPr>
            <a:spLocks noChangeShapeType="1"/>
          </p:cNvSpPr>
          <p:nvPr/>
        </p:nvSpPr>
        <p:spPr bwMode="auto">
          <a:xfrm>
            <a:off x="1677988" y="4724400"/>
            <a:ext cx="595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Line 91"/>
          <p:cNvSpPr>
            <a:spLocks noChangeShapeType="1"/>
          </p:cNvSpPr>
          <p:nvPr/>
        </p:nvSpPr>
        <p:spPr bwMode="auto">
          <a:xfrm>
            <a:off x="1677988" y="5029200"/>
            <a:ext cx="595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92"/>
          <p:cNvSpPr>
            <a:spLocks noChangeShapeType="1"/>
          </p:cNvSpPr>
          <p:nvPr/>
        </p:nvSpPr>
        <p:spPr bwMode="auto">
          <a:xfrm>
            <a:off x="2287588" y="5029200"/>
            <a:ext cx="2905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93"/>
          <p:cNvSpPr>
            <a:spLocks noChangeShapeType="1"/>
          </p:cNvSpPr>
          <p:nvPr/>
        </p:nvSpPr>
        <p:spPr bwMode="auto">
          <a:xfrm flipH="1">
            <a:off x="2274888" y="5334000"/>
            <a:ext cx="3159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94"/>
          <p:cNvSpPr>
            <a:spLocks noChangeShapeType="1"/>
          </p:cNvSpPr>
          <p:nvPr/>
        </p:nvSpPr>
        <p:spPr bwMode="auto">
          <a:xfrm>
            <a:off x="2279650" y="5037138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95"/>
          <p:cNvSpPr>
            <a:spLocks noChangeShapeType="1"/>
          </p:cNvSpPr>
          <p:nvPr/>
        </p:nvSpPr>
        <p:spPr bwMode="auto">
          <a:xfrm flipH="1">
            <a:off x="2579688" y="5029200"/>
            <a:ext cx="3159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96"/>
          <p:cNvSpPr>
            <a:spLocks noChangeShapeType="1"/>
          </p:cNvSpPr>
          <p:nvPr/>
        </p:nvSpPr>
        <p:spPr bwMode="auto">
          <a:xfrm flipH="1">
            <a:off x="2579688" y="4724400"/>
            <a:ext cx="3159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Line 97"/>
          <p:cNvSpPr>
            <a:spLocks noChangeShapeType="1"/>
          </p:cNvSpPr>
          <p:nvPr/>
        </p:nvSpPr>
        <p:spPr bwMode="auto">
          <a:xfrm flipV="1">
            <a:off x="2584450" y="47196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98"/>
          <p:cNvSpPr>
            <a:spLocks noChangeShapeType="1"/>
          </p:cNvSpPr>
          <p:nvPr/>
        </p:nvSpPr>
        <p:spPr bwMode="auto">
          <a:xfrm flipV="1">
            <a:off x="2889250" y="47196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99"/>
          <p:cNvSpPr>
            <a:spLocks noChangeShapeType="1"/>
          </p:cNvSpPr>
          <p:nvPr/>
        </p:nvSpPr>
        <p:spPr bwMode="auto">
          <a:xfrm flipV="1">
            <a:off x="3194050" y="50244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100"/>
          <p:cNvSpPr>
            <a:spLocks noChangeShapeType="1"/>
          </p:cNvSpPr>
          <p:nvPr/>
        </p:nvSpPr>
        <p:spPr bwMode="auto">
          <a:xfrm flipV="1">
            <a:off x="2889250" y="50244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101"/>
          <p:cNvSpPr>
            <a:spLocks noChangeShapeType="1"/>
          </p:cNvSpPr>
          <p:nvPr/>
        </p:nvSpPr>
        <p:spPr bwMode="auto">
          <a:xfrm>
            <a:off x="2897188" y="5029200"/>
            <a:ext cx="2968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Line 102"/>
          <p:cNvSpPr>
            <a:spLocks noChangeShapeType="1"/>
          </p:cNvSpPr>
          <p:nvPr/>
        </p:nvSpPr>
        <p:spPr bwMode="auto">
          <a:xfrm>
            <a:off x="2897188" y="5334000"/>
            <a:ext cx="2905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Line 103"/>
          <p:cNvSpPr>
            <a:spLocks noChangeShapeType="1"/>
          </p:cNvSpPr>
          <p:nvPr/>
        </p:nvSpPr>
        <p:spPr bwMode="auto">
          <a:xfrm flipV="1">
            <a:off x="3194050" y="53292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Line 104"/>
          <p:cNvSpPr>
            <a:spLocks noChangeShapeType="1"/>
          </p:cNvSpPr>
          <p:nvPr/>
        </p:nvSpPr>
        <p:spPr bwMode="auto">
          <a:xfrm flipV="1">
            <a:off x="3498850" y="5329238"/>
            <a:ext cx="0" cy="3159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Line 105"/>
          <p:cNvSpPr>
            <a:spLocks noChangeShapeType="1"/>
          </p:cNvSpPr>
          <p:nvPr/>
        </p:nvSpPr>
        <p:spPr bwMode="auto">
          <a:xfrm>
            <a:off x="3201988" y="5334000"/>
            <a:ext cx="2905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Line 106"/>
          <p:cNvSpPr>
            <a:spLocks noChangeShapeType="1"/>
          </p:cNvSpPr>
          <p:nvPr/>
        </p:nvSpPr>
        <p:spPr bwMode="auto">
          <a:xfrm>
            <a:off x="3201988" y="5638800"/>
            <a:ext cx="2905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Line 107"/>
          <p:cNvSpPr>
            <a:spLocks noChangeShapeType="1"/>
          </p:cNvSpPr>
          <p:nvPr/>
        </p:nvSpPr>
        <p:spPr bwMode="auto">
          <a:xfrm flipH="1">
            <a:off x="7327900" y="6096000"/>
            <a:ext cx="30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Line 108"/>
          <p:cNvSpPr>
            <a:spLocks noChangeShapeType="1"/>
          </p:cNvSpPr>
          <p:nvPr/>
        </p:nvSpPr>
        <p:spPr bwMode="auto">
          <a:xfrm flipH="1">
            <a:off x="7315200" y="5791200"/>
            <a:ext cx="309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Line 109"/>
          <p:cNvSpPr>
            <a:spLocks noChangeShapeType="1"/>
          </p:cNvSpPr>
          <p:nvPr/>
        </p:nvSpPr>
        <p:spPr bwMode="auto">
          <a:xfrm>
            <a:off x="7326313" y="5792788"/>
            <a:ext cx="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10"/>
          <p:cNvGrpSpPr>
            <a:grpSpLocks/>
          </p:cNvGrpSpPr>
          <p:nvPr/>
        </p:nvGrpSpPr>
        <p:grpSpPr bwMode="auto">
          <a:xfrm>
            <a:off x="5329238" y="5410200"/>
            <a:ext cx="309562" cy="304800"/>
            <a:chOff x="3313" y="2016"/>
            <a:chExt cx="195" cy="192"/>
          </a:xfrm>
        </p:grpSpPr>
        <p:sp>
          <p:nvSpPr>
            <p:cNvPr id="11358" name="Line 111"/>
            <p:cNvSpPr>
              <a:spLocks noChangeShapeType="1"/>
            </p:cNvSpPr>
            <p:nvPr/>
          </p:nvSpPr>
          <p:spPr bwMode="auto">
            <a:xfrm flipH="1">
              <a:off x="3317" y="2208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9" name="Line 112"/>
            <p:cNvSpPr>
              <a:spLocks noChangeShapeType="1"/>
            </p:cNvSpPr>
            <p:nvPr/>
          </p:nvSpPr>
          <p:spPr bwMode="auto">
            <a:xfrm flipH="1">
              <a:off x="3313" y="2016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0" name="Line 113"/>
            <p:cNvSpPr>
              <a:spLocks noChangeShapeType="1"/>
            </p:cNvSpPr>
            <p:nvPr/>
          </p:nvSpPr>
          <p:spPr bwMode="auto">
            <a:xfrm>
              <a:off x="3508" y="202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61" name="Line 114"/>
            <p:cNvSpPr>
              <a:spLocks noChangeShapeType="1"/>
            </p:cNvSpPr>
            <p:nvPr/>
          </p:nvSpPr>
          <p:spPr bwMode="auto">
            <a:xfrm>
              <a:off x="3316" y="201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15"/>
          <p:cNvGrpSpPr>
            <a:grpSpLocks/>
          </p:cNvGrpSpPr>
          <p:nvPr/>
        </p:nvGrpSpPr>
        <p:grpSpPr bwMode="auto">
          <a:xfrm>
            <a:off x="5634038" y="5105400"/>
            <a:ext cx="309562" cy="304800"/>
            <a:chOff x="3505" y="1824"/>
            <a:chExt cx="195" cy="192"/>
          </a:xfrm>
        </p:grpSpPr>
        <p:sp>
          <p:nvSpPr>
            <p:cNvPr id="11354" name="Line 116"/>
            <p:cNvSpPr>
              <a:spLocks noChangeShapeType="1"/>
            </p:cNvSpPr>
            <p:nvPr/>
          </p:nvSpPr>
          <p:spPr bwMode="auto">
            <a:xfrm flipH="1">
              <a:off x="3509" y="2016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5" name="Line 117"/>
            <p:cNvSpPr>
              <a:spLocks noChangeShapeType="1"/>
            </p:cNvSpPr>
            <p:nvPr/>
          </p:nvSpPr>
          <p:spPr bwMode="auto">
            <a:xfrm flipH="1">
              <a:off x="3505" y="1824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6" name="Line 118"/>
            <p:cNvSpPr>
              <a:spLocks noChangeShapeType="1"/>
            </p:cNvSpPr>
            <p:nvPr/>
          </p:nvSpPr>
          <p:spPr bwMode="auto">
            <a:xfrm>
              <a:off x="3700" y="1829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7" name="Line 119"/>
            <p:cNvSpPr>
              <a:spLocks noChangeShapeType="1"/>
            </p:cNvSpPr>
            <p:nvPr/>
          </p:nvSpPr>
          <p:spPr bwMode="auto">
            <a:xfrm>
              <a:off x="3508" y="1825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20"/>
          <p:cNvGrpSpPr>
            <a:grpSpLocks/>
          </p:cNvGrpSpPr>
          <p:nvPr/>
        </p:nvGrpSpPr>
        <p:grpSpPr bwMode="auto">
          <a:xfrm>
            <a:off x="4719638" y="6019800"/>
            <a:ext cx="309562" cy="304800"/>
            <a:chOff x="2929" y="2400"/>
            <a:chExt cx="195" cy="192"/>
          </a:xfrm>
        </p:grpSpPr>
        <p:sp>
          <p:nvSpPr>
            <p:cNvPr id="11350" name="Line 121"/>
            <p:cNvSpPr>
              <a:spLocks noChangeShapeType="1"/>
            </p:cNvSpPr>
            <p:nvPr/>
          </p:nvSpPr>
          <p:spPr bwMode="auto">
            <a:xfrm flipH="1">
              <a:off x="2933" y="2592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1" name="Line 122"/>
            <p:cNvSpPr>
              <a:spLocks noChangeShapeType="1"/>
            </p:cNvSpPr>
            <p:nvPr/>
          </p:nvSpPr>
          <p:spPr bwMode="auto">
            <a:xfrm flipH="1">
              <a:off x="2929" y="2400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2" name="Line 123"/>
            <p:cNvSpPr>
              <a:spLocks noChangeShapeType="1"/>
            </p:cNvSpPr>
            <p:nvPr/>
          </p:nvSpPr>
          <p:spPr bwMode="auto">
            <a:xfrm>
              <a:off x="3124" y="240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53" name="Line 124"/>
            <p:cNvSpPr>
              <a:spLocks noChangeShapeType="1"/>
            </p:cNvSpPr>
            <p:nvPr/>
          </p:nvSpPr>
          <p:spPr bwMode="auto">
            <a:xfrm>
              <a:off x="2932" y="2401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125"/>
          <p:cNvGrpSpPr>
            <a:grpSpLocks/>
          </p:cNvGrpSpPr>
          <p:nvPr/>
        </p:nvGrpSpPr>
        <p:grpSpPr bwMode="auto">
          <a:xfrm>
            <a:off x="5024438" y="5715000"/>
            <a:ext cx="309562" cy="304800"/>
            <a:chOff x="3121" y="2208"/>
            <a:chExt cx="195" cy="192"/>
          </a:xfrm>
        </p:grpSpPr>
        <p:sp>
          <p:nvSpPr>
            <p:cNvPr id="11346" name="Line 126"/>
            <p:cNvSpPr>
              <a:spLocks noChangeShapeType="1"/>
            </p:cNvSpPr>
            <p:nvPr/>
          </p:nvSpPr>
          <p:spPr bwMode="auto">
            <a:xfrm flipH="1">
              <a:off x="3125" y="2400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7" name="Line 127"/>
            <p:cNvSpPr>
              <a:spLocks noChangeShapeType="1"/>
            </p:cNvSpPr>
            <p:nvPr/>
          </p:nvSpPr>
          <p:spPr bwMode="auto">
            <a:xfrm flipH="1">
              <a:off x="3121" y="2208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8" name="Line 128"/>
            <p:cNvSpPr>
              <a:spLocks noChangeShapeType="1"/>
            </p:cNvSpPr>
            <p:nvPr/>
          </p:nvSpPr>
          <p:spPr bwMode="auto">
            <a:xfrm>
              <a:off x="3316" y="22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9" name="Line 129"/>
            <p:cNvSpPr>
              <a:spLocks noChangeShapeType="1"/>
            </p:cNvSpPr>
            <p:nvPr/>
          </p:nvSpPr>
          <p:spPr bwMode="auto">
            <a:xfrm>
              <a:off x="3124" y="220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130"/>
          <p:cNvGrpSpPr>
            <a:grpSpLocks/>
          </p:cNvGrpSpPr>
          <p:nvPr/>
        </p:nvGrpSpPr>
        <p:grpSpPr bwMode="auto">
          <a:xfrm>
            <a:off x="4414838" y="5029200"/>
            <a:ext cx="309562" cy="304800"/>
            <a:chOff x="2737" y="1776"/>
            <a:chExt cx="195" cy="192"/>
          </a:xfrm>
        </p:grpSpPr>
        <p:sp>
          <p:nvSpPr>
            <p:cNvPr id="11342" name="Line 131"/>
            <p:cNvSpPr>
              <a:spLocks noChangeShapeType="1"/>
            </p:cNvSpPr>
            <p:nvPr/>
          </p:nvSpPr>
          <p:spPr bwMode="auto">
            <a:xfrm flipH="1">
              <a:off x="2741" y="1968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3" name="Line 132"/>
            <p:cNvSpPr>
              <a:spLocks noChangeShapeType="1"/>
            </p:cNvSpPr>
            <p:nvPr/>
          </p:nvSpPr>
          <p:spPr bwMode="auto">
            <a:xfrm flipH="1">
              <a:off x="2737" y="1776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4" name="Line 133"/>
            <p:cNvSpPr>
              <a:spLocks noChangeShapeType="1"/>
            </p:cNvSpPr>
            <p:nvPr/>
          </p:nvSpPr>
          <p:spPr bwMode="auto">
            <a:xfrm>
              <a:off x="2932" y="178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5" name="Line 134"/>
            <p:cNvSpPr>
              <a:spLocks noChangeShapeType="1"/>
            </p:cNvSpPr>
            <p:nvPr/>
          </p:nvSpPr>
          <p:spPr bwMode="auto">
            <a:xfrm>
              <a:off x="2740" y="177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135"/>
          <p:cNvGrpSpPr>
            <a:grpSpLocks/>
          </p:cNvGrpSpPr>
          <p:nvPr/>
        </p:nvGrpSpPr>
        <p:grpSpPr bwMode="auto">
          <a:xfrm>
            <a:off x="3494088" y="5029200"/>
            <a:ext cx="309562" cy="304800"/>
            <a:chOff x="2157" y="1776"/>
            <a:chExt cx="195" cy="192"/>
          </a:xfrm>
        </p:grpSpPr>
        <p:sp>
          <p:nvSpPr>
            <p:cNvPr id="11338" name="Line 136"/>
            <p:cNvSpPr>
              <a:spLocks noChangeShapeType="1"/>
            </p:cNvSpPr>
            <p:nvPr/>
          </p:nvSpPr>
          <p:spPr bwMode="auto">
            <a:xfrm flipH="1">
              <a:off x="2161" y="1968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9" name="Line 137"/>
            <p:cNvSpPr>
              <a:spLocks noChangeShapeType="1"/>
            </p:cNvSpPr>
            <p:nvPr/>
          </p:nvSpPr>
          <p:spPr bwMode="auto">
            <a:xfrm flipH="1">
              <a:off x="2157" y="1776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0" name="Line 138"/>
            <p:cNvSpPr>
              <a:spLocks noChangeShapeType="1"/>
            </p:cNvSpPr>
            <p:nvPr/>
          </p:nvSpPr>
          <p:spPr bwMode="auto">
            <a:xfrm>
              <a:off x="2352" y="178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41" name="Line 139"/>
            <p:cNvSpPr>
              <a:spLocks noChangeShapeType="1"/>
            </p:cNvSpPr>
            <p:nvPr/>
          </p:nvSpPr>
          <p:spPr bwMode="auto">
            <a:xfrm>
              <a:off x="2160" y="177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140"/>
          <p:cNvGrpSpPr>
            <a:grpSpLocks/>
          </p:cNvGrpSpPr>
          <p:nvPr/>
        </p:nvGrpSpPr>
        <p:grpSpPr bwMode="auto">
          <a:xfrm>
            <a:off x="3805238" y="5638800"/>
            <a:ext cx="309562" cy="304800"/>
            <a:chOff x="2353" y="2160"/>
            <a:chExt cx="195" cy="192"/>
          </a:xfrm>
        </p:grpSpPr>
        <p:sp>
          <p:nvSpPr>
            <p:cNvPr id="11334" name="Line 141"/>
            <p:cNvSpPr>
              <a:spLocks noChangeShapeType="1"/>
            </p:cNvSpPr>
            <p:nvPr/>
          </p:nvSpPr>
          <p:spPr bwMode="auto">
            <a:xfrm flipH="1">
              <a:off x="2357" y="2352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5" name="Line 142"/>
            <p:cNvSpPr>
              <a:spLocks noChangeShapeType="1"/>
            </p:cNvSpPr>
            <p:nvPr/>
          </p:nvSpPr>
          <p:spPr bwMode="auto">
            <a:xfrm flipH="1">
              <a:off x="2353" y="2160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6" name="Line 143"/>
            <p:cNvSpPr>
              <a:spLocks noChangeShapeType="1"/>
            </p:cNvSpPr>
            <p:nvPr/>
          </p:nvSpPr>
          <p:spPr bwMode="auto">
            <a:xfrm>
              <a:off x="2548" y="216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7" name="Line 144"/>
            <p:cNvSpPr>
              <a:spLocks noChangeShapeType="1"/>
            </p:cNvSpPr>
            <p:nvPr/>
          </p:nvSpPr>
          <p:spPr bwMode="auto">
            <a:xfrm>
              <a:off x="2356" y="2161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" name="Group 145"/>
          <p:cNvGrpSpPr>
            <a:grpSpLocks/>
          </p:cNvGrpSpPr>
          <p:nvPr/>
        </p:nvGrpSpPr>
        <p:grpSpPr bwMode="auto">
          <a:xfrm>
            <a:off x="4110038" y="5334000"/>
            <a:ext cx="309562" cy="304800"/>
            <a:chOff x="2545" y="1968"/>
            <a:chExt cx="195" cy="192"/>
          </a:xfrm>
        </p:grpSpPr>
        <p:sp>
          <p:nvSpPr>
            <p:cNvPr id="11330" name="Line 146"/>
            <p:cNvSpPr>
              <a:spLocks noChangeShapeType="1"/>
            </p:cNvSpPr>
            <p:nvPr/>
          </p:nvSpPr>
          <p:spPr bwMode="auto">
            <a:xfrm flipH="1">
              <a:off x="2549" y="2160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1" name="Line 147"/>
            <p:cNvSpPr>
              <a:spLocks noChangeShapeType="1"/>
            </p:cNvSpPr>
            <p:nvPr/>
          </p:nvSpPr>
          <p:spPr bwMode="auto">
            <a:xfrm flipH="1">
              <a:off x="2545" y="1968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2" name="Line 148"/>
            <p:cNvSpPr>
              <a:spLocks noChangeShapeType="1"/>
            </p:cNvSpPr>
            <p:nvPr/>
          </p:nvSpPr>
          <p:spPr bwMode="auto">
            <a:xfrm>
              <a:off x="2740" y="197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33" name="Line 149"/>
            <p:cNvSpPr>
              <a:spLocks noChangeShapeType="1"/>
            </p:cNvSpPr>
            <p:nvPr/>
          </p:nvSpPr>
          <p:spPr bwMode="auto">
            <a:xfrm>
              <a:off x="2548" y="196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17" name="Line 150"/>
          <p:cNvSpPr>
            <a:spLocks noChangeShapeType="1"/>
          </p:cNvSpPr>
          <p:nvPr/>
        </p:nvSpPr>
        <p:spPr bwMode="auto">
          <a:xfrm flipH="1">
            <a:off x="7626350" y="6096000"/>
            <a:ext cx="30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8" name="Line 151"/>
          <p:cNvSpPr>
            <a:spLocks noChangeShapeType="1"/>
          </p:cNvSpPr>
          <p:nvPr/>
        </p:nvSpPr>
        <p:spPr bwMode="auto">
          <a:xfrm flipH="1">
            <a:off x="7626350" y="5791200"/>
            <a:ext cx="3095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9" name="Line 152"/>
          <p:cNvSpPr>
            <a:spLocks noChangeShapeType="1"/>
          </p:cNvSpPr>
          <p:nvPr/>
        </p:nvSpPr>
        <p:spPr bwMode="auto">
          <a:xfrm>
            <a:off x="7929563" y="5792788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" name="Group 153"/>
          <p:cNvGrpSpPr>
            <a:grpSpLocks/>
          </p:cNvGrpSpPr>
          <p:nvPr/>
        </p:nvGrpSpPr>
        <p:grpSpPr bwMode="auto">
          <a:xfrm>
            <a:off x="6319838" y="5791200"/>
            <a:ext cx="309562" cy="304800"/>
            <a:chOff x="3937" y="2256"/>
            <a:chExt cx="195" cy="192"/>
          </a:xfrm>
        </p:grpSpPr>
        <p:sp>
          <p:nvSpPr>
            <p:cNvPr id="11326" name="Line 154"/>
            <p:cNvSpPr>
              <a:spLocks noChangeShapeType="1"/>
            </p:cNvSpPr>
            <p:nvPr/>
          </p:nvSpPr>
          <p:spPr bwMode="auto">
            <a:xfrm flipH="1">
              <a:off x="3941" y="2448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7" name="Line 155"/>
            <p:cNvSpPr>
              <a:spLocks noChangeShapeType="1"/>
            </p:cNvSpPr>
            <p:nvPr/>
          </p:nvSpPr>
          <p:spPr bwMode="auto">
            <a:xfrm flipH="1">
              <a:off x="3937" y="2256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8" name="Line 156"/>
            <p:cNvSpPr>
              <a:spLocks noChangeShapeType="1"/>
            </p:cNvSpPr>
            <p:nvPr/>
          </p:nvSpPr>
          <p:spPr bwMode="auto">
            <a:xfrm>
              <a:off x="4132" y="226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9" name="Line 157"/>
            <p:cNvSpPr>
              <a:spLocks noChangeShapeType="1"/>
            </p:cNvSpPr>
            <p:nvPr/>
          </p:nvSpPr>
          <p:spPr bwMode="auto">
            <a:xfrm>
              <a:off x="3940" y="225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58"/>
          <p:cNvGrpSpPr>
            <a:grpSpLocks/>
          </p:cNvGrpSpPr>
          <p:nvPr/>
        </p:nvGrpSpPr>
        <p:grpSpPr bwMode="auto">
          <a:xfrm>
            <a:off x="6624638" y="5486400"/>
            <a:ext cx="309562" cy="304800"/>
            <a:chOff x="4129" y="2064"/>
            <a:chExt cx="195" cy="192"/>
          </a:xfrm>
        </p:grpSpPr>
        <p:sp>
          <p:nvSpPr>
            <p:cNvPr id="11322" name="Line 159"/>
            <p:cNvSpPr>
              <a:spLocks noChangeShapeType="1"/>
            </p:cNvSpPr>
            <p:nvPr/>
          </p:nvSpPr>
          <p:spPr bwMode="auto">
            <a:xfrm flipH="1">
              <a:off x="4133" y="2256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3" name="Line 160"/>
            <p:cNvSpPr>
              <a:spLocks noChangeShapeType="1"/>
            </p:cNvSpPr>
            <p:nvPr/>
          </p:nvSpPr>
          <p:spPr bwMode="auto">
            <a:xfrm flipH="1">
              <a:off x="4129" y="2064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4" name="Line 161"/>
            <p:cNvSpPr>
              <a:spLocks noChangeShapeType="1"/>
            </p:cNvSpPr>
            <p:nvPr/>
          </p:nvSpPr>
          <p:spPr bwMode="auto">
            <a:xfrm>
              <a:off x="4324" y="2069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" name="Line 162"/>
            <p:cNvSpPr>
              <a:spLocks noChangeShapeType="1"/>
            </p:cNvSpPr>
            <p:nvPr/>
          </p:nvSpPr>
          <p:spPr bwMode="auto">
            <a:xfrm>
              <a:off x="4132" y="2065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Group 163"/>
          <p:cNvGrpSpPr>
            <a:grpSpLocks/>
          </p:cNvGrpSpPr>
          <p:nvPr/>
        </p:nvGrpSpPr>
        <p:grpSpPr bwMode="auto">
          <a:xfrm>
            <a:off x="6929438" y="5181600"/>
            <a:ext cx="309562" cy="304800"/>
            <a:chOff x="4321" y="1872"/>
            <a:chExt cx="195" cy="192"/>
          </a:xfrm>
        </p:grpSpPr>
        <p:sp>
          <p:nvSpPr>
            <p:cNvPr id="11318" name="Line 164"/>
            <p:cNvSpPr>
              <a:spLocks noChangeShapeType="1"/>
            </p:cNvSpPr>
            <p:nvPr/>
          </p:nvSpPr>
          <p:spPr bwMode="auto">
            <a:xfrm flipH="1">
              <a:off x="4325" y="2064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9" name="Line 165"/>
            <p:cNvSpPr>
              <a:spLocks noChangeShapeType="1"/>
            </p:cNvSpPr>
            <p:nvPr/>
          </p:nvSpPr>
          <p:spPr bwMode="auto">
            <a:xfrm flipH="1">
              <a:off x="4321" y="1872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0" name="Line 166"/>
            <p:cNvSpPr>
              <a:spLocks noChangeShapeType="1"/>
            </p:cNvSpPr>
            <p:nvPr/>
          </p:nvSpPr>
          <p:spPr bwMode="auto">
            <a:xfrm>
              <a:off x="4516" y="1877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1" name="Line 167"/>
            <p:cNvSpPr>
              <a:spLocks noChangeShapeType="1"/>
            </p:cNvSpPr>
            <p:nvPr/>
          </p:nvSpPr>
          <p:spPr bwMode="auto">
            <a:xfrm>
              <a:off x="4324" y="1873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4" name="Group 168"/>
          <p:cNvGrpSpPr>
            <a:grpSpLocks/>
          </p:cNvGrpSpPr>
          <p:nvPr/>
        </p:nvGrpSpPr>
        <p:grpSpPr bwMode="auto">
          <a:xfrm>
            <a:off x="6015038" y="6096000"/>
            <a:ext cx="309562" cy="304800"/>
            <a:chOff x="3745" y="2448"/>
            <a:chExt cx="195" cy="192"/>
          </a:xfrm>
        </p:grpSpPr>
        <p:sp>
          <p:nvSpPr>
            <p:cNvPr id="11314" name="Line 169"/>
            <p:cNvSpPr>
              <a:spLocks noChangeShapeType="1"/>
            </p:cNvSpPr>
            <p:nvPr/>
          </p:nvSpPr>
          <p:spPr bwMode="auto">
            <a:xfrm flipH="1">
              <a:off x="3749" y="2640"/>
              <a:ext cx="19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5" name="Line 170"/>
            <p:cNvSpPr>
              <a:spLocks noChangeShapeType="1"/>
            </p:cNvSpPr>
            <p:nvPr/>
          </p:nvSpPr>
          <p:spPr bwMode="auto">
            <a:xfrm flipH="1">
              <a:off x="3745" y="2448"/>
              <a:ext cx="1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6" name="Line 171"/>
            <p:cNvSpPr>
              <a:spLocks noChangeShapeType="1"/>
            </p:cNvSpPr>
            <p:nvPr/>
          </p:nvSpPr>
          <p:spPr bwMode="auto">
            <a:xfrm>
              <a:off x="3940" y="245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17" name="Line 172"/>
            <p:cNvSpPr>
              <a:spLocks noChangeShapeType="1"/>
            </p:cNvSpPr>
            <p:nvPr/>
          </p:nvSpPr>
          <p:spPr bwMode="auto">
            <a:xfrm>
              <a:off x="3748" y="244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702" name="Text Box 126"/>
          <p:cNvSpPr txBox="1">
            <a:spLocks noChangeArrowheads="1"/>
          </p:cNvSpPr>
          <p:nvPr/>
        </p:nvSpPr>
        <p:spPr bwMode="auto">
          <a:xfrm>
            <a:off x="5943600" y="2057400"/>
            <a:ext cx="3200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waiting time = 6.8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turnaround time = 10.8</a:t>
            </a:r>
          </a:p>
        </p:txBody>
      </p:sp>
      <p:cxnSp>
        <p:nvCxnSpPr>
          <p:cNvPr id="125" name="Straight Connector 124"/>
          <p:cNvCxnSpPr/>
          <p:nvPr/>
        </p:nvCxnSpPr>
        <p:spPr>
          <a:xfrm rot="5400000">
            <a:off x="1829594" y="4876006"/>
            <a:ext cx="3048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2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2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4" dur="500"/>
                                        <p:tgtEl>
                                          <p:spTgt spid="24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0" dur="500"/>
                                        <p:tgtEl>
                                          <p:spTgt spid="24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4" grpId="0"/>
      <p:bldP spid="24585" grpId="0"/>
      <p:bldP spid="24586" grpId="0"/>
      <p:bldP spid="24587" grpId="0"/>
      <p:bldP spid="24588" grpId="0"/>
      <p:bldP spid="247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1676400" y="76200"/>
            <a:ext cx="76200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</a:t>
            </a:r>
          </a:p>
        </p:txBody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228600" y="914400"/>
            <a:ext cx="8915400" cy="59436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has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priority assigned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greatest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priority runnable 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is always run 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Give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chance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processes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change the priority of the running process or assign it a quantum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Statically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Static (or externally defined) priorities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predetermined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for each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E.g., the process of the boss; or the process of the guy who paid more than others to run on this machine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Dynamically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Dynamic (or internally defined) priorities are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assigned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certain goals: E.g., boost the priority of I/O-bound processes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Priority classes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between classes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 class 1 – 4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 each class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 idx="4294967295"/>
          </p:nvPr>
        </p:nvSpPr>
        <p:spPr>
          <a:xfrm>
            <a:off x="1676400" y="76200"/>
            <a:ext cx="7620000" cy="914400"/>
          </a:xfrm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Scheduling</a:t>
            </a:r>
          </a:p>
        </p:txBody>
      </p:sp>
      <p:sp>
        <p:nvSpPr>
          <p:cNvPr id="95235" name="Rectangle 3"/>
          <p:cNvSpPr>
            <a:spLocks noGrp="1"/>
          </p:cNvSpPr>
          <p:nvPr>
            <p:ph type="body" idx="4294967295"/>
          </p:nvPr>
        </p:nvSpPr>
        <p:spPr>
          <a:xfrm>
            <a:off x="228600" y="914400"/>
            <a:ext cx="8915400" cy="5943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Process:BurstTime:Priority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(P1:10:3), (P2:1:1), (P3:2:4), (P4:1:2)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waiting time: (2 + 0 + 12 + 1)/ 4 = 3.75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turnaround time: (12 + 1 + 14 + 2)/ 4 = 7.25</a:t>
            </a:r>
          </a:p>
          <a:p>
            <a:pPr lvl="1" algn="just"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priority processes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waited indefinitely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(cannot be executed if the system occurred errors in runtime) for CPU by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technique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gradually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processes that wait in the system for a long time (using the clock interrupt)</a:t>
            </a:r>
          </a:p>
          <a:p>
            <a:pPr lvl="2" algn="just" eaLnBrk="1" hangingPunct="1">
              <a:lnSpc>
                <a:spcPct val="8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15 minutes, decreasing the priority of a waiting process from (1 → 127), means that the priority with 127 → 1 at least 32 hours</a:t>
            </a: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438400"/>
            <a:ext cx="58594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9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52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9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8" y="1025526"/>
            <a:ext cx="622141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Rectangle 2"/>
          <p:cNvSpPr>
            <a:spLocks noGrp="1"/>
          </p:cNvSpPr>
          <p:nvPr>
            <p:ph type="title"/>
          </p:nvPr>
        </p:nvSpPr>
        <p:spPr>
          <a:xfrm>
            <a:off x="1600200" y="76200"/>
            <a:ext cx="76962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1524000" y="3857625"/>
            <a:ext cx="6403975" cy="692150"/>
            <a:chOff x="903" y="960"/>
            <a:chExt cx="4034" cy="436"/>
          </a:xfrm>
        </p:grpSpPr>
        <p:sp>
          <p:nvSpPr>
            <p:cNvPr id="14372" name="Line 5"/>
            <p:cNvSpPr>
              <a:spLocks noChangeShapeType="1"/>
            </p:cNvSpPr>
            <p:nvPr/>
          </p:nvSpPr>
          <p:spPr bwMode="auto">
            <a:xfrm>
              <a:off x="1013" y="1392"/>
              <a:ext cx="38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3" name="Line 6"/>
            <p:cNvSpPr>
              <a:spLocks noChangeShapeType="1"/>
            </p:cNvSpPr>
            <p:nvPr/>
          </p:nvSpPr>
          <p:spPr bwMode="auto">
            <a:xfrm flipV="1">
              <a:off x="100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4" name="Line 7"/>
            <p:cNvSpPr>
              <a:spLocks noChangeShapeType="1"/>
            </p:cNvSpPr>
            <p:nvPr/>
          </p:nvSpPr>
          <p:spPr bwMode="auto">
            <a:xfrm flipV="1">
              <a:off x="120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5" name="Line 8"/>
            <p:cNvSpPr>
              <a:spLocks noChangeShapeType="1"/>
            </p:cNvSpPr>
            <p:nvPr/>
          </p:nvSpPr>
          <p:spPr bwMode="auto">
            <a:xfrm flipV="1">
              <a:off x="139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6" name="Line 9"/>
            <p:cNvSpPr>
              <a:spLocks noChangeShapeType="1"/>
            </p:cNvSpPr>
            <p:nvPr/>
          </p:nvSpPr>
          <p:spPr bwMode="auto">
            <a:xfrm flipV="1">
              <a:off x="158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7" name="Line 10"/>
            <p:cNvSpPr>
              <a:spLocks noChangeShapeType="1"/>
            </p:cNvSpPr>
            <p:nvPr/>
          </p:nvSpPr>
          <p:spPr bwMode="auto">
            <a:xfrm flipV="1">
              <a:off x="177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8" name="Line 11"/>
            <p:cNvSpPr>
              <a:spLocks noChangeShapeType="1"/>
            </p:cNvSpPr>
            <p:nvPr/>
          </p:nvSpPr>
          <p:spPr bwMode="auto">
            <a:xfrm flipV="1">
              <a:off x="196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9" name="Line 12"/>
            <p:cNvSpPr>
              <a:spLocks noChangeShapeType="1"/>
            </p:cNvSpPr>
            <p:nvPr/>
          </p:nvSpPr>
          <p:spPr bwMode="auto">
            <a:xfrm flipV="1">
              <a:off x="216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0" name="Line 13"/>
            <p:cNvSpPr>
              <a:spLocks noChangeShapeType="1"/>
            </p:cNvSpPr>
            <p:nvPr/>
          </p:nvSpPr>
          <p:spPr bwMode="auto">
            <a:xfrm flipV="1">
              <a:off x="235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1" name="Line 14"/>
            <p:cNvSpPr>
              <a:spLocks noChangeShapeType="1"/>
            </p:cNvSpPr>
            <p:nvPr/>
          </p:nvSpPr>
          <p:spPr bwMode="auto">
            <a:xfrm flipV="1">
              <a:off x="254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2" name="Line 15"/>
            <p:cNvSpPr>
              <a:spLocks noChangeShapeType="1"/>
            </p:cNvSpPr>
            <p:nvPr/>
          </p:nvSpPr>
          <p:spPr bwMode="auto">
            <a:xfrm flipV="1">
              <a:off x="273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3" name="Line 16"/>
            <p:cNvSpPr>
              <a:spLocks noChangeShapeType="1"/>
            </p:cNvSpPr>
            <p:nvPr/>
          </p:nvSpPr>
          <p:spPr bwMode="auto">
            <a:xfrm flipV="1">
              <a:off x="292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4" name="Line 17"/>
            <p:cNvSpPr>
              <a:spLocks noChangeShapeType="1"/>
            </p:cNvSpPr>
            <p:nvPr/>
          </p:nvSpPr>
          <p:spPr bwMode="auto">
            <a:xfrm flipV="1">
              <a:off x="312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5" name="Line 18"/>
            <p:cNvSpPr>
              <a:spLocks noChangeShapeType="1"/>
            </p:cNvSpPr>
            <p:nvPr/>
          </p:nvSpPr>
          <p:spPr bwMode="auto">
            <a:xfrm flipV="1">
              <a:off x="331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6" name="Line 19"/>
            <p:cNvSpPr>
              <a:spLocks noChangeShapeType="1"/>
            </p:cNvSpPr>
            <p:nvPr/>
          </p:nvSpPr>
          <p:spPr bwMode="auto">
            <a:xfrm flipV="1">
              <a:off x="350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7" name="Line 20"/>
            <p:cNvSpPr>
              <a:spLocks noChangeShapeType="1"/>
            </p:cNvSpPr>
            <p:nvPr/>
          </p:nvSpPr>
          <p:spPr bwMode="auto">
            <a:xfrm flipV="1">
              <a:off x="369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8" name="Line 21"/>
            <p:cNvSpPr>
              <a:spLocks noChangeShapeType="1"/>
            </p:cNvSpPr>
            <p:nvPr/>
          </p:nvSpPr>
          <p:spPr bwMode="auto">
            <a:xfrm flipV="1">
              <a:off x="388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89" name="Line 22"/>
            <p:cNvSpPr>
              <a:spLocks noChangeShapeType="1"/>
            </p:cNvSpPr>
            <p:nvPr/>
          </p:nvSpPr>
          <p:spPr bwMode="auto">
            <a:xfrm flipV="1">
              <a:off x="408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0" name="Line 23"/>
            <p:cNvSpPr>
              <a:spLocks noChangeShapeType="1"/>
            </p:cNvSpPr>
            <p:nvPr/>
          </p:nvSpPr>
          <p:spPr bwMode="auto">
            <a:xfrm flipV="1">
              <a:off x="427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1" name="Line 24"/>
            <p:cNvSpPr>
              <a:spLocks noChangeShapeType="1"/>
            </p:cNvSpPr>
            <p:nvPr/>
          </p:nvSpPr>
          <p:spPr bwMode="auto">
            <a:xfrm flipV="1">
              <a:off x="446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2" name="Line 25"/>
            <p:cNvSpPr>
              <a:spLocks noChangeShapeType="1"/>
            </p:cNvSpPr>
            <p:nvPr/>
          </p:nvSpPr>
          <p:spPr bwMode="auto">
            <a:xfrm flipV="1">
              <a:off x="465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3" name="Line 26"/>
            <p:cNvSpPr>
              <a:spLocks noChangeShapeType="1"/>
            </p:cNvSpPr>
            <p:nvPr/>
          </p:nvSpPr>
          <p:spPr bwMode="auto">
            <a:xfrm flipV="1">
              <a:off x="484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94" name="Rectangle 27"/>
            <p:cNvSpPr>
              <a:spLocks noChangeArrowheads="1"/>
            </p:cNvSpPr>
            <p:nvPr/>
          </p:nvSpPr>
          <p:spPr bwMode="auto">
            <a:xfrm>
              <a:off x="903" y="1008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4395" name="Rectangle 28"/>
            <p:cNvSpPr>
              <a:spLocks noChangeArrowheads="1"/>
            </p:cNvSpPr>
            <p:nvPr/>
          </p:nvSpPr>
          <p:spPr bwMode="auto">
            <a:xfrm>
              <a:off x="1863" y="960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4396" name="Rectangle 29"/>
            <p:cNvSpPr>
              <a:spLocks noChangeArrowheads="1"/>
            </p:cNvSpPr>
            <p:nvPr/>
          </p:nvSpPr>
          <p:spPr bwMode="auto">
            <a:xfrm>
              <a:off x="2823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4397" name="Rectangle 30"/>
            <p:cNvSpPr>
              <a:spLocks noChangeArrowheads="1"/>
            </p:cNvSpPr>
            <p:nvPr/>
          </p:nvSpPr>
          <p:spPr bwMode="auto">
            <a:xfrm>
              <a:off x="373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4398" name="Rectangle 31"/>
            <p:cNvSpPr>
              <a:spLocks noChangeArrowheads="1"/>
            </p:cNvSpPr>
            <p:nvPr/>
          </p:nvSpPr>
          <p:spPr bwMode="auto">
            <a:xfrm>
              <a:off x="469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1676400" y="4648200"/>
            <a:ext cx="914400" cy="304800"/>
            <a:chOff x="1065" y="3006"/>
            <a:chExt cx="576" cy="192"/>
          </a:xfrm>
        </p:grpSpPr>
        <p:sp>
          <p:nvSpPr>
            <p:cNvPr id="14368" name="Line 33"/>
            <p:cNvSpPr>
              <a:spLocks noChangeShapeType="1"/>
            </p:cNvSpPr>
            <p:nvPr/>
          </p:nvSpPr>
          <p:spPr bwMode="auto">
            <a:xfrm>
              <a:off x="1065" y="3007"/>
              <a:ext cx="0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9" name="Line 34"/>
            <p:cNvSpPr>
              <a:spLocks noChangeShapeType="1"/>
            </p:cNvSpPr>
            <p:nvPr/>
          </p:nvSpPr>
          <p:spPr bwMode="auto">
            <a:xfrm>
              <a:off x="1641" y="301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0" name="Line 35"/>
            <p:cNvSpPr>
              <a:spLocks noChangeShapeType="1"/>
            </p:cNvSpPr>
            <p:nvPr/>
          </p:nvSpPr>
          <p:spPr bwMode="auto">
            <a:xfrm>
              <a:off x="1070" y="3006"/>
              <a:ext cx="5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71" name="Line 36"/>
            <p:cNvSpPr>
              <a:spLocks noChangeShapeType="1"/>
            </p:cNvSpPr>
            <p:nvPr/>
          </p:nvSpPr>
          <p:spPr bwMode="auto">
            <a:xfrm>
              <a:off x="1070" y="3198"/>
              <a:ext cx="5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5943600" y="5029200"/>
            <a:ext cx="1828800" cy="304800"/>
            <a:chOff x="1641" y="3198"/>
            <a:chExt cx="1152" cy="192"/>
          </a:xfrm>
        </p:grpSpPr>
        <p:sp>
          <p:nvSpPr>
            <p:cNvPr id="14364" name="Line 38"/>
            <p:cNvSpPr>
              <a:spLocks noChangeShapeType="1"/>
            </p:cNvSpPr>
            <p:nvPr/>
          </p:nvSpPr>
          <p:spPr bwMode="auto">
            <a:xfrm>
              <a:off x="1641" y="320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5" name="Line 39"/>
            <p:cNvSpPr>
              <a:spLocks noChangeShapeType="1"/>
            </p:cNvSpPr>
            <p:nvPr/>
          </p:nvSpPr>
          <p:spPr bwMode="auto">
            <a:xfrm>
              <a:off x="2793" y="320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6" name="Line 40"/>
            <p:cNvSpPr>
              <a:spLocks noChangeShapeType="1"/>
            </p:cNvSpPr>
            <p:nvPr/>
          </p:nvSpPr>
          <p:spPr bwMode="auto">
            <a:xfrm>
              <a:off x="1646" y="3198"/>
              <a:ext cx="1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7" name="Line 41"/>
            <p:cNvSpPr>
              <a:spLocks noChangeShapeType="1"/>
            </p:cNvSpPr>
            <p:nvPr/>
          </p:nvSpPr>
          <p:spPr bwMode="auto">
            <a:xfrm>
              <a:off x="1646" y="3390"/>
              <a:ext cx="1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2590800" y="5334000"/>
            <a:ext cx="1295400" cy="304800"/>
            <a:chOff x="2793" y="3390"/>
            <a:chExt cx="816" cy="192"/>
          </a:xfrm>
        </p:grpSpPr>
        <p:sp>
          <p:nvSpPr>
            <p:cNvPr id="14360" name="Line 43"/>
            <p:cNvSpPr>
              <a:spLocks noChangeShapeType="1"/>
            </p:cNvSpPr>
            <p:nvPr/>
          </p:nvSpPr>
          <p:spPr bwMode="auto">
            <a:xfrm>
              <a:off x="2793" y="3395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1" name="Line 44"/>
            <p:cNvSpPr>
              <a:spLocks noChangeShapeType="1"/>
            </p:cNvSpPr>
            <p:nvPr/>
          </p:nvSpPr>
          <p:spPr bwMode="auto">
            <a:xfrm>
              <a:off x="3609" y="3391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2" name="Line 45"/>
            <p:cNvSpPr>
              <a:spLocks noChangeShapeType="1"/>
            </p:cNvSpPr>
            <p:nvPr/>
          </p:nvSpPr>
          <p:spPr bwMode="auto">
            <a:xfrm>
              <a:off x="2798" y="3390"/>
              <a:ext cx="8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63" name="Line 46"/>
            <p:cNvSpPr>
              <a:spLocks noChangeShapeType="1"/>
            </p:cNvSpPr>
            <p:nvPr/>
          </p:nvSpPr>
          <p:spPr bwMode="auto">
            <a:xfrm>
              <a:off x="2798" y="3582"/>
              <a:ext cx="8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3886200" y="5638800"/>
            <a:ext cx="1447800" cy="304800"/>
            <a:chOff x="3609" y="3582"/>
            <a:chExt cx="912" cy="192"/>
          </a:xfrm>
        </p:grpSpPr>
        <p:sp>
          <p:nvSpPr>
            <p:cNvPr id="14356" name="Line 48"/>
            <p:cNvSpPr>
              <a:spLocks noChangeShapeType="1"/>
            </p:cNvSpPr>
            <p:nvPr/>
          </p:nvSpPr>
          <p:spPr bwMode="auto">
            <a:xfrm>
              <a:off x="3609" y="358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7" name="Line 49"/>
            <p:cNvSpPr>
              <a:spLocks noChangeShapeType="1"/>
            </p:cNvSpPr>
            <p:nvPr/>
          </p:nvSpPr>
          <p:spPr bwMode="auto">
            <a:xfrm>
              <a:off x="4521" y="3583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8" name="Line 50"/>
            <p:cNvSpPr>
              <a:spLocks noChangeShapeType="1"/>
            </p:cNvSpPr>
            <p:nvPr/>
          </p:nvSpPr>
          <p:spPr bwMode="auto">
            <a:xfrm>
              <a:off x="3614" y="3582"/>
              <a:ext cx="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9" name="Line 51"/>
            <p:cNvSpPr>
              <a:spLocks noChangeShapeType="1"/>
            </p:cNvSpPr>
            <p:nvPr/>
          </p:nvSpPr>
          <p:spPr bwMode="auto">
            <a:xfrm>
              <a:off x="3614" y="3774"/>
              <a:ext cx="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5334000" y="5943600"/>
            <a:ext cx="609600" cy="304800"/>
            <a:chOff x="4521" y="3774"/>
            <a:chExt cx="384" cy="192"/>
          </a:xfrm>
        </p:grpSpPr>
        <p:sp>
          <p:nvSpPr>
            <p:cNvPr id="14352" name="Line 53"/>
            <p:cNvSpPr>
              <a:spLocks noChangeShapeType="1"/>
            </p:cNvSpPr>
            <p:nvPr/>
          </p:nvSpPr>
          <p:spPr bwMode="auto">
            <a:xfrm>
              <a:off x="4521" y="377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3" name="Line 54"/>
            <p:cNvSpPr>
              <a:spLocks noChangeShapeType="1"/>
            </p:cNvSpPr>
            <p:nvPr/>
          </p:nvSpPr>
          <p:spPr bwMode="auto">
            <a:xfrm>
              <a:off x="4905" y="377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4" name="Line 55"/>
            <p:cNvSpPr>
              <a:spLocks noChangeShapeType="1"/>
            </p:cNvSpPr>
            <p:nvPr/>
          </p:nvSpPr>
          <p:spPr bwMode="auto">
            <a:xfrm>
              <a:off x="4526" y="3774"/>
              <a:ext cx="3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55" name="Line 56"/>
            <p:cNvSpPr>
              <a:spLocks noChangeShapeType="1"/>
            </p:cNvSpPr>
            <p:nvPr/>
          </p:nvSpPr>
          <p:spPr bwMode="auto">
            <a:xfrm>
              <a:off x="4526" y="3966"/>
              <a:ext cx="3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817" name="Rectangle 57"/>
          <p:cNvSpPr>
            <a:spLocks noChangeArrowheads="1"/>
          </p:cNvSpPr>
          <p:nvPr/>
        </p:nvSpPr>
        <p:spPr bwMode="auto">
          <a:xfrm>
            <a:off x="1295400" y="4724400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5818" name="Rectangle 58"/>
          <p:cNvSpPr>
            <a:spLocks noChangeArrowheads="1"/>
          </p:cNvSpPr>
          <p:nvPr/>
        </p:nvSpPr>
        <p:spPr bwMode="auto">
          <a:xfrm>
            <a:off x="1295400" y="5029200"/>
            <a:ext cx="3159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45819" name="Rectangle 59"/>
          <p:cNvSpPr>
            <a:spLocks noChangeArrowheads="1"/>
          </p:cNvSpPr>
          <p:nvPr/>
        </p:nvSpPr>
        <p:spPr bwMode="auto">
          <a:xfrm>
            <a:off x="1284288" y="5381625"/>
            <a:ext cx="3159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1295400" y="5686425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45821" name="Rectangle 61"/>
          <p:cNvSpPr>
            <a:spLocks noChangeArrowheads="1"/>
          </p:cNvSpPr>
          <p:nvPr/>
        </p:nvSpPr>
        <p:spPr bwMode="auto">
          <a:xfrm>
            <a:off x="1295400" y="6019800"/>
            <a:ext cx="304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0546" name="Text Box 66"/>
          <p:cNvSpPr txBox="1">
            <a:spLocks noChangeArrowheads="1"/>
          </p:cNvSpPr>
          <p:nvPr/>
        </p:nvSpPr>
        <p:spPr bwMode="auto">
          <a:xfrm>
            <a:off x="6172200" y="2057400"/>
            <a:ext cx="29718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waiting time = 4.2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turnaround time = 8.2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4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4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4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7" grpId="0"/>
      <p:bldP spid="245818" grpId="0"/>
      <p:bldP spid="245819" grpId="0"/>
      <p:bldP spid="245820" grpId="0"/>
      <p:bldP spid="245821" grpId="0"/>
      <p:bldP spid="205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600200" y="0"/>
            <a:ext cx="7696200" cy="10668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Multiple Queues</a:t>
            </a:r>
          </a:p>
        </p:txBody>
      </p:sp>
      <p:sp>
        <p:nvSpPr>
          <p:cNvPr id="15363" name="Rectangle 3"/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8915400" cy="58674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One simple way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onto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decisions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would be to give to each process a time slice related to its priority (e.g., more time slice to higher-priority threads)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more convenient approach is to view the ready state as not only one queue of processes, but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multiple queues, each with its own priority! 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Again, several options may exist: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queues of higher priority may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have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complete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of queues of lower priority start running!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priority queues may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get more time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than lower priority queues!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Processes may move between queues (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adjusted priority)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447800" y="0"/>
            <a:ext cx="80010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Multiple Queues</a:t>
            </a:r>
          </a:p>
        </p:txBody>
      </p:sp>
      <p:pic>
        <p:nvPicPr>
          <p:cNvPr id="1638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2850"/>
            <a:ext cx="8077200" cy="564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type="body" sz="half" idx="1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Non-preemptive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policy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make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behavior and run process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estimated running time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technique of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value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series by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average of the current measured value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sometimes 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special value as ½, 0 ≤ aging ≤ 1)</a:t>
            </a: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that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for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T</a:t>
            </a:r>
            <a:r>
              <a:rPr lang="en-US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next run. The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weighed sum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two numbers is</a:t>
            </a:r>
          </a:p>
          <a:p>
            <a:pPr algn="ctr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(1 – a)T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(general: T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altLang="en-US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(1 – a)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</a:t>
            </a:r>
            <a:r>
              <a:rPr lang="en-US" alt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n+1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</a:p>
        </p:txBody>
      </p:sp>
      <p:sp>
        <p:nvSpPr>
          <p:cNvPr id="17411" name="Rectangle 11"/>
          <p:cNvSpPr>
            <a:spLocks noGrp="1"/>
          </p:cNvSpPr>
          <p:nvPr>
            <p:ph type="title"/>
          </p:nvPr>
        </p:nvSpPr>
        <p:spPr>
          <a:xfrm>
            <a:off x="1600200" y="0"/>
            <a:ext cx="7696200" cy="1066800"/>
          </a:xfrm>
          <a:noFill/>
        </p:spPr>
        <p:txBody>
          <a:bodyPr/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Process Next (SPT)</a:t>
            </a:r>
          </a:p>
        </p:txBody>
      </p:sp>
      <p:pic>
        <p:nvPicPr>
          <p:cNvPr id="286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486400"/>
            <a:ext cx="769620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B88A99-4B0D-4DD2-A2EC-6ADFEBBBA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222749"/>
            <a:ext cx="8686800" cy="11747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2801" y="1071562"/>
            <a:ext cx="613886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600200" y="76200"/>
            <a:ext cx="76962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696913" y="3857625"/>
            <a:ext cx="6403975" cy="692150"/>
            <a:chOff x="903" y="960"/>
            <a:chExt cx="4034" cy="436"/>
          </a:xfrm>
        </p:grpSpPr>
        <p:sp>
          <p:nvSpPr>
            <p:cNvPr id="18469" name="Line 5"/>
            <p:cNvSpPr>
              <a:spLocks noChangeShapeType="1"/>
            </p:cNvSpPr>
            <p:nvPr/>
          </p:nvSpPr>
          <p:spPr bwMode="auto">
            <a:xfrm>
              <a:off x="1013" y="1392"/>
              <a:ext cx="38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6"/>
            <p:cNvSpPr>
              <a:spLocks noChangeShapeType="1"/>
            </p:cNvSpPr>
            <p:nvPr/>
          </p:nvSpPr>
          <p:spPr bwMode="auto">
            <a:xfrm flipV="1">
              <a:off x="100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7"/>
            <p:cNvSpPr>
              <a:spLocks noChangeShapeType="1"/>
            </p:cNvSpPr>
            <p:nvPr/>
          </p:nvSpPr>
          <p:spPr bwMode="auto">
            <a:xfrm flipV="1">
              <a:off x="120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8"/>
            <p:cNvSpPr>
              <a:spLocks noChangeShapeType="1"/>
            </p:cNvSpPr>
            <p:nvPr/>
          </p:nvSpPr>
          <p:spPr bwMode="auto">
            <a:xfrm flipV="1">
              <a:off x="139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Line 9"/>
            <p:cNvSpPr>
              <a:spLocks noChangeShapeType="1"/>
            </p:cNvSpPr>
            <p:nvPr/>
          </p:nvSpPr>
          <p:spPr bwMode="auto">
            <a:xfrm flipV="1">
              <a:off x="158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4" name="Line 10"/>
            <p:cNvSpPr>
              <a:spLocks noChangeShapeType="1"/>
            </p:cNvSpPr>
            <p:nvPr/>
          </p:nvSpPr>
          <p:spPr bwMode="auto">
            <a:xfrm flipV="1">
              <a:off x="177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5" name="Line 11"/>
            <p:cNvSpPr>
              <a:spLocks noChangeShapeType="1"/>
            </p:cNvSpPr>
            <p:nvPr/>
          </p:nvSpPr>
          <p:spPr bwMode="auto">
            <a:xfrm flipV="1">
              <a:off x="196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6" name="Line 12"/>
            <p:cNvSpPr>
              <a:spLocks noChangeShapeType="1"/>
            </p:cNvSpPr>
            <p:nvPr/>
          </p:nvSpPr>
          <p:spPr bwMode="auto">
            <a:xfrm flipV="1">
              <a:off x="216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13"/>
            <p:cNvSpPr>
              <a:spLocks noChangeShapeType="1"/>
            </p:cNvSpPr>
            <p:nvPr/>
          </p:nvSpPr>
          <p:spPr bwMode="auto">
            <a:xfrm flipV="1">
              <a:off x="235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Line 14"/>
            <p:cNvSpPr>
              <a:spLocks noChangeShapeType="1"/>
            </p:cNvSpPr>
            <p:nvPr/>
          </p:nvSpPr>
          <p:spPr bwMode="auto">
            <a:xfrm flipV="1">
              <a:off x="254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9" name="Line 15"/>
            <p:cNvSpPr>
              <a:spLocks noChangeShapeType="1"/>
            </p:cNvSpPr>
            <p:nvPr/>
          </p:nvSpPr>
          <p:spPr bwMode="auto">
            <a:xfrm flipV="1">
              <a:off x="273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0" name="Line 16"/>
            <p:cNvSpPr>
              <a:spLocks noChangeShapeType="1"/>
            </p:cNvSpPr>
            <p:nvPr/>
          </p:nvSpPr>
          <p:spPr bwMode="auto">
            <a:xfrm flipV="1">
              <a:off x="292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1" name="Line 17"/>
            <p:cNvSpPr>
              <a:spLocks noChangeShapeType="1"/>
            </p:cNvSpPr>
            <p:nvPr/>
          </p:nvSpPr>
          <p:spPr bwMode="auto">
            <a:xfrm flipV="1">
              <a:off x="312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2" name="Line 18"/>
            <p:cNvSpPr>
              <a:spLocks noChangeShapeType="1"/>
            </p:cNvSpPr>
            <p:nvPr/>
          </p:nvSpPr>
          <p:spPr bwMode="auto">
            <a:xfrm flipV="1">
              <a:off x="331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3" name="Line 19"/>
            <p:cNvSpPr>
              <a:spLocks noChangeShapeType="1"/>
            </p:cNvSpPr>
            <p:nvPr/>
          </p:nvSpPr>
          <p:spPr bwMode="auto">
            <a:xfrm flipV="1">
              <a:off x="350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4" name="Line 20"/>
            <p:cNvSpPr>
              <a:spLocks noChangeShapeType="1"/>
            </p:cNvSpPr>
            <p:nvPr/>
          </p:nvSpPr>
          <p:spPr bwMode="auto">
            <a:xfrm flipV="1">
              <a:off x="369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Line 21"/>
            <p:cNvSpPr>
              <a:spLocks noChangeShapeType="1"/>
            </p:cNvSpPr>
            <p:nvPr/>
          </p:nvSpPr>
          <p:spPr bwMode="auto">
            <a:xfrm flipV="1">
              <a:off x="388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6" name="Line 22"/>
            <p:cNvSpPr>
              <a:spLocks noChangeShapeType="1"/>
            </p:cNvSpPr>
            <p:nvPr/>
          </p:nvSpPr>
          <p:spPr bwMode="auto">
            <a:xfrm flipV="1">
              <a:off x="408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7" name="Line 23"/>
            <p:cNvSpPr>
              <a:spLocks noChangeShapeType="1"/>
            </p:cNvSpPr>
            <p:nvPr/>
          </p:nvSpPr>
          <p:spPr bwMode="auto">
            <a:xfrm flipV="1">
              <a:off x="427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8" name="Line 24"/>
            <p:cNvSpPr>
              <a:spLocks noChangeShapeType="1"/>
            </p:cNvSpPr>
            <p:nvPr/>
          </p:nvSpPr>
          <p:spPr bwMode="auto">
            <a:xfrm flipV="1">
              <a:off x="446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25"/>
            <p:cNvSpPr>
              <a:spLocks noChangeShapeType="1"/>
            </p:cNvSpPr>
            <p:nvPr/>
          </p:nvSpPr>
          <p:spPr bwMode="auto">
            <a:xfrm flipV="1">
              <a:off x="465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Line 26"/>
            <p:cNvSpPr>
              <a:spLocks noChangeShapeType="1"/>
            </p:cNvSpPr>
            <p:nvPr/>
          </p:nvSpPr>
          <p:spPr bwMode="auto">
            <a:xfrm flipV="1">
              <a:off x="484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Rectangle 27"/>
            <p:cNvSpPr>
              <a:spLocks noChangeArrowheads="1"/>
            </p:cNvSpPr>
            <p:nvPr/>
          </p:nvSpPr>
          <p:spPr bwMode="auto">
            <a:xfrm>
              <a:off x="903" y="1008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92" name="Rectangle 28"/>
            <p:cNvSpPr>
              <a:spLocks noChangeArrowheads="1"/>
            </p:cNvSpPr>
            <p:nvPr/>
          </p:nvSpPr>
          <p:spPr bwMode="auto">
            <a:xfrm>
              <a:off x="1863" y="960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93" name="Rectangle 29"/>
            <p:cNvSpPr>
              <a:spLocks noChangeArrowheads="1"/>
            </p:cNvSpPr>
            <p:nvPr/>
          </p:nvSpPr>
          <p:spPr bwMode="auto">
            <a:xfrm>
              <a:off x="2823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494" name="Rectangle 30"/>
            <p:cNvSpPr>
              <a:spLocks noChangeArrowheads="1"/>
            </p:cNvSpPr>
            <p:nvPr/>
          </p:nvSpPr>
          <p:spPr bwMode="auto">
            <a:xfrm>
              <a:off x="373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8495" name="Rectangle 31"/>
            <p:cNvSpPr>
              <a:spLocks noChangeArrowheads="1"/>
            </p:cNvSpPr>
            <p:nvPr/>
          </p:nvSpPr>
          <p:spPr bwMode="auto">
            <a:xfrm>
              <a:off x="469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20</a:t>
              </a:r>
            </a:p>
          </p:txBody>
        </p:sp>
      </p:grpSp>
      <p:sp>
        <p:nvSpPr>
          <p:cNvPr id="64" name="Rectangle 63"/>
          <p:cNvSpPr/>
          <p:nvPr/>
        </p:nvSpPr>
        <p:spPr>
          <a:xfrm>
            <a:off x="6894913" y="1085190"/>
            <a:ext cx="1371600" cy="27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944" y="1071515"/>
            <a:ext cx="613886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1600200" y="76200"/>
            <a:ext cx="7696200" cy="9144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 </a:t>
            </a:r>
            <a:b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grpSp>
        <p:nvGrpSpPr>
          <p:cNvPr id="18436" name="Group 4"/>
          <p:cNvGrpSpPr>
            <a:grpSpLocks/>
          </p:cNvGrpSpPr>
          <p:nvPr/>
        </p:nvGrpSpPr>
        <p:grpSpPr bwMode="auto">
          <a:xfrm>
            <a:off x="696913" y="3857625"/>
            <a:ext cx="6403975" cy="692150"/>
            <a:chOff x="903" y="960"/>
            <a:chExt cx="4034" cy="436"/>
          </a:xfrm>
        </p:grpSpPr>
        <p:sp>
          <p:nvSpPr>
            <p:cNvPr id="18469" name="Line 5"/>
            <p:cNvSpPr>
              <a:spLocks noChangeShapeType="1"/>
            </p:cNvSpPr>
            <p:nvPr/>
          </p:nvSpPr>
          <p:spPr bwMode="auto">
            <a:xfrm>
              <a:off x="1013" y="1392"/>
              <a:ext cx="383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0" name="Line 6"/>
            <p:cNvSpPr>
              <a:spLocks noChangeShapeType="1"/>
            </p:cNvSpPr>
            <p:nvPr/>
          </p:nvSpPr>
          <p:spPr bwMode="auto">
            <a:xfrm flipV="1">
              <a:off x="100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1" name="Line 7"/>
            <p:cNvSpPr>
              <a:spLocks noChangeShapeType="1"/>
            </p:cNvSpPr>
            <p:nvPr/>
          </p:nvSpPr>
          <p:spPr bwMode="auto">
            <a:xfrm flipV="1">
              <a:off x="120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2" name="Line 8"/>
            <p:cNvSpPr>
              <a:spLocks noChangeShapeType="1"/>
            </p:cNvSpPr>
            <p:nvPr/>
          </p:nvSpPr>
          <p:spPr bwMode="auto">
            <a:xfrm flipV="1">
              <a:off x="139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3" name="Line 9"/>
            <p:cNvSpPr>
              <a:spLocks noChangeShapeType="1"/>
            </p:cNvSpPr>
            <p:nvPr/>
          </p:nvSpPr>
          <p:spPr bwMode="auto">
            <a:xfrm flipV="1">
              <a:off x="158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4" name="Line 10"/>
            <p:cNvSpPr>
              <a:spLocks noChangeShapeType="1"/>
            </p:cNvSpPr>
            <p:nvPr/>
          </p:nvSpPr>
          <p:spPr bwMode="auto">
            <a:xfrm flipV="1">
              <a:off x="177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5" name="Line 11"/>
            <p:cNvSpPr>
              <a:spLocks noChangeShapeType="1"/>
            </p:cNvSpPr>
            <p:nvPr/>
          </p:nvSpPr>
          <p:spPr bwMode="auto">
            <a:xfrm flipV="1">
              <a:off x="196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6" name="Line 12"/>
            <p:cNvSpPr>
              <a:spLocks noChangeShapeType="1"/>
            </p:cNvSpPr>
            <p:nvPr/>
          </p:nvSpPr>
          <p:spPr bwMode="auto">
            <a:xfrm flipV="1">
              <a:off x="216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7" name="Line 13"/>
            <p:cNvSpPr>
              <a:spLocks noChangeShapeType="1"/>
            </p:cNvSpPr>
            <p:nvPr/>
          </p:nvSpPr>
          <p:spPr bwMode="auto">
            <a:xfrm flipV="1">
              <a:off x="235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8" name="Line 14"/>
            <p:cNvSpPr>
              <a:spLocks noChangeShapeType="1"/>
            </p:cNvSpPr>
            <p:nvPr/>
          </p:nvSpPr>
          <p:spPr bwMode="auto">
            <a:xfrm flipV="1">
              <a:off x="254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79" name="Line 15"/>
            <p:cNvSpPr>
              <a:spLocks noChangeShapeType="1"/>
            </p:cNvSpPr>
            <p:nvPr/>
          </p:nvSpPr>
          <p:spPr bwMode="auto">
            <a:xfrm flipV="1">
              <a:off x="273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0" name="Line 16"/>
            <p:cNvSpPr>
              <a:spLocks noChangeShapeType="1"/>
            </p:cNvSpPr>
            <p:nvPr/>
          </p:nvSpPr>
          <p:spPr bwMode="auto">
            <a:xfrm flipV="1">
              <a:off x="292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1" name="Line 17"/>
            <p:cNvSpPr>
              <a:spLocks noChangeShapeType="1"/>
            </p:cNvSpPr>
            <p:nvPr/>
          </p:nvSpPr>
          <p:spPr bwMode="auto">
            <a:xfrm flipV="1">
              <a:off x="312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2" name="Line 18"/>
            <p:cNvSpPr>
              <a:spLocks noChangeShapeType="1"/>
            </p:cNvSpPr>
            <p:nvPr/>
          </p:nvSpPr>
          <p:spPr bwMode="auto">
            <a:xfrm flipV="1">
              <a:off x="331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3" name="Line 19"/>
            <p:cNvSpPr>
              <a:spLocks noChangeShapeType="1"/>
            </p:cNvSpPr>
            <p:nvPr/>
          </p:nvSpPr>
          <p:spPr bwMode="auto">
            <a:xfrm flipV="1">
              <a:off x="350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4" name="Line 20"/>
            <p:cNvSpPr>
              <a:spLocks noChangeShapeType="1"/>
            </p:cNvSpPr>
            <p:nvPr/>
          </p:nvSpPr>
          <p:spPr bwMode="auto">
            <a:xfrm flipV="1">
              <a:off x="369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Line 21"/>
            <p:cNvSpPr>
              <a:spLocks noChangeShapeType="1"/>
            </p:cNvSpPr>
            <p:nvPr/>
          </p:nvSpPr>
          <p:spPr bwMode="auto">
            <a:xfrm flipV="1">
              <a:off x="388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6" name="Line 22"/>
            <p:cNvSpPr>
              <a:spLocks noChangeShapeType="1"/>
            </p:cNvSpPr>
            <p:nvPr/>
          </p:nvSpPr>
          <p:spPr bwMode="auto">
            <a:xfrm flipV="1">
              <a:off x="4080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7" name="Line 23"/>
            <p:cNvSpPr>
              <a:spLocks noChangeShapeType="1"/>
            </p:cNvSpPr>
            <p:nvPr/>
          </p:nvSpPr>
          <p:spPr bwMode="auto">
            <a:xfrm flipV="1">
              <a:off x="4272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8" name="Line 24"/>
            <p:cNvSpPr>
              <a:spLocks noChangeShapeType="1"/>
            </p:cNvSpPr>
            <p:nvPr/>
          </p:nvSpPr>
          <p:spPr bwMode="auto">
            <a:xfrm flipV="1">
              <a:off x="4464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25"/>
            <p:cNvSpPr>
              <a:spLocks noChangeShapeType="1"/>
            </p:cNvSpPr>
            <p:nvPr/>
          </p:nvSpPr>
          <p:spPr bwMode="auto">
            <a:xfrm flipV="1">
              <a:off x="4656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Line 26"/>
            <p:cNvSpPr>
              <a:spLocks noChangeShapeType="1"/>
            </p:cNvSpPr>
            <p:nvPr/>
          </p:nvSpPr>
          <p:spPr bwMode="auto">
            <a:xfrm flipV="1">
              <a:off x="4848" y="1245"/>
              <a:ext cx="0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Rectangle 27"/>
            <p:cNvSpPr>
              <a:spLocks noChangeArrowheads="1"/>
            </p:cNvSpPr>
            <p:nvPr/>
          </p:nvSpPr>
          <p:spPr bwMode="auto">
            <a:xfrm>
              <a:off x="903" y="1008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8492" name="Rectangle 28"/>
            <p:cNvSpPr>
              <a:spLocks noChangeArrowheads="1"/>
            </p:cNvSpPr>
            <p:nvPr/>
          </p:nvSpPr>
          <p:spPr bwMode="auto">
            <a:xfrm>
              <a:off x="1863" y="960"/>
              <a:ext cx="17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493" name="Rectangle 29"/>
            <p:cNvSpPr>
              <a:spLocks noChangeArrowheads="1"/>
            </p:cNvSpPr>
            <p:nvPr/>
          </p:nvSpPr>
          <p:spPr bwMode="auto">
            <a:xfrm>
              <a:off x="2823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18494" name="Rectangle 30"/>
            <p:cNvSpPr>
              <a:spLocks noChangeArrowheads="1"/>
            </p:cNvSpPr>
            <p:nvPr/>
          </p:nvSpPr>
          <p:spPr bwMode="auto">
            <a:xfrm>
              <a:off x="373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18495" name="Rectangle 31"/>
            <p:cNvSpPr>
              <a:spLocks noChangeArrowheads="1"/>
            </p:cNvSpPr>
            <p:nvPr/>
          </p:nvSpPr>
          <p:spPr bwMode="auto">
            <a:xfrm>
              <a:off x="4695" y="1008"/>
              <a:ext cx="242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latin typeface="Times New Roman" panose="02020603050405020304" pitchFamily="18" charset="0"/>
                </a:rPr>
                <a:t>20</a:t>
              </a:r>
            </a:p>
          </p:txBody>
        </p:sp>
      </p:grpSp>
      <p:grpSp>
        <p:nvGrpSpPr>
          <p:cNvPr id="3" name="Group 32"/>
          <p:cNvGrpSpPr>
            <a:grpSpLocks/>
          </p:cNvGrpSpPr>
          <p:nvPr/>
        </p:nvGrpSpPr>
        <p:grpSpPr bwMode="auto">
          <a:xfrm>
            <a:off x="849313" y="4648200"/>
            <a:ext cx="1676400" cy="304800"/>
            <a:chOff x="1065" y="3006"/>
            <a:chExt cx="576" cy="192"/>
          </a:xfrm>
        </p:grpSpPr>
        <p:sp>
          <p:nvSpPr>
            <p:cNvPr id="18465" name="Line 33"/>
            <p:cNvSpPr>
              <a:spLocks noChangeShapeType="1"/>
            </p:cNvSpPr>
            <p:nvPr/>
          </p:nvSpPr>
          <p:spPr bwMode="auto">
            <a:xfrm>
              <a:off x="1065" y="3007"/>
              <a:ext cx="0" cy="19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6" name="Line 34"/>
            <p:cNvSpPr>
              <a:spLocks noChangeShapeType="1"/>
            </p:cNvSpPr>
            <p:nvPr/>
          </p:nvSpPr>
          <p:spPr bwMode="auto">
            <a:xfrm>
              <a:off x="1641" y="301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7" name="Line 35"/>
            <p:cNvSpPr>
              <a:spLocks noChangeShapeType="1"/>
            </p:cNvSpPr>
            <p:nvPr/>
          </p:nvSpPr>
          <p:spPr bwMode="auto">
            <a:xfrm>
              <a:off x="1070" y="3006"/>
              <a:ext cx="5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8" name="Line 36"/>
            <p:cNvSpPr>
              <a:spLocks noChangeShapeType="1"/>
            </p:cNvSpPr>
            <p:nvPr/>
          </p:nvSpPr>
          <p:spPr bwMode="auto">
            <a:xfrm>
              <a:off x="1070" y="3198"/>
              <a:ext cx="5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2525713" y="4953000"/>
            <a:ext cx="1295400" cy="304800"/>
            <a:chOff x="1641" y="3198"/>
            <a:chExt cx="1152" cy="192"/>
          </a:xfrm>
        </p:grpSpPr>
        <p:sp>
          <p:nvSpPr>
            <p:cNvPr id="18461" name="Line 38"/>
            <p:cNvSpPr>
              <a:spLocks noChangeShapeType="1"/>
            </p:cNvSpPr>
            <p:nvPr/>
          </p:nvSpPr>
          <p:spPr bwMode="auto">
            <a:xfrm>
              <a:off x="1641" y="320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2" name="Line 39"/>
            <p:cNvSpPr>
              <a:spLocks noChangeShapeType="1"/>
            </p:cNvSpPr>
            <p:nvPr/>
          </p:nvSpPr>
          <p:spPr bwMode="auto">
            <a:xfrm>
              <a:off x="2793" y="320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3" name="Line 40"/>
            <p:cNvSpPr>
              <a:spLocks noChangeShapeType="1"/>
            </p:cNvSpPr>
            <p:nvPr/>
          </p:nvSpPr>
          <p:spPr bwMode="auto">
            <a:xfrm>
              <a:off x="1646" y="3198"/>
              <a:ext cx="1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Line 41"/>
            <p:cNvSpPr>
              <a:spLocks noChangeShapeType="1"/>
            </p:cNvSpPr>
            <p:nvPr/>
          </p:nvSpPr>
          <p:spPr bwMode="auto">
            <a:xfrm>
              <a:off x="1646" y="3390"/>
              <a:ext cx="114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821113" y="5257800"/>
            <a:ext cx="1447800" cy="304800"/>
            <a:chOff x="2793" y="3390"/>
            <a:chExt cx="816" cy="192"/>
          </a:xfrm>
        </p:grpSpPr>
        <p:sp>
          <p:nvSpPr>
            <p:cNvPr id="18457" name="Line 43"/>
            <p:cNvSpPr>
              <a:spLocks noChangeShapeType="1"/>
            </p:cNvSpPr>
            <p:nvPr/>
          </p:nvSpPr>
          <p:spPr bwMode="auto">
            <a:xfrm>
              <a:off x="2793" y="3395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Line 44"/>
            <p:cNvSpPr>
              <a:spLocks noChangeShapeType="1"/>
            </p:cNvSpPr>
            <p:nvPr/>
          </p:nvSpPr>
          <p:spPr bwMode="auto">
            <a:xfrm>
              <a:off x="3609" y="3391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Line 45"/>
            <p:cNvSpPr>
              <a:spLocks noChangeShapeType="1"/>
            </p:cNvSpPr>
            <p:nvPr/>
          </p:nvSpPr>
          <p:spPr bwMode="auto">
            <a:xfrm>
              <a:off x="2798" y="3390"/>
              <a:ext cx="8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Line 46"/>
            <p:cNvSpPr>
              <a:spLocks noChangeShapeType="1"/>
            </p:cNvSpPr>
            <p:nvPr/>
          </p:nvSpPr>
          <p:spPr bwMode="auto">
            <a:xfrm>
              <a:off x="2798" y="3582"/>
              <a:ext cx="80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7010400" y="5638800"/>
            <a:ext cx="1447800" cy="304800"/>
            <a:chOff x="3609" y="3582"/>
            <a:chExt cx="912" cy="192"/>
          </a:xfrm>
        </p:grpSpPr>
        <p:sp>
          <p:nvSpPr>
            <p:cNvPr id="18453" name="Line 48"/>
            <p:cNvSpPr>
              <a:spLocks noChangeShapeType="1"/>
            </p:cNvSpPr>
            <p:nvPr/>
          </p:nvSpPr>
          <p:spPr bwMode="auto">
            <a:xfrm>
              <a:off x="3609" y="3587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Line 49"/>
            <p:cNvSpPr>
              <a:spLocks noChangeShapeType="1"/>
            </p:cNvSpPr>
            <p:nvPr/>
          </p:nvSpPr>
          <p:spPr bwMode="auto">
            <a:xfrm>
              <a:off x="4521" y="3583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Line 50"/>
            <p:cNvSpPr>
              <a:spLocks noChangeShapeType="1"/>
            </p:cNvSpPr>
            <p:nvPr/>
          </p:nvSpPr>
          <p:spPr bwMode="auto">
            <a:xfrm>
              <a:off x="3614" y="3582"/>
              <a:ext cx="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Line 51"/>
            <p:cNvSpPr>
              <a:spLocks noChangeShapeType="1"/>
            </p:cNvSpPr>
            <p:nvPr/>
          </p:nvSpPr>
          <p:spPr bwMode="auto">
            <a:xfrm>
              <a:off x="3614" y="3774"/>
              <a:ext cx="90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5268913" y="5943600"/>
            <a:ext cx="1752600" cy="304800"/>
            <a:chOff x="4521" y="3774"/>
            <a:chExt cx="384" cy="192"/>
          </a:xfrm>
        </p:grpSpPr>
        <p:sp>
          <p:nvSpPr>
            <p:cNvPr id="18449" name="Line 53"/>
            <p:cNvSpPr>
              <a:spLocks noChangeShapeType="1"/>
            </p:cNvSpPr>
            <p:nvPr/>
          </p:nvSpPr>
          <p:spPr bwMode="auto">
            <a:xfrm>
              <a:off x="4521" y="377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0" name="Line 54"/>
            <p:cNvSpPr>
              <a:spLocks noChangeShapeType="1"/>
            </p:cNvSpPr>
            <p:nvPr/>
          </p:nvSpPr>
          <p:spPr bwMode="auto">
            <a:xfrm>
              <a:off x="4905" y="3779"/>
              <a:ext cx="0" cy="1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1" name="Line 55"/>
            <p:cNvSpPr>
              <a:spLocks noChangeShapeType="1"/>
            </p:cNvSpPr>
            <p:nvPr/>
          </p:nvSpPr>
          <p:spPr bwMode="auto">
            <a:xfrm>
              <a:off x="4526" y="3774"/>
              <a:ext cx="3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Line 56"/>
            <p:cNvSpPr>
              <a:spLocks noChangeShapeType="1"/>
            </p:cNvSpPr>
            <p:nvPr/>
          </p:nvSpPr>
          <p:spPr bwMode="auto">
            <a:xfrm>
              <a:off x="4526" y="3966"/>
              <a:ext cx="37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5817" name="Rectangle 57"/>
          <p:cNvSpPr>
            <a:spLocks noChangeArrowheads="1"/>
          </p:cNvSpPr>
          <p:nvPr/>
        </p:nvSpPr>
        <p:spPr bwMode="auto">
          <a:xfrm>
            <a:off x="468313" y="4724400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245818" name="Rectangle 58"/>
          <p:cNvSpPr>
            <a:spLocks noChangeArrowheads="1"/>
          </p:cNvSpPr>
          <p:nvPr/>
        </p:nvSpPr>
        <p:spPr bwMode="auto">
          <a:xfrm>
            <a:off x="468313" y="5029200"/>
            <a:ext cx="3159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245819" name="Rectangle 59"/>
          <p:cNvSpPr>
            <a:spLocks noChangeArrowheads="1"/>
          </p:cNvSpPr>
          <p:nvPr/>
        </p:nvSpPr>
        <p:spPr bwMode="auto">
          <a:xfrm>
            <a:off x="457200" y="5381625"/>
            <a:ext cx="3159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245820" name="Rectangle 60"/>
          <p:cNvSpPr>
            <a:spLocks noChangeArrowheads="1"/>
          </p:cNvSpPr>
          <p:nvPr/>
        </p:nvSpPr>
        <p:spPr bwMode="auto">
          <a:xfrm>
            <a:off x="468313" y="5686425"/>
            <a:ext cx="3270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245821" name="Rectangle 61"/>
          <p:cNvSpPr>
            <a:spLocks noChangeArrowheads="1"/>
          </p:cNvSpPr>
          <p:nvPr/>
        </p:nvSpPr>
        <p:spPr bwMode="auto">
          <a:xfrm>
            <a:off x="468313" y="6019800"/>
            <a:ext cx="304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0546" name="Text Box 66"/>
          <p:cNvSpPr txBox="1">
            <a:spLocks noChangeArrowheads="1"/>
          </p:cNvSpPr>
          <p:nvPr/>
        </p:nvSpPr>
        <p:spPr bwMode="auto">
          <a:xfrm>
            <a:off x="6096000" y="2057400"/>
            <a:ext cx="3048000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waiting time = 5.9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Avg turnaround time = 11.1</a:t>
            </a:r>
          </a:p>
        </p:txBody>
      </p:sp>
    </p:spTree>
    <p:extLst>
      <p:ext uri="{BB962C8B-B14F-4D97-AF65-F5344CB8AC3E}">
        <p14:creationId xmlns:p14="http://schemas.microsoft.com/office/powerpoint/2010/main" val="332022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45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4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2000"/>
                                        <p:tgtEl>
                                          <p:spTgt spid="245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7" grpId="0"/>
      <p:bldP spid="245818" grpId="0"/>
      <p:bldP spid="245819" grpId="0"/>
      <p:bldP spid="245820" grpId="0"/>
      <p:bldP spid="245821" grpId="0"/>
      <p:bldP spid="205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1600200" y="0"/>
            <a:ext cx="78486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Guaranteed Scheduling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If a single-user system with n processes running, each one should get 1/n of the CPU cycles (fairness)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keep track of how much CPU each process has had since its creation. 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Then, the system computes the amount of CPU each one is entitled to, namely the time since creation divided by n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is then to run the process with the lowest ratio until its ratio has move above its closet competitor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7" dur="indefinite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5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style.fontStyle</p:attrName>
                                        </p:attrNameLst>
                                      </p:cBhvr>
                                      <p:to>
                                        <p:strVal val="normal"/>
                                      </p:to>
                                    </p:se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fals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1524000" y="0"/>
            <a:ext cx="79248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Lottery Scheduling</a:t>
            </a:r>
          </a:p>
        </p:txBody>
      </p:sp>
      <p:sp>
        <p:nvSpPr>
          <p:cNvPr id="20483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lottery tickets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can be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given extra tickets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their odds of winning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Whenever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has to made, 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lottery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ticket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chosen at random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holding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ticket gets the resource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Lottery scheduling 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highly responsive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Lottery scheduling can be used to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that are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handle with other methods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600200" y="0"/>
            <a:ext cx="76962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Fair-Share Scheduling</a:t>
            </a:r>
          </a:p>
        </p:txBody>
      </p:sp>
      <p:sp>
        <p:nvSpPr>
          <p:cNvPr id="36867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scheduled on its own, without regard to who its owner is. As a result, if user 1 starts up 9 processes and user 2 starts up 1 process, with round robin or equal priorities, user 1 will get 90% of the CPU and user 2 will get only 10% of it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this situation, some systems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take into account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who owns a process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 scheduling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it. In this model,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 user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allocated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some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fraction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picks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such a way to enforce it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Thus if two users have each been promised 50% of the CPU, they will each get that,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no matter how many processes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they have in existence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1600200" y="0"/>
            <a:ext cx="7696200" cy="1143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Interactive Systems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Fair-Share Scheduling – Example </a:t>
            </a:r>
          </a:p>
        </p:txBody>
      </p:sp>
      <p:sp>
        <p:nvSpPr>
          <p:cNvPr id="35843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1066800"/>
            <a:ext cx="8915400" cy="57912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has 2 users A and B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User A has 4 processes A, B, C, D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User B has 1 process E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Fair Share Scheduling applied to this system using the Round-Robin scheduling?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 E B E C E D E ….</a:t>
            </a:r>
          </a:p>
          <a:p>
            <a:pPr lvl="1"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How is the Fair Share Scheduling applied to this system using the Round-Robin with quantum equal 2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 A B E (2) C D E(2) A B E(2) C D E(2)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1600200" y="0"/>
            <a:ext cx="76962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 in Real-Time Systems</a:t>
            </a:r>
            <a:endParaRPr lang="en-US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body" sz="half" idx="1"/>
          </p:nvPr>
        </p:nvSpPr>
        <p:spPr>
          <a:xfrm>
            <a:off x="228600" y="609600"/>
            <a:ext cx="8915400" cy="6248400"/>
          </a:xfrm>
        </p:spPr>
        <p:txBody>
          <a:bodyPr/>
          <a:lstStyle/>
          <a:p>
            <a:pPr algn="just"/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system is one in which time plays an essential role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system has two kinds as hard real time and soft real time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system divides the program into a number of processes whose behavior is predictable and known in advance. 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These processes are generally short lived and can run to completion in well under a second. 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→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processes in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such a way that all deadlines are met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(applied to hard real-time)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their scheduling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Only works when there is perfect information available in advance about the work to be done and the deadlines that have to be met</a:t>
            </a:r>
          </a:p>
          <a:p>
            <a:pPr algn="just"/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scheduling (applied to soft real-time)</a:t>
            </a:r>
          </a:p>
          <a:p>
            <a:pPr lvl="1" algn="just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Make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their scheduling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at runtime</a:t>
            </a:r>
          </a:p>
          <a:p>
            <a:pPr lvl="1" algn="just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Do not have static’s restrictions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057400"/>
            <a:ext cx="3200400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Rectangle 2"/>
          <p:cNvSpPr>
            <a:spLocks noGrp="1"/>
          </p:cNvSpPr>
          <p:nvPr>
            <p:ph type="title"/>
          </p:nvPr>
        </p:nvSpPr>
        <p:spPr>
          <a:xfrm>
            <a:off x="1447800" y="0"/>
            <a:ext cx="7696200" cy="12192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 Scheduling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User-level Threads</a:t>
            </a:r>
          </a:p>
        </p:txBody>
      </p:sp>
      <p:sp>
        <p:nvSpPr>
          <p:cNvPr id="39940" name="Rectangle 3"/>
          <p:cNvSpPr>
            <a:spLocks noGrp="1"/>
          </p:cNvSpPr>
          <p:nvPr>
            <p:ph type="body" sz="half" idx="1"/>
          </p:nvPr>
        </p:nvSpPr>
        <p:spPr>
          <a:xfrm>
            <a:off x="0" y="1066800"/>
            <a:ext cx="6019800" cy="57912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 scheduler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each process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decides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which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run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If any thread have long CPU burst, this thread will consume all of process’s time (until it finishes) because the user mode is not supported clock interrupt.</a:t>
            </a:r>
          </a:p>
          <a:p>
            <a:pPr lvl="1" algn="just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Otherwise, each thread runs for a little, then it return the CPU back to the thread scheduler before the kernel allocate quantum to other process.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Round-robin and priority scheduling is applied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Switching a thread takes a handful of machine instructions </a:t>
            </a:r>
          </a:p>
          <a:p>
            <a:pPr algn="just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user-level threads can employ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 application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 scheduler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know what all the threads do to pick the needing thread to run</a:t>
            </a:r>
          </a:p>
        </p:txBody>
      </p:sp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858000" y="5105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  <p:bldP spid="1515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 idx="4294967295"/>
          </p:nvPr>
        </p:nvSpPr>
        <p:spPr>
          <a:xfrm>
            <a:off x="1447800" y="76200"/>
            <a:ext cx="7696200" cy="762000"/>
          </a:xfrm>
        </p:spPr>
        <p:txBody>
          <a:bodyPr/>
          <a:lstStyle/>
          <a:p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 Scheduling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Kernel-level Threads</a:t>
            </a:r>
          </a:p>
        </p:txBody>
      </p:sp>
      <p:sp>
        <p:nvSpPr>
          <p:cNvPr id="25603" name="Rectangle 3"/>
          <p:cNvSpPr>
            <a:spLocks noGrp="1"/>
          </p:cNvSpPr>
          <p:nvPr>
            <p:ph type="body" sz="half" idx="4294967295"/>
          </p:nvPr>
        </p:nvSpPr>
        <p:spPr>
          <a:xfrm>
            <a:off x="0" y="914400"/>
            <a:ext cx="5638800" cy="5943600"/>
          </a:xfrm>
        </p:spPr>
        <p:txBody>
          <a:bodyPr/>
          <a:lstStyle/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scheduler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However, a kernel requires a full text switch (changing a memory map, invalidating caching … ), specially is the switching the thread in process to other thread in other process taking expensive costs.</a:t>
            </a:r>
          </a:p>
          <a:p>
            <a:pPr algn="just"/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Moreover,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would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never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what each thread did</a:t>
            </a:r>
          </a:p>
          <a:p>
            <a:pPr algn="just">
              <a:buFont typeface="Arial" panose="020B0604020202020204" pitchFamily="34" charset="0"/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User-level thread is more performance than kernel-level thread in scheduling</a:t>
            </a:r>
          </a:p>
        </p:txBody>
      </p:sp>
      <p:pic>
        <p:nvPicPr>
          <p:cNvPr id="2560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828800"/>
            <a:ext cx="31940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1558" name="Text Box 4"/>
          <p:cNvSpPr txBox="1">
            <a:spLocks noChangeArrowheads="1"/>
          </p:cNvSpPr>
          <p:nvPr/>
        </p:nvSpPr>
        <p:spPr bwMode="auto">
          <a:xfrm>
            <a:off x="6553200" y="5867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2-43.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/>
          <a:lstStyle/>
          <a:p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</p:txBody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>
          <a:xfrm>
            <a:off x="381000" y="1219200"/>
            <a:ext cx="8763000" cy="5638800"/>
          </a:xfrm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Five philosophers 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seated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around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circular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philosopher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plate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spaghetti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each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plates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fork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philosopher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needs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forks 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philosopher eats (not thinks) and thinks (not eats)</a:t>
            </a:r>
          </a:p>
          <a:p>
            <a:pPr lvl="1" algn="just">
              <a:lnSpc>
                <a:spcPct val="90000"/>
              </a:lnSpc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he/she gets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hungry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he/she tries to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pick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up the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forks 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that are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closer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him/her</a:t>
            </a:r>
          </a:p>
          <a:p>
            <a:pPr lvl="1" algn="just">
              <a:lnSpc>
                <a:spcPct val="9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Obviously, he/she can not pick up forks that is already in the hand of a neighbour</a:t>
            </a:r>
          </a:p>
          <a:p>
            <a:pPr lvl="1" algn="just">
              <a:lnSpc>
                <a:spcPct val="90000"/>
              </a:lnSpc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he/she has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finished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eating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he/she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puts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both forks 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thinking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again</a:t>
            </a:r>
          </a:p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each philosopher that does what it is supposed to do and never get stuck</a:t>
            </a:r>
          </a:p>
        </p:txBody>
      </p:sp>
      <p:sp>
        <p:nvSpPr>
          <p:cNvPr id="27652" name="Rectangle 4"/>
          <p:cNvSpPr>
            <a:spLocks/>
          </p:cNvSpPr>
          <p:nvPr/>
        </p:nvSpPr>
        <p:spPr bwMode="auto">
          <a:xfrm>
            <a:off x="685800" y="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295400" y="533400"/>
            <a:ext cx="8229600" cy="762000"/>
          </a:xfrm>
          <a:noFill/>
        </p:spPr>
        <p:txBody>
          <a:bodyPr/>
          <a:lstStyle/>
          <a:p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</p:txBody>
      </p:sp>
      <p:sp>
        <p:nvSpPr>
          <p:cNvPr id="28675" name="Rectangle 3"/>
          <p:cNvSpPr>
            <a:spLocks/>
          </p:cNvSpPr>
          <p:nvPr/>
        </p:nvSpPr>
        <p:spPr bwMode="auto">
          <a:xfrm>
            <a:off x="914400" y="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r>
              <a:rPr lang="en-US" altLang="en-US" sz="28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8676" name="Picture 4" descr="02-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3200400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7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7200"/>
            <a:ext cx="70866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430" name="Text Box 4"/>
          <p:cNvSpPr txBox="1">
            <a:spLocks noChangeArrowheads="1"/>
          </p:cNvSpPr>
          <p:nvPr/>
        </p:nvSpPr>
        <p:spPr bwMode="auto">
          <a:xfrm>
            <a:off x="685800" y="40386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2-44 &amp; 45.</a:t>
            </a:r>
          </a:p>
        </p:txBody>
      </p:sp>
      <p:sp>
        <p:nvSpPr>
          <p:cNvPr id="231431" name="Rectangle 7"/>
          <p:cNvSpPr>
            <a:spLocks noGrp="1"/>
          </p:cNvSpPr>
          <p:nvPr>
            <p:ph type="body" idx="1"/>
          </p:nvPr>
        </p:nvSpPr>
        <p:spPr>
          <a:xfrm>
            <a:off x="3505200" y="1143000"/>
            <a:ext cx="5638800" cy="3200400"/>
          </a:xfrm>
          <a:noFill/>
        </p:spPr>
        <p:txBody>
          <a:bodyPr/>
          <a:lstStyle/>
          <a:p>
            <a:pPr algn="just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need to allocate several resources among several processes in 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 deadlock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(all of them take their left forks simultaneously. None will be able to take their rights fork)</a:t>
            </a:r>
          </a:p>
          <a:p>
            <a:pPr lvl="1" algn="just">
              <a:lnSpc>
                <a:spcPct val="90000"/>
              </a:lnSpc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Starvation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(all of them could start the algorithm simultaneously, pick up their left forks, seeing that their right forks were not available, putting down their left forks, waiting, and picking up … forever)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096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</a:p>
        </p:txBody>
      </p:sp>
      <p:sp>
        <p:nvSpPr>
          <p:cNvPr id="45059" name="Rectangle 3"/>
          <p:cNvSpPr>
            <a:spLocks noGrp="1"/>
          </p:cNvSpPr>
          <p:nvPr>
            <p:ph type="body" idx="1"/>
          </p:nvPr>
        </p:nvSpPr>
        <p:spPr>
          <a:xfrm>
            <a:off x="0" y="914400"/>
            <a:ext cx="9144000" cy="54102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solution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philosophers would just wait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random time instead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time after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failing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acquire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right hand fork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(that means all applications trying again later)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it is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adequate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the absolutely works</a:t>
            </a: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adequate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solution (applying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binary semaphore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acquire forks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a philosopher would do a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After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replacing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he/she would do an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mutex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However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it has a performance bug (in practical),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philosopher can be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any instant instead of two ones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semaphore combine with binary semaphore  allowing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for arbitrary number of philosophers by keeping track</a:t>
            </a:r>
          </a:p>
        </p:txBody>
      </p:sp>
      <p:sp>
        <p:nvSpPr>
          <p:cNvPr id="29700" name="Rectangle 4"/>
          <p:cNvSpPr>
            <a:spLocks/>
          </p:cNvSpPr>
          <p:nvPr/>
        </p:nvSpPr>
        <p:spPr bwMode="auto">
          <a:xfrm>
            <a:off x="381000" y="304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</p:txBody>
      </p:sp>
      <p:pic>
        <p:nvPicPr>
          <p:cNvPr id="30723" name="Picture 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458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24" name="Text Box 4"/>
          <p:cNvSpPr txBox="1">
            <a:spLocks noChangeArrowheads="1"/>
          </p:cNvSpPr>
          <p:nvPr/>
        </p:nvSpPr>
        <p:spPr bwMode="auto">
          <a:xfrm>
            <a:off x="3429000" y="61722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Dining Philosophers Problem</a:t>
            </a:r>
          </a:p>
        </p:txBody>
      </p:sp>
      <p:sp>
        <p:nvSpPr>
          <p:cNvPr id="237571" name="Text Box 4"/>
          <p:cNvSpPr txBox="1">
            <a:spLocks noChangeArrowheads="1"/>
          </p:cNvSpPr>
          <p:nvPr/>
        </p:nvSpPr>
        <p:spPr bwMode="auto">
          <a:xfrm>
            <a:off x="3429000" y="6248400"/>
            <a:ext cx="2514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2-46</a:t>
            </a:r>
          </a:p>
        </p:txBody>
      </p:sp>
      <p:pic>
        <p:nvPicPr>
          <p:cNvPr id="31748" name="Picture 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30338"/>
            <a:ext cx="78486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5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954338"/>
            <a:ext cx="7391400" cy="321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</a:p>
        </p:txBody>
      </p:sp>
      <p:sp>
        <p:nvSpPr>
          <p:cNvPr id="48131" name="Rectangle 3"/>
          <p:cNvSpPr>
            <a:spLocks noGrp="1"/>
          </p:cNvSpPr>
          <p:nvPr>
            <p:ph type="body" idx="1"/>
          </p:nvPr>
        </p:nvSpPr>
        <p:spPr>
          <a:xfrm>
            <a:off x="0" y="1447800"/>
            <a:ext cx="9144000" cy="5410200"/>
          </a:xfrm>
        </p:spPr>
        <p:txBody>
          <a:bodyPr/>
          <a:lstStyle/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Models access to a database (file)</a:t>
            </a:r>
            <a:r>
              <a:rPr lang="ar-SA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read data = reader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process that modify data = writer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two readers access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shared data simultaneously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adverse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affects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will result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Multiple readers are allowed, but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same time 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Only one writer 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to act on the database at one moment</a:t>
            </a:r>
          </a:p>
          <a:p>
            <a:pPr algn="just">
              <a:lnSpc>
                <a:spcPct val="8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readers-writers problem has several variations, all involving priorities.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readers-writers problem:</a:t>
            </a:r>
          </a:p>
          <a:p>
            <a:pPr lvl="2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No reader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will be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kept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waiting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unless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has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already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obtained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permission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the shared object.</a:t>
            </a:r>
          </a:p>
          <a:p>
            <a:pPr lvl="2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Or,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no reader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wait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readers to finish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>
              <a:lnSpc>
                <a:spcPct val="80000"/>
              </a:lnSpc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readers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have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higher priorities.</a:t>
            </a:r>
          </a:p>
          <a:p>
            <a:pPr lvl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readers-writers problem:</a:t>
            </a:r>
          </a:p>
          <a:p>
            <a:pPr lvl="2">
              <a:lnSpc>
                <a:spcPct val="80000"/>
              </a:lnSpc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ready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soon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as possible.</a:t>
            </a:r>
            <a:endParaRPr lang="en-GB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2" name="Rectangle 4"/>
          <p:cNvSpPr>
            <a:spLocks/>
          </p:cNvSpPr>
          <p:nvPr/>
        </p:nvSpPr>
        <p:spPr bwMode="auto">
          <a:xfrm>
            <a:off x="457200" y="6858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8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8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8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  <p:sp>
        <p:nvSpPr>
          <p:cNvPr id="241667" name="Text Box 4"/>
          <p:cNvSpPr txBox="1">
            <a:spLocks noChangeArrowheads="1"/>
          </p:cNvSpPr>
          <p:nvPr/>
        </p:nvSpPr>
        <p:spPr bwMode="auto">
          <a:xfrm>
            <a:off x="3810000" y="6248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2-46.</a:t>
            </a: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219200" y="1219200"/>
          <a:ext cx="6615113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Image" r:id="rId4" imgW="17238226" imgH="11794688" progId="Photoshop.Image.9">
                  <p:embed/>
                </p:oleObj>
              </mc:Choice>
              <mc:Fallback>
                <p:oleObj name="Image" r:id="rId4" imgW="17238226" imgH="11794688" progId="Photoshop.Image.9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219200"/>
                        <a:ext cx="6615113" cy="452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6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Problems</a:t>
            </a:r>
            <a:b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Readers and Writers Problem</a:t>
            </a:r>
          </a:p>
        </p:txBody>
      </p:sp>
      <p:sp>
        <p:nvSpPr>
          <p:cNvPr id="243715" name="Text Box 4"/>
          <p:cNvSpPr txBox="1">
            <a:spLocks noChangeArrowheads="1"/>
          </p:cNvSpPr>
          <p:nvPr/>
        </p:nvSpPr>
        <p:spPr bwMode="auto">
          <a:xfrm>
            <a:off x="3505200" y="4343400"/>
            <a:ext cx="1895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latin typeface="Times New Roman" panose="02020603050405020304" pitchFamily="18" charset="0"/>
              </a:rPr>
              <a:t>Tanenbaum, Fig. 2-46.</a:t>
            </a:r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533400" y="1676400"/>
          <a:ext cx="8229600" cy="24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Image" r:id="rId3" imgW="18145482" imgH="5443895" progId="Photoshop.Image.9">
                  <p:embed/>
                </p:oleObj>
              </mc:Choice>
              <mc:Fallback>
                <p:oleObj name="Image" r:id="rId3" imgW="18145482" imgH="5443895" progId="Photoshop.Image.9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676400"/>
                        <a:ext cx="8229600" cy="24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514600"/>
          </a:xfrm>
        </p:spPr>
        <p:txBody>
          <a:bodyPr/>
          <a:lstStyle/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Classical IPC Problem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1295400" y="4800600"/>
            <a:ext cx="6629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</a:p>
        </p:txBody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2514600"/>
          </a:xfrm>
        </p:spPr>
        <p:txBody>
          <a:bodyPr/>
          <a:lstStyle/>
          <a:p>
            <a:pPr algn="just"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</a:p>
          <a:p>
            <a:pPr lvl="1" algn="just">
              <a:buFont typeface="Times New Roman" panose="02020603050405020304" pitchFamily="18" charset="0"/>
              <a:buChar char="−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No Memory Abstraction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(from Single to Multiple programs)</a:t>
            </a:r>
          </a:p>
          <a:p>
            <a:pPr lvl="1" algn="just">
              <a:buFont typeface="Times New Roman" panose="02020603050405020304" pitchFamily="18" charset="0"/>
              <a:buChar char="−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Memory Abstraction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 and policy applied to manage memory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Font typeface="Times New Roman" panose="02020603050405020304" pitchFamily="18" charset="0"/>
              <a:buChar char="−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 and policy applied to manage memory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>
              <a:buFont typeface="Times New Roman" panose="02020603050405020304" pitchFamily="18" charset="0"/>
              <a:buChar char="−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Page replacement algorithms 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applying to manage memory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buClrTx/>
              <a:buSzTx/>
              <a:buFont typeface="Arial" panose="020B0604020202020204" pitchFamily="34" charset="0"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9111</TotalTime>
  <Words>2767</Words>
  <Application>Microsoft Office PowerPoint</Application>
  <PresentationFormat>On-screen Show (4:3)</PresentationFormat>
  <Paragraphs>287</Paragraphs>
  <Slides>33</Slides>
  <Notes>29</Notes>
  <HiddenSlides>1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Symbol</vt:lpstr>
      <vt:lpstr>Times New Roman</vt:lpstr>
      <vt:lpstr>Wingdings</vt:lpstr>
      <vt:lpstr>Office Theme</vt:lpstr>
      <vt:lpstr>Image</vt:lpstr>
      <vt:lpstr>Processes &amp; Threads    Scheduling  Classical IPC Problem</vt:lpstr>
      <vt:lpstr>Review</vt:lpstr>
      <vt:lpstr>Review</vt:lpstr>
      <vt:lpstr>Review</vt:lpstr>
      <vt:lpstr>Review</vt:lpstr>
      <vt:lpstr>Objectives</vt:lpstr>
      <vt:lpstr>Scheduling in Interactive Systems Round-Robin Scheduling (RR)</vt:lpstr>
      <vt:lpstr>Scheduling in Interactive Systems Example (quantum = 1)</vt:lpstr>
      <vt:lpstr>Scheduling in Interactive Systems Priority Scheduling</vt:lpstr>
      <vt:lpstr>Scheduling in Interactive Systems Priority Scheduling</vt:lpstr>
      <vt:lpstr>Scheduling in Interactive Systems  Example</vt:lpstr>
      <vt:lpstr>Scheduling in Interactive Systems Multiple Queues</vt:lpstr>
      <vt:lpstr>Scheduling in Interactive Systems Multiple Queues</vt:lpstr>
      <vt:lpstr>Scheduling in Interactive Systems Shortest Process Next (SPT)</vt:lpstr>
      <vt:lpstr>Scheduling in Interactive Systems  Example</vt:lpstr>
      <vt:lpstr>Scheduling in Interactive Systems  Example</vt:lpstr>
      <vt:lpstr>Scheduling in Interactive Systems Guaranteed Scheduling</vt:lpstr>
      <vt:lpstr>Scheduling in Interactive Systems Lottery Scheduling</vt:lpstr>
      <vt:lpstr>Scheduling in Interactive Systems Fair-Share Scheduling</vt:lpstr>
      <vt:lpstr>Scheduling in Interactive Systems Fair-Share Scheduling – Example </vt:lpstr>
      <vt:lpstr>Scheduling in Real-Time Systems</vt:lpstr>
      <vt:lpstr>Thread Scheduling User-level Threads</vt:lpstr>
      <vt:lpstr>Thread Scheduling Kernel-level Threads</vt:lpstr>
      <vt:lpstr>The Dining Philosophers Problem</vt:lpstr>
      <vt:lpstr>The Dining Philosophers Problem</vt:lpstr>
      <vt:lpstr>Classical IPC Problems</vt:lpstr>
      <vt:lpstr>Classical IPC Problems   The Dining Philosophers Problem</vt:lpstr>
      <vt:lpstr>Classical IPC Problems   The Dining Philosophers Problem</vt:lpstr>
      <vt:lpstr>Classical IPC Problems</vt:lpstr>
      <vt:lpstr>Classical IPC Problems  The Readers and Writers Problem</vt:lpstr>
      <vt:lpstr>Classical IPC Problems  The Readers and Writers Problem</vt:lpstr>
      <vt:lpstr>Summary</vt:lpstr>
      <vt:lpstr>Next Lecture</vt:lpstr>
    </vt:vector>
  </TitlesOfParts>
  <Company>FPT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PFC: Module A - Introduction</dc:title>
  <dc:creator>Phan Truong Lam</dc:creator>
  <cp:lastModifiedBy>Tong Phuoc Quan (FE FPTU HCM)</cp:lastModifiedBy>
  <cp:revision>1691</cp:revision>
  <dcterms:created xsi:type="dcterms:W3CDTF">2007-08-21T04:43:22Z</dcterms:created>
  <dcterms:modified xsi:type="dcterms:W3CDTF">2021-09-23T14:05:05Z</dcterms:modified>
</cp:coreProperties>
</file>