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17"/>
  </p:notesMasterIdLst>
  <p:sldIdLst>
    <p:sldId id="256" r:id="rId2"/>
    <p:sldId id="480" r:id="rId3"/>
    <p:sldId id="478" r:id="rId4"/>
    <p:sldId id="479" r:id="rId5"/>
    <p:sldId id="481" r:id="rId6"/>
    <p:sldId id="359" r:id="rId7"/>
    <p:sldId id="361" r:id="rId8"/>
    <p:sldId id="362" r:id="rId9"/>
    <p:sldId id="401" r:id="rId10"/>
    <p:sldId id="455" r:id="rId11"/>
    <p:sldId id="400" r:id="rId12"/>
    <p:sldId id="407" r:id="rId13"/>
    <p:sldId id="474" r:id="rId14"/>
    <p:sldId id="394" r:id="rId15"/>
    <p:sldId id="473" r:id="rId1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66FFFF"/>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54" autoAdjust="0"/>
    <p:restoredTop sz="92955" autoAdjust="0"/>
  </p:normalViewPr>
  <p:slideViewPr>
    <p:cSldViewPr>
      <p:cViewPr varScale="1">
        <p:scale>
          <a:sx n="72" d="100"/>
          <a:sy n="72" d="100"/>
        </p:scale>
        <p:origin x="1692" y="72"/>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444C9E7-7644-48F7-9D31-8524A7045315}" type="datetimeFigureOut">
              <a:rPr lang="en-US"/>
              <a:pPr>
                <a:defRPr/>
              </a:pPr>
              <a:t>30/09/2021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DF959E70-9C8F-43B0-88FF-A827B982617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An abstraction is a layer that sits between two systems and handles the communication, so neither side needs to know about how the other works directly.</a:t>
            </a:r>
          </a:p>
          <a:p>
            <a:pPr fontAlgn="base"/>
            <a:r>
              <a:rPr lang="en-US" sz="1200" b="0" i="0" kern="1200" dirty="0">
                <a:solidFill>
                  <a:schemeClr val="tx1"/>
                </a:solidFill>
                <a:effectLst/>
                <a:latin typeface="+mn-lt"/>
                <a:ea typeface="+mn-ea"/>
                <a:cs typeface="+mn-cs"/>
              </a:rPr>
              <a:t>I real word example may be the menu at a restaurant is an abstraction layer between the customer and the cook, I don't need to worry about telling the cook how to cook what I want, I can just pick it from the menu, and let them worry about how it comes together.</a:t>
            </a:r>
          </a:p>
          <a:p>
            <a:pPr fontAlgn="base"/>
            <a:r>
              <a:rPr lang="en-US" sz="1200" b="0" i="0" kern="1200" dirty="0">
                <a:solidFill>
                  <a:schemeClr val="tx1"/>
                </a:solidFill>
                <a:effectLst/>
                <a:latin typeface="+mn-lt"/>
                <a:ea typeface="+mn-ea"/>
                <a:cs typeface="+mn-cs"/>
              </a:rPr>
              <a:t>A more common abstraction in software is a service layer that a web application can send data to in order to have it stored in a database. This allows the application to just send data, and not care if it is going into a MySQL DB, A Mongo DB or whatever, the details of how it is stored are abstracted away, all the application needs to know is that it is stored.</a:t>
            </a:r>
          </a:p>
          <a:p>
            <a:pPr fontAlgn="base"/>
            <a:r>
              <a:rPr lang="en-US" sz="1200" b="0" i="0" kern="1200" dirty="0">
                <a:solidFill>
                  <a:schemeClr val="tx1"/>
                </a:solidFill>
                <a:effectLst/>
                <a:latin typeface="+mn-lt"/>
                <a:ea typeface="+mn-ea"/>
                <a:cs typeface="+mn-cs"/>
              </a:rPr>
              <a:t>"memory abstraction" is similar, if I have a memory abstraction layer, I can just ask it to store some data for me in memory and not worry about where it's stored, when it's cleaned up or what memory addresses it's in. The abstraction layer can handle the details like that for me.</a:t>
            </a:r>
          </a:p>
          <a:p>
            <a:endParaRPr lang="en-US" dirty="0"/>
          </a:p>
        </p:txBody>
      </p:sp>
      <p:sp>
        <p:nvSpPr>
          <p:cNvPr id="4" name="Slide Number Placeholder 3"/>
          <p:cNvSpPr>
            <a:spLocks noGrp="1"/>
          </p:cNvSpPr>
          <p:nvPr>
            <p:ph type="sldNum" sz="quarter" idx="5"/>
          </p:nvPr>
        </p:nvSpPr>
        <p:spPr/>
        <p:txBody>
          <a:bodyPr/>
          <a:lstStyle/>
          <a:p>
            <a:fld id="{DF959E70-9C8F-43B0-88FF-A827B982617E}" type="slidenum">
              <a:rPr lang="en-US" altLang="en-US" smtClean="0"/>
              <a:pPr/>
              <a:t>6</a:t>
            </a:fld>
            <a:endParaRPr lang="en-US" altLang="en-US"/>
          </a:p>
        </p:txBody>
      </p:sp>
    </p:spTree>
    <p:extLst>
      <p:ext uri="{BB962C8B-B14F-4D97-AF65-F5344CB8AC3E}">
        <p14:creationId xmlns:p14="http://schemas.microsoft.com/office/powerpoint/2010/main" val="4282355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effectLst/>
              </a:rPr>
              <a:t>Internal Fragmentation occurs when a process needs more space than the size of allotted memory block or use less space.</a:t>
            </a:r>
          </a:p>
          <a:p>
            <a:r>
              <a:rPr lang="en-US" dirty="0">
                <a:effectLst/>
              </a:rPr>
              <a:t>External Fragmentation occurs when a process is removed from the main memory.</a:t>
            </a:r>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055A6AA8-5E6C-4F9C-835A-CE35CEB2F485}" type="datetime1">
              <a:rPr lang="en-US"/>
              <a:pPr>
                <a:defRPr/>
              </a:pPr>
              <a:t>30/09/2021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9637EC0D-C66F-4FA7-9636-209727C2734F}" type="slidenum">
              <a:rPr lang="en-US" altLang="en-US"/>
              <a:pPr/>
              <a:t>‹#›</a:t>
            </a:fld>
            <a:r>
              <a:rPr lang="en-US" altLang="en-US"/>
              <a:t>/40</a:t>
            </a:r>
          </a:p>
        </p:txBody>
      </p:sp>
    </p:spTree>
    <p:extLst>
      <p:ext uri="{BB962C8B-B14F-4D97-AF65-F5344CB8AC3E}">
        <p14:creationId xmlns:p14="http://schemas.microsoft.com/office/powerpoint/2010/main" val="1253989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3BFE327-89C6-4A95-9384-0FB56E1DF896}" type="datetime1">
              <a:rPr lang="en-US"/>
              <a:pPr>
                <a:defRPr/>
              </a:pPr>
              <a:t>30/09/2021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5E64E30A-7FA6-4E7F-98BB-9D3732C6C30F}" type="slidenum">
              <a:rPr lang="en-US" altLang="en-US"/>
              <a:pPr/>
              <a:t>‹#›</a:t>
            </a:fld>
            <a:r>
              <a:rPr lang="en-US" altLang="en-US"/>
              <a:t>/40</a:t>
            </a:r>
          </a:p>
        </p:txBody>
      </p:sp>
    </p:spTree>
    <p:extLst>
      <p:ext uri="{BB962C8B-B14F-4D97-AF65-F5344CB8AC3E}">
        <p14:creationId xmlns:p14="http://schemas.microsoft.com/office/powerpoint/2010/main" val="3978455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3160B06E-1367-4975-ACE7-27F8F1D71DA4}" type="datetime1">
              <a:rPr lang="en-US"/>
              <a:pPr>
                <a:defRPr/>
              </a:pPr>
              <a:t>30/09/2021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D6F89932-5D0C-4E43-9BA3-711FE1FD69F1}" type="slidenum">
              <a:rPr lang="en-US" altLang="en-US"/>
              <a:pPr/>
              <a:t>‹#›</a:t>
            </a:fld>
            <a:r>
              <a:rPr lang="en-US" altLang="en-US"/>
              <a:t>/40</a:t>
            </a:r>
          </a:p>
        </p:txBody>
      </p:sp>
    </p:spTree>
    <p:extLst>
      <p:ext uri="{BB962C8B-B14F-4D97-AF65-F5344CB8AC3E}">
        <p14:creationId xmlns:p14="http://schemas.microsoft.com/office/powerpoint/2010/main" val="3677591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4B0A20E9-9638-4D45-80D4-8B63B3B3C3EB}" type="datetime1">
              <a:rPr lang="en-US"/>
              <a:pPr>
                <a:defRPr/>
              </a:pPr>
              <a:t>30/09/2021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7B5A0E64-96EE-4994-A809-72C1A867D804}" type="slidenum">
              <a:rPr lang="en-US" altLang="en-US"/>
              <a:pPr/>
              <a:t>‹#›</a:t>
            </a:fld>
            <a:r>
              <a:rPr lang="en-US" altLang="en-US"/>
              <a:t>/40</a:t>
            </a:r>
          </a:p>
        </p:txBody>
      </p:sp>
    </p:spTree>
    <p:extLst>
      <p:ext uri="{BB962C8B-B14F-4D97-AF65-F5344CB8AC3E}">
        <p14:creationId xmlns:p14="http://schemas.microsoft.com/office/powerpoint/2010/main" val="2667084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DEF7B9C-183A-47C7-B2B8-CED496E4AB53}" type="datetime1">
              <a:rPr lang="en-US"/>
              <a:pPr>
                <a:defRPr/>
              </a:pPr>
              <a:t>30/09/2021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2545066A-C257-4DEE-833B-6D2329DDBA65}" type="slidenum">
              <a:rPr lang="en-US" altLang="en-US"/>
              <a:pPr/>
              <a:t>‹#›</a:t>
            </a:fld>
            <a:r>
              <a:rPr lang="en-US" altLang="en-US"/>
              <a:t>/40</a:t>
            </a:r>
          </a:p>
        </p:txBody>
      </p:sp>
    </p:spTree>
    <p:extLst>
      <p:ext uri="{BB962C8B-B14F-4D97-AF65-F5344CB8AC3E}">
        <p14:creationId xmlns:p14="http://schemas.microsoft.com/office/powerpoint/2010/main" val="4060254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C651838-370A-4A9C-9706-3EAAD88DB818}" type="datetime1">
              <a:rPr lang="en-US"/>
              <a:pPr>
                <a:defRPr/>
              </a:pPr>
              <a:t>30/09/2021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9003F8FC-3B84-4F4A-9BA5-AB12177B6FDC}" type="slidenum">
              <a:rPr lang="en-US" altLang="en-US"/>
              <a:pPr/>
              <a:t>‹#›</a:t>
            </a:fld>
            <a:r>
              <a:rPr lang="en-US" altLang="en-US"/>
              <a:t>/40</a:t>
            </a:r>
          </a:p>
        </p:txBody>
      </p:sp>
    </p:spTree>
    <p:extLst>
      <p:ext uri="{BB962C8B-B14F-4D97-AF65-F5344CB8AC3E}">
        <p14:creationId xmlns:p14="http://schemas.microsoft.com/office/powerpoint/2010/main" val="4040589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A7C234A-16C5-4152-A1FF-EE10A155C8B3}" type="datetime1">
              <a:rPr lang="en-US"/>
              <a:pPr>
                <a:defRPr/>
              </a:pPr>
              <a:t>30/09/2021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61574EF7-1666-49BB-B084-5A939D89018C}" type="slidenum">
              <a:rPr lang="en-US" altLang="en-US"/>
              <a:pPr/>
              <a:t>‹#›</a:t>
            </a:fld>
            <a:r>
              <a:rPr lang="en-US" altLang="en-US"/>
              <a:t>/40</a:t>
            </a:r>
          </a:p>
        </p:txBody>
      </p:sp>
    </p:spTree>
    <p:extLst>
      <p:ext uri="{BB962C8B-B14F-4D97-AF65-F5344CB8AC3E}">
        <p14:creationId xmlns:p14="http://schemas.microsoft.com/office/powerpoint/2010/main" val="101312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1443F60-6B32-474A-8077-131339B7E27C}" type="datetime1">
              <a:rPr lang="en-US"/>
              <a:pPr>
                <a:defRPr/>
              </a:pPr>
              <a:t>30/09/2021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712885B2-9FCA-48A7-8ECE-110E5FB3DD2A}" type="slidenum">
              <a:rPr lang="en-US" altLang="en-US"/>
              <a:pPr/>
              <a:t>‹#›</a:t>
            </a:fld>
            <a:r>
              <a:rPr lang="en-US" altLang="en-US"/>
              <a:t>/40</a:t>
            </a:r>
          </a:p>
        </p:txBody>
      </p:sp>
    </p:spTree>
    <p:extLst>
      <p:ext uri="{BB962C8B-B14F-4D97-AF65-F5344CB8AC3E}">
        <p14:creationId xmlns:p14="http://schemas.microsoft.com/office/powerpoint/2010/main" val="3933532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4FA5B87-5799-4E30-B7DE-E7E7B351DE5F}" type="datetime1">
              <a:rPr lang="en-US"/>
              <a:pPr>
                <a:defRPr/>
              </a:pPr>
              <a:t>30/09/2021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754D5BF4-0769-4F99-ADD6-3DD80C25BE9E}" type="slidenum">
              <a:rPr lang="en-US" altLang="en-US"/>
              <a:pPr/>
              <a:t>‹#›</a:t>
            </a:fld>
            <a:r>
              <a:rPr lang="en-US" altLang="en-US"/>
              <a:t>/40</a:t>
            </a:r>
          </a:p>
        </p:txBody>
      </p:sp>
    </p:spTree>
    <p:extLst>
      <p:ext uri="{BB962C8B-B14F-4D97-AF65-F5344CB8AC3E}">
        <p14:creationId xmlns:p14="http://schemas.microsoft.com/office/powerpoint/2010/main" val="3316413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1886760-2BF2-4A15-BE4B-D9D8C9379AD7}" type="datetime1">
              <a:rPr lang="en-US"/>
              <a:pPr>
                <a:defRPr/>
              </a:pPr>
              <a:t>30/09/2021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1A938BF4-DF2F-44B0-8A17-901A29C561B2}" type="slidenum">
              <a:rPr lang="en-US" altLang="en-US"/>
              <a:pPr/>
              <a:t>‹#›</a:t>
            </a:fld>
            <a:r>
              <a:rPr lang="en-US" altLang="en-US"/>
              <a:t>/40</a:t>
            </a:r>
          </a:p>
        </p:txBody>
      </p:sp>
    </p:spTree>
    <p:extLst>
      <p:ext uri="{BB962C8B-B14F-4D97-AF65-F5344CB8AC3E}">
        <p14:creationId xmlns:p14="http://schemas.microsoft.com/office/powerpoint/2010/main" val="808011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1C9ADCE-74A1-4152-A2C8-3A225B37942B}" type="datetime1">
              <a:rPr lang="en-US"/>
              <a:pPr>
                <a:defRPr/>
              </a:pPr>
              <a:t>30/09/2021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0254E7E1-8BC9-47C3-8167-6358A2EBEA96}" type="slidenum">
              <a:rPr lang="en-US" altLang="en-US"/>
              <a:pPr/>
              <a:t>‹#›</a:t>
            </a:fld>
            <a:r>
              <a:rPr lang="en-US" altLang="en-US"/>
              <a:t>/40</a:t>
            </a:r>
          </a:p>
        </p:txBody>
      </p:sp>
    </p:spTree>
    <p:extLst>
      <p:ext uri="{BB962C8B-B14F-4D97-AF65-F5344CB8AC3E}">
        <p14:creationId xmlns:p14="http://schemas.microsoft.com/office/powerpoint/2010/main" val="2654354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B82EDF31-69D2-48D2-B5BD-DCF035F0026C}" type="datetime1">
              <a:rPr lang="en-US"/>
              <a:pPr>
                <a:defRPr/>
              </a:pPr>
              <a:t>30/09/2021</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8882AD58-7072-4980-ADCC-7EDEDCA81256}" type="slidenum">
              <a:rPr lang="en-US" altLang="en-US"/>
              <a:pPr/>
              <a:t>‹#›</a:t>
            </a:fld>
            <a:r>
              <a:rPr lang="en-US" altLang="en-US"/>
              <a:t>/40</a:t>
            </a:r>
          </a:p>
        </p:txBody>
      </p:sp>
    </p:spTree>
    <p:extLst>
      <p:ext uri="{BB962C8B-B14F-4D97-AF65-F5344CB8AC3E}">
        <p14:creationId xmlns:p14="http://schemas.microsoft.com/office/powerpoint/2010/main" val="132622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C2A9336-97B3-4132-B0A6-A213710FEE43}" type="datetime1">
              <a:rPr lang="en-US"/>
              <a:pPr>
                <a:defRPr/>
              </a:pPr>
              <a:t>30/09/2021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8FE2D2F9-74A3-4D78-A4E2-09ECD3D4BA5D}" type="slidenum">
              <a:rPr lang="en-US" altLang="en-US"/>
              <a:pPr/>
              <a:t>‹#›</a:t>
            </a:fld>
            <a:r>
              <a:rPr lang="en-US" altLang="en-US"/>
              <a:t>/40</a:t>
            </a:r>
          </a:p>
        </p:txBody>
      </p:sp>
    </p:spTree>
    <p:extLst>
      <p:ext uri="{BB962C8B-B14F-4D97-AF65-F5344CB8AC3E}">
        <p14:creationId xmlns:p14="http://schemas.microsoft.com/office/powerpoint/2010/main" val="1709168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CCF28927-C7B6-421C-B407-0E910F966941}" type="datetime1">
              <a:rPr lang="en-US"/>
              <a:pPr>
                <a:defRPr/>
              </a:pPr>
              <a:t>30/09/2021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7AA4FB7A-8025-4FF6-9707-42340A69F5F7}"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1676400"/>
            <a:ext cx="9144000" cy="2438400"/>
          </a:xfrm>
        </p:spPr>
        <p:txBody>
          <a:bodyPr/>
          <a:lstStyle/>
          <a:p>
            <a:pPr eaLnBrk="1" hangingPunct="1"/>
            <a:r>
              <a:rPr lang="en-US" altLang="en-US" sz="4000">
                <a:latin typeface="Times New Roman" panose="02020603050405020304" pitchFamily="18" charset="0"/>
                <a:cs typeface="Times New Roman" panose="02020603050405020304" pitchFamily="18" charset="0"/>
              </a:rPr>
              <a:t>Memory Management </a:t>
            </a:r>
            <a:br>
              <a:rPr lang="en-US" altLang="en-US" sz="4000">
                <a:latin typeface="Times New Roman" panose="02020603050405020304" pitchFamily="18" charset="0"/>
                <a:cs typeface="Times New Roman" panose="02020603050405020304" pitchFamily="18" charset="0"/>
              </a:rPr>
            </a:br>
            <a:br>
              <a:rPr lang="en-US" altLang="en-US" sz="4000">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No Memory Abstraction</a:t>
            </a:r>
            <a:endParaRPr lang="en-US" altLang="en-US" sz="40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533400"/>
            <a:ext cx="9144000" cy="59436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Process Model</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Pseudo-parallelism (</a:t>
            </a:r>
            <a:r>
              <a:rPr lang="en-US" altLang="en-US" sz="2400" b="1" i="1" dirty="0">
                <a:latin typeface="Times New Roman" panose="02020603050405020304" pitchFamily="18" charset="0"/>
                <a:cs typeface="Times New Roman" panose="02020603050405020304" pitchFamily="18" charset="0"/>
              </a:rPr>
              <a:t>Multi-programming, quantum or time slice</a:t>
            </a:r>
            <a:r>
              <a:rPr lang="en-US" altLang="en-US" sz="2400" dirty="0">
                <a:latin typeface="Times New Roman" panose="02020603050405020304" pitchFamily="18" charset="0"/>
                <a:cs typeface="Times New Roman" panose="02020603050405020304" pitchFamily="18" charset="0"/>
              </a:rPr>
              <a:t>)</a:t>
            </a:r>
            <a:endParaRPr lang="en-US" altLang="en-US" sz="2400" b="1" dirty="0">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Context Switch (</a:t>
            </a:r>
            <a:r>
              <a:rPr lang="en-US" altLang="en-US" sz="2400" b="1" i="1" dirty="0">
                <a:latin typeface="Times New Roman" panose="02020603050405020304" pitchFamily="18" charset="0"/>
                <a:cs typeface="Times New Roman" panose="02020603050405020304" pitchFamily="18" charset="0"/>
              </a:rPr>
              <a:t>user mode </a:t>
            </a:r>
            <a:r>
              <a:rPr lang="en-US" altLang="en-US" sz="2400" b="1" i="1" dirty="0">
                <a:latin typeface="Times New Roman" panose="02020603050405020304" pitchFamily="18" charset="0"/>
                <a:cs typeface="Times New Roman" panose="02020603050405020304" pitchFamily="18" charset="0"/>
                <a:sym typeface="Symbol" panose="05050102010706020507" pitchFamily="18" charset="2"/>
              </a:rPr>
              <a:t> kernel mode, switch CPU to other process – load/store PCB</a:t>
            </a:r>
            <a:r>
              <a:rPr lang="en-US" altLang="en-US" sz="2400" dirty="0">
                <a:latin typeface="Times New Roman" panose="02020603050405020304" pitchFamily="18" charset="0"/>
                <a:cs typeface="Times New Roman" panose="02020603050405020304" pitchFamily="18" charset="0"/>
              </a:rPr>
              <a:t>)</a:t>
            </a:r>
            <a:endParaRPr lang="en-US" altLang="en-US" sz="2400" b="1" dirty="0">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Scheduling algorithm</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Batch</a:t>
            </a:r>
          </a:p>
          <a:p>
            <a:pPr lvl="3" algn="just" eaLnBrk="1" hangingPunct="1">
              <a:lnSpc>
                <a:spcPct val="90000"/>
              </a:lnSpc>
            </a:pPr>
            <a:r>
              <a:rPr lang="en-US" altLang="en-US" sz="1600" b="1" dirty="0">
                <a:latin typeface="Times New Roman" panose="02020603050405020304" pitchFamily="18" charset="0"/>
                <a:cs typeface="Times New Roman" panose="02020603050405020304" pitchFamily="18" charset="0"/>
              </a:rPr>
              <a:t>FCFS</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non-preemptive</a:t>
            </a:r>
            <a:r>
              <a:rPr lang="en-US" altLang="en-US" sz="1600" dirty="0">
                <a:latin typeface="Times New Roman" panose="02020603050405020304" pitchFamily="18" charset="0"/>
                <a:cs typeface="Times New Roman" panose="02020603050405020304" pitchFamily="18" charset="0"/>
              </a:rPr>
              <a:t>, process </a:t>
            </a:r>
            <a:r>
              <a:rPr lang="en-US" altLang="en-US" sz="1600" b="1" dirty="0">
                <a:latin typeface="Times New Roman" panose="02020603050405020304" pitchFamily="18" charset="0"/>
                <a:cs typeface="Times New Roman" panose="02020603050405020304" pitchFamily="18" charset="0"/>
              </a:rPr>
              <a:t>enters</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ready</a:t>
            </a:r>
            <a:r>
              <a:rPr lang="en-US" altLang="en-US" sz="1600" dirty="0">
                <a:latin typeface="Times New Roman" panose="02020603050405020304" pitchFamily="18" charset="0"/>
                <a:cs typeface="Times New Roman" panose="02020603050405020304" pitchFamily="18" charset="0"/>
              </a:rPr>
              <a:t> state </a:t>
            </a:r>
            <a:r>
              <a:rPr lang="en-US" altLang="en-US" sz="1600" b="1" dirty="0">
                <a:latin typeface="Times New Roman" panose="02020603050405020304" pitchFamily="18" charset="0"/>
                <a:cs typeface="Times New Roman" panose="02020603050405020304" pitchFamily="18" charset="0"/>
              </a:rPr>
              <a:t>first</a:t>
            </a:r>
            <a:r>
              <a:rPr lang="en-US" altLang="en-US" sz="1600" dirty="0">
                <a:latin typeface="Times New Roman" panose="02020603050405020304" pitchFamily="18" charset="0"/>
                <a:cs typeface="Times New Roman" panose="02020603050405020304" pitchFamily="18" charset="0"/>
              </a:rPr>
              <a:t>, it will </a:t>
            </a:r>
            <a:r>
              <a:rPr lang="en-US" altLang="en-US" sz="1600" b="1" dirty="0">
                <a:latin typeface="Times New Roman" panose="02020603050405020304" pitchFamily="18" charset="0"/>
                <a:cs typeface="Times New Roman" panose="02020603050405020304" pitchFamily="18" charset="0"/>
              </a:rPr>
              <a:t>get</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CPU</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first</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event</a:t>
            </a:r>
            <a:r>
              <a:rPr lang="en-US" altLang="en-US" sz="1600" dirty="0">
                <a:latin typeface="Times New Roman" panose="02020603050405020304" pitchFamily="18" charset="0"/>
                <a:cs typeface="Times New Roman" panose="02020603050405020304" pitchFamily="18" charset="0"/>
              </a:rPr>
              <a:t> occurs when the process </a:t>
            </a:r>
            <a:r>
              <a:rPr lang="en-US" altLang="en-US" sz="1600" b="1" dirty="0">
                <a:latin typeface="Times New Roman" panose="02020603050405020304" pitchFamily="18" charset="0"/>
                <a:cs typeface="Times New Roman" panose="02020603050405020304" pitchFamily="18" charset="0"/>
              </a:rPr>
              <a:t>is terminal state, convey effect</a:t>
            </a:r>
          </a:p>
          <a:p>
            <a:pPr lvl="3" algn="just" eaLnBrk="1" hangingPunct="1">
              <a:lnSpc>
                <a:spcPct val="90000"/>
              </a:lnSpc>
            </a:pPr>
            <a:r>
              <a:rPr lang="en-US" altLang="en-US" sz="1600" b="1" dirty="0">
                <a:latin typeface="Times New Roman" panose="02020603050405020304" pitchFamily="18" charset="0"/>
                <a:cs typeface="Times New Roman" panose="02020603050405020304" pitchFamily="18" charset="0"/>
              </a:rPr>
              <a:t>SJF</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non-preemptive, </a:t>
            </a:r>
            <a:r>
              <a:rPr lang="en-US" altLang="en-US" sz="1600" dirty="0">
                <a:latin typeface="Times New Roman" panose="02020603050405020304" pitchFamily="18" charset="0"/>
                <a:cs typeface="Times New Roman" panose="02020603050405020304" pitchFamily="18" charset="0"/>
              </a:rPr>
              <a:t>the </a:t>
            </a:r>
            <a:r>
              <a:rPr lang="en-US" altLang="en-US" sz="1600" b="1" dirty="0">
                <a:latin typeface="Times New Roman" panose="02020603050405020304" pitchFamily="18" charset="0"/>
                <a:cs typeface="Times New Roman" panose="02020603050405020304" pitchFamily="18" charset="0"/>
              </a:rPr>
              <a:t>scheduler</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picks</a:t>
            </a:r>
            <a:r>
              <a:rPr lang="en-US" altLang="en-US" sz="1600" dirty="0">
                <a:latin typeface="Times New Roman" panose="02020603050405020304" pitchFamily="18" charset="0"/>
                <a:cs typeface="Times New Roman" panose="02020603050405020304" pitchFamily="18" charset="0"/>
              </a:rPr>
              <a:t> the </a:t>
            </a:r>
            <a:r>
              <a:rPr lang="en-US" altLang="en-US" sz="1600" b="1" dirty="0">
                <a:latin typeface="Times New Roman" panose="02020603050405020304" pitchFamily="18" charset="0"/>
                <a:cs typeface="Times New Roman" panose="02020603050405020304" pitchFamily="18" charset="0"/>
              </a:rPr>
              <a:t>shorted job first, event </a:t>
            </a:r>
            <a:r>
              <a:rPr lang="en-US" altLang="en-US" sz="1600" dirty="0">
                <a:latin typeface="Times New Roman" panose="02020603050405020304" pitchFamily="18" charset="0"/>
                <a:cs typeface="Times New Roman" panose="02020603050405020304" pitchFamily="18" charset="0"/>
              </a:rPr>
              <a:t>occurs when the process </a:t>
            </a:r>
            <a:r>
              <a:rPr lang="en-US" altLang="en-US" sz="1600" b="1" dirty="0">
                <a:latin typeface="Times New Roman" panose="02020603050405020304" pitchFamily="18" charset="0"/>
                <a:cs typeface="Times New Roman" panose="02020603050405020304" pitchFamily="18" charset="0"/>
              </a:rPr>
              <a:t>is terminal state, optimal algorithms but it not realism</a:t>
            </a:r>
          </a:p>
          <a:p>
            <a:pPr lvl="3" algn="just" eaLnBrk="1" hangingPunct="1">
              <a:lnSpc>
                <a:spcPct val="90000"/>
              </a:lnSpc>
            </a:pPr>
            <a:r>
              <a:rPr lang="en-US" altLang="en-US" sz="1600" b="1" dirty="0">
                <a:latin typeface="Times New Roman" panose="02020603050405020304" pitchFamily="18" charset="0"/>
                <a:cs typeface="Times New Roman" panose="02020603050405020304" pitchFamily="18" charset="0"/>
              </a:rPr>
              <a:t>SRT: preemptive, </a:t>
            </a:r>
            <a:r>
              <a:rPr lang="en-US" altLang="en-US" sz="1600" dirty="0">
                <a:latin typeface="Times New Roman" panose="02020603050405020304" pitchFamily="18" charset="0"/>
                <a:cs typeface="Times New Roman" panose="02020603050405020304" pitchFamily="18" charset="0"/>
              </a:rPr>
              <a:t>the </a:t>
            </a:r>
            <a:r>
              <a:rPr lang="en-US" altLang="en-US" sz="1600" b="1" dirty="0">
                <a:latin typeface="Times New Roman" panose="02020603050405020304" pitchFamily="18" charset="0"/>
                <a:cs typeface="Times New Roman" panose="02020603050405020304" pitchFamily="18" charset="0"/>
              </a:rPr>
              <a:t>scheduler</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chooses</a:t>
            </a:r>
            <a:r>
              <a:rPr lang="en-US" altLang="en-US" sz="1600" dirty="0">
                <a:latin typeface="Times New Roman" panose="02020603050405020304" pitchFamily="18" charset="0"/>
                <a:cs typeface="Times New Roman" panose="02020603050405020304" pitchFamily="18" charset="0"/>
              </a:rPr>
              <a:t> the </a:t>
            </a:r>
            <a:r>
              <a:rPr lang="en-US" altLang="en-US" sz="1600" b="1" dirty="0">
                <a:latin typeface="Times New Roman" panose="02020603050405020304" pitchFamily="18" charset="0"/>
                <a:cs typeface="Times New Roman" panose="02020603050405020304" pitchFamily="18" charset="0"/>
              </a:rPr>
              <a:t>process</a:t>
            </a:r>
            <a:r>
              <a:rPr lang="en-US" altLang="en-US" sz="1600" dirty="0">
                <a:latin typeface="Times New Roman" panose="02020603050405020304" pitchFamily="18" charset="0"/>
                <a:cs typeface="Times New Roman" panose="02020603050405020304" pitchFamily="18" charset="0"/>
              </a:rPr>
              <a:t> whose </a:t>
            </a:r>
            <a:r>
              <a:rPr lang="en-US" altLang="en-US" sz="1600" b="1" dirty="0">
                <a:latin typeface="Times New Roman" panose="02020603050405020304" pitchFamily="18" charset="0"/>
                <a:cs typeface="Times New Roman" panose="02020603050405020304" pitchFamily="18" charset="0"/>
              </a:rPr>
              <a:t>remaining runtime is the shortest, event </a:t>
            </a:r>
            <a:r>
              <a:rPr lang="en-US" altLang="en-US" sz="1600" dirty="0">
                <a:latin typeface="Times New Roman" panose="02020603050405020304" pitchFamily="18" charset="0"/>
                <a:cs typeface="Times New Roman" panose="02020603050405020304" pitchFamily="18" charset="0"/>
              </a:rPr>
              <a:t>occurs when the process </a:t>
            </a:r>
            <a:r>
              <a:rPr lang="en-US" altLang="en-US" sz="1600" b="1" dirty="0">
                <a:latin typeface="Times New Roman" panose="02020603050405020304" pitchFamily="18" charset="0"/>
                <a:cs typeface="Times New Roman" panose="02020603050405020304" pitchFamily="18" charset="0"/>
              </a:rPr>
              <a:t>is new (priority) or terminal</a:t>
            </a:r>
            <a:endParaRPr lang="en-US" altLang="en-US" sz="1600" dirty="0">
              <a:latin typeface="Times New Roman" panose="02020603050405020304" pitchFamily="18" charset="0"/>
              <a:cs typeface="Times New Roman" panose="02020603050405020304" pitchFamily="18" charset="0"/>
            </a:endParaRP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Interactive</a:t>
            </a:r>
          </a:p>
          <a:p>
            <a:pPr lvl="3" algn="just" eaLnBrk="1" hangingPunct="1">
              <a:lnSpc>
                <a:spcPct val="90000"/>
              </a:lnSpc>
            </a:pPr>
            <a:r>
              <a:rPr lang="en-US" altLang="en-US" sz="1600" b="1" dirty="0">
                <a:latin typeface="Times New Roman" panose="02020603050405020304" pitchFamily="18" charset="0"/>
                <a:cs typeface="Times New Roman" panose="02020603050405020304" pitchFamily="18" charset="0"/>
              </a:rPr>
              <a:t>RR: preemptive, </a:t>
            </a:r>
            <a:r>
              <a:rPr lang="en-US" altLang="en-US" sz="1600" dirty="0">
                <a:latin typeface="Times New Roman" panose="02020603050405020304" pitchFamily="18" charset="0"/>
                <a:cs typeface="Times New Roman" panose="02020603050405020304" pitchFamily="18" charset="0"/>
              </a:rPr>
              <a:t>A </a:t>
            </a:r>
            <a:r>
              <a:rPr lang="en-US" altLang="en-US" sz="1600" b="1" dirty="0">
                <a:latin typeface="Times New Roman" panose="02020603050405020304" pitchFamily="18" charset="0"/>
                <a:cs typeface="Times New Roman" panose="02020603050405020304" pitchFamily="18" charset="0"/>
              </a:rPr>
              <a:t>process</a:t>
            </a:r>
            <a:r>
              <a:rPr lang="en-US" altLang="en-US" sz="1600" dirty="0">
                <a:latin typeface="Times New Roman" panose="02020603050405020304" pitchFamily="18" charset="0"/>
                <a:cs typeface="Times New Roman" panose="02020603050405020304" pitchFamily="18" charset="0"/>
              </a:rPr>
              <a:t> can </a:t>
            </a:r>
            <a:r>
              <a:rPr lang="en-US" altLang="en-US" sz="1600" b="1" dirty="0">
                <a:latin typeface="Times New Roman" panose="02020603050405020304" pitchFamily="18" charset="0"/>
                <a:cs typeface="Times New Roman" panose="02020603050405020304" pitchFamily="18" charset="0"/>
              </a:rPr>
              <a:t>hold</a:t>
            </a:r>
            <a:r>
              <a:rPr lang="en-US" altLang="en-US" sz="1600" dirty="0">
                <a:latin typeface="Times New Roman" panose="02020603050405020304" pitchFamily="18" charset="0"/>
                <a:cs typeface="Times New Roman" panose="02020603050405020304" pitchFamily="18" charset="0"/>
              </a:rPr>
              <a:t> the </a:t>
            </a:r>
            <a:r>
              <a:rPr lang="en-US" altLang="en-US" sz="1600" b="1" dirty="0">
                <a:latin typeface="Times New Roman" panose="02020603050405020304" pitchFamily="18" charset="0"/>
                <a:cs typeface="Times New Roman" panose="02020603050405020304" pitchFamily="18" charset="0"/>
              </a:rPr>
              <a:t>CPU</a:t>
            </a:r>
            <a:r>
              <a:rPr lang="en-US" altLang="en-US" sz="1600" dirty="0">
                <a:latin typeface="Times New Roman" panose="02020603050405020304" pitchFamily="18" charset="0"/>
                <a:cs typeface="Times New Roman" panose="02020603050405020304" pitchFamily="18" charset="0"/>
              </a:rPr>
              <a:t> for a </a:t>
            </a:r>
            <a:r>
              <a:rPr lang="en-US" altLang="en-US" sz="1600" b="1" dirty="0">
                <a:latin typeface="Times New Roman" panose="02020603050405020304" pitchFamily="18" charset="0"/>
                <a:cs typeface="Times New Roman" panose="02020603050405020304" pitchFamily="18" charset="0"/>
              </a:rPr>
              <a:t>maximum of quantum, event </a:t>
            </a:r>
            <a:r>
              <a:rPr lang="en-US" altLang="en-US" sz="1600" dirty="0">
                <a:latin typeface="Times New Roman" panose="02020603050405020304" pitchFamily="18" charset="0"/>
                <a:cs typeface="Times New Roman" panose="02020603050405020304" pitchFamily="18" charset="0"/>
              </a:rPr>
              <a:t>occurs when the process is process </a:t>
            </a:r>
            <a:r>
              <a:rPr lang="en-US" altLang="en-US" sz="1600" b="1" dirty="0">
                <a:latin typeface="Times New Roman" panose="02020603050405020304" pitchFamily="18" charset="0"/>
                <a:cs typeface="Times New Roman" panose="02020603050405020304" pitchFamily="18" charset="0"/>
              </a:rPr>
              <a:t>ending quantum </a:t>
            </a:r>
            <a:r>
              <a:rPr lang="en-US" altLang="en-US" sz="1600" dirty="0">
                <a:latin typeface="Times New Roman" panose="02020603050405020304" pitchFamily="18" charset="0"/>
                <a:cs typeface="Times New Roman" panose="02020603050405020304" pitchFamily="18" charset="0"/>
              </a:rPr>
              <a:t>or terminal, FCFS or context switch</a:t>
            </a:r>
          </a:p>
          <a:p>
            <a:pPr lvl="3" algn="just" eaLnBrk="1" hangingPunct="1">
              <a:lnSpc>
                <a:spcPct val="90000"/>
              </a:lnSpc>
            </a:pPr>
            <a:r>
              <a:rPr lang="en-US" altLang="en-US" sz="1600" b="1" dirty="0">
                <a:latin typeface="Times New Roman" panose="02020603050405020304" pitchFamily="18" charset="0"/>
                <a:cs typeface="Times New Roman" panose="02020603050405020304" pitchFamily="18" charset="0"/>
              </a:rPr>
              <a:t>Priority Scheduling</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4 class 1 – 4 that use any scheduling with statically or dynamic priority, </a:t>
            </a:r>
            <a:r>
              <a:rPr lang="en-US" altLang="en-US" sz="1600" dirty="0">
                <a:latin typeface="Times New Roman" panose="02020603050405020304" pitchFamily="18" charset="0"/>
                <a:cs typeface="Times New Roman" panose="02020603050405020304" pitchFamily="18" charset="0"/>
              </a:rPr>
              <a:t>the </a:t>
            </a:r>
            <a:r>
              <a:rPr lang="en-US" altLang="en-US" sz="1600" b="1" dirty="0">
                <a:latin typeface="Times New Roman" panose="02020603050405020304" pitchFamily="18" charset="0"/>
                <a:cs typeface="Times New Roman" panose="02020603050405020304" pitchFamily="18" charset="0"/>
              </a:rPr>
              <a:t>greatest</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priority runnable process</a:t>
            </a:r>
            <a:r>
              <a:rPr lang="en-US" altLang="en-US" sz="1600" dirty="0">
                <a:latin typeface="Times New Roman" panose="02020603050405020304" pitchFamily="18" charset="0"/>
                <a:cs typeface="Times New Roman" panose="02020603050405020304" pitchFamily="18" charset="0"/>
              </a:rPr>
              <a:t> is always run, starvation (aging)</a:t>
            </a:r>
          </a:p>
          <a:p>
            <a:pPr lvl="3" algn="just" eaLnBrk="1" hangingPunct="1">
              <a:lnSpc>
                <a:spcPct val="90000"/>
              </a:lnSpc>
            </a:pPr>
            <a:r>
              <a:rPr lang="en-US" altLang="en-US" sz="1600" b="1" dirty="0">
                <a:latin typeface="Times New Roman" panose="02020603050405020304" pitchFamily="18" charset="0"/>
                <a:cs typeface="Times New Roman" panose="02020603050405020304" pitchFamily="18" charset="0"/>
              </a:rPr>
              <a:t>SPT: non-preemptive, estimate </a:t>
            </a:r>
            <a:r>
              <a:rPr lang="en-US" altLang="en-US" sz="1600" dirty="0">
                <a:latin typeface="Times New Roman" panose="02020603050405020304" pitchFamily="18" charset="0"/>
                <a:cs typeface="Times New Roman" panose="02020603050405020304" pitchFamily="18" charset="0"/>
              </a:rPr>
              <a:t>the </a:t>
            </a:r>
            <a:r>
              <a:rPr lang="en-US" altLang="en-US" sz="1600" b="1" dirty="0">
                <a:latin typeface="Times New Roman" panose="02020603050405020304" pitchFamily="18" charset="0"/>
                <a:cs typeface="Times New Roman" panose="02020603050405020304" pitchFamily="18" charset="0"/>
              </a:rPr>
              <a:t>next value </a:t>
            </a:r>
            <a:r>
              <a:rPr lang="en-US" altLang="en-US" sz="1600" dirty="0">
                <a:latin typeface="Times New Roman" panose="02020603050405020304" pitchFamily="18" charset="0"/>
                <a:cs typeface="Times New Roman" panose="02020603050405020304" pitchFamily="18" charset="0"/>
              </a:rPr>
              <a:t>in a series by </a:t>
            </a:r>
            <a:r>
              <a:rPr lang="en-US" altLang="en-US" sz="1600" b="1" dirty="0">
                <a:latin typeface="Times New Roman" panose="02020603050405020304" pitchFamily="18" charset="0"/>
                <a:cs typeface="Times New Roman" panose="02020603050405020304" pitchFamily="18" charset="0"/>
              </a:rPr>
              <a:t>taking</a:t>
            </a:r>
            <a:r>
              <a:rPr lang="en-US" altLang="en-US" sz="1600" dirty="0">
                <a:latin typeface="Times New Roman" panose="02020603050405020304" pitchFamily="18" charset="0"/>
                <a:cs typeface="Times New Roman" panose="02020603050405020304" pitchFamily="18" charset="0"/>
              </a:rPr>
              <a:t> the </a:t>
            </a:r>
            <a:r>
              <a:rPr lang="en-US" altLang="en-US" sz="1600" b="1" dirty="0">
                <a:latin typeface="Times New Roman" panose="02020603050405020304" pitchFamily="18" charset="0"/>
                <a:cs typeface="Times New Roman" panose="02020603050405020304" pitchFamily="18" charset="0"/>
              </a:rPr>
              <a:t>weighted average of the current measured value</a:t>
            </a:r>
            <a:r>
              <a:rPr lang="en-US" altLang="en-US" sz="1600" dirty="0">
                <a:latin typeface="Times New Roman" panose="02020603050405020304" pitchFamily="18" charset="0"/>
                <a:cs typeface="Times New Roman" panose="02020603050405020304" pitchFamily="18" charset="0"/>
              </a:rPr>
              <a:t> and the </a:t>
            </a:r>
            <a:r>
              <a:rPr lang="en-US" altLang="en-US" sz="1600" b="1" dirty="0">
                <a:latin typeface="Times New Roman" panose="02020603050405020304" pitchFamily="18" charset="0"/>
                <a:cs typeface="Times New Roman" panose="02020603050405020304" pitchFamily="18" charset="0"/>
              </a:rPr>
              <a:t>previous</a:t>
            </a:r>
            <a:r>
              <a:rPr lang="en-US" altLang="en-US" sz="1600"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estimate</a:t>
            </a:r>
            <a:r>
              <a:rPr lang="en-US" altLang="en-US" sz="1600" dirty="0">
                <a:latin typeface="Times New Roman" panose="02020603050405020304" pitchFamily="18" charset="0"/>
                <a:cs typeface="Times New Roman" panose="02020603050405020304" pitchFamily="18" charset="0"/>
              </a:rPr>
              <a:t> then applying to SJF</a:t>
            </a:r>
          </a:p>
          <a:p>
            <a:pPr lvl="3" algn="just" eaLnBrk="1" hangingPunct="1">
              <a:lnSpc>
                <a:spcPct val="90000"/>
              </a:lnSpc>
            </a:pPr>
            <a:r>
              <a:rPr lang="en-US" altLang="en-US" sz="1600" dirty="0">
                <a:latin typeface="Times New Roman" panose="02020603050405020304" pitchFamily="18" charset="0"/>
                <a:cs typeface="Times New Roman" panose="02020603050405020304" pitchFamily="18" charset="0"/>
              </a:rPr>
              <a:t>Multiple Queues</a:t>
            </a:r>
            <a:r>
              <a:rPr lang="en-US" altLang="en-US" sz="1600" b="1"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Guaranteed Scheduling, Lottery Scheduling, Fair-Share Scheduling</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Real time: meeting deadline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2" dur="500"/>
                                        <p:tgtEl>
                                          <p:spTgt spid="140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7" dur="500"/>
                                        <p:tgtEl>
                                          <p:spTgt spid="140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32" dur="500"/>
                                        <p:tgtEl>
                                          <p:spTgt spid="1402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7" dur="500"/>
                                        <p:tgtEl>
                                          <p:spTgt spid="1402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42" dur="500"/>
                                        <p:tgtEl>
                                          <p:spTgt spid="14029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7" dur="500"/>
                                        <p:tgtEl>
                                          <p:spTgt spid="14029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52" dur="500"/>
                                        <p:tgtEl>
                                          <p:spTgt spid="140291">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57" dur="500"/>
                                        <p:tgtEl>
                                          <p:spTgt spid="140291">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62" dur="500"/>
                                        <p:tgtEl>
                                          <p:spTgt spid="140291">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67" dur="500"/>
                                        <p:tgtEl>
                                          <p:spTgt spid="140291">
                                            <p:txEl>
                                              <p:pRg st="12" end="1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grpId="0" nodeType="clickEffect">
                                  <p:stCondLst>
                                    <p:cond delay="0"/>
                                  </p:stCondLst>
                                  <p:childTnLst>
                                    <p:set>
                                      <p:cBhvr>
                                        <p:cTn id="71" dur="1" fill="hold">
                                          <p:stCondLst>
                                            <p:cond delay="0"/>
                                          </p:stCondLst>
                                        </p:cTn>
                                        <p:tgtEl>
                                          <p:spTgt spid="140291">
                                            <p:txEl>
                                              <p:pRg st="13" end="13"/>
                                            </p:txEl>
                                          </p:spTgt>
                                        </p:tgtEl>
                                        <p:attrNameLst>
                                          <p:attrName>style.visibility</p:attrName>
                                        </p:attrNameLst>
                                      </p:cBhvr>
                                      <p:to>
                                        <p:strVal val="visible"/>
                                      </p:to>
                                    </p:set>
                                    <p:animEffect transition="in" filter="checkerboard(across)">
                                      <p:cBhvr>
                                        <p:cTn id="72" dur="500"/>
                                        <p:tgtEl>
                                          <p:spTgt spid="14029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4"/>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09600"/>
            <a:ext cx="9144000" cy="61722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PCB</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Id, registers, scheduling information, memory management information, accounting information, I/O status information, …</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State (</a:t>
            </a:r>
            <a:r>
              <a:rPr lang="en-US" altLang="en-US" sz="2400" b="1" i="1" dirty="0">
                <a:latin typeface="Times New Roman" panose="02020603050405020304" pitchFamily="18" charset="0"/>
                <a:cs typeface="Times New Roman" panose="02020603050405020304" pitchFamily="18" charset="0"/>
              </a:rPr>
              <a:t>New, Running, Ready, Blocked, Terminal</a:t>
            </a:r>
            <a:r>
              <a:rPr lang="en-US" altLang="en-US" sz="2400" dirty="0">
                <a:latin typeface="Times New Roman" panose="02020603050405020304" pitchFamily="18" charset="0"/>
                <a:cs typeface="Times New Roman" panose="02020603050405020304" pitchFamily="18" charset="0"/>
              </a:rPr>
              <a:t>)</a:t>
            </a: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CPU Utilization</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Shows the </a:t>
            </a:r>
            <a:r>
              <a:rPr lang="en-US" altLang="en-US" sz="2400" b="1" dirty="0">
                <a:latin typeface="Times New Roman" panose="02020603050405020304" pitchFamily="18" charset="0"/>
                <a:cs typeface="Times New Roman" panose="02020603050405020304" pitchFamily="18" charset="0"/>
              </a:rPr>
              <a:t>CPU utilization</a:t>
            </a:r>
            <a:endParaRPr lang="en-US" altLang="en-US" sz="2400" dirty="0">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1 – </a:t>
            </a:r>
            <a:r>
              <a:rPr lang="en-US" altLang="en-US" sz="2400" dirty="0" err="1">
                <a:latin typeface="Times New Roman" panose="02020603050405020304" pitchFamily="18" charset="0"/>
                <a:cs typeface="Times New Roman" panose="02020603050405020304" pitchFamily="18" charset="0"/>
              </a:rPr>
              <a:t>p</a:t>
            </a:r>
            <a:r>
              <a:rPr lang="en-US" altLang="en-US" sz="2400" baseline="30000" dirty="0" err="1">
                <a:latin typeface="Times New Roman" panose="02020603050405020304" pitchFamily="18" charset="0"/>
                <a:cs typeface="Times New Roman" panose="02020603050405020304" pitchFamily="18" charset="0"/>
              </a:rPr>
              <a:t>n</a:t>
            </a:r>
            <a:endParaRPr lang="en-US" altLang="en-US" sz="2400" baseline="30000" dirty="0">
              <a:latin typeface="Times New Roman" panose="02020603050405020304" pitchFamily="18" charset="0"/>
              <a:cs typeface="Times New Roman" panose="02020603050405020304" pitchFamily="18" charset="0"/>
            </a:endParaRP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Threads</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Share</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same address space </a:t>
            </a:r>
            <a:r>
              <a:rPr lang="en-US" altLang="en-US" sz="2400" dirty="0">
                <a:latin typeface="Times New Roman" panose="02020603050405020304" pitchFamily="18" charset="0"/>
                <a:cs typeface="Times New Roman" panose="02020603050405020304" pitchFamily="18" charset="0"/>
              </a:rPr>
              <a:t>and </a:t>
            </a:r>
            <a:r>
              <a:rPr lang="en-US" altLang="en-US" sz="2400" b="1" dirty="0">
                <a:latin typeface="Times New Roman" panose="02020603050405020304" pitchFamily="18" charset="0"/>
                <a:cs typeface="Times New Roman" panose="02020603050405020304" pitchFamily="18" charset="0"/>
              </a:rPr>
              <a:t>resources</a:t>
            </a:r>
            <a:r>
              <a:rPr lang="en-US" altLang="en-US" sz="2400" dirty="0">
                <a:latin typeface="Times New Roman" panose="02020603050405020304" pitchFamily="18" charset="0"/>
                <a:cs typeface="Times New Roman" panose="02020603050405020304" pitchFamily="18" charset="0"/>
              </a:rPr>
              <a:t> of the process</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Each thread has </a:t>
            </a:r>
            <a:r>
              <a:rPr lang="en-US" altLang="en-US" sz="2400" b="1" dirty="0">
                <a:latin typeface="Times New Roman" panose="02020603050405020304" pitchFamily="18" charset="0"/>
                <a:cs typeface="Times New Roman" panose="02020603050405020304" pitchFamily="18" charset="0"/>
              </a:rPr>
              <a:t>its own PC</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registers</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stack of execution</a:t>
            </a:r>
            <a:endParaRPr lang="en-US" altLang="en-US" sz="2400" dirty="0">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There is </a:t>
            </a:r>
            <a:r>
              <a:rPr lang="en-US" altLang="en-US" sz="2400" b="1" dirty="0">
                <a:latin typeface="Times New Roman" panose="02020603050405020304" pitchFamily="18" charset="0"/>
                <a:cs typeface="Times New Roman" panose="02020603050405020304" pitchFamily="18" charset="0"/>
              </a:rPr>
              <a:t>no protection </a:t>
            </a:r>
            <a:r>
              <a:rPr lang="en-US" altLang="en-US" sz="2400" dirty="0">
                <a:latin typeface="Times New Roman" panose="02020603050405020304" pitchFamily="18" charset="0"/>
                <a:cs typeface="Times New Roman" panose="02020603050405020304" pitchFamily="18" charset="0"/>
              </a:rPr>
              <a:t>between threads in one process</a:t>
            </a:r>
          </a:p>
          <a:p>
            <a:pPr lvl="1" algn="just" eaLnBrk="1" hangingPunct="1">
              <a:lnSpc>
                <a:spcPct val="90000"/>
              </a:lnSpc>
            </a:pPr>
            <a:r>
              <a:rPr lang="de-DE" altLang="en-US" sz="2400" dirty="0">
                <a:latin typeface="Times New Roman" panose="02020603050405020304" pitchFamily="18" charset="0"/>
                <a:cs typeface="Times New Roman" panose="02020603050405020304" pitchFamily="18" charset="0"/>
              </a:rPr>
              <a:t>Have </a:t>
            </a:r>
            <a:r>
              <a:rPr lang="de-DE" altLang="en-US" sz="2400" b="1" dirty="0">
                <a:latin typeface="Times New Roman" panose="02020603050405020304" pitchFamily="18" charset="0"/>
                <a:cs typeface="Times New Roman" panose="02020603050405020304" pitchFamily="18" charset="0"/>
              </a:rPr>
              <a:t>its own stack</a:t>
            </a:r>
          </a:p>
          <a:p>
            <a:pPr lvl="1" algn="just" eaLnBrk="1" hangingPunct="1">
              <a:lnSpc>
                <a:spcPct val="90000"/>
              </a:lnSpc>
              <a:buFont typeface="Symbol" panose="05050102010706020507" pitchFamily="18" charset="2"/>
              <a:buChar char="®"/>
            </a:pPr>
            <a:r>
              <a:rPr lang="de-DE" altLang="en-US" sz="2400" b="1" dirty="0">
                <a:latin typeface="Times New Roman" panose="02020603050405020304" pitchFamily="18" charset="0"/>
                <a:cs typeface="Times New Roman" panose="02020603050405020304" pitchFamily="18" charset="0"/>
                <a:sym typeface="Symbol" panose="05050102010706020507" pitchFamily="18" charset="2"/>
              </a:rPr>
              <a:t>Improve context switch among processes, optimize quantum</a:t>
            </a:r>
          </a:p>
          <a:p>
            <a:pPr lvl="1" algn="just" eaLnBrk="1" hangingPunct="1">
              <a:lnSpc>
                <a:spcPct val="90000"/>
              </a:lnSpc>
            </a:pPr>
            <a:r>
              <a:rPr lang="de-DE" altLang="en-US" sz="2400" dirty="0">
                <a:latin typeface="Times New Roman" panose="02020603050405020304" pitchFamily="18" charset="0"/>
                <a:cs typeface="Times New Roman" panose="02020603050405020304" pitchFamily="18" charset="0"/>
              </a:rPr>
              <a:t>Are implemented in </a:t>
            </a:r>
            <a:r>
              <a:rPr lang="de-DE" altLang="en-US" sz="2400" b="1" dirty="0">
                <a:latin typeface="Times New Roman" panose="02020603050405020304" pitchFamily="18" charset="0"/>
                <a:cs typeface="Times New Roman" panose="02020603050405020304" pitchFamily="18" charset="0"/>
              </a:rPr>
              <a:t>3 modes: user, kernel, hybrid</a:t>
            </a:r>
          </a:p>
          <a:p>
            <a:pPr lvl="1" algn="just" eaLnBrk="1" hangingPunct="1">
              <a:lnSpc>
                <a:spcPct val="90000"/>
              </a:lnSpc>
            </a:pPr>
            <a:r>
              <a:rPr lang="de-DE" altLang="en-US" sz="2400" b="1" dirty="0">
                <a:latin typeface="Times New Roman" panose="02020603050405020304" pitchFamily="18" charset="0"/>
                <a:cs typeface="Times New Roman" panose="02020603050405020304" pitchFamily="18" charset="0"/>
              </a:rPr>
              <a:t>Scheduling</a:t>
            </a:r>
            <a:r>
              <a:rPr lang="de-DE" altLang="en-US" sz="2400" dirty="0">
                <a:latin typeface="Times New Roman" panose="02020603050405020304" pitchFamily="18" charset="0"/>
                <a:cs typeface="Times New Roman" panose="02020603050405020304" pitchFamily="18" charset="0"/>
              </a:rPr>
              <a:t>: same as process in 3 modes combination</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2" dur="500"/>
                                        <p:tgtEl>
                                          <p:spTgt spid="140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7" dur="500"/>
                                        <p:tgtEl>
                                          <p:spTgt spid="1402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32" dur="500"/>
                                        <p:tgtEl>
                                          <p:spTgt spid="1402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7" dur="500"/>
                                        <p:tgtEl>
                                          <p:spTgt spid="1402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42" dur="500"/>
                                        <p:tgtEl>
                                          <p:spTgt spid="14029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7" dur="500"/>
                                        <p:tgtEl>
                                          <p:spTgt spid="14029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52" dur="500"/>
                                        <p:tgtEl>
                                          <p:spTgt spid="140291">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57" dur="500"/>
                                        <p:tgtEl>
                                          <p:spTgt spid="140291">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62" dur="500"/>
                                        <p:tgtEl>
                                          <p:spTgt spid="140291">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67" dur="500"/>
                                        <p:tgtEl>
                                          <p:spTgt spid="140291">
                                            <p:txEl>
                                              <p:pRg st="12" end="1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grpId="0" nodeType="clickEffect">
                                  <p:stCondLst>
                                    <p:cond delay="0"/>
                                  </p:stCondLst>
                                  <p:childTnLst>
                                    <p:set>
                                      <p:cBhvr>
                                        <p:cTn id="71" dur="1" fill="hold">
                                          <p:stCondLst>
                                            <p:cond delay="0"/>
                                          </p:stCondLst>
                                        </p:cTn>
                                        <p:tgtEl>
                                          <p:spTgt spid="140291">
                                            <p:txEl>
                                              <p:pRg st="13" end="13"/>
                                            </p:txEl>
                                          </p:spTgt>
                                        </p:tgtEl>
                                        <p:attrNameLst>
                                          <p:attrName>style.visibility</p:attrName>
                                        </p:attrNameLst>
                                      </p:cBhvr>
                                      <p:to>
                                        <p:strVal val="visible"/>
                                      </p:to>
                                    </p:set>
                                    <p:animEffect transition="in" filter="checkerboard(across)">
                                      <p:cBhvr>
                                        <p:cTn id="72" dur="500"/>
                                        <p:tgtEl>
                                          <p:spTgt spid="14029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533400"/>
            <a:ext cx="9144000" cy="62484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IPC</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Resolving</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Race condition (Critical Region)</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Busy waiting (Priority Inversion)</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Good solution </a:t>
            </a:r>
            <a:r>
              <a:rPr lang="en-US" altLang="en-US" sz="2400">
                <a:latin typeface="Times New Roman" panose="02020603050405020304" pitchFamily="18" charset="0"/>
                <a:cs typeface="Times New Roman" panose="02020603050405020304" pitchFamily="18" charset="0"/>
              </a:rPr>
              <a:t>for race condition</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Software</a:t>
            </a:r>
            <a:r>
              <a:rPr lang="en-US" altLang="en-US" sz="2000">
                <a:latin typeface="Times New Roman" panose="02020603050405020304" pitchFamily="18" charset="0"/>
                <a:cs typeface="Times New Roman" panose="02020603050405020304" pitchFamily="18" charset="0"/>
              </a:rPr>
              <a:t>: Peterson solution (2 control variables)</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Hardware</a:t>
            </a:r>
            <a:r>
              <a:rPr lang="en-US" altLang="en-US" sz="2000">
                <a:latin typeface="Times New Roman" panose="02020603050405020304" pitchFamily="18" charset="0"/>
                <a:cs typeface="Times New Roman" panose="02020603050405020304" pitchFamily="18" charset="0"/>
              </a:rPr>
              <a:t>: TSL (atomically, individual)</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Good solution </a:t>
            </a:r>
            <a:r>
              <a:rPr lang="en-US" altLang="en-US" sz="2400">
                <a:latin typeface="Times New Roman" panose="02020603050405020304" pitchFamily="18" charset="0"/>
                <a:cs typeface="Times New Roman" panose="02020603050405020304" pitchFamily="18" charset="0"/>
              </a:rPr>
              <a:t>for </a:t>
            </a:r>
            <a:r>
              <a:rPr lang="en-US" altLang="en-US" sz="2400" b="1">
                <a:latin typeface="Times New Roman" panose="02020603050405020304" pitchFamily="18" charset="0"/>
                <a:cs typeface="Times New Roman" panose="02020603050405020304" pitchFamily="18" charset="0"/>
              </a:rPr>
              <a:t>race condition and busy waiting</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Software</a:t>
            </a:r>
            <a:r>
              <a:rPr lang="en-US" altLang="en-US" sz="2000">
                <a:latin typeface="Times New Roman" panose="02020603050405020304" pitchFamily="18" charset="0"/>
                <a:cs typeface="Times New Roman" panose="02020603050405020304" pitchFamily="18" charset="0"/>
              </a:rPr>
              <a:t>: binary semaphore (</a:t>
            </a:r>
            <a:r>
              <a:rPr lang="en-US" altLang="en-US" sz="2000" b="1">
                <a:latin typeface="Times New Roman" panose="02020603050405020304" pitchFamily="18" charset="0"/>
                <a:cs typeface="Times New Roman" panose="02020603050405020304" pitchFamily="18" charset="0"/>
              </a:rPr>
              <a:t>recommending about order in using</a:t>
            </a:r>
            <a:r>
              <a:rPr lang="en-US" altLang="en-US" sz="2000">
                <a:latin typeface="Times New Roman" panose="02020603050405020304" pitchFamily="18" charset="0"/>
                <a:cs typeface="Times New Roman" panose="02020603050405020304" pitchFamily="18" charset="0"/>
              </a:rPr>
              <a:t>), monitors</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Hardware</a:t>
            </a:r>
            <a:r>
              <a:rPr lang="en-US" altLang="en-US" sz="2000">
                <a:latin typeface="Times New Roman" panose="02020603050405020304" pitchFamily="18" charset="0"/>
                <a:cs typeface="Times New Roman" panose="02020603050405020304" pitchFamily="18" charset="0"/>
              </a:rPr>
              <a:t>: mutexes </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With </a:t>
            </a:r>
            <a:r>
              <a:rPr lang="en-US" altLang="en-US" sz="2400" b="1">
                <a:latin typeface="Times New Roman" panose="02020603050405020304" pitchFamily="18" charset="0"/>
                <a:cs typeface="Times New Roman" panose="02020603050405020304" pitchFamily="18" charset="0"/>
              </a:rPr>
              <a:t>multiple process</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Dinning Philosopher problems: </a:t>
            </a:r>
            <a:r>
              <a:rPr lang="en-US" altLang="en-US" sz="2000" b="1">
                <a:latin typeface="Times New Roman" panose="02020603050405020304" pitchFamily="18" charset="0"/>
                <a:cs typeface="Times New Roman" panose="02020603050405020304" pitchFamily="18" charset="0"/>
              </a:rPr>
              <a:t>starvation, deadlock </a:t>
            </a:r>
            <a:r>
              <a:rPr lang="en-US" altLang="en-US" sz="2000" b="1">
                <a:latin typeface="Times New Roman" panose="02020603050405020304" pitchFamily="18" charset="0"/>
                <a:cs typeface="Times New Roman" panose="02020603050405020304" pitchFamily="18" charset="0"/>
                <a:sym typeface="Symbol" panose="05050102010706020507" pitchFamily="18" charset="2"/>
              </a:rPr>
              <a:t> array of semaphore</a:t>
            </a:r>
          </a:p>
          <a:p>
            <a:pPr lvl="3" algn="just" eaLnBrk="1" hangingPunct="1">
              <a:lnSpc>
                <a:spcPct val="90000"/>
              </a:lnSpc>
            </a:pPr>
            <a:r>
              <a:rPr lang="en-US" altLang="en-US" sz="1600">
                <a:latin typeface="Times New Roman" panose="02020603050405020304" pitchFamily="18" charset="0"/>
                <a:cs typeface="Times New Roman" panose="02020603050405020304" pitchFamily="18" charset="0"/>
                <a:sym typeface="Symbol" panose="05050102010706020507" pitchFamily="18" charset="2"/>
              </a:rPr>
              <a:t>Baber shop problem</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sym typeface="Symbol" panose="05050102010706020507" pitchFamily="18" charset="2"/>
              </a:rPr>
              <a:t>Readers and Writer </a:t>
            </a:r>
            <a:r>
              <a:rPr lang="en-US" altLang="en-US" sz="2000">
                <a:latin typeface="Times New Roman" panose="02020603050405020304" pitchFamily="18" charset="0"/>
                <a:cs typeface="Times New Roman" panose="02020603050405020304" pitchFamily="18" charset="0"/>
                <a:sym typeface="Symbol" panose="05050102010706020507" pitchFamily="18" charset="2"/>
              </a:rPr>
              <a:t>problems: </a:t>
            </a:r>
          </a:p>
          <a:p>
            <a:pPr lvl="3" algn="just" eaLnBrk="1" hangingPunct="1">
              <a:lnSpc>
                <a:spcPct val="90000"/>
              </a:lnSpc>
            </a:pPr>
            <a:r>
              <a:rPr lang="en-US" altLang="en-US" sz="1600" b="1">
                <a:latin typeface="Times New Roman" panose="02020603050405020304" pitchFamily="18" charset="0"/>
                <a:cs typeface="Times New Roman" panose="02020603050405020304" pitchFamily="18" charset="0"/>
              </a:rPr>
              <a:t>No reader </a:t>
            </a:r>
            <a:r>
              <a:rPr lang="en-US" altLang="en-US" sz="1600">
                <a:latin typeface="Times New Roman" panose="02020603050405020304" pitchFamily="18" charset="0"/>
                <a:cs typeface="Times New Roman" panose="02020603050405020304" pitchFamily="18" charset="0"/>
              </a:rPr>
              <a:t>will be </a:t>
            </a:r>
            <a:r>
              <a:rPr lang="en-US" altLang="en-US" sz="1600" b="1">
                <a:latin typeface="Times New Roman" panose="02020603050405020304" pitchFamily="18" charset="0"/>
                <a:cs typeface="Times New Roman" panose="02020603050405020304" pitchFamily="18" charset="0"/>
              </a:rPr>
              <a:t>kept</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waiting</a:t>
            </a:r>
          </a:p>
          <a:p>
            <a:pPr lvl="3" algn="just" eaLnBrk="1" hangingPunct="1">
              <a:lnSpc>
                <a:spcPct val="90000"/>
              </a:lnSpc>
            </a:pPr>
            <a:r>
              <a:rPr lang="en-US" altLang="en-US" sz="1600" b="1">
                <a:latin typeface="Times New Roman" panose="02020603050405020304" pitchFamily="18" charset="0"/>
                <a:cs typeface="Times New Roman" panose="02020603050405020304" pitchFamily="18" charset="0"/>
              </a:rPr>
              <a:t>Only writer can be written</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5" dur="500"/>
                                        <p:tgtEl>
                                          <p:spTgt spid="140291">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8" dur="500"/>
                                        <p:tgtEl>
                                          <p:spTgt spid="140291">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3" dur="500"/>
                                        <p:tgtEl>
                                          <p:spTgt spid="140291">
                                            <p:txEl>
                                              <p:pRg st="4" end="4"/>
                                            </p:txEl>
                                          </p:spTgt>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26" dur="500"/>
                                        <p:tgtEl>
                                          <p:spTgt spid="140291">
                                            <p:txEl>
                                              <p:pRg st="5" end="5"/>
                                            </p:txEl>
                                          </p:spTgt>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29" dur="500"/>
                                        <p:tgtEl>
                                          <p:spTgt spid="140291">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34" dur="500"/>
                                        <p:tgtEl>
                                          <p:spTgt spid="140291">
                                            <p:txEl>
                                              <p:pRg st="7" end="7"/>
                                            </p:txEl>
                                          </p:spTgt>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37" dur="500"/>
                                        <p:tgtEl>
                                          <p:spTgt spid="140291">
                                            <p:txEl>
                                              <p:pRg st="8" end="8"/>
                                            </p:txEl>
                                          </p:spTgt>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40" dur="500"/>
                                        <p:tgtEl>
                                          <p:spTgt spid="140291">
                                            <p:txEl>
                                              <p:pRg st="9" end="9"/>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45" dur="500"/>
                                        <p:tgtEl>
                                          <p:spTgt spid="140291">
                                            <p:txEl>
                                              <p:pRg st="10" end="10"/>
                                            </p:txEl>
                                          </p:spTgt>
                                        </p:tgtEl>
                                      </p:cBhvr>
                                    </p:animEffect>
                                  </p:childTnLst>
                                </p:cTn>
                              </p:par>
                              <p:par>
                                <p:cTn id="46" presetID="5" presetClass="entr" presetSubtype="10" fill="hold" grpId="0" nodeType="withEffect">
                                  <p:stCondLst>
                                    <p:cond delay="0"/>
                                  </p:stCondLst>
                                  <p:childTnLst>
                                    <p:set>
                                      <p:cBhvr>
                                        <p:cTn id="47"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48" dur="500"/>
                                        <p:tgtEl>
                                          <p:spTgt spid="140291">
                                            <p:txEl>
                                              <p:pRg st="11" end="11"/>
                                            </p:txEl>
                                          </p:spTgt>
                                        </p:tgtEl>
                                      </p:cBhvr>
                                    </p:animEffect>
                                  </p:childTnLst>
                                </p:cTn>
                              </p:par>
                              <p:par>
                                <p:cTn id="49" presetID="5" presetClass="entr" presetSubtype="10" fill="hold" grpId="0" nodeType="withEffect">
                                  <p:stCondLst>
                                    <p:cond delay="0"/>
                                  </p:stCondLst>
                                  <p:childTnLst>
                                    <p:set>
                                      <p:cBhvr>
                                        <p:cTn id="50"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51" dur="500"/>
                                        <p:tgtEl>
                                          <p:spTgt spid="140291">
                                            <p:txEl>
                                              <p:pRg st="12" end="12"/>
                                            </p:txEl>
                                          </p:spTgt>
                                        </p:tgtEl>
                                      </p:cBhvr>
                                    </p:animEffect>
                                  </p:childTnLst>
                                </p:cTn>
                              </p:par>
                              <p:par>
                                <p:cTn id="52" presetID="5" presetClass="entr" presetSubtype="10" fill="hold" grpId="0" nodeType="withEffect">
                                  <p:stCondLst>
                                    <p:cond delay="0"/>
                                  </p:stCondLst>
                                  <p:childTnLst>
                                    <p:set>
                                      <p:cBhvr>
                                        <p:cTn id="53" dur="1" fill="hold">
                                          <p:stCondLst>
                                            <p:cond delay="0"/>
                                          </p:stCondLst>
                                        </p:cTn>
                                        <p:tgtEl>
                                          <p:spTgt spid="140291">
                                            <p:txEl>
                                              <p:pRg st="13" end="13"/>
                                            </p:txEl>
                                          </p:spTgt>
                                        </p:tgtEl>
                                        <p:attrNameLst>
                                          <p:attrName>style.visibility</p:attrName>
                                        </p:attrNameLst>
                                      </p:cBhvr>
                                      <p:to>
                                        <p:strVal val="visible"/>
                                      </p:to>
                                    </p:set>
                                    <p:animEffect transition="in" filter="checkerboard(across)">
                                      <p:cBhvr>
                                        <p:cTn id="54" dur="500"/>
                                        <p:tgtEl>
                                          <p:spTgt spid="140291">
                                            <p:txEl>
                                              <p:pRg st="13" end="13"/>
                                            </p:txEl>
                                          </p:spTgt>
                                        </p:tgtEl>
                                      </p:cBhvr>
                                    </p:animEffect>
                                  </p:childTnLst>
                                </p:cTn>
                              </p:par>
                              <p:par>
                                <p:cTn id="55" presetID="5" presetClass="entr" presetSubtype="10" fill="hold" grpId="0" nodeType="withEffect">
                                  <p:stCondLst>
                                    <p:cond delay="0"/>
                                  </p:stCondLst>
                                  <p:childTnLst>
                                    <p:set>
                                      <p:cBhvr>
                                        <p:cTn id="56" dur="1" fill="hold">
                                          <p:stCondLst>
                                            <p:cond delay="0"/>
                                          </p:stCondLst>
                                        </p:cTn>
                                        <p:tgtEl>
                                          <p:spTgt spid="140291">
                                            <p:txEl>
                                              <p:pRg st="14" end="14"/>
                                            </p:txEl>
                                          </p:spTgt>
                                        </p:tgtEl>
                                        <p:attrNameLst>
                                          <p:attrName>style.visibility</p:attrName>
                                        </p:attrNameLst>
                                      </p:cBhvr>
                                      <p:to>
                                        <p:strVal val="visible"/>
                                      </p:to>
                                    </p:set>
                                    <p:animEffect transition="in" filter="checkerboard(across)">
                                      <p:cBhvr>
                                        <p:cTn id="57" dur="500"/>
                                        <p:tgtEl>
                                          <p:spTgt spid="140291">
                                            <p:txEl>
                                              <p:pRg st="14" end="14"/>
                                            </p:txEl>
                                          </p:spTgt>
                                        </p:tgtEl>
                                      </p:cBhvr>
                                    </p:animEffect>
                                  </p:childTnLst>
                                </p:cTn>
                              </p:par>
                              <p:par>
                                <p:cTn id="58" presetID="5" presetClass="entr" presetSubtype="10" fill="hold" grpId="0" nodeType="withEffect">
                                  <p:stCondLst>
                                    <p:cond delay="0"/>
                                  </p:stCondLst>
                                  <p:childTnLst>
                                    <p:set>
                                      <p:cBhvr>
                                        <p:cTn id="59" dur="1" fill="hold">
                                          <p:stCondLst>
                                            <p:cond delay="0"/>
                                          </p:stCondLst>
                                        </p:cTn>
                                        <p:tgtEl>
                                          <p:spTgt spid="140291">
                                            <p:txEl>
                                              <p:pRg st="15" end="15"/>
                                            </p:txEl>
                                          </p:spTgt>
                                        </p:tgtEl>
                                        <p:attrNameLst>
                                          <p:attrName>style.visibility</p:attrName>
                                        </p:attrNameLst>
                                      </p:cBhvr>
                                      <p:to>
                                        <p:strVal val="visible"/>
                                      </p:to>
                                    </p:set>
                                    <p:animEffect transition="in" filter="checkerboard(across)">
                                      <p:cBhvr>
                                        <p:cTn id="60" dur="500"/>
                                        <p:tgtEl>
                                          <p:spTgt spid="140291">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533400"/>
            <a:ext cx="9144000" cy="62484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Scheduling</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Scheduler component</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Event: </a:t>
            </a:r>
            <a:r>
              <a:rPr lang="en-US" altLang="en-US" sz="2000">
                <a:latin typeface="Times New Roman" panose="02020603050405020304" pitchFamily="18" charset="0"/>
                <a:cs typeface="Times New Roman" panose="02020603050405020304" pitchFamily="18" charset="0"/>
              </a:rPr>
              <a:t>creation, termination, blocking, Interrupt </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Type</a:t>
            </a:r>
            <a:r>
              <a:rPr lang="en-US" altLang="en-US" sz="2000">
                <a:latin typeface="Times New Roman" panose="02020603050405020304" pitchFamily="18" charset="0"/>
                <a:cs typeface="Times New Roman" panose="02020603050405020304" pitchFamily="18" charset="0"/>
              </a:rPr>
              <a:t>: non-preemptive, preemptive </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Criteria</a:t>
            </a:r>
            <a:endParaRPr lang="en-US" altLang="en-US" sz="2000">
              <a:latin typeface="Times New Roman" panose="02020603050405020304" pitchFamily="18" charset="0"/>
              <a:cs typeface="Times New Roman" panose="02020603050405020304" pitchFamily="18" charset="0"/>
            </a:endParaRPr>
          </a:p>
          <a:p>
            <a:pPr lvl="3" algn="just" eaLnBrk="1" hangingPunct="1">
              <a:lnSpc>
                <a:spcPct val="90000"/>
              </a:lnSpc>
            </a:pPr>
            <a:r>
              <a:rPr lang="en-US" altLang="en-US">
                <a:latin typeface="Times New Roman" panose="02020603050405020304" pitchFamily="18" charset="0"/>
                <a:cs typeface="Times New Roman" panose="02020603050405020304" pitchFamily="18" charset="0"/>
              </a:rPr>
              <a:t>Fairness, Policy enforcement, Throughput, Turnaround time, CPU utilization, Response time, Proportionality</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Turnaround time</a:t>
            </a:r>
            <a:r>
              <a:rPr lang="en-US" altLang="en-US">
                <a:latin typeface="Times New Roman" panose="02020603050405020304" pitchFamily="18" charset="0"/>
                <a:cs typeface="Times New Roman" panose="02020603050405020304" pitchFamily="18" charset="0"/>
              </a:rPr>
              <a:t>: terminal time – ready time</a:t>
            </a:r>
          </a:p>
          <a:p>
            <a:pPr lvl="3" algn="just" eaLnBrk="1" hangingPunct="1">
              <a:lnSpc>
                <a:spcPct val="90000"/>
              </a:lnSpc>
            </a:pPr>
            <a:r>
              <a:rPr lang="en-US" altLang="en-US" b="1">
                <a:latin typeface="Times New Roman" panose="02020603050405020304" pitchFamily="18" charset="0"/>
                <a:cs typeface="Times New Roman" panose="02020603050405020304" pitchFamily="18" charset="0"/>
              </a:rPr>
              <a:t>Waiting time</a:t>
            </a:r>
            <a:r>
              <a:rPr lang="en-US" altLang="en-US">
                <a:latin typeface="Times New Roman" panose="02020603050405020304" pitchFamily="18" charset="0"/>
                <a:cs typeface="Times New Roman" panose="02020603050405020304" pitchFamily="18" charset="0"/>
              </a:rPr>
              <a:t>: ∑ (running time – ready/blocked time)</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Process</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State</a:t>
            </a:r>
            <a:r>
              <a:rPr lang="en-US" altLang="en-US" sz="2000">
                <a:latin typeface="Times New Roman" panose="02020603050405020304" pitchFamily="18" charset="0"/>
                <a:cs typeface="Times New Roman" panose="02020603050405020304" pitchFamily="18" charset="0"/>
              </a:rPr>
              <a:t> (New, Running, Ready, Blocked, Terminal)</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Behavior</a:t>
            </a:r>
            <a:r>
              <a:rPr lang="en-US" altLang="en-US" sz="2000">
                <a:latin typeface="Times New Roman" panose="02020603050405020304" pitchFamily="18" charset="0"/>
                <a:cs typeface="Times New Roman" panose="02020603050405020304" pitchFamily="18" charset="0"/>
              </a:rPr>
              <a:t> (Compute-bound, I/O-bound)</a:t>
            </a:r>
          </a:p>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Address Spaces</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The abstraction that is referenced to the set of addresses a process (</a:t>
            </a:r>
            <a:r>
              <a:rPr lang="en-US" altLang="en-US" sz="2400" b="1" i="1">
                <a:latin typeface="Times New Roman" panose="02020603050405020304" pitchFamily="18" charset="0"/>
                <a:cs typeface="Times New Roman" panose="02020603050405020304" pitchFamily="18" charset="0"/>
              </a:rPr>
              <a:t>The address of process is always calculated from 0</a:t>
            </a:r>
            <a:r>
              <a:rPr lang="en-US" altLang="en-US" sz="240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1" dur="500"/>
                                        <p:tgtEl>
                                          <p:spTgt spid="140291">
                                            <p:txEl>
                                              <p:pRg st="1" end="1"/>
                                            </p:txEl>
                                          </p:spTgt>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4" dur="500"/>
                                        <p:tgtEl>
                                          <p:spTgt spid="140291">
                                            <p:txEl>
                                              <p:pRg st="2" end="2"/>
                                            </p:txEl>
                                          </p:spTgt>
                                        </p:tgtEl>
                                      </p:cBhvr>
                                    </p:animEffect>
                                  </p:childTnLst>
                                </p:cTn>
                              </p:par>
                              <p:par>
                                <p:cTn id="15" presetID="5" presetClass="entr" presetSubtype="10" fill="hold" grpId="0" nodeType="withEffect">
                                  <p:stCondLst>
                                    <p:cond delay="0"/>
                                  </p:stCondLst>
                                  <p:childTnLst>
                                    <p:set>
                                      <p:cBhvr>
                                        <p:cTn id="16"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7" dur="500"/>
                                        <p:tgtEl>
                                          <p:spTgt spid="140291">
                                            <p:txEl>
                                              <p:pRg st="3" end="3"/>
                                            </p:txEl>
                                          </p:spTgt>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0" dur="500"/>
                                        <p:tgtEl>
                                          <p:spTgt spid="140291">
                                            <p:txEl>
                                              <p:pRg st="4" end="4"/>
                                            </p:txEl>
                                          </p:spTgt>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23" dur="500"/>
                                        <p:tgtEl>
                                          <p:spTgt spid="140291">
                                            <p:txEl>
                                              <p:pRg st="5" end="5"/>
                                            </p:txEl>
                                          </p:spTgt>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26" dur="500"/>
                                        <p:tgtEl>
                                          <p:spTgt spid="140291">
                                            <p:txEl>
                                              <p:pRg st="6" end="6"/>
                                            </p:txEl>
                                          </p:spTgt>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29" dur="500"/>
                                        <p:tgtEl>
                                          <p:spTgt spid="140291">
                                            <p:txEl>
                                              <p:pRg st="7" end="7"/>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34" dur="500"/>
                                        <p:tgtEl>
                                          <p:spTgt spid="140291">
                                            <p:txEl>
                                              <p:pRg st="8" end="8"/>
                                            </p:txEl>
                                          </p:spTgt>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37" dur="500"/>
                                        <p:tgtEl>
                                          <p:spTgt spid="140291">
                                            <p:txEl>
                                              <p:pRg st="9" end="9"/>
                                            </p:txEl>
                                          </p:spTgt>
                                        </p:tgtEl>
                                      </p:cBhvr>
                                    </p:animEffect>
                                  </p:childTnLst>
                                </p:cTn>
                              </p:par>
                            </p:childTnLst>
                          </p:cTn>
                        </p:par>
                        <p:par>
                          <p:cTn id="38" fill="hold" nodeType="afterGroup">
                            <p:stCondLst>
                              <p:cond delay="500"/>
                            </p:stCondLst>
                            <p:childTnLst>
                              <p:par>
                                <p:cTn id="39" presetID="5" presetClass="entr" presetSubtype="10" fill="hold" grpId="0" nodeType="afterEffect">
                                  <p:stCondLst>
                                    <p:cond delay="0"/>
                                  </p:stCondLst>
                                  <p:childTnLst>
                                    <p:set>
                                      <p:cBhvr>
                                        <p:cTn id="40"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41" dur="500"/>
                                        <p:tgtEl>
                                          <p:spTgt spid="140291">
                                            <p:txEl>
                                              <p:pRg st="10" end="1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46" dur="500"/>
                                        <p:tgtEl>
                                          <p:spTgt spid="140291">
                                            <p:txEl>
                                              <p:pRg st="11" end="11"/>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51" dur="500"/>
                                        <p:tgtEl>
                                          <p:spTgt spid="14029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457200" y="0"/>
            <a:ext cx="8229600" cy="685800"/>
          </a:xfrm>
        </p:spPr>
        <p:txBody>
          <a:bodyPr/>
          <a:lstStyle/>
          <a:p>
            <a:r>
              <a:rPr lang="en-US" altLang="en-US" sz="4000">
                <a:latin typeface="Times New Roman" panose="02020603050405020304" pitchFamily="18" charset="0"/>
                <a:cs typeface="Times New Roman" panose="02020603050405020304" pitchFamily="18" charset="0"/>
              </a:rPr>
              <a:t>Objectives</a:t>
            </a:r>
          </a:p>
        </p:txBody>
      </p:sp>
      <p:sp>
        <p:nvSpPr>
          <p:cNvPr id="7171" name="Rectangle 3"/>
          <p:cNvSpPr>
            <a:spLocks noGrp="1"/>
          </p:cNvSpPr>
          <p:nvPr>
            <p:ph type="body" idx="1"/>
          </p:nvPr>
        </p:nvSpPr>
        <p:spPr>
          <a:xfrm>
            <a:off x="457200" y="762000"/>
            <a:ext cx="8686800" cy="60960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Overview</a:t>
            </a:r>
          </a:p>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No Memory Abstraction</a:t>
            </a:r>
          </a:p>
          <a:p>
            <a:pPr lvl="1"/>
            <a:r>
              <a:rPr lang="en-US" altLang="en-US">
                <a:latin typeface="Times New Roman" panose="02020603050405020304" pitchFamily="18" charset="0"/>
                <a:cs typeface="Times New Roman" panose="02020603050405020304" pitchFamily="18" charset="0"/>
              </a:rPr>
              <a:t>Simplest</a:t>
            </a:r>
          </a:p>
          <a:p>
            <a:pPr lvl="1"/>
            <a:r>
              <a:rPr lang="en-US" altLang="en-US">
                <a:latin typeface="Times New Roman" panose="02020603050405020304" pitchFamily="18" charset="0"/>
                <a:cs typeface="Times New Roman" panose="02020603050405020304" pitchFamily="18" charset="0"/>
              </a:rPr>
              <a:t>Multiple programming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p:cNvSpPr>
          <p:nvPr>
            <p:ph type="body" idx="1"/>
          </p:nvPr>
        </p:nvSpPr>
        <p:spPr>
          <a:xfrm>
            <a:off x="228600" y="533400"/>
            <a:ext cx="8915400" cy="6324600"/>
          </a:xfrm>
        </p:spPr>
        <p:txBody>
          <a:bodyPr/>
          <a:lstStyle/>
          <a:p>
            <a:pPr algn="just" eaLnBrk="1" hangingPunct="1">
              <a:lnSpc>
                <a:spcPct val="8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The </a:t>
            </a:r>
            <a:r>
              <a:rPr lang="en-US" altLang="en-US" sz="2800" b="1">
                <a:latin typeface="Times New Roman" panose="02020603050405020304" pitchFamily="18" charset="0"/>
                <a:cs typeface="Times New Roman" panose="02020603050405020304" pitchFamily="18" charset="0"/>
              </a:rPr>
              <a:t>need</a:t>
            </a:r>
            <a:r>
              <a:rPr lang="en-US" altLang="en-US" sz="2800">
                <a:latin typeface="Times New Roman" panose="02020603050405020304" pitchFamily="18" charset="0"/>
                <a:cs typeface="Times New Roman" panose="02020603050405020304" pitchFamily="18" charset="0"/>
              </a:rPr>
              <a:t> for a </a:t>
            </a:r>
            <a:r>
              <a:rPr lang="en-US" altLang="en-US" sz="2800" b="1">
                <a:latin typeface="Times New Roman" panose="02020603050405020304" pitchFamily="18" charset="0"/>
                <a:cs typeface="Times New Roman" panose="02020603050405020304" pitchFamily="18" charset="0"/>
              </a:rPr>
              <a:t>memory</a:t>
            </a:r>
            <a:r>
              <a:rPr lang="en-US" altLang="en-US" sz="2800">
                <a:latin typeface="Times New Roman" panose="02020603050405020304" pitchFamily="18" charset="0"/>
                <a:cs typeface="Times New Roman" panose="02020603050405020304" pitchFamily="18" charset="0"/>
              </a:rPr>
              <a:t> to be</a:t>
            </a:r>
          </a:p>
          <a:p>
            <a:pPr lvl="1" algn="just" eaLnBrk="1" hangingPunct="1">
              <a:lnSpc>
                <a:spcPct val="80000"/>
              </a:lnSpc>
            </a:pPr>
            <a:r>
              <a:rPr lang="en-US" altLang="en-US" sz="2400" b="1">
                <a:latin typeface="Times New Roman" panose="02020603050405020304" pitchFamily="18" charset="0"/>
                <a:cs typeface="Times New Roman" panose="02020603050405020304" pitchFamily="18" charset="0"/>
              </a:rPr>
              <a:t>infinitely large</a:t>
            </a:r>
          </a:p>
          <a:p>
            <a:pPr lvl="1" algn="just" eaLnBrk="1" hangingPunct="1">
              <a:lnSpc>
                <a:spcPct val="80000"/>
              </a:lnSpc>
            </a:pPr>
            <a:r>
              <a:rPr lang="en-US" altLang="en-US" sz="2400" b="1">
                <a:latin typeface="Times New Roman" panose="02020603050405020304" pitchFamily="18" charset="0"/>
                <a:cs typeface="Times New Roman" panose="02020603050405020304" pitchFamily="18" charset="0"/>
              </a:rPr>
              <a:t>infinitely fast </a:t>
            </a:r>
          </a:p>
          <a:p>
            <a:pPr lvl="1" algn="just" eaLnBrk="1" hangingPunct="1">
              <a:lnSpc>
                <a:spcPct val="80000"/>
              </a:lnSpc>
            </a:pPr>
            <a:r>
              <a:rPr lang="en-US" altLang="en-US" sz="2400" b="1">
                <a:latin typeface="Times New Roman" panose="02020603050405020304" pitchFamily="18" charset="0"/>
                <a:cs typeface="Times New Roman" panose="02020603050405020304" pitchFamily="18" charset="0"/>
              </a:rPr>
              <a:t>nonvolatile</a:t>
            </a:r>
          </a:p>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Types</a:t>
            </a:r>
            <a:r>
              <a:rPr lang="en-US" altLang="en-US" sz="2800">
                <a:latin typeface="Times New Roman" panose="02020603050405020304" pitchFamily="18" charset="0"/>
                <a:cs typeface="Times New Roman" panose="02020603050405020304" pitchFamily="18" charset="0"/>
              </a:rPr>
              <a:t> of memory hierarchy</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A few MBs/GBs, very </a:t>
            </a:r>
            <a:r>
              <a:rPr lang="en-US" altLang="en-US" sz="2400" b="1">
                <a:latin typeface="Times New Roman" panose="02020603050405020304" pitchFamily="18" charset="0"/>
                <a:cs typeface="Times New Roman" panose="02020603050405020304" pitchFamily="18" charset="0"/>
              </a:rPr>
              <a:t>fast</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expensive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volatile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cache</a:t>
            </a:r>
            <a:r>
              <a:rPr lang="en-US" altLang="en-US" sz="2400">
                <a:latin typeface="Times New Roman" panose="02020603050405020304" pitchFamily="18" charset="0"/>
                <a:cs typeface="Times New Roman" panose="02020603050405020304" pitchFamily="18" charset="0"/>
              </a:rPr>
              <a:t> memory</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A few GBs, </a:t>
            </a:r>
            <a:r>
              <a:rPr lang="en-US" altLang="en-US" sz="2400" b="1">
                <a:latin typeface="Times New Roman" panose="02020603050405020304" pitchFamily="18" charset="0"/>
                <a:cs typeface="Times New Roman" panose="02020603050405020304" pitchFamily="18" charset="0"/>
              </a:rPr>
              <a:t>medium-speed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medium-price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volatile</a:t>
            </a:r>
            <a:r>
              <a:rPr lang="en-US" altLang="en-US" sz="2400">
                <a:latin typeface="Times New Roman" panose="02020603050405020304" pitchFamily="18" charset="0"/>
                <a:cs typeface="Times New Roman" panose="02020603050405020304" pitchFamily="18" charset="0"/>
              </a:rPr>
              <a:t> main memory (</a:t>
            </a:r>
            <a:r>
              <a:rPr lang="en-US" altLang="en-US" sz="2400" b="1">
                <a:latin typeface="Times New Roman" panose="02020603050405020304" pitchFamily="18" charset="0"/>
                <a:cs typeface="Times New Roman" panose="02020603050405020304" pitchFamily="18" charset="0"/>
              </a:rPr>
              <a:t>RAM</a:t>
            </a:r>
            <a:r>
              <a:rPr lang="en-US" altLang="en-US" sz="2400">
                <a:latin typeface="Times New Roman" panose="02020603050405020304" pitchFamily="18" charset="0"/>
                <a:cs typeface="Times New Roman" panose="02020603050405020304" pitchFamily="18" charset="0"/>
              </a:rPr>
              <a:t>)</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A few TBs of </a:t>
            </a:r>
            <a:r>
              <a:rPr lang="en-US" altLang="en-US" sz="2400" b="1">
                <a:latin typeface="Times New Roman" panose="02020603050405020304" pitchFamily="18" charset="0"/>
                <a:cs typeface="Times New Roman" panose="02020603050405020304" pitchFamily="18" charset="0"/>
              </a:rPr>
              <a:t>slow</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cheap</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nonvolatile</a:t>
            </a:r>
            <a:r>
              <a:rPr lang="en-US" altLang="en-US" sz="2400">
                <a:latin typeface="Times New Roman" panose="02020603050405020304" pitchFamily="18" charset="0"/>
                <a:cs typeface="Times New Roman" panose="02020603050405020304" pitchFamily="18" charset="0"/>
              </a:rPr>
              <a:t> disk storage</a:t>
            </a:r>
          </a:p>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Memory Manager</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The part of the OS manages (part of) the memory hierarchy</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It jobs as</a:t>
            </a:r>
          </a:p>
          <a:p>
            <a:pPr lvl="2" algn="just" eaLnBrk="1" hangingPunct="1">
              <a:lnSpc>
                <a:spcPct val="80000"/>
              </a:lnSpc>
            </a:pPr>
            <a:r>
              <a:rPr lang="en-US" altLang="en-US" sz="2000" b="1">
                <a:latin typeface="Times New Roman" panose="02020603050405020304" pitchFamily="18" charset="0"/>
                <a:cs typeface="Times New Roman" panose="02020603050405020304" pitchFamily="18" charset="0"/>
              </a:rPr>
              <a:t>coordinate</a:t>
            </a:r>
            <a:r>
              <a:rPr lang="en-US" altLang="en-US" sz="2000">
                <a:latin typeface="Times New Roman" panose="02020603050405020304" pitchFamily="18" charset="0"/>
                <a:cs typeface="Times New Roman" panose="02020603050405020304" pitchFamily="18" charset="0"/>
              </a:rPr>
              <a:t> how the </a:t>
            </a:r>
            <a:r>
              <a:rPr lang="en-US" altLang="en-US" sz="2000" b="1">
                <a:latin typeface="Times New Roman" panose="02020603050405020304" pitchFamily="18" charset="0"/>
                <a:cs typeface="Times New Roman" panose="02020603050405020304" pitchFamily="18" charset="0"/>
              </a:rPr>
              <a:t>different</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types of memory </a:t>
            </a:r>
            <a:r>
              <a:rPr lang="en-US" altLang="en-US" sz="2000">
                <a:latin typeface="Times New Roman" panose="02020603050405020304" pitchFamily="18" charset="0"/>
                <a:cs typeface="Times New Roman" panose="02020603050405020304" pitchFamily="18" charset="0"/>
              </a:rPr>
              <a:t>are used</a:t>
            </a:r>
          </a:p>
          <a:p>
            <a:pPr lvl="2" algn="just" eaLnBrk="1" hangingPunct="1">
              <a:lnSpc>
                <a:spcPct val="80000"/>
              </a:lnSpc>
            </a:pPr>
            <a:r>
              <a:rPr lang="en-US" altLang="en-US" sz="2000" b="1">
                <a:latin typeface="Times New Roman" panose="02020603050405020304" pitchFamily="18" charset="0"/>
                <a:cs typeface="Times New Roman" panose="02020603050405020304" pitchFamily="18" charset="0"/>
              </a:rPr>
              <a:t>keep track </a:t>
            </a:r>
            <a:r>
              <a:rPr lang="en-US" altLang="en-US" sz="2000">
                <a:latin typeface="Times New Roman" panose="02020603050405020304" pitchFamily="18" charset="0"/>
                <a:cs typeface="Times New Roman" panose="02020603050405020304" pitchFamily="18" charset="0"/>
              </a:rPr>
              <a:t>of which part of memory are in use and which are not</a:t>
            </a:r>
          </a:p>
          <a:p>
            <a:pPr lvl="2" algn="just" eaLnBrk="1" hangingPunct="1">
              <a:lnSpc>
                <a:spcPct val="80000"/>
              </a:lnSpc>
            </a:pPr>
            <a:r>
              <a:rPr lang="en-US" altLang="en-US" sz="2000" b="1">
                <a:latin typeface="Times New Roman" panose="02020603050405020304" pitchFamily="18" charset="0"/>
                <a:cs typeface="Times New Roman" panose="02020603050405020304" pitchFamily="18" charset="0"/>
              </a:rPr>
              <a:t>allocate</a:t>
            </a:r>
            <a:r>
              <a:rPr lang="en-US" altLang="en-US" sz="2000">
                <a:latin typeface="Times New Roman" panose="02020603050405020304" pitchFamily="18" charset="0"/>
                <a:cs typeface="Times New Roman" panose="02020603050405020304" pitchFamily="18" charset="0"/>
              </a:rPr>
              <a:t> and </a:t>
            </a:r>
            <a:r>
              <a:rPr lang="en-US" altLang="en-US" sz="2000" b="1">
                <a:latin typeface="Times New Roman" panose="02020603050405020304" pitchFamily="18" charset="0"/>
                <a:cs typeface="Times New Roman" panose="02020603050405020304" pitchFamily="18" charset="0"/>
              </a:rPr>
              <a:t>release</a:t>
            </a:r>
            <a:r>
              <a:rPr lang="en-US" altLang="en-US" sz="2000">
                <a:latin typeface="Times New Roman" panose="02020603050405020304" pitchFamily="18" charset="0"/>
                <a:cs typeface="Times New Roman" panose="02020603050405020304" pitchFamily="18" charset="0"/>
              </a:rPr>
              <a:t> areas of main memory to processes</a:t>
            </a:r>
          </a:p>
          <a:p>
            <a:pPr lvl="2" algn="just" eaLnBrk="1" hangingPunct="1">
              <a:lnSpc>
                <a:spcPct val="80000"/>
              </a:lnSpc>
            </a:pPr>
            <a:r>
              <a:rPr lang="en-US" altLang="en-US" sz="2000" b="1">
                <a:latin typeface="Times New Roman" panose="02020603050405020304" pitchFamily="18" charset="0"/>
                <a:cs typeface="Times New Roman" panose="02020603050405020304" pitchFamily="18" charset="0"/>
              </a:rPr>
              <a:t>manage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swapping</a:t>
            </a:r>
            <a:r>
              <a:rPr lang="en-US" altLang="en-US" sz="2000">
                <a:latin typeface="Times New Roman" panose="02020603050405020304" pitchFamily="18" charset="0"/>
                <a:cs typeface="Times New Roman" panose="02020603050405020304" pitchFamily="18" charset="0"/>
              </a:rPr>
              <a:t> between main memory and disk, when main memory is too small to hold all the processes</a:t>
            </a:r>
          </a:p>
        </p:txBody>
      </p:sp>
      <p:sp>
        <p:nvSpPr>
          <p:cNvPr id="8195" name="Rectangle 4"/>
          <p:cNvSpPr>
            <a:spLocks/>
          </p:cNvSpPr>
          <p:nvPr/>
        </p:nvSpPr>
        <p:spPr bwMode="auto">
          <a:xfrm>
            <a:off x="685800" y="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4000" b="1">
                <a:latin typeface="Times New Roman" panose="02020603050405020304" pitchFamily="18" charset="0"/>
                <a:cs typeface="Times New Roman" panose="02020603050405020304" pitchFamily="18" charset="0"/>
              </a:rPr>
              <a:t>Overview</a:t>
            </a:r>
            <a:endParaRPr lang="en-US" altLang="en-US" sz="2800" b="1">
              <a:solidFill>
                <a:srgbClr val="FF33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146">
                                            <p:txEl>
                                              <p:pRg st="4" end="4"/>
                                            </p:txEl>
                                          </p:spTgt>
                                        </p:tgtEl>
                                        <p:attrNameLst>
                                          <p:attrName>style.visibility</p:attrName>
                                        </p:attrNameLst>
                                      </p:cBhvr>
                                      <p:to>
                                        <p:strVal val="visible"/>
                                      </p:to>
                                    </p:set>
                                    <p:animEffect transition="in" filter="box(in)">
                                      <p:cBhvr>
                                        <p:cTn id="7" dur="500"/>
                                        <p:tgtEl>
                                          <p:spTgt spid="6146">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6146">
                                            <p:txEl>
                                              <p:pRg st="5" end="5"/>
                                            </p:txEl>
                                          </p:spTgt>
                                        </p:tgtEl>
                                        <p:attrNameLst>
                                          <p:attrName>style.visibility</p:attrName>
                                        </p:attrNameLst>
                                      </p:cBhvr>
                                      <p:to>
                                        <p:strVal val="visible"/>
                                      </p:to>
                                    </p:set>
                                    <p:animEffect transition="in" filter="box(in)">
                                      <p:cBhvr>
                                        <p:cTn id="10" dur="500"/>
                                        <p:tgtEl>
                                          <p:spTgt spid="6146">
                                            <p:txEl>
                                              <p:pRg st="5" end="5"/>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6146">
                                            <p:txEl>
                                              <p:pRg st="6" end="6"/>
                                            </p:txEl>
                                          </p:spTgt>
                                        </p:tgtEl>
                                        <p:attrNameLst>
                                          <p:attrName>style.visibility</p:attrName>
                                        </p:attrNameLst>
                                      </p:cBhvr>
                                      <p:to>
                                        <p:strVal val="visible"/>
                                      </p:to>
                                    </p:set>
                                    <p:animEffect transition="in" filter="box(in)">
                                      <p:cBhvr>
                                        <p:cTn id="13" dur="500"/>
                                        <p:tgtEl>
                                          <p:spTgt spid="6146">
                                            <p:txEl>
                                              <p:pRg st="6" end="6"/>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6146">
                                            <p:txEl>
                                              <p:pRg st="7" end="7"/>
                                            </p:txEl>
                                          </p:spTgt>
                                        </p:tgtEl>
                                        <p:attrNameLst>
                                          <p:attrName>style.visibility</p:attrName>
                                        </p:attrNameLst>
                                      </p:cBhvr>
                                      <p:to>
                                        <p:strVal val="visible"/>
                                      </p:to>
                                    </p:set>
                                    <p:animEffect transition="in" filter="box(in)">
                                      <p:cBhvr>
                                        <p:cTn id="16" dur="500"/>
                                        <p:tgtEl>
                                          <p:spTgt spid="6146">
                                            <p:txEl>
                                              <p:pRg st="7" end="7"/>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6146">
                                            <p:txEl>
                                              <p:pRg st="8" end="8"/>
                                            </p:txEl>
                                          </p:spTgt>
                                        </p:tgtEl>
                                        <p:attrNameLst>
                                          <p:attrName>style.visibility</p:attrName>
                                        </p:attrNameLst>
                                      </p:cBhvr>
                                      <p:to>
                                        <p:strVal val="visible"/>
                                      </p:to>
                                    </p:set>
                                    <p:animEffect transition="in" filter="checkerboard(across)">
                                      <p:cBhvr>
                                        <p:cTn id="21" dur="500"/>
                                        <p:tgtEl>
                                          <p:spTgt spid="6146">
                                            <p:txEl>
                                              <p:pRg st="8" end="8"/>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6146">
                                            <p:txEl>
                                              <p:pRg st="9" end="9"/>
                                            </p:txEl>
                                          </p:spTgt>
                                        </p:tgtEl>
                                        <p:attrNameLst>
                                          <p:attrName>style.visibility</p:attrName>
                                        </p:attrNameLst>
                                      </p:cBhvr>
                                      <p:to>
                                        <p:strVal val="visible"/>
                                      </p:to>
                                    </p:set>
                                    <p:animEffect transition="in" filter="checkerboard(across)">
                                      <p:cBhvr>
                                        <p:cTn id="24" dur="500"/>
                                        <p:tgtEl>
                                          <p:spTgt spid="6146">
                                            <p:txEl>
                                              <p:pRg st="9" end="9"/>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6146">
                                            <p:txEl>
                                              <p:pRg st="10" end="10"/>
                                            </p:txEl>
                                          </p:spTgt>
                                        </p:tgtEl>
                                        <p:attrNameLst>
                                          <p:attrName>style.visibility</p:attrName>
                                        </p:attrNameLst>
                                      </p:cBhvr>
                                      <p:to>
                                        <p:strVal val="visible"/>
                                      </p:to>
                                    </p:set>
                                    <p:animEffect transition="in" filter="checkerboard(across)">
                                      <p:cBhvr>
                                        <p:cTn id="27" dur="500"/>
                                        <p:tgtEl>
                                          <p:spTgt spid="6146">
                                            <p:txEl>
                                              <p:pRg st="10" end="10"/>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6146">
                                            <p:txEl>
                                              <p:pRg st="11" end="11"/>
                                            </p:txEl>
                                          </p:spTgt>
                                        </p:tgtEl>
                                        <p:attrNameLst>
                                          <p:attrName>style.visibility</p:attrName>
                                        </p:attrNameLst>
                                      </p:cBhvr>
                                      <p:to>
                                        <p:strVal val="visible"/>
                                      </p:to>
                                    </p:set>
                                    <p:animEffect transition="in" filter="checkerboard(across)">
                                      <p:cBhvr>
                                        <p:cTn id="30" dur="500"/>
                                        <p:tgtEl>
                                          <p:spTgt spid="6146">
                                            <p:txEl>
                                              <p:pRg st="11" end="11"/>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6146">
                                            <p:txEl>
                                              <p:pRg st="12" end="12"/>
                                            </p:txEl>
                                          </p:spTgt>
                                        </p:tgtEl>
                                        <p:attrNameLst>
                                          <p:attrName>style.visibility</p:attrName>
                                        </p:attrNameLst>
                                      </p:cBhvr>
                                      <p:to>
                                        <p:strVal val="visible"/>
                                      </p:to>
                                    </p:set>
                                    <p:animEffect transition="in" filter="checkerboard(across)">
                                      <p:cBhvr>
                                        <p:cTn id="33" dur="500"/>
                                        <p:tgtEl>
                                          <p:spTgt spid="6146">
                                            <p:txEl>
                                              <p:pRg st="12" end="12"/>
                                            </p:txEl>
                                          </p:spTgt>
                                        </p:tgtEl>
                                      </p:cBhvr>
                                    </p:animEffect>
                                  </p:childTnLst>
                                </p:cTn>
                              </p:par>
                              <p:par>
                                <p:cTn id="34" presetID="5" presetClass="entr" presetSubtype="10" fill="hold" nodeType="withEffect">
                                  <p:stCondLst>
                                    <p:cond delay="0"/>
                                  </p:stCondLst>
                                  <p:childTnLst>
                                    <p:set>
                                      <p:cBhvr>
                                        <p:cTn id="35" dur="1" fill="hold">
                                          <p:stCondLst>
                                            <p:cond delay="0"/>
                                          </p:stCondLst>
                                        </p:cTn>
                                        <p:tgtEl>
                                          <p:spTgt spid="6146">
                                            <p:txEl>
                                              <p:pRg st="13" end="13"/>
                                            </p:txEl>
                                          </p:spTgt>
                                        </p:tgtEl>
                                        <p:attrNameLst>
                                          <p:attrName>style.visibility</p:attrName>
                                        </p:attrNameLst>
                                      </p:cBhvr>
                                      <p:to>
                                        <p:strVal val="visible"/>
                                      </p:to>
                                    </p:set>
                                    <p:animEffect transition="in" filter="checkerboard(across)">
                                      <p:cBhvr>
                                        <p:cTn id="36" dur="500"/>
                                        <p:tgtEl>
                                          <p:spTgt spid="6146">
                                            <p:txEl>
                                              <p:pRg st="13" end="13"/>
                                            </p:txEl>
                                          </p:spTgt>
                                        </p:tgtEl>
                                      </p:cBhvr>
                                    </p:animEffect>
                                  </p:childTnLst>
                                </p:cTn>
                              </p:par>
                              <p:par>
                                <p:cTn id="37" presetID="5" presetClass="entr" presetSubtype="10" fill="hold" nodeType="withEffect">
                                  <p:stCondLst>
                                    <p:cond delay="0"/>
                                  </p:stCondLst>
                                  <p:childTnLst>
                                    <p:set>
                                      <p:cBhvr>
                                        <p:cTn id="38" dur="1" fill="hold">
                                          <p:stCondLst>
                                            <p:cond delay="0"/>
                                          </p:stCondLst>
                                        </p:cTn>
                                        <p:tgtEl>
                                          <p:spTgt spid="6146">
                                            <p:txEl>
                                              <p:pRg st="14" end="14"/>
                                            </p:txEl>
                                          </p:spTgt>
                                        </p:tgtEl>
                                        <p:attrNameLst>
                                          <p:attrName>style.visibility</p:attrName>
                                        </p:attrNameLst>
                                      </p:cBhvr>
                                      <p:to>
                                        <p:strVal val="visible"/>
                                      </p:to>
                                    </p:set>
                                    <p:animEffect transition="in" filter="checkerboard(across)">
                                      <p:cBhvr>
                                        <p:cTn id="39" dur="500"/>
                                        <p:tgtEl>
                                          <p:spTgt spid="614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914400" y="0"/>
            <a:ext cx="8229600" cy="914400"/>
          </a:xfrm>
        </p:spPr>
        <p:txBody>
          <a:bodyPr/>
          <a:lstStyle/>
          <a:p>
            <a:r>
              <a:rPr lang="en-US" altLang="en-US" sz="4000" b="1">
                <a:latin typeface="Times New Roman" panose="02020603050405020304" pitchFamily="18" charset="0"/>
                <a:cs typeface="Times New Roman" panose="02020603050405020304" pitchFamily="18" charset="0"/>
              </a:rPr>
              <a:t>No Memory Abstractions</a:t>
            </a:r>
          </a:p>
        </p:txBody>
      </p:sp>
      <p:sp>
        <p:nvSpPr>
          <p:cNvPr id="139267" name="Rectangle 3"/>
          <p:cNvSpPr>
            <a:spLocks noGrp="1"/>
          </p:cNvSpPr>
          <p:nvPr>
            <p:ph type="body" idx="1"/>
          </p:nvPr>
        </p:nvSpPr>
        <p:spPr>
          <a:xfrm>
            <a:off x="228600" y="1143000"/>
            <a:ext cx="8915400" cy="5410200"/>
          </a:xfrm>
        </p:spPr>
        <p:txBody>
          <a:bodyPr/>
          <a:lstStyle/>
          <a:p>
            <a:pPr algn="just" eaLnBrk="1" hangingPunct="1">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Is </a:t>
            </a:r>
            <a:r>
              <a:rPr lang="en-US" altLang="en-US" sz="2800" b="1">
                <a:latin typeface="Times New Roman" panose="02020603050405020304" pitchFamily="18" charset="0"/>
                <a:cs typeface="Times New Roman" panose="02020603050405020304" pitchFamily="18" charset="0"/>
              </a:rPr>
              <a:t>no abstraction </a:t>
            </a:r>
            <a:r>
              <a:rPr lang="en-US" altLang="en-US" sz="2800">
                <a:latin typeface="Times New Roman" panose="02020603050405020304" pitchFamily="18" charset="0"/>
                <a:cs typeface="Times New Roman" panose="02020603050405020304" pitchFamily="18" charset="0"/>
              </a:rPr>
              <a:t>at all</a:t>
            </a:r>
          </a:p>
          <a:p>
            <a:pPr algn="just" eaLnBrk="1" hangingPunct="1">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Mainframe computer (before 1960), early minicomputers (before 1970), and early PC (before 1980)</a:t>
            </a:r>
          </a:p>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No swapping </a:t>
            </a:r>
            <a:r>
              <a:rPr lang="en-US" altLang="en-US" sz="2800">
                <a:latin typeface="Times New Roman" panose="02020603050405020304" pitchFamily="18" charset="0"/>
                <a:cs typeface="Times New Roman" panose="02020603050405020304" pitchFamily="18" charset="0"/>
              </a:rPr>
              <a:t>or </a:t>
            </a:r>
            <a:r>
              <a:rPr lang="en-US" altLang="en-US" sz="2800" b="1">
                <a:latin typeface="Times New Roman" panose="02020603050405020304" pitchFamily="18" charset="0"/>
                <a:cs typeface="Times New Roman" panose="02020603050405020304" pitchFamily="18" charset="0"/>
              </a:rPr>
              <a:t>paging</a:t>
            </a:r>
          </a:p>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Run</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only one program at</a:t>
            </a:r>
            <a:r>
              <a:rPr lang="en-US" altLang="en-US" sz="2800">
                <a:latin typeface="Times New Roman" panose="02020603050405020304" pitchFamily="18" charset="0"/>
                <a:cs typeface="Times New Roman" panose="02020603050405020304" pitchFamily="18" charset="0"/>
              </a:rPr>
              <a:t> a </a:t>
            </a:r>
            <a:r>
              <a:rPr lang="en-US" altLang="en-US" sz="2800" b="1">
                <a:latin typeface="Times New Roman" panose="02020603050405020304" pitchFamily="18" charset="0"/>
                <a:cs typeface="Times New Roman" panose="02020603050405020304" pitchFamily="18" charset="0"/>
              </a:rPr>
              <a:t>time</a:t>
            </a:r>
          </a:p>
          <a:p>
            <a:pPr algn="just" eaLnBrk="1" hangingPunct="1">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In memory are loaded</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the only program that is run the OS</a:t>
            </a:r>
          </a:p>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Way</a:t>
            </a:r>
            <a:r>
              <a:rPr lang="en-US" altLang="en-US" sz="2800">
                <a:latin typeface="Times New Roman" panose="02020603050405020304" pitchFamily="18" charset="0"/>
                <a:cs typeface="Times New Roman" panose="02020603050405020304" pitchFamily="18" charset="0"/>
              </a:rPr>
              <a:t> of memory organization</a:t>
            </a:r>
          </a:p>
          <a:p>
            <a:pPr lvl="1" algn="just" eaLnBrk="1" hangingPunct="1">
              <a:lnSpc>
                <a:spcPct val="90000"/>
              </a:lnSpc>
              <a:buFontTx/>
              <a:buAutoNum type="alphaLcParenR"/>
            </a:pPr>
            <a:r>
              <a:rPr lang="en-US" altLang="en-US" sz="2400" b="1">
                <a:latin typeface="Times New Roman" panose="02020603050405020304" pitchFamily="18" charset="0"/>
                <a:cs typeface="Times New Roman" panose="02020603050405020304" pitchFamily="18" charset="0"/>
              </a:rPr>
              <a:t>OS</a:t>
            </a:r>
            <a:r>
              <a:rPr lang="en-US" altLang="en-US" sz="2400">
                <a:latin typeface="Times New Roman" panose="02020603050405020304" pitchFamily="18" charset="0"/>
                <a:cs typeface="Times New Roman" panose="02020603050405020304" pitchFamily="18" charset="0"/>
              </a:rPr>
              <a:t> at the </a:t>
            </a:r>
            <a:r>
              <a:rPr lang="en-US" altLang="en-US" sz="2400" b="1">
                <a:latin typeface="Times New Roman" panose="02020603050405020304" pitchFamily="18" charset="0"/>
                <a:cs typeface="Times New Roman" panose="02020603050405020304" pitchFamily="18" charset="0"/>
              </a:rPr>
              <a:t>bottom</a:t>
            </a:r>
            <a:r>
              <a:rPr lang="en-US" altLang="en-US" sz="2400">
                <a:latin typeface="Times New Roman" panose="02020603050405020304" pitchFamily="18" charset="0"/>
                <a:cs typeface="Times New Roman" panose="02020603050405020304" pitchFamily="18" charset="0"/>
              </a:rPr>
              <a:t> of memory and the </a:t>
            </a:r>
            <a:r>
              <a:rPr lang="en-US" altLang="en-US" sz="2400" b="1">
                <a:latin typeface="Times New Roman" panose="02020603050405020304" pitchFamily="18" charset="0"/>
                <a:cs typeface="Times New Roman" panose="02020603050405020304" pitchFamily="18" charset="0"/>
              </a:rPr>
              <a:t>user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program</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above</a:t>
            </a:r>
          </a:p>
          <a:p>
            <a:pPr lvl="1" algn="just" eaLnBrk="1" hangingPunct="1">
              <a:lnSpc>
                <a:spcPct val="90000"/>
              </a:lnSpc>
              <a:buFontTx/>
              <a:buAutoNum type="alphaLcParenR"/>
            </a:pPr>
            <a:r>
              <a:rPr lang="en-US" altLang="en-US" sz="2400" b="1">
                <a:latin typeface="Times New Roman" panose="02020603050405020304" pitchFamily="18" charset="0"/>
                <a:cs typeface="Times New Roman" panose="02020603050405020304" pitchFamily="18" charset="0"/>
              </a:rPr>
              <a:t>OS</a:t>
            </a:r>
            <a:r>
              <a:rPr lang="en-US" altLang="en-US" sz="2400">
                <a:latin typeface="Times New Roman" panose="02020603050405020304" pitchFamily="18" charset="0"/>
                <a:cs typeface="Times New Roman" panose="02020603050405020304" pitchFamily="18" charset="0"/>
              </a:rPr>
              <a:t> at the </a:t>
            </a:r>
            <a:r>
              <a:rPr lang="en-US" altLang="en-US" sz="2400" b="1">
                <a:latin typeface="Times New Roman" panose="02020603050405020304" pitchFamily="18" charset="0"/>
                <a:cs typeface="Times New Roman" panose="02020603050405020304" pitchFamily="18" charset="0"/>
              </a:rPr>
              <a:t>top</a:t>
            </a:r>
            <a:r>
              <a:rPr lang="en-US" altLang="en-US" sz="2400">
                <a:latin typeface="Times New Roman" panose="02020603050405020304" pitchFamily="18" charset="0"/>
                <a:cs typeface="Times New Roman" panose="02020603050405020304" pitchFamily="18" charset="0"/>
              </a:rPr>
              <a:t> of memory  (ROM) and the </a:t>
            </a:r>
            <a:r>
              <a:rPr lang="en-US" altLang="en-US" sz="2400" b="1">
                <a:latin typeface="Times New Roman" panose="02020603050405020304" pitchFamily="18" charset="0"/>
                <a:cs typeface="Times New Roman" panose="02020603050405020304" pitchFamily="18" charset="0"/>
              </a:rPr>
              <a:t>user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program</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bellow</a:t>
            </a:r>
          </a:p>
          <a:p>
            <a:pPr lvl="1" algn="just" eaLnBrk="1" hangingPunct="1">
              <a:lnSpc>
                <a:spcPct val="90000"/>
              </a:lnSpc>
              <a:buFontTx/>
              <a:buAutoNum type="alphaLcParenR"/>
            </a:pPr>
            <a:r>
              <a:rPr lang="en-US" altLang="en-US" sz="2400" b="1">
                <a:latin typeface="Times New Roman" panose="02020603050405020304" pitchFamily="18" charset="0"/>
                <a:cs typeface="Times New Roman" panose="02020603050405020304" pitchFamily="18" charset="0"/>
              </a:rPr>
              <a:t>OS</a:t>
            </a:r>
            <a:r>
              <a:rPr lang="en-US" altLang="en-US" sz="2400">
                <a:latin typeface="Times New Roman" panose="02020603050405020304" pitchFamily="18" charset="0"/>
                <a:cs typeface="Times New Roman" panose="02020603050405020304" pitchFamily="18" charset="0"/>
              </a:rPr>
              <a:t> at the </a:t>
            </a:r>
            <a:r>
              <a:rPr lang="en-US" altLang="en-US" sz="2400" b="1">
                <a:latin typeface="Times New Roman" panose="02020603050405020304" pitchFamily="18" charset="0"/>
                <a:cs typeface="Times New Roman" panose="02020603050405020304" pitchFamily="18" charset="0"/>
              </a:rPr>
              <a:t>bottom</a:t>
            </a:r>
            <a:r>
              <a:rPr lang="en-US" altLang="en-US" sz="2400">
                <a:latin typeface="Times New Roman" panose="02020603050405020304" pitchFamily="18" charset="0"/>
                <a:cs typeface="Times New Roman" panose="02020603050405020304" pitchFamily="18" charset="0"/>
              </a:rPr>
              <a:t> of memory, </a:t>
            </a:r>
            <a:r>
              <a:rPr lang="en-US" altLang="en-US" sz="2400" b="1">
                <a:latin typeface="Times New Roman" panose="02020603050405020304" pitchFamily="18" charset="0"/>
                <a:cs typeface="Times New Roman" panose="02020603050405020304" pitchFamily="18" charset="0"/>
              </a:rPr>
              <a:t>device drivers </a:t>
            </a:r>
            <a:r>
              <a:rPr lang="en-US" altLang="en-US" sz="2400">
                <a:latin typeface="Times New Roman" panose="02020603050405020304" pitchFamily="18" charset="0"/>
                <a:cs typeface="Times New Roman" panose="02020603050405020304" pitchFamily="18" charset="0"/>
              </a:rPr>
              <a:t>in </a:t>
            </a:r>
            <a:r>
              <a:rPr lang="en-US" altLang="en-US" sz="2400" b="1">
                <a:latin typeface="Times New Roman" panose="02020603050405020304" pitchFamily="18" charset="0"/>
                <a:cs typeface="Times New Roman" panose="02020603050405020304" pitchFamily="18" charset="0"/>
              </a:rPr>
              <a:t>ROM</a:t>
            </a:r>
            <a:r>
              <a:rPr lang="en-US" altLang="en-US" sz="2400">
                <a:latin typeface="Times New Roman" panose="02020603050405020304" pitchFamily="18" charset="0"/>
                <a:cs typeface="Times New Roman" panose="02020603050405020304" pitchFamily="18" charset="0"/>
              </a:rPr>
              <a:t> (mapped at the top of memory – BIOS) and the </a:t>
            </a:r>
            <a:r>
              <a:rPr lang="en-US" altLang="en-US" sz="2400" b="1">
                <a:latin typeface="Times New Roman" panose="02020603050405020304" pitchFamily="18" charset="0"/>
                <a:cs typeface="Times New Roman" panose="02020603050405020304" pitchFamily="18" charset="0"/>
              </a:rPr>
              <a:t>user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program</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between</a:t>
            </a:r>
            <a:r>
              <a:rPr lang="en-US" altLang="en-US" sz="2400">
                <a:latin typeface="Times New Roman" panose="02020603050405020304" pitchFamily="18" charset="0"/>
                <a:cs typeface="Times New Roman" panose="02020603050405020304" pitchFamily="18" charset="0"/>
              </a:rPr>
              <a:t> them</a:t>
            </a:r>
          </a:p>
        </p:txBody>
      </p:sp>
      <p:sp>
        <p:nvSpPr>
          <p:cNvPr id="9220" name="Rectangle 4"/>
          <p:cNvSpPr>
            <a:spLocks/>
          </p:cNvSpPr>
          <p:nvPr/>
        </p:nvSpPr>
        <p:spPr bwMode="auto">
          <a:xfrm>
            <a:off x="914400" y="6858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Simplest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box(in)">
                                      <p:cBhvr>
                                        <p:cTn id="7" dur="500"/>
                                        <p:tgtEl>
                                          <p:spTgt spid="139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9267">
                                            <p:txEl>
                                              <p:pRg st="1" end="1"/>
                                            </p:txEl>
                                          </p:spTgt>
                                        </p:tgtEl>
                                        <p:attrNameLst>
                                          <p:attrName>style.visibility</p:attrName>
                                        </p:attrNameLst>
                                      </p:cBhvr>
                                      <p:to>
                                        <p:strVal val="visible"/>
                                      </p:to>
                                    </p:set>
                                    <p:animEffect transition="in" filter="box(in)">
                                      <p:cBhvr>
                                        <p:cTn id="12" dur="500"/>
                                        <p:tgtEl>
                                          <p:spTgt spid="139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39267">
                                            <p:txEl>
                                              <p:pRg st="2" end="2"/>
                                            </p:txEl>
                                          </p:spTgt>
                                        </p:tgtEl>
                                        <p:attrNameLst>
                                          <p:attrName>style.visibility</p:attrName>
                                        </p:attrNameLst>
                                      </p:cBhvr>
                                      <p:to>
                                        <p:strVal val="visible"/>
                                      </p:to>
                                    </p:set>
                                    <p:animEffect transition="in" filter="box(in)">
                                      <p:cBhvr>
                                        <p:cTn id="17" dur="500"/>
                                        <p:tgtEl>
                                          <p:spTgt spid="1392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39267">
                                            <p:txEl>
                                              <p:pRg st="3" end="3"/>
                                            </p:txEl>
                                          </p:spTgt>
                                        </p:tgtEl>
                                        <p:attrNameLst>
                                          <p:attrName>style.visibility</p:attrName>
                                        </p:attrNameLst>
                                      </p:cBhvr>
                                      <p:to>
                                        <p:strVal val="visible"/>
                                      </p:to>
                                    </p:set>
                                    <p:animEffect transition="in" filter="box(in)">
                                      <p:cBhvr>
                                        <p:cTn id="22" dur="500"/>
                                        <p:tgtEl>
                                          <p:spTgt spid="1392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39267">
                                            <p:txEl>
                                              <p:pRg st="4" end="4"/>
                                            </p:txEl>
                                          </p:spTgt>
                                        </p:tgtEl>
                                        <p:attrNameLst>
                                          <p:attrName>style.visibility</p:attrName>
                                        </p:attrNameLst>
                                      </p:cBhvr>
                                      <p:to>
                                        <p:strVal val="visible"/>
                                      </p:to>
                                    </p:set>
                                    <p:animEffect transition="in" filter="box(in)">
                                      <p:cBhvr>
                                        <p:cTn id="27" dur="500"/>
                                        <p:tgtEl>
                                          <p:spTgt spid="139267">
                                            <p:txEl>
                                              <p:pRg st="4" end="4"/>
                                            </p:txEl>
                                          </p:spTgt>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139267">
                                            <p:txEl>
                                              <p:pRg st="5" end="5"/>
                                            </p:txEl>
                                          </p:spTgt>
                                        </p:tgtEl>
                                        <p:attrNameLst>
                                          <p:attrName>style.visibility</p:attrName>
                                        </p:attrNameLst>
                                      </p:cBhvr>
                                      <p:to>
                                        <p:strVal val="visible"/>
                                      </p:to>
                                    </p:set>
                                    <p:animEffect transition="in" filter="box(in)">
                                      <p:cBhvr>
                                        <p:cTn id="30" dur="500"/>
                                        <p:tgtEl>
                                          <p:spTgt spid="139267">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39267">
                                            <p:txEl>
                                              <p:pRg st="6" end="6"/>
                                            </p:txEl>
                                          </p:spTgt>
                                        </p:tgtEl>
                                        <p:attrNameLst>
                                          <p:attrName>style.visibility</p:attrName>
                                        </p:attrNameLst>
                                      </p:cBhvr>
                                      <p:to>
                                        <p:strVal val="visible"/>
                                      </p:to>
                                    </p:set>
                                    <p:animEffect transition="in" filter="box(in)">
                                      <p:cBhvr>
                                        <p:cTn id="35" dur="500"/>
                                        <p:tgtEl>
                                          <p:spTgt spid="139267">
                                            <p:txEl>
                                              <p:pRg st="6" end="6"/>
                                            </p:txEl>
                                          </p:spTgt>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139267">
                                            <p:txEl>
                                              <p:pRg st="7" end="7"/>
                                            </p:txEl>
                                          </p:spTgt>
                                        </p:tgtEl>
                                        <p:attrNameLst>
                                          <p:attrName>style.visibility</p:attrName>
                                        </p:attrNameLst>
                                      </p:cBhvr>
                                      <p:to>
                                        <p:strVal val="visible"/>
                                      </p:to>
                                    </p:set>
                                    <p:animEffect transition="in" filter="box(in)">
                                      <p:cBhvr>
                                        <p:cTn id="38" dur="500"/>
                                        <p:tgtEl>
                                          <p:spTgt spid="139267">
                                            <p:txEl>
                                              <p:pRg st="7" end="7"/>
                                            </p:txEl>
                                          </p:spTgt>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139267">
                                            <p:txEl>
                                              <p:pRg st="8" end="8"/>
                                            </p:txEl>
                                          </p:spTgt>
                                        </p:tgtEl>
                                        <p:attrNameLst>
                                          <p:attrName>style.visibility</p:attrName>
                                        </p:attrNameLst>
                                      </p:cBhvr>
                                      <p:to>
                                        <p:strVal val="visible"/>
                                      </p:to>
                                    </p:set>
                                    <p:animEffect transition="in" filter="box(in)">
                                      <p:cBhvr>
                                        <p:cTn id="41" dur="500"/>
                                        <p:tgtEl>
                                          <p:spTgt spid="139267">
                                            <p:txEl>
                                              <p:pRg st="8" end="8"/>
                                            </p:txEl>
                                          </p:spTgt>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139267">
                                            <p:txEl>
                                              <p:pRg st="9" end="9"/>
                                            </p:txEl>
                                          </p:spTgt>
                                        </p:tgtEl>
                                        <p:attrNameLst>
                                          <p:attrName>style.visibility</p:attrName>
                                        </p:attrNameLst>
                                      </p:cBhvr>
                                      <p:to>
                                        <p:strVal val="visible"/>
                                      </p:to>
                                    </p:set>
                                    <p:animEffect transition="in" filter="box(in)">
                                      <p:cBhvr>
                                        <p:cTn id="44" dur="500"/>
                                        <p:tgtEl>
                                          <p:spTgt spid="13926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914400" y="0"/>
            <a:ext cx="8229600" cy="1417638"/>
          </a:xfrm>
        </p:spPr>
        <p:txBody>
          <a:bodyPr/>
          <a:lstStyle/>
          <a:p>
            <a:r>
              <a:rPr lang="en-US" altLang="en-US" sz="4000" b="1">
                <a:latin typeface="Times New Roman" panose="02020603050405020304" pitchFamily="18" charset="0"/>
                <a:cs typeface="Times New Roman" panose="02020603050405020304" pitchFamily="18" charset="0"/>
              </a:rPr>
              <a:t>No Memory Abstractions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Simplest</a:t>
            </a:r>
            <a:r>
              <a:rPr lang="en-US" altLang="en-US" sz="4000" b="1">
                <a:latin typeface="Times New Roman" panose="02020603050405020304" pitchFamily="18" charset="0"/>
                <a:cs typeface="Times New Roman" panose="02020603050405020304" pitchFamily="18" charset="0"/>
              </a:rPr>
              <a:t> </a:t>
            </a:r>
          </a:p>
        </p:txBody>
      </p:sp>
      <p:pic>
        <p:nvPicPr>
          <p:cNvPr id="10243" name="Picture 8" descr="03-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828800"/>
            <a:ext cx="7229475" cy="342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8" name="Text Box 4"/>
          <p:cNvSpPr txBox="1">
            <a:spLocks noChangeArrowheads="1"/>
          </p:cNvSpPr>
          <p:nvPr/>
        </p:nvSpPr>
        <p:spPr bwMode="auto">
          <a:xfrm>
            <a:off x="4038600" y="14478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3-1.</a:t>
            </a:r>
          </a:p>
        </p:txBody>
      </p:sp>
      <p:sp>
        <p:nvSpPr>
          <p:cNvPr id="8198" name="Text Box 6"/>
          <p:cNvSpPr txBox="1">
            <a:spLocks noChangeArrowheads="1"/>
          </p:cNvSpPr>
          <p:nvPr/>
        </p:nvSpPr>
        <p:spPr bwMode="auto">
          <a:xfrm>
            <a:off x="5638800" y="5499100"/>
            <a:ext cx="35052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Char char="-"/>
            </a:pPr>
            <a:r>
              <a:rPr lang="en-US" altLang="en-US">
                <a:latin typeface="Times New Roman" panose="02020603050405020304" pitchFamily="18" charset="0"/>
                <a:cs typeface="Times New Roman" panose="02020603050405020304" pitchFamily="18" charset="0"/>
              </a:rPr>
              <a:t>Locate at bottom in RAM, device drives locate at top in ROM</a:t>
            </a:r>
          </a:p>
          <a:p>
            <a:pPr eaLnBrk="1" hangingPunct="1">
              <a:spcBef>
                <a:spcPct val="50000"/>
              </a:spcBef>
              <a:buFontTx/>
              <a:buChar char="-"/>
            </a:pPr>
            <a:r>
              <a:rPr lang="en-US" altLang="en-US">
                <a:latin typeface="Times New Roman" panose="02020603050405020304" pitchFamily="18" charset="0"/>
                <a:cs typeface="Times New Roman" panose="02020603050405020304" pitchFamily="18" charset="0"/>
              </a:rPr>
              <a:t>PC</a:t>
            </a:r>
          </a:p>
        </p:txBody>
      </p:sp>
      <p:sp>
        <p:nvSpPr>
          <p:cNvPr id="8199" name="Text Box 7"/>
          <p:cNvSpPr txBox="1">
            <a:spLocks noChangeArrowheads="1"/>
          </p:cNvSpPr>
          <p:nvPr/>
        </p:nvSpPr>
        <p:spPr bwMode="auto">
          <a:xfrm>
            <a:off x="3429000" y="5468938"/>
            <a:ext cx="25146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Char char="-"/>
            </a:pPr>
            <a:r>
              <a:rPr lang="en-US" altLang="en-US">
                <a:latin typeface="Times New Roman" panose="02020603050405020304" pitchFamily="18" charset="0"/>
                <a:cs typeface="Times New Roman" panose="02020603050405020304" pitchFamily="18" charset="0"/>
              </a:rPr>
              <a:t>Locate at top in ROM</a:t>
            </a:r>
          </a:p>
          <a:p>
            <a:pPr eaLnBrk="1" hangingPunct="1">
              <a:spcBef>
                <a:spcPct val="50000"/>
              </a:spcBef>
              <a:buFontTx/>
              <a:buChar char="-"/>
            </a:pPr>
            <a:r>
              <a:rPr lang="en-US" altLang="en-US">
                <a:latin typeface="Times New Roman" panose="02020603050405020304" pitchFamily="18" charset="0"/>
                <a:cs typeface="Times New Roman" panose="02020603050405020304" pitchFamily="18" charset="0"/>
              </a:rPr>
              <a:t>Handheld, embedded</a:t>
            </a:r>
          </a:p>
        </p:txBody>
      </p:sp>
      <p:sp>
        <p:nvSpPr>
          <p:cNvPr id="8200" name="Text Box 8"/>
          <p:cNvSpPr txBox="1">
            <a:spLocks noChangeArrowheads="1"/>
          </p:cNvSpPr>
          <p:nvPr/>
        </p:nvSpPr>
        <p:spPr bwMode="auto">
          <a:xfrm>
            <a:off x="457200" y="5486400"/>
            <a:ext cx="29718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Char char="-"/>
            </a:pPr>
            <a:r>
              <a:rPr lang="en-US" altLang="en-US">
                <a:latin typeface="Times New Roman" panose="02020603050405020304" pitchFamily="18" charset="0"/>
                <a:cs typeface="Times New Roman" panose="02020603050405020304" pitchFamily="18" charset="0"/>
              </a:rPr>
              <a:t>Locate at bottom in RAM</a:t>
            </a:r>
          </a:p>
          <a:p>
            <a:pPr eaLnBrk="1" hangingPunct="1">
              <a:spcBef>
                <a:spcPct val="50000"/>
              </a:spcBef>
              <a:buFontTx/>
              <a:buChar char="-"/>
            </a:pPr>
            <a:r>
              <a:rPr lang="en-US" altLang="en-US">
                <a:latin typeface="Times New Roman" panose="02020603050405020304" pitchFamily="18" charset="0"/>
                <a:cs typeface="Times New Roman" panose="02020603050405020304" pitchFamily="18" charset="0"/>
              </a:rPr>
              <a:t>Mainframes, minicomputer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1558"/>
                                        </p:tgtEl>
                                        <p:attrNameLst>
                                          <p:attrName>style.visibility</p:attrName>
                                        </p:attrNameLst>
                                      </p:cBhvr>
                                      <p:to>
                                        <p:strVal val="visible"/>
                                      </p:to>
                                    </p:set>
                                    <p:animEffect transition="in" filter="box(in)">
                                      <p:cBhvr>
                                        <p:cTn id="7" dur="500"/>
                                        <p:tgtEl>
                                          <p:spTgt spid="1515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200"/>
                                        </p:tgtEl>
                                        <p:attrNameLst>
                                          <p:attrName>style.visibility</p:attrName>
                                        </p:attrNameLst>
                                      </p:cBhvr>
                                      <p:to>
                                        <p:strVal val="visible"/>
                                      </p:to>
                                    </p:set>
                                    <p:animEffect transition="in" filter="box(in)">
                                      <p:cBhvr>
                                        <p:cTn id="12" dur="500"/>
                                        <p:tgtEl>
                                          <p:spTgt spid="82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199"/>
                                        </p:tgtEl>
                                        <p:attrNameLst>
                                          <p:attrName>style.visibility</p:attrName>
                                        </p:attrNameLst>
                                      </p:cBhvr>
                                      <p:to>
                                        <p:strVal val="visible"/>
                                      </p:to>
                                    </p:set>
                                    <p:animEffect transition="in" filter="box(in)">
                                      <p:cBhvr>
                                        <p:cTn id="17" dur="500"/>
                                        <p:tgtEl>
                                          <p:spTgt spid="81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198"/>
                                        </p:tgtEl>
                                        <p:attrNameLst>
                                          <p:attrName>style.visibility</p:attrName>
                                        </p:attrNameLst>
                                      </p:cBhvr>
                                      <p:to>
                                        <p:strVal val="visible"/>
                                      </p:to>
                                    </p:set>
                                    <p:animEffect transition="in" filter="checkerboard(across)">
                                      <p:cBhvr>
                                        <p:cTn id="22" dur="5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8" grpId="0"/>
      <p:bldP spid="8198" grpId="0"/>
      <p:bldP spid="8199" grpId="0"/>
      <p:bldP spid="820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idx="4294967295"/>
          </p:nvPr>
        </p:nvSpPr>
        <p:spPr>
          <a:xfrm>
            <a:off x="914400" y="0"/>
            <a:ext cx="8229600" cy="914400"/>
          </a:xfrm>
        </p:spPr>
        <p:txBody>
          <a:bodyPr/>
          <a:lstStyle/>
          <a:p>
            <a:r>
              <a:rPr lang="en-US" altLang="en-US" sz="4000" b="1">
                <a:latin typeface="Times New Roman" panose="02020603050405020304" pitchFamily="18" charset="0"/>
                <a:cs typeface="Times New Roman" panose="02020603050405020304" pitchFamily="18" charset="0"/>
              </a:rPr>
              <a:t>No Memory Abstractions</a:t>
            </a:r>
          </a:p>
        </p:txBody>
      </p:sp>
      <p:sp>
        <p:nvSpPr>
          <p:cNvPr id="139267" name="Rectangle 3"/>
          <p:cNvSpPr>
            <a:spLocks noGrp="1"/>
          </p:cNvSpPr>
          <p:nvPr>
            <p:ph type="body" idx="4294967295"/>
          </p:nvPr>
        </p:nvSpPr>
        <p:spPr>
          <a:xfrm>
            <a:off x="4267200" y="1447800"/>
            <a:ext cx="4876800" cy="5410200"/>
          </a:xfrm>
        </p:spPr>
        <p:txBody>
          <a:bodyPr/>
          <a:lstStyle/>
          <a:p>
            <a:pPr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Protection</a:t>
            </a:r>
            <a:r>
              <a:rPr lang="en-US" altLang="en-US" sz="2400" dirty="0">
                <a:latin typeface="Times New Roman" panose="02020603050405020304" pitchFamily="18" charset="0"/>
                <a:cs typeface="Times New Roman" panose="02020603050405020304" pitchFamily="18" charset="0"/>
              </a:rPr>
              <a:t> is needed</a:t>
            </a:r>
          </a:p>
          <a:p>
            <a:pPr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Solution</a:t>
            </a:r>
          </a:p>
          <a:p>
            <a:pPr lvl="1" algn="just" eaLnBrk="1" hangingPunct="1">
              <a:lnSpc>
                <a:spcPct val="90000"/>
              </a:lnSpc>
            </a:pPr>
            <a:r>
              <a:rPr lang="en-US" altLang="en-US" sz="2000" dirty="0">
                <a:latin typeface="Times New Roman" panose="02020603050405020304" pitchFamily="18" charset="0"/>
                <a:cs typeface="Times New Roman" panose="02020603050405020304" pitchFamily="18" charset="0"/>
              </a:rPr>
              <a:t>Using the </a:t>
            </a:r>
            <a:r>
              <a:rPr lang="en-US" altLang="en-US" sz="2000" b="1" dirty="0">
                <a:latin typeface="Times New Roman" panose="02020603050405020304" pitchFamily="18" charset="0"/>
                <a:cs typeface="Times New Roman" panose="02020603050405020304" pitchFamily="18" charset="0"/>
              </a:rPr>
              <a:t>special register</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stores</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highest</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address</a:t>
            </a:r>
            <a:r>
              <a:rPr lang="en-US" altLang="en-US" sz="2000" dirty="0">
                <a:latin typeface="Times New Roman" panose="02020603050405020304" pitchFamily="18" charset="0"/>
                <a:cs typeface="Times New Roman" panose="02020603050405020304" pitchFamily="18" charset="0"/>
              </a:rPr>
              <a:t> of </a:t>
            </a:r>
            <a:r>
              <a:rPr lang="en-US" altLang="en-US" sz="2000" b="1" dirty="0">
                <a:latin typeface="Times New Roman" panose="02020603050405020304" pitchFamily="18" charset="0"/>
                <a:cs typeface="Times New Roman" panose="02020603050405020304" pitchFamily="18" charset="0"/>
              </a:rPr>
              <a:t>OS</a:t>
            </a:r>
            <a:r>
              <a:rPr lang="en-US" altLang="en-US" sz="2000" dirty="0">
                <a:latin typeface="Times New Roman" panose="02020603050405020304" pitchFamily="18" charset="0"/>
                <a:cs typeface="Times New Roman" panose="02020603050405020304" pitchFamily="18" charset="0"/>
              </a:rPr>
              <a:t> (in the other words, the address is less than the lowest address of  user program)</a:t>
            </a:r>
          </a:p>
          <a:p>
            <a:pPr lvl="1" algn="just" eaLnBrk="1" hangingPunct="1">
              <a:lnSpc>
                <a:spcPct val="90000"/>
              </a:lnSpc>
            </a:pPr>
            <a:r>
              <a:rPr lang="en-US" altLang="en-US" sz="2000" dirty="0">
                <a:latin typeface="Times New Roman" panose="02020603050405020304" pitchFamily="18" charset="0"/>
                <a:cs typeface="Times New Roman" panose="02020603050405020304" pitchFamily="18" charset="0"/>
              </a:rPr>
              <a:t>In </a:t>
            </a:r>
            <a:r>
              <a:rPr lang="en-US" altLang="en-US" sz="2000" b="1" dirty="0">
                <a:latin typeface="Times New Roman" panose="02020603050405020304" pitchFamily="18" charset="0"/>
                <a:cs typeface="Times New Roman" panose="02020603050405020304" pitchFamily="18" charset="0"/>
              </a:rPr>
              <a:t>runtime</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accessing</a:t>
            </a:r>
            <a:r>
              <a:rPr lang="en-US" altLang="en-US" sz="2000" dirty="0">
                <a:latin typeface="Times New Roman" panose="02020603050405020304" pitchFamily="18" charset="0"/>
                <a:cs typeface="Times New Roman" panose="02020603050405020304" pitchFamily="18" charset="0"/>
              </a:rPr>
              <a:t> must be </a:t>
            </a:r>
            <a:r>
              <a:rPr lang="en-US" altLang="en-US" sz="2000" b="1" dirty="0">
                <a:latin typeface="Times New Roman" panose="02020603050405020304" pitchFamily="18" charset="0"/>
                <a:cs typeface="Times New Roman" panose="02020603050405020304" pitchFamily="18" charset="0"/>
              </a:rPr>
              <a:t>checking</a:t>
            </a:r>
            <a:r>
              <a:rPr lang="en-US" altLang="en-US" sz="2000" dirty="0">
                <a:latin typeface="Times New Roman" panose="02020603050405020304" pitchFamily="18" charset="0"/>
                <a:cs typeface="Times New Roman" panose="02020603050405020304" pitchFamily="18" charset="0"/>
              </a:rPr>
              <a:t> via the </a:t>
            </a:r>
            <a:r>
              <a:rPr lang="en-US" altLang="en-US" sz="2000" b="1" dirty="0">
                <a:latin typeface="Times New Roman" panose="02020603050405020304" pitchFamily="18" charset="0"/>
                <a:cs typeface="Times New Roman" panose="02020603050405020304" pitchFamily="18" charset="0"/>
              </a:rPr>
              <a:t>special</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register</a:t>
            </a:r>
            <a:r>
              <a:rPr lang="en-US" altLang="en-US" sz="2000" dirty="0">
                <a:latin typeface="Times New Roman" panose="02020603050405020304" pitchFamily="18" charset="0"/>
                <a:cs typeface="Times New Roman" panose="02020603050405020304" pitchFamily="18" charset="0"/>
              </a:rPr>
              <a:t>.</a:t>
            </a:r>
          </a:p>
          <a:p>
            <a:pPr lvl="1"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If</a:t>
            </a:r>
            <a:r>
              <a:rPr lang="en-US" altLang="en-US" sz="2000" dirty="0">
                <a:latin typeface="Times New Roman" panose="02020603050405020304" pitchFamily="18" charset="0"/>
                <a:cs typeface="Times New Roman" panose="02020603050405020304" pitchFamily="18" charset="0"/>
              </a:rPr>
              <a:t> the accessing </a:t>
            </a:r>
            <a:r>
              <a:rPr lang="en-US" altLang="en-US" sz="2000" b="1" dirty="0">
                <a:latin typeface="Times New Roman" panose="02020603050405020304" pitchFamily="18" charset="0"/>
                <a:cs typeface="Times New Roman" panose="02020603050405020304" pitchFamily="18" charset="0"/>
              </a:rPr>
              <a:t>address</a:t>
            </a:r>
            <a:r>
              <a:rPr lang="en-US" altLang="en-US" sz="2000" dirty="0">
                <a:latin typeface="Times New Roman" panose="02020603050405020304" pitchFamily="18" charset="0"/>
                <a:cs typeface="Times New Roman" panose="02020603050405020304" pitchFamily="18" charset="0"/>
              </a:rPr>
              <a:t> is </a:t>
            </a:r>
            <a:r>
              <a:rPr lang="en-US" altLang="en-US" sz="2000" b="1" dirty="0">
                <a:latin typeface="Times New Roman" panose="02020603050405020304" pitchFamily="18" charset="0"/>
                <a:cs typeface="Times New Roman" panose="02020603050405020304" pitchFamily="18" charset="0"/>
              </a:rPr>
              <a:t>larger</a:t>
            </a:r>
            <a:r>
              <a:rPr lang="en-US" altLang="en-US" sz="2000" dirty="0">
                <a:latin typeface="Times New Roman" panose="02020603050405020304" pitchFamily="18" charset="0"/>
                <a:cs typeface="Times New Roman" panose="02020603050405020304" pitchFamily="18" charset="0"/>
              </a:rPr>
              <a:t> than the special register values, the </a:t>
            </a:r>
            <a:r>
              <a:rPr lang="en-US" altLang="en-US" sz="2000" b="1" dirty="0">
                <a:latin typeface="Times New Roman" panose="02020603050405020304" pitchFamily="18" charset="0"/>
                <a:cs typeface="Times New Roman" panose="02020603050405020304" pitchFamily="18" charset="0"/>
              </a:rPr>
              <a:t>access</a:t>
            </a:r>
            <a:r>
              <a:rPr lang="en-US" altLang="en-US" sz="2000" dirty="0">
                <a:latin typeface="Times New Roman" panose="02020603050405020304" pitchFamily="18" charset="0"/>
                <a:cs typeface="Times New Roman" panose="02020603050405020304" pitchFamily="18" charset="0"/>
              </a:rPr>
              <a:t> is </a:t>
            </a:r>
            <a:r>
              <a:rPr lang="en-US" altLang="en-US" sz="2000" b="1" dirty="0">
                <a:latin typeface="Times New Roman" panose="02020603050405020304" pitchFamily="18" charset="0"/>
                <a:cs typeface="Times New Roman" panose="02020603050405020304" pitchFamily="18" charset="0"/>
              </a:rPr>
              <a:t>accepted</a:t>
            </a:r>
          </a:p>
          <a:p>
            <a:pPr lvl="1"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Otherwise</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interrupt</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occurs</a:t>
            </a:r>
            <a:r>
              <a:rPr lang="en-US" altLang="en-US" sz="2000" dirty="0">
                <a:latin typeface="Times New Roman" panose="02020603050405020304" pitchFamily="18" charset="0"/>
                <a:cs typeface="Times New Roman" panose="02020603050405020304" pitchFamily="18" charset="0"/>
              </a:rPr>
              <a:t> to intercept</a:t>
            </a:r>
          </a:p>
          <a:p>
            <a:pPr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Disadvantages</a:t>
            </a:r>
          </a:p>
          <a:p>
            <a:pPr lvl="1" algn="just" eaLnBrk="1" hangingPunct="1">
              <a:lnSpc>
                <a:spcPct val="90000"/>
              </a:lnSpc>
            </a:pPr>
            <a:r>
              <a:rPr lang="en-US" altLang="en-US" sz="2000" dirty="0">
                <a:latin typeface="Times New Roman" panose="02020603050405020304" pitchFamily="18" charset="0"/>
                <a:cs typeface="Times New Roman" panose="02020603050405020304" pitchFamily="18" charset="0"/>
              </a:rPr>
              <a:t>The </a:t>
            </a:r>
            <a:r>
              <a:rPr lang="en-US" altLang="en-US" sz="2000" b="1" dirty="0">
                <a:latin typeface="Times New Roman" panose="02020603050405020304" pitchFamily="18" charset="0"/>
                <a:cs typeface="Times New Roman" panose="02020603050405020304" pitchFamily="18" charset="0"/>
              </a:rPr>
              <a:t>special register </a:t>
            </a:r>
            <a:r>
              <a:rPr lang="en-US" altLang="en-US" sz="2000" dirty="0">
                <a:latin typeface="Times New Roman" panose="02020603050405020304" pitchFamily="18" charset="0"/>
                <a:cs typeface="Times New Roman" panose="02020603050405020304" pitchFamily="18" charset="0"/>
              </a:rPr>
              <a:t>is </a:t>
            </a:r>
            <a:r>
              <a:rPr lang="en-US" altLang="en-US" sz="2000" b="1" dirty="0">
                <a:latin typeface="Times New Roman" panose="02020603050405020304" pitchFamily="18" charset="0"/>
                <a:cs typeface="Times New Roman" panose="02020603050405020304" pitchFamily="18" charset="0"/>
              </a:rPr>
              <a:t>created</a:t>
            </a:r>
          </a:p>
          <a:p>
            <a:pPr lvl="1"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Slow</a:t>
            </a:r>
          </a:p>
        </p:txBody>
      </p:sp>
      <p:sp>
        <p:nvSpPr>
          <p:cNvPr id="11268" name="Rectangle 4"/>
          <p:cNvSpPr>
            <a:spLocks/>
          </p:cNvSpPr>
          <p:nvPr/>
        </p:nvSpPr>
        <p:spPr bwMode="auto">
          <a:xfrm>
            <a:off x="914400" y="6858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Simplest</a:t>
            </a:r>
          </a:p>
        </p:txBody>
      </p:sp>
      <p:grpSp>
        <p:nvGrpSpPr>
          <p:cNvPr id="11269" name="Group 22"/>
          <p:cNvGrpSpPr>
            <a:grpSpLocks/>
          </p:cNvGrpSpPr>
          <p:nvPr/>
        </p:nvGrpSpPr>
        <p:grpSpPr bwMode="auto">
          <a:xfrm>
            <a:off x="0" y="1981200"/>
            <a:ext cx="4648200" cy="3505200"/>
            <a:chOff x="0" y="1981200"/>
            <a:chExt cx="4648200" cy="3505200"/>
          </a:xfrm>
        </p:grpSpPr>
        <p:pic>
          <p:nvPicPr>
            <p:cNvPr id="11270"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950" y="3910012"/>
              <a:ext cx="3016250" cy="140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Line 8"/>
            <p:cNvSpPr>
              <a:spLocks noChangeShapeType="1"/>
            </p:cNvSpPr>
            <p:nvPr/>
          </p:nvSpPr>
          <p:spPr bwMode="auto">
            <a:xfrm>
              <a:off x="76200" y="3717925"/>
              <a:ext cx="1219200"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2" name="Text Box 9"/>
            <p:cNvSpPr txBox="1">
              <a:spLocks noChangeArrowheads="1"/>
            </p:cNvSpPr>
            <p:nvPr/>
          </p:nvSpPr>
          <p:spPr bwMode="auto">
            <a:xfrm>
              <a:off x="0" y="3336925"/>
              <a:ext cx="1066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Real address</a:t>
              </a:r>
            </a:p>
          </p:txBody>
        </p:sp>
        <p:sp>
          <p:nvSpPr>
            <p:cNvPr id="11273" name="Text Box 13"/>
            <p:cNvSpPr txBox="1">
              <a:spLocks noChangeArrowheads="1"/>
            </p:cNvSpPr>
            <p:nvPr/>
          </p:nvSpPr>
          <p:spPr bwMode="auto">
            <a:xfrm rot="5400000">
              <a:off x="922337" y="4167188"/>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False</a:t>
              </a:r>
            </a:p>
          </p:txBody>
        </p:sp>
        <p:sp>
          <p:nvSpPr>
            <p:cNvPr id="11274" name="Line 23"/>
            <p:cNvSpPr>
              <a:spLocks noChangeShapeType="1"/>
            </p:cNvSpPr>
            <p:nvPr/>
          </p:nvSpPr>
          <p:spPr bwMode="auto">
            <a:xfrm>
              <a:off x="1905000" y="3717925"/>
              <a:ext cx="236220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 name="AutoShape 24"/>
            <p:cNvSpPr>
              <a:spLocks noChangeArrowheads="1"/>
            </p:cNvSpPr>
            <p:nvPr/>
          </p:nvSpPr>
          <p:spPr bwMode="auto">
            <a:xfrm>
              <a:off x="1295400" y="3336925"/>
              <a:ext cx="609600" cy="7620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&gt;</a:t>
              </a:r>
            </a:p>
          </p:txBody>
        </p:sp>
        <p:sp>
          <p:nvSpPr>
            <p:cNvPr id="11276" name="Rectangle 25"/>
            <p:cNvSpPr>
              <a:spLocks noChangeArrowheads="1"/>
            </p:cNvSpPr>
            <p:nvPr/>
          </p:nvSpPr>
          <p:spPr bwMode="auto">
            <a:xfrm>
              <a:off x="304800" y="1981200"/>
              <a:ext cx="3505200" cy="36512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a:latin typeface="Times New Roman" panose="02020603050405020304" pitchFamily="18" charset="0"/>
                  <a:cs typeface="Times New Roman" panose="02020603050405020304" pitchFamily="18" charset="0"/>
                </a:rPr>
                <a:t>Special Register stores limit addr</a:t>
              </a:r>
            </a:p>
          </p:txBody>
        </p:sp>
        <p:cxnSp>
          <p:nvCxnSpPr>
            <p:cNvPr id="11277" name="AutoShape 27"/>
            <p:cNvCxnSpPr>
              <a:cxnSpLocks noChangeShapeType="1"/>
              <a:endCxn id="11275" idx="0"/>
            </p:cNvCxnSpPr>
            <p:nvPr/>
          </p:nvCxnSpPr>
          <p:spPr bwMode="auto">
            <a:xfrm>
              <a:off x="1600200" y="2346325"/>
              <a:ext cx="0" cy="990600"/>
            </a:xfrm>
            <a:prstGeom prst="straightConnector1">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278" name="Line 28"/>
            <p:cNvSpPr>
              <a:spLocks noChangeShapeType="1"/>
            </p:cNvSpPr>
            <p:nvPr/>
          </p:nvSpPr>
          <p:spPr bwMode="auto">
            <a:xfrm>
              <a:off x="1600200" y="4098925"/>
              <a:ext cx="0" cy="76200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79" name="Text Box 29"/>
            <p:cNvSpPr txBox="1">
              <a:spLocks noChangeArrowheads="1"/>
            </p:cNvSpPr>
            <p:nvPr/>
          </p:nvSpPr>
          <p:spPr bwMode="auto">
            <a:xfrm rot="5400000">
              <a:off x="3763962" y="4129088"/>
              <a:ext cx="1066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Real address</a:t>
              </a:r>
            </a:p>
          </p:txBody>
        </p:sp>
        <p:sp>
          <p:nvSpPr>
            <p:cNvPr id="11280" name="Text Box 30"/>
            <p:cNvSpPr txBox="1">
              <a:spLocks noChangeArrowheads="1"/>
            </p:cNvSpPr>
            <p:nvPr/>
          </p:nvSpPr>
          <p:spPr bwMode="auto">
            <a:xfrm>
              <a:off x="0" y="4784725"/>
              <a:ext cx="1752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Address error; trap/ interrupt</a:t>
              </a:r>
            </a:p>
          </p:txBody>
        </p:sp>
        <p:cxnSp>
          <p:nvCxnSpPr>
            <p:cNvPr id="11281" name="AutoShape 31"/>
            <p:cNvCxnSpPr>
              <a:cxnSpLocks noChangeShapeType="1"/>
            </p:cNvCxnSpPr>
            <p:nvPr/>
          </p:nvCxnSpPr>
          <p:spPr bwMode="auto">
            <a:xfrm>
              <a:off x="4267200" y="3717925"/>
              <a:ext cx="0" cy="1524000"/>
            </a:xfrm>
            <a:prstGeom prst="straightConnector1">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282" name="Text Box 32"/>
            <p:cNvSpPr txBox="1">
              <a:spLocks noChangeArrowheads="1"/>
            </p:cNvSpPr>
            <p:nvPr/>
          </p:nvSpPr>
          <p:spPr bwMode="auto">
            <a:xfrm>
              <a:off x="1981200" y="3184525"/>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True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box(in)">
                                      <p:cBhvr>
                                        <p:cTn id="7" dur="500"/>
                                        <p:tgtEl>
                                          <p:spTgt spid="139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9267">
                                            <p:txEl>
                                              <p:pRg st="1" end="1"/>
                                            </p:txEl>
                                          </p:spTgt>
                                        </p:tgtEl>
                                        <p:attrNameLst>
                                          <p:attrName>style.visibility</p:attrName>
                                        </p:attrNameLst>
                                      </p:cBhvr>
                                      <p:to>
                                        <p:strVal val="visible"/>
                                      </p:to>
                                    </p:set>
                                    <p:animEffect transition="in" filter="box(in)">
                                      <p:cBhvr>
                                        <p:cTn id="12" dur="500"/>
                                        <p:tgtEl>
                                          <p:spTgt spid="139267">
                                            <p:txEl>
                                              <p:pRg st="1" end="1"/>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animEffect transition="in" filter="box(in)">
                                      <p:cBhvr>
                                        <p:cTn id="15" dur="500"/>
                                        <p:tgtEl>
                                          <p:spTgt spid="139267">
                                            <p:txEl>
                                              <p:pRg st="2" end="2"/>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139267">
                                            <p:txEl>
                                              <p:pRg st="3" end="3"/>
                                            </p:txEl>
                                          </p:spTgt>
                                        </p:tgtEl>
                                        <p:attrNameLst>
                                          <p:attrName>style.visibility</p:attrName>
                                        </p:attrNameLst>
                                      </p:cBhvr>
                                      <p:to>
                                        <p:strVal val="visible"/>
                                      </p:to>
                                    </p:set>
                                    <p:animEffect transition="in" filter="box(in)">
                                      <p:cBhvr>
                                        <p:cTn id="18" dur="500"/>
                                        <p:tgtEl>
                                          <p:spTgt spid="139267">
                                            <p:txEl>
                                              <p:pRg st="3" end="3"/>
                                            </p:txEl>
                                          </p:spTgt>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139267">
                                            <p:txEl>
                                              <p:pRg st="4" end="4"/>
                                            </p:txEl>
                                          </p:spTgt>
                                        </p:tgtEl>
                                        <p:attrNameLst>
                                          <p:attrName>style.visibility</p:attrName>
                                        </p:attrNameLst>
                                      </p:cBhvr>
                                      <p:to>
                                        <p:strVal val="visible"/>
                                      </p:to>
                                    </p:set>
                                    <p:animEffect transition="in" filter="box(in)">
                                      <p:cBhvr>
                                        <p:cTn id="21" dur="500"/>
                                        <p:tgtEl>
                                          <p:spTgt spid="139267">
                                            <p:txEl>
                                              <p:pRg st="4" end="4"/>
                                            </p:txEl>
                                          </p:spTgt>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139267">
                                            <p:txEl>
                                              <p:pRg st="5" end="5"/>
                                            </p:txEl>
                                          </p:spTgt>
                                        </p:tgtEl>
                                        <p:attrNameLst>
                                          <p:attrName>style.visibility</p:attrName>
                                        </p:attrNameLst>
                                      </p:cBhvr>
                                      <p:to>
                                        <p:strVal val="visible"/>
                                      </p:to>
                                    </p:set>
                                    <p:animEffect transition="in" filter="box(in)">
                                      <p:cBhvr>
                                        <p:cTn id="24" dur="500"/>
                                        <p:tgtEl>
                                          <p:spTgt spid="139267">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139267">
                                            <p:txEl>
                                              <p:pRg st="6" end="6"/>
                                            </p:txEl>
                                          </p:spTgt>
                                        </p:tgtEl>
                                        <p:attrNameLst>
                                          <p:attrName>style.visibility</p:attrName>
                                        </p:attrNameLst>
                                      </p:cBhvr>
                                      <p:to>
                                        <p:strVal val="visible"/>
                                      </p:to>
                                    </p:set>
                                    <p:animEffect transition="in" filter="box(in)">
                                      <p:cBhvr>
                                        <p:cTn id="29" dur="500"/>
                                        <p:tgtEl>
                                          <p:spTgt spid="139267">
                                            <p:txEl>
                                              <p:pRg st="6" end="6"/>
                                            </p:txEl>
                                          </p:spTgt>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139267">
                                            <p:txEl>
                                              <p:pRg st="7" end="7"/>
                                            </p:txEl>
                                          </p:spTgt>
                                        </p:tgtEl>
                                        <p:attrNameLst>
                                          <p:attrName>style.visibility</p:attrName>
                                        </p:attrNameLst>
                                      </p:cBhvr>
                                      <p:to>
                                        <p:strVal val="visible"/>
                                      </p:to>
                                    </p:set>
                                    <p:animEffect transition="in" filter="box(in)">
                                      <p:cBhvr>
                                        <p:cTn id="32" dur="500"/>
                                        <p:tgtEl>
                                          <p:spTgt spid="139267">
                                            <p:txEl>
                                              <p:pRg st="7" end="7"/>
                                            </p:txEl>
                                          </p:spTgt>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139267">
                                            <p:txEl>
                                              <p:pRg st="8" end="8"/>
                                            </p:txEl>
                                          </p:spTgt>
                                        </p:tgtEl>
                                        <p:attrNameLst>
                                          <p:attrName>style.visibility</p:attrName>
                                        </p:attrNameLst>
                                      </p:cBhvr>
                                      <p:to>
                                        <p:strVal val="visible"/>
                                      </p:to>
                                    </p:set>
                                    <p:animEffect transition="in" filter="box(in)">
                                      <p:cBhvr>
                                        <p:cTn id="35" dur="500"/>
                                        <p:tgtEl>
                                          <p:spTgt spid="1392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914400" y="0"/>
            <a:ext cx="8229600" cy="762000"/>
          </a:xfrm>
        </p:spPr>
        <p:txBody>
          <a:bodyPr/>
          <a:lstStyle/>
          <a:p>
            <a:r>
              <a:rPr lang="en-US" altLang="en-US" sz="4000" b="1">
                <a:latin typeface="Times New Roman" panose="02020603050405020304" pitchFamily="18" charset="0"/>
                <a:cs typeface="Times New Roman" panose="02020603050405020304" pitchFamily="18" charset="0"/>
              </a:rPr>
              <a:t>No Memory Abstractions</a:t>
            </a:r>
          </a:p>
        </p:txBody>
      </p:sp>
      <p:sp>
        <p:nvSpPr>
          <p:cNvPr id="190467" name="Rectangle 3"/>
          <p:cNvSpPr>
            <a:spLocks noGrp="1"/>
          </p:cNvSpPr>
          <p:nvPr>
            <p:ph type="body" idx="1"/>
          </p:nvPr>
        </p:nvSpPr>
        <p:spPr>
          <a:xfrm>
            <a:off x="228600" y="1066800"/>
            <a:ext cx="8915400" cy="5791200"/>
          </a:xfrm>
        </p:spPr>
        <p:txBody>
          <a:bodyPr/>
          <a:lstStyle/>
          <a:p>
            <a:pPr algn="just" eaLnBrk="1" hangingPunct="1">
              <a:buClrTx/>
              <a:buSzTx/>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It is possible to </a:t>
            </a:r>
            <a:r>
              <a:rPr lang="en-US" altLang="en-US" sz="2800" b="1" dirty="0">
                <a:latin typeface="Times New Roman" panose="02020603050405020304" pitchFamily="18" charset="0"/>
                <a:cs typeface="Times New Roman" panose="02020603050405020304" pitchFamily="18" charset="0"/>
              </a:rPr>
              <a:t>run</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multiple programs </a:t>
            </a:r>
            <a:r>
              <a:rPr lang="en-US" altLang="en-US" sz="2800" dirty="0">
                <a:latin typeface="Times New Roman" panose="02020603050405020304" pitchFamily="18" charset="0"/>
                <a:cs typeface="Times New Roman" panose="02020603050405020304" pitchFamily="18" charset="0"/>
              </a:rPr>
              <a:t>at the </a:t>
            </a:r>
            <a:r>
              <a:rPr lang="en-US" altLang="en-US" sz="2800" b="1" dirty="0">
                <a:latin typeface="Times New Roman" panose="02020603050405020304" pitchFamily="18" charset="0"/>
                <a:cs typeface="Times New Roman" panose="02020603050405020304" pitchFamily="18" charset="0"/>
              </a:rPr>
              <a:t>same time</a:t>
            </a:r>
          </a:p>
          <a:p>
            <a:pPr algn="just" eaLnBrk="1" hangingPunct="1">
              <a:buClrTx/>
              <a:buSzTx/>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The OS </a:t>
            </a:r>
            <a:r>
              <a:rPr lang="en-US" altLang="en-US" sz="2800" b="1" dirty="0">
                <a:latin typeface="Times New Roman" panose="02020603050405020304" pitchFamily="18" charset="0"/>
                <a:cs typeface="Times New Roman" panose="02020603050405020304" pitchFamily="18" charset="0"/>
              </a:rPr>
              <a:t>saves</a:t>
            </a:r>
            <a:r>
              <a:rPr lang="en-US" altLang="en-US" sz="2800" dirty="0">
                <a:latin typeface="Times New Roman" panose="02020603050405020304" pitchFamily="18" charset="0"/>
                <a:cs typeface="Times New Roman" panose="02020603050405020304" pitchFamily="18" charset="0"/>
              </a:rPr>
              <a:t> the </a:t>
            </a:r>
            <a:r>
              <a:rPr lang="en-US" altLang="en-US" sz="2800" b="1" dirty="0">
                <a:latin typeface="Times New Roman" panose="02020603050405020304" pitchFamily="18" charset="0"/>
                <a:cs typeface="Times New Roman" panose="02020603050405020304" pitchFamily="18" charset="0"/>
              </a:rPr>
              <a:t>entire contents </a:t>
            </a:r>
            <a:r>
              <a:rPr lang="en-US" altLang="en-US" sz="2800" dirty="0">
                <a:latin typeface="Times New Roman" panose="02020603050405020304" pitchFamily="18" charset="0"/>
                <a:cs typeface="Times New Roman" panose="02020603050405020304" pitchFamily="18" charset="0"/>
              </a:rPr>
              <a:t>of </a:t>
            </a:r>
            <a:r>
              <a:rPr lang="en-US" altLang="en-US" sz="2800" b="1" dirty="0">
                <a:latin typeface="Times New Roman" panose="02020603050405020304" pitchFamily="18" charset="0"/>
                <a:cs typeface="Times New Roman" panose="02020603050405020304" pitchFamily="18" charset="0"/>
              </a:rPr>
              <a:t>memory</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to</a:t>
            </a:r>
            <a:r>
              <a:rPr lang="en-US" altLang="en-US" sz="2800" dirty="0">
                <a:latin typeface="Times New Roman" panose="02020603050405020304" pitchFamily="18" charset="0"/>
                <a:cs typeface="Times New Roman" panose="02020603050405020304" pitchFamily="18" charset="0"/>
              </a:rPr>
              <a:t> a </a:t>
            </a:r>
            <a:r>
              <a:rPr lang="en-US" altLang="en-US" sz="2800" b="1" dirty="0">
                <a:latin typeface="Times New Roman" panose="02020603050405020304" pitchFamily="18" charset="0"/>
                <a:cs typeface="Times New Roman" panose="02020603050405020304" pitchFamily="18" charset="0"/>
              </a:rPr>
              <a:t>disk</a:t>
            </a:r>
            <a:r>
              <a:rPr lang="en-US" altLang="en-US" sz="2800" dirty="0">
                <a:latin typeface="Times New Roman" panose="02020603050405020304" pitchFamily="18" charset="0"/>
                <a:cs typeface="Times New Roman" panose="02020603050405020304" pitchFamily="18" charset="0"/>
              </a:rPr>
              <a:t> file, the </a:t>
            </a:r>
            <a:r>
              <a:rPr lang="en-US" altLang="en-US" sz="2800" b="1" dirty="0">
                <a:latin typeface="Times New Roman" panose="02020603050405020304" pitchFamily="18" charset="0"/>
                <a:cs typeface="Times New Roman" panose="02020603050405020304" pitchFamily="18" charset="0"/>
              </a:rPr>
              <a:t>bring</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in</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and</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run</a:t>
            </a:r>
            <a:r>
              <a:rPr lang="en-US" altLang="en-US" sz="2800" dirty="0">
                <a:latin typeface="Times New Roman" panose="02020603050405020304" pitchFamily="18" charset="0"/>
                <a:cs typeface="Times New Roman" panose="02020603050405020304" pitchFamily="18" charset="0"/>
              </a:rPr>
              <a:t> the </a:t>
            </a:r>
            <a:r>
              <a:rPr lang="en-US" altLang="en-US" sz="2800" b="1" dirty="0">
                <a:latin typeface="Times New Roman" panose="02020603050405020304" pitchFamily="18" charset="0"/>
                <a:cs typeface="Times New Roman" panose="02020603050405020304" pitchFamily="18" charset="0"/>
              </a:rPr>
              <a:t>next</a:t>
            </a:r>
            <a:r>
              <a:rPr lang="en-US" altLang="en-US" sz="2800" dirty="0">
                <a:latin typeface="Times New Roman" panose="02020603050405020304" pitchFamily="18" charset="0"/>
                <a:cs typeface="Times New Roman" panose="02020603050405020304" pitchFamily="18" charset="0"/>
              </a:rPr>
              <a:t> program</a:t>
            </a:r>
          </a:p>
          <a:p>
            <a:pPr algn="just" eaLnBrk="1" hangingPunct="1">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Solution</a:t>
            </a:r>
          </a:p>
          <a:p>
            <a:pPr lvl="1" algn="just" eaLnBrk="1" hangingPunct="1"/>
            <a:r>
              <a:rPr lang="en-US" altLang="en-US" sz="2400" dirty="0">
                <a:latin typeface="Times New Roman" panose="02020603050405020304" pitchFamily="18" charset="0"/>
                <a:cs typeface="Times New Roman" panose="02020603050405020304" pitchFamily="18" charset="0"/>
              </a:rPr>
              <a:t>Memory was </a:t>
            </a:r>
            <a:r>
              <a:rPr lang="en-US" altLang="en-US" sz="2400" b="1" dirty="0">
                <a:latin typeface="Times New Roman" panose="02020603050405020304" pitchFamily="18" charset="0"/>
                <a:cs typeface="Times New Roman" panose="02020603050405020304" pitchFamily="18" charset="0"/>
              </a:rPr>
              <a:t>divided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into</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fixed size block and</a:t>
            </a:r>
            <a:r>
              <a:rPr lang="en-US" altLang="en-US" sz="2400" dirty="0">
                <a:latin typeface="Times New Roman" panose="02020603050405020304" pitchFamily="18" charset="0"/>
                <a:cs typeface="Times New Roman" panose="02020603050405020304" pitchFamily="18" charset="0"/>
              </a:rPr>
              <a:t> each one was </a:t>
            </a:r>
            <a:r>
              <a:rPr lang="en-US" altLang="en-US" sz="2400" b="1" dirty="0">
                <a:latin typeface="Times New Roman" panose="02020603050405020304" pitchFamily="18" charset="0"/>
                <a:cs typeface="Times New Roman" panose="02020603050405020304" pitchFamily="18" charset="0"/>
              </a:rPr>
              <a:t>assigned</a:t>
            </a:r>
            <a:r>
              <a:rPr lang="en-US" altLang="en-US" sz="2400" dirty="0">
                <a:latin typeface="Times New Roman" panose="02020603050405020304" pitchFamily="18" charset="0"/>
                <a:cs typeface="Times New Roman" panose="02020603050405020304" pitchFamily="18" charset="0"/>
              </a:rPr>
              <a:t> a </a:t>
            </a:r>
            <a:r>
              <a:rPr lang="en-US" altLang="en-US" sz="2400" b="1" dirty="0">
                <a:latin typeface="Times New Roman" panose="02020603050405020304" pitchFamily="18" charset="0"/>
                <a:cs typeface="Times New Roman" panose="02020603050405020304" pitchFamily="18" charset="0"/>
              </a:rPr>
              <a:t>fixed bit protection</a:t>
            </a:r>
            <a:r>
              <a:rPr lang="en-US" altLang="en-US" sz="2400" dirty="0">
                <a:latin typeface="Times New Roman" panose="02020603050405020304" pitchFamily="18" charset="0"/>
                <a:cs typeface="Times New Roman" panose="02020603050405020304" pitchFamily="18" charset="0"/>
              </a:rPr>
              <a:t> key </a:t>
            </a:r>
            <a:r>
              <a:rPr lang="en-US" altLang="en-US" sz="2400" b="1" dirty="0">
                <a:latin typeface="Times New Roman" panose="02020603050405020304" pitchFamily="18" charset="0"/>
                <a:cs typeface="Times New Roman" panose="02020603050405020304" pitchFamily="18" charset="0"/>
              </a:rPr>
              <a:t>held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in</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special registers </a:t>
            </a:r>
            <a:r>
              <a:rPr lang="en-US" altLang="en-US" sz="2400" dirty="0">
                <a:latin typeface="Times New Roman" panose="02020603050405020304" pitchFamily="18" charset="0"/>
                <a:cs typeface="Times New Roman" panose="02020603050405020304" pitchFamily="18" charset="0"/>
              </a:rPr>
              <a:t>inside the CPU</a:t>
            </a:r>
          </a:p>
          <a:p>
            <a:pPr lvl="2" algn="just" eaLnBrk="1" hangingPunct="1"/>
            <a:r>
              <a:rPr lang="en-US" altLang="en-US" sz="2000" b="1" dirty="0">
                <a:latin typeface="Times New Roman" panose="02020603050405020304" pitchFamily="18" charset="0"/>
                <a:cs typeface="Times New Roman" panose="02020603050405020304" pitchFamily="18" charset="0"/>
              </a:rPr>
              <a:t>Protect</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code</a:t>
            </a:r>
            <a:r>
              <a:rPr lang="en-US" altLang="en-US" sz="2000" dirty="0">
                <a:latin typeface="Times New Roman" panose="02020603050405020304" pitchFamily="18" charset="0"/>
                <a:cs typeface="Times New Roman" panose="02020603050405020304" pitchFamily="18" charset="0"/>
              </a:rPr>
              <a:t> of </a:t>
            </a:r>
            <a:r>
              <a:rPr lang="en-US" altLang="en-US" sz="2000" b="1" dirty="0">
                <a:latin typeface="Times New Roman" panose="02020603050405020304" pitchFamily="18" charset="0"/>
                <a:cs typeface="Times New Roman" panose="02020603050405020304" pitchFamily="18" charset="0"/>
              </a:rPr>
              <a:t>OS</a:t>
            </a:r>
            <a:r>
              <a:rPr lang="en-US" altLang="en-US" sz="2000" dirty="0">
                <a:latin typeface="Times New Roman" panose="02020603050405020304" pitchFamily="18" charset="0"/>
                <a:cs typeface="Times New Roman" panose="02020603050405020304" pitchFamily="18" charset="0"/>
              </a:rPr>
              <a:t> against the processes</a:t>
            </a:r>
          </a:p>
          <a:p>
            <a:pPr lvl="2" algn="just" eaLnBrk="1" hangingPunct="1"/>
            <a:r>
              <a:rPr lang="en-US" altLang="en-US" sz="2000" b="1" dirty="0">
                <a:latin typeface="Times New Roman" panose="02020603050405020304" pitchFamily="18" charset="0"/>
                <a:cs typeface="Times New Roman" panose="02020603050405020304" pitchFamily="18" charset="0"/>
              </a:rPr>
              <a:t>Protect</a:t>
            </a:r>
            <a:r>
              <a:rPr lang="en-US" altLang="en-US" sz="2000" dirty="0">
                <a:latin typeface="Times New Roman" panose="02020603050405020304" pitchFamily="18" charset="0"/>
                <a:cs typeface="Times New Roman" panose="02020603050405020304" pitchFamily="18" charset="0"/>
              </a:rPr>
              <a:t> one </a:t>
            </a:r>
            <a:r>
              <a:rPr lang="en-US" altLang="en-US" sz="2000" b="1" dirty="0">
                <a:latin typeface="Times New Roman" panose="02020603050405020304" pitchFamily="18" charset="0"/>
                <a:cs typeface="Times New Roman" panose="02020603050405020304" pitchFamily="18" charset="0"/>
              </a:rPr>
              <a:t>process</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against</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other</a:t>
            </a:r>
            <a:r>
              <a:rPr lang="en-US" altLang="en-US" sz="2000" dirty="0">
                <a:latin typeface="Times New Roman" panose="02020603050405020304" pitchFamily="18" charset="0"/>
                <a:cs typeface="Times New Roman" panose="02020603050405020304" pitchFamily="18" charset="0"/>
              </a:rPr>
              <a:t> processes</a:t>
            </a:r>
          </a:p>
          <a:p>
            <a:pPr lvl="1" algn="just" eaLnBrk="1" hangingPunct="1"/>
            <a:r>
              <a:rPr lang="en-US" altLang="en-US" sz="2400" b="1" dirty="0">
                <a:latin typeface="Times New Roman" panose="02020603050405020304" pitchFamily="18" charset="0"/>
                <a:cs typeface="Times New Roman" panose="02020603050405020304" pitchFamily="18" charset="0"/>
              </a:rPr>
              <a:t>Problem</a:t>
            </a:r>
            <a:r>
              <a:rPr lang="en-US" altLang="en-US" sz="2400" dirty="0">
                <a:latin typeface="Times New Roman" panose="02020603050405020304" pitchFamily="18" charset="0"/>
                <a:cs typeface="Times New Roman" panose="02020603050405020304" pitchFamily="18" charset="0"/>
              </a:rPr>
              <a:t>: </a:t>
            </a:r>
          </a:p>
          <a:p>
            <a:pPr lvl="2" algn="just" eaLnBrk="1" hangingPunct="1"/>
            <a:r>
              <a:rPr lang="en-US" altLang="en-US" sz="2000" b="1" dirty="0">
                <a:latin typeface="Times New Roman" panose="02020603050405020304" pitchFamily="18" charset="0"/>
                <a:cs typeface="Times New Roman" panose="02020603050405020304" pitchFamily="18" charset="0"/>
              </a:rPr>
              <a:t>Internal fragmentation</a:t>
            </a:r>
            <a:r>
              <a:rPr lang="en-US" altLang="en-US" sz="2000" dirty="0">
                <a:latin typeface="Times New Roman" panose="02020603050405020304" pitchFamily="18" charset="0"/>
                <a:cs typeface="Times New Roman" panose="02020603050405020304" pitchFamily="18" charset="0"/>
              </a:rPr>
              <a:t>. </a:t>
            </a:r>
          </a:p>
          <a:p>
            <a:pPr lvl="2" algn="just" eaLnBrk="1" hangingPunct="1"/>
            <a:r>
              <a:rPr lang="en-US" altLang="en-US" sz="2000" dirty="0">
                <a:latin typeface="Times New Roman" panose="02020603050405020304" pitchFamily="18" charset="0"/>
                <a:cs typeface="Times New Roman" panose="02020603050405020304" pitchFamily="18" charset="0"/>
              </a:rPr>
              <a:t>After the programs are loaded to run, the two programs both </a:t>
            </a:r>
            <a:r>
              <a:rPr lang="en-US" altLang="en-US" sz="2000" b="1" dirty="0">
                <a:latin typeface="Times New Roman" panose="02020603050405020304" pitchFamily="18" charset="0"/>
                <a:cs typeface="Times New Roman" panose="02020603050405020304" pitchFamily="18" charset="0"/>
              </a:rPr>
              <a:t>reference absolute physical memory</a:t>
            </a:r>
            <a:r>
              <a:rPr lang="en-US" altLang="en-US" sz="2000" dirty="0">
                <a:latin typeface="Times New Roman" panose="02020603050405020304" pitchFamily="18" charset="0"/>
                <a:cs typeface="Times New Roman" panose="02020603050405020304" pitchFamily="18" charset="0"/>
              </a:rPr>
              <a:t> → we want each program to reference a private set of addresses local to it. Number of programs are limited.</a:t>
            </a:r>
          </a:p>
        </p:txBody>
      </p:sp>
      <p:sp>
        <p:nvSpPr>
          <p:cNvPr id="12292" name="Rectangle 4"/>
          <p:cNvSpPr>
            <a:spLocks/>
          </p:cNvSpPr>
          <p:nvPr/>
        </p:nvSpPr>
        <p:spPr bwMode="auto">
          <a:xfrm>
            <a:off x="762000" y="5334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Multiple Programs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0467">
                                            <p:txEl>
                                              <p:pRg st="0" end="0"/>
                                            </p:txEl>
                                          </p:spTgt>
                                        </p:tgtEl>
                                        <p:attrNameLst>
                                          <p:attrName>style.visibility</p:attrName>
                                        </p:attrNameLst>
                                      </p:cBhvr>
                                      <p:to>
                                        <p:strVal val="visible"/>
                                      </p:to>
                                    </p:set>
                                    <p:animEffect transition="in" filter="blinds(horizontal)">
                                      <p:cBhvr>
                                        <p:cTn id="7" dur="500"/>
                                        <p:tgtEl>
                                          <p:spTgt spid="1904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0467">
                                            <p:txEl>
                                              <p:pRg st="1" end="1"/>
                                            </p:txEl>
                                          </p:spTgt>
                                        </p:tgtEl>
                                        <p:attrNameLst>
                                          <p:attrName>style.visibility</p:attrName>
                                        </p:attrNameLst>
                                      </p:cBhvr>
                                      <p:to>
                                        <p:strVal val="visible"/>
                                      </p:to>
                                    </p:set>
                                    <p:animEffect transition="in" filter="blinds(horizontal)">
                                      <p:cBhvr>
                                        <p:cTn id="12" dur="500"/>
                                        <p:tgtEl>
                                          <p:spTgt spid="1904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0467">
                                            <p:txEl>
                                              <p:pRg st="2" end="2"/>
                                            </p:txEl>
                                          </p:spTgt>
                                        </p:tgtEl>
                                        <p:attrNameLst>
                                          <p:attrName>style.visibility</p:attrName>
                                        </p:attrNameLst>
                                      </p:cBhvr>
                                      <p:to>
                                        <p:strVal val="visible"/>
                                      </p:to>
                                    </p:set>
                                    <p:animEffect transition="in" filter="blinds(horizontal)">
                                      <p:cBhvr>
                                        <p:cTn id="17" dur="500"/>
                                        <p:tgtEl>
                                          <p:spTgt spid="1904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0467">
                                            <p:txEl>
                                              <p:pRg st="3" end="3"/>
                                            </p:txEl>
                                          </p:spTgt>
                                        </p:tgtEl>
                                        <p:attrNameLst>
                                          <p:attrName>style.visibility</p:attrName>
                                        </p:attrNameLst>
                                      </p:cBhvr>
                                      <p:to>
                                        <p:strVal val="visible"/>
                                      </p:to>
                                    </p:set>
                                    <p:animEffect transition="in" filter="blinds(horizontal)">
                                      <p:cBhvr>
                                        <p:cTn id="22" dur="500"/>
                                        <p:tgtEl>
                                          <p:spTgt spid="190467">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90467">
                                            <p:txEl>
                                              <p:pRg st="4" end="4"/>
                                            </p:txEl>
                                          </p:spTgt>
                                        </p:tgtEl>
                                        <p:attrNameLst>
                                          <p:attrName>style.visibility</p:attrName>
                                        </p:attrNameLst>
                                      </p:cBhvr>
                                      <p:to>
                                        <p:strVal val="visible"/>
                                      </p:to>
                                    </p:set>
                                    <p:animEffect transition="in" filter="blinds(horizontal)">
                                      <p:cBhvr>
                                        <p:cTn id="25" dur="500"/>
                                        <p:tgtEl>
                                          <p:spTgt spid="190467">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90467">
                                            <p:txEl>
                                              <p:pRg st="5" end="5"/>
                                            </p:txEl>
                                          </p:spTgt>
                                        </p:tgtEl>
                                        <p:attrNameLst>
                                          <p:attrName>style.visibility</p:attrName>
                                        </p:attrNameLst>
                                      </p:cBhvr>
                                      <p:to>
                                        <p:strVal val="visible"/>
                                      </p:to>
                                    </p:set>
                                    <p:animEffect transition="in" filter="blinds(horizontal)">
                                      <p:cBhvr>
                                        <p:cTn id="28" dur="500"/>
                                        <p:tgtEl>
                                          <p:spTgt spid="190467">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90467">
                                            <p:txEl>
                                              <p:pRg st="6" end="6"/>
                                            </p:txEl>
                                          </p:spTgt>
                                        </p:tgtEl>
                                        <p:attrNameLst>
                                          <p:attrName>style.visibility</p:attrName>
                                        </p:attrNameLst>
                                      </p:cBhvr>
                                      <p:to>
                                        <p:strVal val="visible"/>
                                      </p:to>
                                    </p:set>
                                    <p:animEffect transition="in" filter="blinds(horizontal)">
                                      <p:cBhvr>
                                        <p:cTn id="33" dur="500"/>
                                        <p:tgtEl>
                                          <p:spTgt spid="190467">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90467">
                                            <p:txEl>
                                              <p:pRg st="7" end="7"/>
                                            </p:txEl>
                                          </p:spTgt>
                                        </p:tgtEl>
                                        <p:attrNameLst>
                                          <p:attrName>style.visibility</p:attrName>
                                        </p:attrNameLst>
                                      </p:cBhvr>
                                      <p:to>
                                        <p:strVal val="visible"/>
                                      </p:to>
                                    </p:set>
                                    <p:animEffect transition="in" filter="blinds(horizontal)">
                                      <p:cBhvr>
                                        <p:cTn id="36" dur="500"/>
                                        <p:tgtEl>
                                          <p:spTgt spid="190467">
                                            <p:txEl>
                                              <p:pRg st="7" end="7"/>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90467">
                                            <p:txEl>
                                              <p:pRg st="8" end="8"/>
                                            </p:txEl>
                                          </p:spTgt>
                                        </p:tgtEl>
                                        <p:attrNameLst>
                                          <p:attrName>style.visibility</p:attrName>
                                        </p:attrNameLst>
                                      </p:cBhvr>
                                      <p:to>
                                        <p:strVal val="visible"/>
                                      </p:to>
                                    </p:set>
                                    <p:animEffect transition="in" filter="blinds(horizontal)">
                                      <p:cBhvr>
                                        <p:cTn id="39" dur="500"/>
                                        <p:tgtEl>
                                          <p:spTgt spid="1904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914400" y="0"/>
            <a:ext cx="8229600" cy="914400"/>
          </a:xfrm>
        </p:spPr>
        <p:txBody>
          <a:bodyPr/>
          <a:lstStyle/>
          <a:p>
            <a:r>
              <a:rPr lang="en-US" altLang="en-US" sz="4000" b="1">
                <a:latin typeface="Times New Roman" panose="02020603050405020304" pitchFamily="18" charset="0"/>
                <a:cs typeface="Times New Roman" panose="02020603050405020304" pitchFamily="18" charset="0"/>
              </a:rPr>
              <a:t>No Memory Abstractions</a:t>
            </a:r>
          </a:p>
        </p:txBody>
      </p:sp>
      <p:sp>
        <p:nvSpPr>
          <p:cNvPr id="13315" name="Rectangle 4"/>
          <p:cNvSpPr>
            <a:spLocks/>
          </p:cNvSpPr>
          <p:nvPr/>
        </p:nvSpPr>
        <p:spPr bwMode="auto">
          <a:xfrm>
            <a:off x="762000" y="6858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Multiple Programs</a:t>
            </a:r>
          </a:p>
        </p:txBody>
      </p:sp>
      <p:pic>
        <p:nvPicPr>
          <p:cNvPr id="13316" name="Picture 7" descr="03-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371600"/>
            <a:ext cx="571500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8" name="Text Box 4"/>
          <p:cNvSpPr txBox="1">
            <a:spLocks noChangeArrowheads="1"/>
          </p:cNvSpPr>
          <p:nvPr/>
        </p:nvSpPr>
        <p:spPr bwMode="auto">
          <a:xfrm>
            <a:off x="6858000" y="26670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3-2.</a:t>
            </a:r>
          </a:p>
        </p:txBody>
      </p:sp>
      <p:pic>
        <p:nvPicPr>
          <p:cNvPr id="2" name="Picture 1">
            <a:extLst>
              <a:ext uri="{FF2B5EF4-FFF2-40B4-BE49-F238E27FC236}">
                <a16:creationId xmlns:a16="http://schemas.microsoft.com/office/drawing/2014/main" id="{B0A57375-2D09-4B3F-804D-5D69DE90C976}"/>
              </a:ext>
            </a:extLst>
          </p:cNvPr>
          <p:cNvPicPr>
            <a:picLocks noChangeAspect="1"/>
          </p:cNvPicPr>
          <p:nvPr/>
        </p:nvPicPr>
        <p:blipFill>
          <a:blip r:embed="rId4"/>
          <a:stretch>
            <a:fillRect/>
          </a:stretch>
        </p:blipFill>
        <p:spPr>
          <a:xfrm>
            <a:off x="609601" y="2190749"/>
            <a:ext cx="3962400" cy="9334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1558"/>
                                        </p:tgtEl>
                                        <p:attrNameLst>
                                          <p:attrName>style.visibility</p:attrName>
                                        </p:attrNameLst>
                                      </p:cBhvr>
                                      <p:to>
                                        <p:strVal val="visible"/>
                                      </p:to>
                                    </p:set>
                                    <p:animEffect transition="in" filter="box(in)">
                                      <p:cBhvr>
                                        <p:cTn id="7" dur="500"/>
                                        <p:tgtEl>
                                          <p:spTgt spid="151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5"/>
          <p:cNvGrpSpPr>
            <a:grpSpLocks/>
          </p:cNvGrpSpPr>
          <p:nvPr/>
        </p:nvGrpSpPr>
        <p:grpSpPr bwMode="auto">
          <a:xfrm>
            <a:off x="76200" y="1905000"/>
            <a:ext cx="5530850" cy="4532313"/>
            <a:chOff x="76200" y="1905000"/>
            <a:chExt cx="5530850" cy="4532313"/>
          </a:xfrm>
        </p:grpSpPr>
        <p:pic>
          <p:nvPicPr>
            <p:cNvPr id="14342"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5029200"/>
              <a:ext cx="3016250" cy="140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Line 8"/>
            <p:cNvSpPr>
              <a:spLocks noChangeShapeType="1"/>
            </p:cNvSpPr>
            <p:nvPr/>
          </p:nvSpPr>
          <p:spPr bwMode="auto">
            <a:xfrm>
              <a:off x="152400" y="3733800"/>
              <a:ext cx="1219200"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4" name="Text Box 9"/>
            <p:cNvSpPr txBox="1">
              <a:spLocks noChangeArrowheads="1"/>
            </p:cNvSpPr>
            <p:nvPr/>
          </p:nvSpPr>
          <p:spPr bwMode="auto">
            <a:xfrm>
              <a:off x="76200" y="3352800"/>
              <a:ext cx="1066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Relative address</a:t>
              </a:r>
            </a:p>
          </p:txBody>
        </p:sp>
        <p:sp>
          <p:nvSpPr>
            <p:cNvPr id="14345" name="Oval 11"/>
            <p:cNvSpPr>
              <a:spLocks noChangeArrowheads="1"/>
            </p:cNvSpPr>
            <p:nvPr/>
          </p:nvSpPr>
          <p:spPr bwMode="auto">
            <a:xfrm>
              <a:off x="1371600" y="3505200"/>
              <a:ext cx="5334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latin typeface="Times New Roman" panose="02020603050405020304" pitchFamily="18" charset="0"/>
                  <a:cs typeface="Times New Roman" panose="02020603050405020304" pitchFamily="18" charset="0"/>
                </a:rPr>
                <a:t>+</a:t>
              </a:r>
            </a:p>
          </p:txBody>
        </p:sp>
        <p:cxnSp>
          <p:nvCxnSpPr>
            <p:cNvPr id="14346" name="AutoShape 22"/>
            <p:cNvCxnSpPr>
              <a:cxnSpLocks noChangeShapeType="1"/>
            </p:cNvCxnSpPr>
            <p:nvPr/>
          </p:nvCxnSpPr>
          <p:spPr bwMode="auto">
            <a:xfrm>
              <a:off x="1600200" y="2362200"/>
              <a:ext cx="0" cy="1143000"/>
            </a:xfrm>
            <a:prstGeom prst="straightConnector1">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4347" name="Line 23"/>
            <p:cNvSpPr>
              <a:spLocks noChangeShapeType="1"/>
            </p:cNvSpPr>
            <p:nvPr/>
          </p:nvSpPr>
          <p:spPr bwMode="auto">
            <a:xfrm>
              <a:off x="1905000" y="3733800"/>
              <a:ext cx="243840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8" name="Rectangle 25"/>
            <p:cNvSpPr>
              <a:spLocks noChangeArrowheads="1"/>
            </p:cNvSpPr>
            <p:nvPr/>
          </p:nvSpPr>
          <p:spPr bwMode="auto">
            <a:xfrm>
              <a:off x="609600" y="1905000"/>
              <a:ext cx="2133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a:latin typeface="Times New Roman" panose="02020603050405020304" pitchFamily="18" charset="0"/>
                  <a:cs typeface="Times New Roman" panose="02020603050405020304" pitchFamily="18" charset="0"/>
                </a:rPr>
                <a:t>Loaded address n</a:t>
              </a:r>
            </a:p>
          </p:txBody>
        </p:sp>
        <p:cxnSp>
          <p:nvCxnSpPr>
            <p:cNvPr id="14349" name="AutoShape 31"/>
            <p:cNvCxnSpPr>
              <a:cxnSpLocks noChangeShapeType="1"/>
            </p:cNvCxnSpPr>
            <p:nvPr/>
          </p:nvCxnSpPr>
          <p:spPr bwMode="auto">
            <a:xfrm>
              <a:off x="4343400" y="3733800"/>
              <a:ext cx="0" cy="1524000"/>
            </a:xfrm>
            <a:prstGeom prst="straightConnector1">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4350" name="Text Box 32"/>
            <p:cNvSpPr txBox="1">
              <a:spLocks noChangeArrowheads="1"/>
            </p:cNvSpPr>
            <p:nvPr/>
          </p:nvSpPr>
          <p:spPr bwMode="auto">
            <a:xfrm>
              <a:off x="1905000" y="3343850"/>
              <a:ext cx="2362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To load at real added addresses</a:t>
              </a:r>
            </a:p>
          </p:txBody>
        </p:sp>
      </p:grpSp>
      <p:sp>
        <p:nvSpPr>
          <p:cNvPr id="14339" name="Rectangle 2"/>
          <p:cNvSpPr>
            <a:spLocks noGrp="1"/>
          </p:cNvSpPr>
          <p:nvPr>
            <p:ph type="title"/>
          </p:nvPr>
        </p:nvSpPr>
        <p:spPr>
          <a:xfrm>
            <a:off x="914400" y="0"/>
            <a:ext cx="8229600" cy="914400"/>
          </a:xfrm>
        </p:spPr>
        <p:txBody>
          <a:bodyPr/>
          <a:lstStyle/>
          <a:p>
            <a:r>
              <a:rPr lang="en-US" altLang="en-US" sz="4000" b="1">
                <a:latin typeface="Times New Roman" panose="02020603050405020304" pitchFamily="18" charset="0"/>
                <a:cs typeface="Times New Roman" panose="02020603050405020304" pitchFamily="18" charset="0"/>
              </a:rPr>
              <a:t>No Memory Abstractions</a:t>
            </a:r>
          </a:p>
        </p:txBody>
      </p:sp>
      <p:sp>
        <p:nvSpPr>
          <p:cNvPr id="14340" name="Rectangle 4"/>
          <p:cNvSpPr>
            <a:spLocks/>
          </p:cNvSpPr>
          <p:nvPr/>
        </p:nvSpPr>
        <p:spPr bwMode="auto">
          <a:xfrm>
            <a:off x="762000" y="6858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Multiple Programs</a:t>
            </a:r>
          </a:p>
        </p:txBody>
      </p:sp>
      <p:sp>
        <p:nvSpPr>
          <p:cNvPr id="10247" name="Text Box 7"/>
          <p:cNvSpPr txBox="1">
            <a:spLocks noChangeArrowheads="1"/>
          </p:cNvSpPr>
          <p:nvPr/>
        </p:nvSpPr>
        <p:spPr bwMode="auto">
          <a:xfrm>
            <a:off x="4724400" y="1317625"/>
            <a:ext cx="4419600" cy="55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Tx/>
              <a:buChar char="•"/>
            </a:pPr>
            <a:r>
              <a:rPr lang="en-US" altLang="en-US" sz="2400" b="1">
                <a:latin typeface="Times New Roman" panose="02020603050405020304" pitchFamily="18" charset="0"/>
                <a:cs typeface="Times New Roman" panose="02020603050405020304" pitchFamily="18" charset="0"/>
              </a:rPr>
              <a:t>Solution</a:t>
            </a:r>
          </a:p>
          <a:p>
            <a:pPr lvl="1" eaLnBrk="1" hangingPunct="1">
              <a:spcBef>
                <a:spcPct val="20000"/>
              </a:spcBef>
              <a:buFontTx/>
              <a:buChar char="•"/>
            </a:pPr>
            <a:r>
              <a:rPr lang="en-US" altLang="en-US" sz="2400" b="1">
                <a:latin typeface="Times New Roman" panose="02020603050405020304" pitchFamily="18" charset="0"/>
                <a:cs typeface="Times New Roman" panose="02020603050405020304" pitchFamily="18" charset="0"/>
              </a:rPr>
              <a:t>Static</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relocation</a:t>
            </a:r>
            <a:r>
              <a:rPr lang="en-US" altLang="en-US" sz="2400">
                <a:latin typeface="Times New Roman" panose="02020603050405020304" pitchFamily="18" charset="0"/>
                <a:cs typeface="Times New Roman" panose="02020603050405020304" pitchFamily="18" charset="0"/>
              </a:rPr>
              <a:t> technique</a:t>
            </a:r>
          </a:p>
          <a:p>
            <a:pPr lvl="2" algn="just" eaLnBrk="1" hangingPunct="1">
              <a:spcBef>
                <a:spcPct val="20000"/>
              </a:spcBef>
              <a:buFontTx/>
              <a:buChar char="•"/>
            </a:pPr>
            <a:r>
              <a:rPr lang="en-US" altLang="en-US" sz="2000">
                <a:latin typeface="Times New Roman" panose="02020603050405020304" pitchFamily="18" charset="0"/>
                <a:cs typeface="Times New Roman" panose="02020603050405020304" pitchFamily="18" charset="0"/>
              </a:rPr>
              <a:t>At the </a:t>
            </a:r>
            <a:r>
              <a:rPr lang="en-US" altLang="en-US" sz="2000" b="1">
                <a:latin typeface="Times New Roman" panose="02020603050405020304" pitchFamily="18" charset="0"/>
                <a:cs typeface="Times New Roman" panose="02020603050405020304" pitchFamily="18" charset="0"/>
              </a:rPr>
              <a:t>compile time</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address</a:t>
            </a:r>
            <a:r>
              <a:rPr lang="en-US" altLang="en-US" sz="2000">
                <a:latin typeface="Times New Roman" panose="02020603050405020304" pitchFamily="18" charset="0"/>
                <a:cs typeface="Times New Roman" panose="02020603050405020304" pitchFamily="18" charset="0"/>
              </a:rPr>
              <a:t> of program </a:t>
            </a:r>
            <a:r>
              <a:rPr lang="en-US" altLang="en-US" sz="2000" b="1">
                <a:latin typeface="Times New Roman" panose="02020603050405020304" pitchFamily="18" charset="0"/>
                <a:cs typeface="Times New Roman" panose="02020603050405020304" pitchFamily="18" charset="0"/>
              </a:rPr>
              <a:t>is</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relative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addresses</a:t>
            </a:r>
            <a:r>
              <a:rPr lang="en-US" altLang="en-US" sz="2000">
                <a:latin typeface="Times New Roman" panose="02020603050405020304" pitchFamily="18" charset="0"/>
                <a:cs typeface="Times New Roman" panose="02020603050405020304" pitchFamily="18" charset="0"/>
              </a:rPr>
              <a:t>.</a:t>
            </a:r>
          </a:p>
          <a:p>
            <a:pPr lvl="2" algn="just" eaLnBrk="1" hangingPunct="1">
              <a:spcBef>
                <a:spcPct val="20000"/>
              </a:spcBef>
              <a:buFontTx/>
              <a:buChar char="•"/>
            </a:pPr>
            <a:r>
              <a:rPr lang="en-US" altLang="en-US" sz="2000" b="1">
                <a:latin typeface="Times New Roman" panose="02020603050405020304" pitchFamily="18" charset="0"/>
                <a:cs typeface="Times New Roman" panose="02020603050405020304" pitchFamily="18" charset="0"/>
              </a:rPr>
              <a:t>At</a:t>
            </a:r>
            <a:r>
              <a:rPr lang="en-US" altLang="en-US" sz="2000">
                <a:latin typeface="Times New Roman" panose="02020603050405020304" pitchFamily="18" charset="0"/>
                <a:cs typeface="Times New Roman" panose="02020603050405020304" pitchFamily="18" charset="0"/>
              </a:rPr>
              <a:t> the time when the program is </a:t>
            </a:r>
            <a:r>
              <a:rPr lang="en-US" altLang="en-US" sz="2000" b="1">
                <a:latin typeface="Times New Roman" panose="02020603050405020304" pitchFamily="18" charset="0"/>
                <a:cs typeface="Times New Roman" panose="02020603050405020304" pitchFamily="18" charset="0"/>
              </a:rPr>
              <a:t>loaded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into</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memory</a:t>
            </a:r>
            <a:r>
              <a:rPr lang="en-US" altLang="en-US" sz="2000">
                <a:latin typeface="Times New Roman" panose="02020603050405020304" pitchFamily="18" charset="0"/>
                <a:cs typeface="Times New Roman" panose="02020603050405020304" pitchFamily="18" charset="0"/>
              </a:rPr>
              <a:t> at </a:t>
            </a:r>
            <a:r>
              <a:rPr lang="en-US" altLang="en-US" sz="2000" b="1">
                <a:latin typeface="Times New Roman" panose="02020603050405020304" pitchFamily="18" charset="0"/>
                <a:cs typeface="Times New Roman" panose="02020603050405020304" pitchFamily="18" charset="0"/>
              </a:rPr>
              <a:t>address n,</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constant n</a:t>
            </a:r>
            <a:r>
              <a:rPr lang="en-US" altLang="en-US" sz="2000">
                <a:latin typeface="Times New Roman" panose="02020603050405020304" pitchFamily="18" charset="0"/>
                <a:cs typeface="Times New Roman" panose="02020603050405020304" pitchFamily="18" charset="0"/>
              </a:rPr>
              <a:t> was </a:t>
            </a:r>
            <a:r>
              <a:rPr lang="en-US" altLang="en-US" sz="2000" b="1">
                <a:latin typeface="Times New Roman" panose="02020603050405020304" pitchFamily="18" charset="0"/>
                <a:cs typeface="Times New Roman" panose="02020603050405020304" pitchFamily="18" charset="0"/>
              </a:rPr>
              <a:t>added</a:t>
            </a:r>
            <a:r>
              <a:rPr lang="en-US" altLang="en-US" sz="2000">
                <a:latin typeface="Times New Roman" panose="02020603050405020304" pitchFamily="18" charset="0"/>
                <a:cs typeface="Times New Roman" panose="02020603050405020304" pitchFamily="18" charset="0"/>
              </a:rPr>
              <a:t> to </a:t>
            </a:r>
            <a:r>
              <a:rPr lang="en-US" altLang="en-US" sz="2000" b="1">
                <a:latin typeface="Times New Roman" panose="02020603050405020304" pitchFamily="18" charset="0"/>
                <a:cs typeface="Times New Roman" panose="02020603050405020304" pitchFamily="18" charset="0"/>
              </a:rPr>
              <a:t>every program address </a:t>
            </a:r>
            <a:r>
              <a:rPr lang="en-US" altLang="en-US" sz="2000">
                <a:latin typeface="Times New Roman" panose="02020603050405020304" pitchFamily="18" charset="0"/>
                <a:cs typeface="Times New Roman" panose="02020603050405020304" pitchFamily="18" charset="0"/>
              </a:rPr>
              <a:t>during the load process </a:t>
            </a:r>
          </a:p>
          <a:p>
            <a:pPr lvl="2" algn="just" eaLnBrk="1" hangingPunct="1">
              <a:spcBef>
                <a:spcPct val="20000"/>
              </a:spcBef>
            </a:pP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After</a:t>
            </a:r>
            <a:r>
              <a:rPr lang="en-US" altLang="en-US" sz="2000">
                <a:latin typeface="Times New Roman" panose="02020603050405020304" pitchFamily="18" charset="0"/>
                <a:cs typeface="Times New Roman" panose="02020603050405020304" pitchFamily="18" charset="0"/>
              </a:rPr>
              <a:t> loaded, the </a:t>
            </a:r>
            <a:r>
              <a:rPr lang="en-US" altLang="en-US" sz="2000" b="1">
                <a:latin typeface="Times New Roman" panose="02020603050405020304" pitchFamily="18" charset="0"/>
                <a:cs typeface="Times New Roman" panose="02020603050405020304" pitchFamily="18" charset="0"/>
              </a:rPr>
              <a:t>process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cannot change </a:t>
            </a:r>
            <a:r>
              <a:rPr lang="en-US" altLang="en-US" sz="2000">
                <a:latin typeface="Times New Roman" panose="02020603050405020304" pitchFamily="18" charset="0"/>
                <a:cs typeface="Times New Roman" panose="02020603050405020304" pitchFamily="18" charset="0"/>
              </a:rPr>
              <a:t>its </a:t>
            </a:r>
            <a:r>
              <a:rPr lang="en-US" altLang="en-US" sz="2000" b="1">
                <a:latin typeface="Times New Roman" panose="02020603050405020304" pitchFamily="18" charset="0"/>
                <a:cs typeface="Times New Roman" panose="02020603050405020304" pitchFamily="18" charset="0"/>
              </a:rPr>
              <a:t>location</a:t>
            </a:r>
            <a:r>
              <a:rPr lang="en-US" altLang="en-US" sz="2000">
                <a:latin typeface="Times New Roman" panose="02020603050405020304" pitchFamily="18" charset="0"/>
                <a:cs typeface="Times New Roman" panose="02020603050405020304" pitchFamily="18" charset="0"/>
              </a:rPr>
              <a:t> in memory (static address)</a:t>
            </a:r>
          </a:p>
          <a:p>
            <a:pPr lvl="2" algn="just" eaLnBrk="1" hangingPunct="1">
              <a:spcBef>
                <a:spcPct val="20000"/>
              </a:spcBef>
            </a:pP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Slow down </a:t>
            </a:r>
            <a:r>
              <a:rPr lang="en-US" altLang="en-US" sz="2000">
                <a:latin typeface="Times New Roman" panose="02020603050405020304" pitchFamily="18" charset="0"/>
                <a:cs typeface="Times New Roman" panose="02020603050405020304" pitchFamily="18" charset="0"/>
              </a:rPr>
              <a:t>loading</a:t>
            </a:r>
          </a:p>
          <a:p>
            <a:pPr lvl="2" algn="just" eaLnBrk="1" hangingPunct="1">
              <a:spcBef>
                <a:spcPct val="20000"/>
              </a:spcBef>
            </a:pP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Not protection </a:t>
            </a:r>
            <a:r>
              <a:rPr lang="en-US" altLang="en-US" sz="2000">
                <a:latin typeface="Times New Roman" panose="02020603050405020304" pitchFamily="18" charset="0"/>
                <a:cs typeface="Times New Roman" panose="02020603050405020304" pitchFamily="18" charset="0"/>
              </a:rPr>
              <a:t>inside process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247">
                                            <p:txEl>
                                              <p:pRg st="2" end="2"/>
                                            </p:txEl>
                                          </p:spTgt>
                                        </p:tgtEl>
                                        <p:attrNameLst>
                                          <p:attrName>style.visibility</p:attrName>
                                        </p:attrNameLst>
                                      </p:cBhvr>
                                      <p:to>
                                        <p:strVal val="visible"/>
                                      </p:to>
                                    </p:set>
                                    <p:animEffect transition="in" filter="box(in)">
                                      <p:cBhvr>
                                        <p:cTn id="12" dur="500"/>
                                        <p:tgtEl>
                                          <p:spTgt spid="10247">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10247">
                                            <p:txEl>
                                              <p:pRg st="3" end="3"/>
                                            </p:txEl>
                                          </p:spTgt>
                                        </p:tgtEl>
                                        <p:attrNameLst>
                                          <p:attrName>style.visibility</p:attrName>
                                        </p:attrNameLst>
                                      </p:cBhvr>
                                      <p:to>
                                        <p:strVal val="visible"/>
                                      </p:to>
                                    </p:set>
                                    <p:animEffect transition="in" filter="box(in)">
                                      <p:cBhvr>
                                        <p:cTn id="15" dur="500"/>
                                        <p:tgtEl>
                                          <p:spTgt spid="10247">
                                            <p:txEl>
                                              <p:pRg st="3" end="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10247">
                                            <p:txEl>
                                              <p:pRg st="4" end="4"/>
                                            </p:txEl>
                                          </p:spTgt>
                                        </p:tgtEl>
                                        <p:attrNameLst>
                                          <p:attrName>style.visibility</p:attrName>
                                        </p:attrNameLst>
                                      </p:cBhvr>
                                      <p:to>
                                        <p:strVal val="visible"/>
                                      </p:to>
                                    </p:set>
                                    <p:animEffect transition="in" filter="box(in)">
                                      <p:cBhvr>
                                        <p:cTn id="18" dur="500"/>
                                        <p:tgtEl>
                                          <p:spTgt spid="10247">
                                            <p:txEl>
                                              <p:pRg st="4" end="4"/>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10247">
                                            <p:txEl>
                                              <p:pRg st="5" end="5"/>
                                            </p:txEl>
                                          </p:spTgt>
                                        </p:tgtEl>
                                        <p:attrNameLst>
                                          <p:attrName>style.visibility</p:attrName>
                                        </p:attrNameLst>
                                      </p:cBhvr>
                                      <p:to>
                                        <p:strVal val="visible"/>
                                      </p:to>
                                    </p:set>
                                    <p:animEffect transition="in" filter="box(in)">
                                      <p:cBhvr>
                                        <p:cTn id="21" dur="500"/>
                                        <p:tgtEl>
                                          <p:spTgt spid="10247">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10247">
                                            <p:txEl>
                                              <p:pRg st="6" end="6"/>
                                            </p:txEl>
                                          </p:spTgt>
                                        </p:tgtEl>
                                        <p:attrNameLst>
                                          <p:attrName>style.visibility</p:attrName>
                                        </p:attrNameLst>
                                      </p:cBhvr>
                                      <p:to>
                                        <p:strVal val="visible"/>
                                      </p:to>
                                    </p:set>
                                    <p:animEffect transition="in" filter="box(in)">
                                      <p:cBhvr>
                                        <p:cTn id="24" dur="500"/>
                                        <p:tgtEl>
                                          <p:spTgt spid="102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15363" name="Rectangle 3"/>
          <p:cNvSpPr>
            <a:spLocks noGrp="1"/>
          </p:cNvSpPr>
          <p:nvPr>
            <p:ph type="body" idx="1"/>
          </p:nvPr>
        </p:nvSpPr>
        <p:spPr>
          <a:xfrm>
            <a:off x="457200" y="1600200"/>
            <a:ext cx="82296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No Memory Abstraction</a:t>
            </a:r>
          </a:p>
        </p:txBody>
      </p:sp>
      <p:sp>
        <p:nvSpPr>
          <p:cNvPr id="15364"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Next Lecture</a:t>
            </a:r>
          </a:p>
        </p:txBody>
      </p:sp>
      <p:sp>
        <p:nvSpPr>
          <p:cNvPr id="16387" name="Rectangle 3"/>
          <p:cNvSpPr>
            <a:spLocks noGrp="1"/>
          </p:cNvSpPr>
          <p:nvPr>
            <p:ph type="body" idx="1"/>
          </p:nvPr>
        </p:nvSpPr>
        <p:spPr>
          <a:xfrm>
            <a:off x="457200" y="1600200"/>
            <a:ext cx="82296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A Memory Abstraction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12566</TotalTime>
  <Words>1402</Words>
  <Application>Microsoft Office PowerPoint</Application>
  <PresentationFormat>On-screen Show (4:3)</PresentationFormat>
  <Paragraphs>160</Paragraphs>
  <Slides>15</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Symbol</vt:lpstr>
      <vt:lpstr>Times New Roman</vt:lpstr>
      <vt:lpstr>Wingdings</vt:lpstr>
      <vt:lpstr>Office Theme</vt:lpstr>
      <vt:lpstr>Memory Management   No Memory Abstraction</vt:lpstr>
      <vt:lpstr>Review</vt:lpstr>
      <vt:lpstr>Review</vt:lpstr>
      <vt:lpstr>Review</vt:lpstr>
      <vt:lpstr>Review</vt:lpstr>
      <vt:lpstr>Objectives</vt:lpstr>
      <vt:lpstr>PowerPoint Presentation</vt:lpstr>
      <vt:lpstr>No Memory Abstractions</vt:lpstr>
      <vt:lpstr>No Memory Abstractions  Simplest </vt:lpstr>
      <vt:lpstr>No Memory Abstractions</vt:lpstr>
      <vt:lpstr>No Memory Abstractions</vt:lpstr>
      <vt:lpstr>No Memory Abstractions</vt:lpstr>
      <vt:lpstr>No Memory Abstractions</vt:lpstr>
      <vt:lpstr>Summary</vt:lpstr>
      <vt:lpstr>Next Lecture</vt:lpstr>
    </vt:vector>
  </TitlesOfParts>
  <Company>FPT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PFC: Module A - Introduction</dc:title>
  <dc:creator>Phan Truong Lam</dc:creator>
  <cp:lastModifiedBy>Tong Phuoc Quan (FE FPTU HCM)</cp:lastModifiedBy>
  <cp:revision>2089</cp:revision>
  <dcterms:created xsi:type="dcterms:W3CDTF">2007-08-21T04:43:22Z</dcterms:created>
  <dcterms:modified xsi:type="dcterms:W3CDTF">2021-09-30T10:22:02Z</dcterms:modified>
</cp:coreProperties>
</file>