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6"/>
  </p:notesMasterIdLst>
  <p:sldIdLst>
    <p:sldId id="256" r:id="rId2"/>
    <p:sldId id="481" r:id="rId3"/>
    <p:sldId id="480" r:id="rId4"/>
    <p:sldId id="482" r:id="rId5"/>
    <p:sldId id="414" r:id="rId6"/>
    <p:sldId id="419" r:id="rId7"/>
    <p:sldId id="377" r:id="rId8"/>
    <p:sldId id="382" r:id="rId9"/>
    <p:sldId id="379" r:id="rId10"/>
    <p:sldId id="378" r:id="rId11"/>
    <p:sldId id="472" r:id="rId12"/>
    <p:sldId id="466" r:id="rId13"/>
    <p:sldId id="402" r:id="rId14"/>
    <p:sldId id="467" r:id="rId15"/>
    <p:sldId id="403" r:id="rId16"/>
    <p:sldId id="405" r:id="rId17"/>
    <p:sldId id="426" r:id="rId18"/>
    <p:sldId id="404" r:id="rId19"/>
    <p:sldId id="470" r:id="rId20"/>
    <p:sldId id="483" r:id="rId21"/>
    <p:sldId id="484" r:id="rId22"/>
    <p:sldId id="485" r:id="rId23"/>
    <p:sldId id="486" r:id="rId24"/>
    <p:sldId id="487" r:id="rId25"/>
    <p:sldId id="488" r:id="rId26"/>
    <p:sldId id="489" r:id="rId27"/>
    <p:sldId id="490" r:id="rId28"/>
    <p:sldId id="491" r:id="rId29"/>
    <p:sldId id="492" r:id="rId30"/>
    <p:sldId id="493" r:id="rId31"/>
    <p:sldId id="494" r:id="rId32"/>
    <p:sldId id="495" r:id="rId33"/>
    <p:sldId id="394" r:id="rId34"/>
    <p:sldId id="473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7" autoAdjust="0"/>
    <p:restoredTop sz="95355" autoAdjust="0"/>
  </p:normalViewPr>
  <p:slideViewPr>
    <p:cSldViewPr>
      <p:cViewPr>
        <p:scale>
          <a:sx n="90" d="100"/>
          <a:sy n="90" d="100"/>
        </p:scale>
        <p:origin x="662" y="-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E38280A9-9F85-4CBF-8159-62BEA6E873B3}" type="datetimeFigureOut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6D937E1-E10A-4EC6-90D7-5B1985698F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Chunk: </a:t>
            </a:r>
            <a:r>
              <a:rPr lang="en-US" altLang="en-US" dirty="0" err="1"/>
              <a:t>khúc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altLang="en-US" dirty="0"/>
              <a:t>Terminologies :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endParaRPr lang="en-US" alt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756625-7F33-4C42-AF0D-AD3B571F5AAF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469F7E-229A-42BB-B15E-F5CF82B20FCD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an analogy - imagine that you're trying to locate a house in a city. Imagine that each house was given a unique number - you can imagine that the number of houses would soon get very large and confusing. Now imagine that you introduce the concept of streets - the house numbers now become a bit more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you've grouped them into nice chunks. So: Streets = Page number, house number = offset address.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whole point of having virtual memory pages is to allow the computer to carve memory up into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chunks and not waste too much of it.</a:t>
            </a:r>
            <a:endParaRPr lang="en-US" alt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D91F10-2184-46F7-8BDA-AE9C7EB66A29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512 to 8192 bytes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Pages are typically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512 to 8192 bytes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with 4096 being a typical value. Page size is virtually always a power of two, for reasons to be explained below. Loadable modules are also divided into a number of page frames. Page frames are always the same size as the pages in memory.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page size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[p] = virtual address/s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virtual address – p x s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page frame mapping page p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 x s + d</a:t>
            </a:r>
          </a:p>
          <a:p>
            <a:r>
              <a:rPr lang="en-US" altLang="en-US" dirty="0"/>
              <a:t>s=4096,</a:t>
            </a:r>
          </a:p>
          <a:p>
            <a:r>
              <a:rPr lang="en-US" altLang="en-US" dirty="0"/>
              <a:t>p=20500/4096=5</a:t>
            </a:r>
          </a:p>
          <a:p>
            <a:r>
              <a:rPr lang="en-US" altLang="en-US" dirty="0"/>
              <a:t>d=20500-(5*4096)=20</a:t>
            </a:r>
          </a:p>
          <a:p>
            <a:r>
              <a:rPr lang="en-US" altLang="en-US" dirty="0"/>
              <a:t>Physical=3*4096+20</a:t>
            </a:r>
          </a:p>
          <a:p>
            <a:endParaRPr lang="en-US" alt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 how is paging offset calculated?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offset = A mod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page_size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distance from the beginning of the page.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e.g. address in the process, A = 10,000.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size = 4k.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offset = 10000 mod 4k = 10,000 mod 4096 = 1908.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B47FC21F-A0CB-4E16-9DB1-6B60B5FD7FD3}" type="slidenum">
              <a:rPr lang="en-US" altLang="en-US" sz="1200"/>
              <a:pPr algn="r" eaLnBrk="1" hangingPunct="1"/>
              <a:t>12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have 16 bit virtual address let see what does it mean .It means you have 2**16 =65536 bytes.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bit page number that means there are 16 pages as 2^4=16 Now You Name The Pages As page1,page2...page16.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are left with 12bits let us see how many address can 12 bits represent 2**12=4096 bytes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65536 bytes could also be achieved by dividing it into 16 pages containing 4096 bytes each as 4096*16=65536</a:t>
            </a:r>
          </a:p>
          <a:p>
            <a:endParaRPr lang="en-US" altLang="en-US" dirty="0"/>
          </a:p>
          <a:p>
            <a:r>
              <a:rPr lang="en-US" altLang="en-US" dirty="0"/>
              <a:t>Physical=6*4096+4</a:t>
            </a:r>
          </a:p>
          <a:p>
            <a:endParaRPr lang="en-US" altLang="en-US" dirty="0"/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page size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[p] = virtual address/s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virtual address – p x s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page frame mapping page p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 x s + d</a:t>
            </a:r>
          </a:p>
          <a:p>
            <a:r>
              <a:rPr lang="en-US" altLang="en-US" dirty="0"/>
              <a:t>s=4096,</a:t>
            </a:r>
          </a:p>
          <a:p>
            <a:r>
              <a:rPr lang="en-US" altLang="en-US" dirty="0"/>
              <a:t>p=8196/4096=2</a:t>
            </a:r>
          </a:p>
          <a:p>
            <a:r>
              <a:rPr lang="en-US" altLang="en-US" dirty="0"/>
              <a:t>d=8196-(2*4096)=4</a:t>
            </a:r>
          </a:p>
          <a:p>
            <a:r>
              <a:rPr lang="en-US" altLang="en-US" dirty="0"/>
              <a:t>Physical=6*4096+4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0x1234567 =  19.088.743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4096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19.088.743 / 4096 = 4660 = 0x1234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bit virtual address, 4 KB page sizes</a:t>
            </a:r>
          </a:p>
          <a:p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2^32=4,294,967,296/4096= 1million pages</a:t>
            </a:r>
          </a:p>
          <a:p>
            <a:r>
              <a:rPr lang="en-US" altLang="en-US" dirty="0"/>
              <a:t>P=virtual address space/s</a:t>
            </a:r>
          </a:p>
          <a:p>
            <a:r>
              <a:rPr lang="en-US" altLang="en-US" dirty="0"/>
              <a:t>1 second=1.000.000.000 nano</a:t>
            </a:r>
          </a:p>
          <a:p>
            <a:r>
              <a:rPr lang="en-US" altLang="en-US" dirty="0"/>
              <a:t>1 second= 1000 </a:t>
            </a:r>
            <a:r>
              <a:rPr lang="en-US" altLang="en-US" dirty="0" err="1"/>
              <a:t>mili</a:t>
            </a:r>
            <a:endParaRPr lang="en-US" altLang="en-US" dirty="0"/>
          </a:p>
          <a:p>
            <a:r>
              <a:rPr lang="en-US" altLang="en-US" dirty="0"/>
              <a:t>1 </a:t>
            </a:r>
            <a:r>
              <a:rPr lang="en-US" altLang="en-US" dirty="0" err="1"/>
              <a:t>mili</a:t>
            </a:r>
            <a:r>
              <a:rPr lang="en-US" altLang="en-US" dirty="0"/>
              <a:t>=1.000.000 nano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128K pages = 2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17 bits is used to manage number of page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32K words = 32.768 words = 2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15 bits used to manage page size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32 bits are a result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Drastically: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liệt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Lookaside: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mot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Correspondence: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Evict:thu</a:t>
            </a:r>
            <a:r>
              <a:rPr lang="en-US" altLang="en-US" dirty="0"/>
              <a:t> </a:t>
            </a:r>
            <a:r>
              <a:rPr lang="en-US" altLang="en-US" dirty="0" err="1"/>
              <a:t>hồi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Evict: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hồi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2^23=4,296.967.296/1024/1024/1024=4MB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Decouple : </a:t>
            </a:r>
            <a:r>
              <a:rPr lang="en-US" altLang="en-US" dirty="0" err="1"/>
              <a:t>tách</a:t>
            </a:r>
            <a:r>
              <a:rPr lang="en-US" altLang="en-US" dirty="0"/>
              <a:t> ra</a:t>
            </a:r>
          </a:p>
          <a:p>
            <a:r>
              <a:rPr lang="en-US" altLang="en-US" dirty="0"/>
              <a:t>Inverted: </a:t>
            </a:r>
            <a:r>
              <a:rPr lang="en-US" altLang="en-US" dirty="0" err="1"/>
              <a:t>dao</a:t>
            </a:r>
            <a:r>
              <a:rPr lang="en-US" altLang="en-US" dirty="0"/>
              <a:t> </a:t>
            </a:r>
            <a:r>
              <a:rPr lang="en-US" altLang="en-US" dirty="0" err="1"/>
              <a:t>nguoc</a:t>
            </a:r>
            <a:r>
              <a:rPr lang="en-US" altLang="en-US" dirty="0"/>
              <a:t>, </a:t>
            </a:r>
            <a:r>
              <a:rPr lang="en-US" altLang="en-US" dirty="0" err="1"/>
              <a:t>dao</a:t>
            </a:r>
            <a:r>
              <a:rPr lang="en-US" altLang="en-US" dirty="0"/>
              <a:t> </a:t>
            </a:r>
            <a:r>
              <a:rPr lang="en-US" altLang="en-US" dirty="0" err="1"/>
              <a:t>lọn</a:t>
            </a:r>
            <a:endParaRPr lang="en-US" altLang="en-US" dirty="0"/>
          </a:p>
          <a:p>
            <a:r>
              <a:rPr lang="en-US" altLang="en-US" dirty="0" err="1"/>
              <a:t>Vidu</a:t>
            </a:r>
            <a:r>
              <a:rPr lang="en-US" altLang="en-US" dirty="0"/>
              <a:t>: </a:t>
            </a:r>
            <a:r>
              <a:rPr lang="en-US" altLang="en-US" dirty="0" err="1"/>
              <a:t>ngan</a:t>
            </a:r>
            <a:r>
              <a:rPr lang="en-US" altLang="en-US" dirty="0"/>
              <a:t> hang </a:t>
            </a:r>
            <a:r>
              <a:rPr lang="en-US" altLang="en-US" dirty="0" err="1"/>
              <a:t>khi</a:t>
            </a:r>
            <a:r>
              <a:rPr lang="en-US" altLang="en-US" dirty="0"/>
              <a:t> it </a:t>
            </a:r>
            <a:r>
              <a:rPr lang="en-US" altLang="en-US" dirty="0" err="1"/>
              <a:t>thi</a:t>
            </a:r>
            <a:r>
              <a:rPr lang="en-US" altLang="en-US" dirty="0"/>
              <a:t> </a:t>
            </a:r>
            <a:r>
              <a:rPr lang="en-US" altLang="en-US" dirty="0" err="1"/>
              <a:t>trống</a:t>
            </a:r>
            <a:r>
              <a:rPr lang="en-US" altLang="en-US" dirty="0"/>
              <a:t> </a:t>
            </a:r>
            <a:r>
              <a:rPr lang="en-US" altLang="en-US" dirty="0" err="1"/>
              <a:t>vao</a:t>
            </a:r>
            <a:r>
              <a:rPr lang="en-US" altLang="en-US" dirty="0"/>
              <a:t>, </a:t>
            </a:r>
            <a:r>
              <a:rPr lang="en-US" altLang="en-US" dirty="0" err="1"/>
              <a:t>còn</a:t>
            </a:r>
            <a:r>
              <a:rPr lang="en-US" altLang="en-US" dirty="0"/>
              <a:t> </a:t>
            </a:r>
            <a:r>
              <a:rPr lang="en-US" altLang="en-US" dirty="0" err="1"/>
              <a:t>nhiều</a:t>
            </a:r>
            <a:r>
              <a:rPr lang="en-US" altLang="en-US" dirty="0"/>
              <a:t> </a:t>
            </a:r>
            <a:r>
              <a:rPr lang="en-US" altLang="en-US" dirty="0" err="1"/>
              <a:t>thì</a:t>
            </a:r>
            <a:r>
              <a:rPr lang="en-US" altLang="en-US" dirty="0"/>
              <a:t> </a:t>
            </a:r>
            <a:r>
              <a:rPr lang="en-US" altLang="en-US" dirty="0" err="1"/>
              <a:t>đánh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th</a:t>
            </a:r>
            <a:r>
              <a:rPr lang="vi-VN" altLang="en-US" dirty="0"/>
              <a:t>ư</a:t>
            </a:r>
            <a:r>
              <a:rPr lang="en-US" altLang="en-US" dirty="0"/>
              <a:t> </a:t>
            </a:r>
            <a:r>
              <a:rPr lang="en-US" altLang="en-US" dirty="0" err="1"/>
              <a:t>tự</a:t>
            </a:r>
            <a:r>
              <a:rPr lang="en-US" altLang="en-US" dirty="0"/>
              <a:t> </a:t>
            </a:r>
            <a:r>
              <a:rPr lang="en-US" altLang="en-US" dirty="0" err="1"/>
              <a:t>rồi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bàn</a:t>
            </a:r>
            <a:r>
              <a:rPr lang="en-US" altLang="en-US" dirty="0"/>
              <a:t> </a:t>
            </a:r>
            <a:r>
              <a:rPr lang="en-US" altLang="en-US" dirty="0" err="1"/>
              <a:t>phù</a:t>
            </a:r>
            <a:r>
              <a:rPr lang="en-US" altLang="en-US" dirty="0"/>
              <a:t> </a:t>
            </a:r>
            <a:r>
              <a:rPr lang="en-US" altLang="en-US" dirty="0" err="1"/>
              <a:t>họp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5E78F-0429-4DD0-9642-E21A2A3DB045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A06BE-96A6-4CD1-ADDA-C7A1EDABA33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65376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BEECD-9A34-4E6B-8B51-D5E762C45312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37B28-E44C-406C-A4B2-C1C8264B0D7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2906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40AEE-81D7-47AC-A236-2BFF9A1F3B46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26EBB-66FC-4052-B887-C7F07A99300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08892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70D3B-CC32-43FE-8DA4-905DD1FC30CF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EDCDB-AD94-40F4-82C2-22A851BBF4C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758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40681-AA67-489B-82C5-AF970A6ACA0A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EF2CE7-0CF8-4DCC-9388-402B0B17144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0691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F2A89-0EC3-4695-95C1-2B2938770100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46EB4-F9FD-442E-B0B0-B1F70FC8504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24397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587EC-2CEB-4CEC-A3D7-BF9405AF9ACC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2EE91-A270-44BD-987A-CA32ABE96CE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6445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4DABB-731D-40AF-BD01-5CF966566645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E588-C1F2-47B7-A8B4-D2A5A081986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31793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819D9-30E7-4B1F-B808-DCC5D208DCF7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718D0-4A14-443F-9297-EDE3E397EED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8986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F0962-0CBA-427D-BFE2-79D8F18AC4A9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2B418-DBF6-446D-9167-C74DB4499CA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64240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C7C26-F330-4744-A2CF-CAC47DAA1CCB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D1FCA0-003E-4D04-BDAD-31529DBA011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76935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57B93-8C9D-4924-820B-CA5D4F773009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5A534-BCBA-4EEB-A6BD-887E62DFF1E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221432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436DE-1410-4C35-835A-04EFC1985D76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D57CBE-6538-4E04-A9E3-70B178FC41B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42335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7C8783AE-ABFE-4D78-9378-F108E0065776}" type="datetime1">
              <a:rPr lang="en-US"/>
              <a:pPr>
                <a:defRPr/>
              </a:pPr>
              <a:t>18/04/2022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AE170CA-37E7-4662-AD61-63A61FE9174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 different types of memory are used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memory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 of main memory to processes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swapping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main memory and disk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only one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register is used to protection between OS and 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OS, many processes locate in memory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fixed size block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programs both reference absolute physical memory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static relocation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locate in memory (both primary and secondary)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Registers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locate in memory and protection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process in memory,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process, the process owns private address space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 (Defragment)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Swapping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processes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in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locate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HDD – swap file area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out/ in operator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can not grow in memory and the swap area on the disk is full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data segment upward, stack  segment downward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Bitmaps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memory divides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units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same size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that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corresponding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in the bitmap (0: free, 1: occupied)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Disadvantages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Slow when searching the bitmap to find a run of k consecutive 0 bits in the map (small)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Internal fragment (large size)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with Linked Lists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(P)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(H)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Allocating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algorithms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First, Next, Best, Worst, Quick Fit</a:t>
            </a:r>
            <a:endParaRPr lang="de-DE" alt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 Process sizes larger than memory</a:t>
            </a:r>
            <a:endParaRPr lang="de-DE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de-DE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splits program to many overlays 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de-DE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de-DE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developer‘s knowledge is important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0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40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Objectives…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60198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MMU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Page Tables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Speeding up Paging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TLBs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 tables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Inverted Page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program has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address space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up into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chunks called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range of addresses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pages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to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physical memory to run program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references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part of its address space that is in physical memory,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mapping on the fly (runtime)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 of its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 physical 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missing piece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e-execute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and limit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idea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having separate relocation onto physical memory and data segments, the entire address space can be mapped onto physical memory in fairly small units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separation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memory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separation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 extremely large virtual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developers when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smaller physical memory is available (→developer concentrates solving the problem domain)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(logical)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addresses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Program memory addresses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space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 the (virtual) addresses a program can generate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given by the number of bytes used to specify an address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(real) addresses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Addresses in main memory (on memory bus)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Unit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(MMU)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mapping unit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from virtual addresses into physical addresses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066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Unit (MMU)</a:t>
            </a:r>
          </a:p>
        </p:txBody>
      </p:sp>
      <p:sp>
        <p:nvSpPr>
          <p:cNvPr id="160370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3-8.</a:t>
            </a:r>
          </a:p>
        </p:txBody>
      </p:sp>
      <p:pic>
        <p:nvPicPr>
          <p:cNvPr id="9220" name="Picture 8" descr="03-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620000" cy="491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243" name="Rectangle 3"/>
          <p:cNvSpPr>
            <a:spLocks noGrp="1"/>
          </p:cNvSpPr>
          <p:nvPr>
            <p:ph type="body" sz="half" idx="1"/>
          </p:nvPr>
        </p:nvSpPr>
        <p:spPr>
          <a:xfrm>
            <a:off x="0" y="1219200"/>
            <a:ext cx="5257800" cy="5638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space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units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AddressSpaceSize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PageSize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size corresponding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frames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frames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PhysicalMemSize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PageFrames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and frames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same size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PageSize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typically be a value between 512 bytes and 64KB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between RAM and disk are in units of a page</a:t>
            </a:r>
          </a:p>
        </p:txBody>
      </p:sp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6400800" y="6324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3-9.</a:t>
            </a:r>
          </a:p>
        </p:txBody>
      </p:sp>
      <p:pic>
        <p:nvPicPr>
          <p:cNvPr id="10245" name="Picture 8" descr="03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1143000"/>
            <a:ext cx="3719512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674C03-14FB-4B35-87CC-AABB4D6EE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575" y="6057900"/>
            <a:ext cx="5257800" cy="80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828800"/>
            <a:ext cx="708660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22860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traditional, the paging has been handled by hardware</a:t>
            </a:r>
          </a:p>
          <a:p>
            <a:pPr lvl="1" algn="just">
              <a:lnSpc>
                <a:spcPct val="90000"/>
              </a:lnSpc>
            </a:pP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virtual (logical) address 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divided into 2 parts</a:t>
            </a:r>
            <a:endParaRPr lang="de-DE" altLang="en-US" sz="20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algn="just">
              <a:lnSpc>
                <a:spcPct val="90000"/>
              </a:lnSpc>
            </a:pPr>
            <a:r>
              <a:rPr lang="de-DE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virtual page (p) </a:t>
            </a:r>
          </a:p>
          <a:p>
            <a:pPr lvl="2" algn="just">
              <a:lnSpc>
                <a:spcPct val="90000"/>
              </a:lnSpc>
            </a:pPr>
            <a:r>
              <a:rPr lang="de-DE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page offset (d)</a:t>
            </a:r>
          </a:p>
          <a:p>
            <a:pPr lvl="1">
              <a:lnSpc>
                <a:spcPct val="90000"/>
              </a:lnSpc>
            </a:pP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used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indexed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into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 table 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that </a:t>
            </a:r>
            <a:b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maps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 frame (f) in memory</a:t>
            </a:r>
          </a:p>
          <a:p>
            <a:pPr lvl="1">
              <a:lnSpc>
                <a:spcPct val="90000"/>
              </a:lnSpc>
            </a:pP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combined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with d to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define</a:t>
            </a:r>
            <a:r>
              <a:rPr lang="de-DE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</a:t>
            </a: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physical </a:t>
            </a:r>
            <a:b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de-DE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memory address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8" descr="03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371951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– General formula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sz="half" idx="1"/>
          </p:nvPr>
        </p:nvSpPr>
        <p:spPr>
          <a:xfrm>
            <a:off x="3810000" y="1066800"/>
            <a:ext cx="5334000" cy="5791200"/>
          </a:xfrm>
        </p:spPr>
        <p:txBody>
          <a:bodyPr/>
          <a:lstStyle/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page size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[p] = virtual address/s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virtual address – p x s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page frame mapping page p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 x s + d</a:t>
            </a:r>
          </a:p>
          <a:p>
            <a:pPr lvl="1"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685800" y="61722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bldLvl="3"/>
      <p:bldP spid="1556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096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4294967295"/>
          </p:nvPr>
        </p:nvSpPr>
        <p:spPr>
          <a:xfrm>
            <a:off x="3962400" y="990600"/>
            <a:ext cx="5181600" cy="5867400"/>
          </a:xfrm>
        </p:spPr>
        <p:txBody>
          <a:bodyPr/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REG, 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	 move REG, 8192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0 is sent to the MMU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 (virtual page 0, offset 0)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virtual page 0 mapping is page frame 2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physical address 8192 (8K)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 (page frames 2, offset 0)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→Memory processes at address 8192</a:t>
            </a:r>
          </a:p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move REG, 20500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 move REG, 12308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virtual address 20500 (20K)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 (virtual page 5, offset 20)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virtual page 5 mapping is page frame 3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physical address 12308 (12K)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 (page frame 3, offset 20)</a:t>
            </a:r>
            <a:endParaRPr lang="de-DE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685800" y="61722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3-9.</a:t>
            </a:r>
          </a:p>
        </p:txBody>
      </p:sp>
      <p:pic>
        <p:nvPicPr>
          <p:cNvPr id="13317" name="Picture 8" descr="03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371951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Only some virtual pages are mapped onto physical memory (e.g 16 pages maps 8 page frames) </a:t>
            </a:r>
          </a:p>
          <a:p>
            <a:pPr lvl="1" algn="just" eaLnBrk="1" hangingPunct="1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space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Present/Absent bit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Keeps track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which pages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fault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trap into the OS because of a reference to an address located in a page not in memory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the MMU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result in a swap between physical memory and disk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referenced page is loaded from disk into memory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trapped instruction is re-executed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pic>
        <p:nvPicPr>
          <p:cNvPr id="1536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8" descr="03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371951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sz="half" idx="1"/>
          </p:nvPr>
        </p:nvSpPr>
        <p:spPr>
          <a:xfrm>
            <a:off x="3810000" y="1066800"/>
            <a:ext cx="53340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MOV REG, 32780 (32K)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8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=(virtual page 8, offset 12)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8 is unmapped with any page frame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the page fault is executed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OS decided to evict page frame 1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OS load page 8 at page frame 1 and make to changes to the MMU map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OS re-executed the instruction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8 mapping is page frame 1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4108 (4K)</a:t>
            </a:r>
          </a:p>
          <a:p>
            <a:pPr lvl="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(page frame 1, offset 12)</a:t>
            </a:r>
          </a:p>
        </p:txBody>
      </p:sp>
      <p:sp>
        <p:nvSpPr>
          <p:cNvPr id="155653" name="Text Box 4"/>
          <p:cNvSpPr txBox="1">
            <a:spLocks noChangeArrowheads="1"/>
          </p:cNvSpPr>
          <p:nvPr/>
        </p:nvSpPr>
        <p:spPr bwMode="auto">
          <a:xfrm>
            <a:off x="685800" y="61722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bldLvl="3"/>
      <p:bldP spid="1556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Page Tables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sz="half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mapping of virtual addresses onto physical addresses can be summarized as following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high-order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bits)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low-order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bits)</a:t>
            </a:r>
          </a:p>
          <a:p>
            <a:pPr lvl="1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address and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4KB page size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 bit for 16 pages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 bit offset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(0 to 4095)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as 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table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that virtual page</a:t>
            </a: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table entry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frame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number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frame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number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attached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high-order end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 a physical address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the function with page number is argument and the page frame as result</a:t>
            </a: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needs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own page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0" descr="03-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82725"/>
            <a:ext cx="525780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>
          <a:xfrm>
            <a:off x="762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Page Tables</a:t>
            </a:r>
          </a:p>
        </p:txBody>
      </p:sp>
      <p:sp>
        <p:nvSpPr>
          <p:cNvPr id="18436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a Page table entry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32 bits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a common size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Page frame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number field 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Present/absent bit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1: the entry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be used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0: the entry belongs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 not currently in memory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Protection bits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(sophisticated with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 bits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reading, writing, executing of page)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1: read only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0: read/write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bits (keep track of page usage)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a page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a page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referenced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Cached disable bit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caching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the page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781800" y="2743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Page Tables – Example 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sz="half" idx="1"/>
          </p:nvPr>
        </p:nvSpPr>
        <p:spPr>
          <a:xfrm>
            <a:off x="4114800" y="1066800"/>
            <a:ext cx="5029200" cy="5791200"/>
          </a:xfrm>
        </p:spPr>
        <p:txBody>
          <a:bodyPr/>
          <a:lstStyle/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page size is a power of 2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bit virtual address is split into a 4 bit page numbers (16 page) and 12 bit offset (4096 byte address)</a:t>
            </a: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REG, 8196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8196 in binary 0010000000000100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 = page number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000000000100 = offset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=(virtual page 2, offset 4)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24580 (24K)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(page frame 6, offset 4)</a:t>
            </a:r>
          </a:p>
        </p:txBody>
      </p:sp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914400" y="6096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3-10.</a:t>
            </a:r>
          </a:p>
        </p:txBody>
      </p:sp>
      <p:pic>
        <p:nvPicPr>
          <p:cNvPr id="19461" name="Picture 9" descr="03-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4133850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Page Tables – Example 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virtual address space of 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 and the page size is 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words. If the virtual address is 1234567 in Hexadecimal,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would be the page number in Hexadecimal?</a:t>
            </a:r>
          </a:p>
          <a:p>
            <a:pPr lvl="1"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Speeding up Paging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issues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mapping from virtual address to physical address must be fast</a:t>
            </a:r>
          </a:p>
          <a:p>
            <a:pPr lvl="2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bottleneck</a:t>
            </a:r>
          </a:p>
          <a:p>
            <a:pPr lvl="2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instruction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1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nsec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lookup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done in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0.2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nsec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virtual address space is large, the page table will be large</a:t>
            </a:r>
          </a:p>
          <a:p>
            <a:pPr lvl="2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bit virtual address, 4 KB page sizes → 1 million pages (entries)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Simplest design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single page table consisting of 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fast registers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one entry for each virtual page, indexed by virtual page number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memory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registers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starting up)</a:t>
            </a:r>
          </a:p>
          <a:p>
            <a:pPr lvl="1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more memory references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(when processing)</a:t>
            </a:r>
          </a:p>
          <a:p>
            <a:pPr lvl="1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no memory</a:t>
            </a:r>
          </a:p>
          <a:p>
            <a:pPr lvl="1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(load entire table for each process)</a:t>
            </a:r>
          </a:p>
          <a:p>
            <a:pPr lvl="2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page 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Speeding up Paging – Example </a:t>
            </a:r>
          </a:p>
        </p:txBody>
      </p:sp>
      <p:sp>
        <p:nvSpPr>
          <p:cNvPr id="4505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64 pages and the page size is 2048 words, what is the length of logical address?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pages = 2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6 bits is used to manage number of page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2048 words = 2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11 bits used to manage page size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17 bits are a result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128K pages and the page size is 32 K words, what is the length of logical address?</a:t>
            </a:r>
          </a:p>
          <a:p>
            <a:pPr lvl="1"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Speeding up Paging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3352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register points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page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PCB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reloaded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virtual to physical map to be changed at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reloading one 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Context switch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(reloaded one register)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reading page table entries (slow)</a:t>
            </a:r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114800"/>
            <a:ext cx="5257800" cy="266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Lookaside Buffers (TLB)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makes a memory access using a virtual address. It requires an address translation to a real address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page table which is itself in memory i.e. every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access requires two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more if 2 level table) real accesses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the page tables in memory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drastically the performance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large number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small number of pages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TLB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associative memory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fast hardware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mapping virtual addresses to physical addresses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 going through the page table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device is usually inside in MMU and consists of a small number of entries (usually less than 64)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 maps only a small number of virtual pages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TLB entry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information about one page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(valid bit (that presents the page in use or not use), page number, modified bit, protection bit, page frame)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fields have a one-to-one correspondence with the fields in page table, except for the page number, which is not need in the page table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TLB can be also implemented in software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Lookaside Buffers (TLB)</a:t>
            </a:r>
          </a:p>
        </p:txBody>
      </p:sp>
      <p:pic>
        <p:nvPicPr>
          <p:cNvPr id="25603" name="Picture 4" descr="03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9248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3962400" y="57912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Lookaside Buffers (TLB)</a:t>
            </a:r>
          </a:p>
        </p:txBody>
      </p:sp>
      <p:sp>
        <p:nvSpPr>
          <p:cNvPr id="26627" name="Rectangle 3"/>
          <p:cNvSpPr>
            <a:spLocks/>
          </p:cNvSpPr>
          <p:nvPr/>
        </p:nvSpPr>
        <p:spPr bwMode="auto">
          <a:xfrm>
            <a:off x="228600" y="1066800"/>
            <a:ext cx="89154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How to the TLB do </a:t>
            </a:r>
          </a:p>
        </p:txBody>
      </p:sp>
      <p:pic>
        <p:nvPicPr>
          <p:cNvPr id="2662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1552575"/>
            <a:ext cx="6904037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Lookaside Buffers (TLB)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How to the TLB do (cont)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When the virtual address is presented in MMU for translation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search entire TLB to find if the entry is matched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so,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access does not violate the protection, the page frame is taken without going to the page table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protection fault can occur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MMU detects the miss and does an ordinary page table lookup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MMU evicts one of the entries from the TLB and replaces it with the page table just looked up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After the page frame is defined, the physical memory can be accessed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575175"/>
            <a:ext cx="52673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/>
          <p:cNvSpPr>
            <a:spLocks noGrp="1"/>
          </p:cNvSpPr>
          <p:nvPr>
            <p:ph type="title" idx="4294967295"/>
          </p:nvPr>
        </p:nvSpPr>
        <p:spPr>
          <a:xfrm>
            <a:off x="6096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 Tables</a:t>
            </a:r>
          </a:p>
        </p:txBody>
      </p:sp>
      <p:sp>
        <p:nvSpPr>
          <p:cNvPr id="28676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3581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modern computer support a large logical address (2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2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become excessive large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developer would not want to allocate it in memory at a/ all time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into smaller pieces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 tables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</a:t>
            </a:r>
          </a:p>
          <a:p>
            <a:pPr lvl="2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keeping all the page tables in memory all the time</a:t>
            </a:r>
          </a:p>
          <a:p>
            <a:pPr lvl="2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is “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the page table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2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virtual address is divided two part: 20 bit page number, and 12 bit offset</a:t>
            </a:r>
          </a:p>
          <a:p>
            <a:pPr lvl="2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page table is paged again, the page number is divided two into: 10 bit page number (PT1), and 10 bit offset (PT2)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762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 Tables</a:t>
            </a:r>
          </a:p>
        </p:txBody>
      </p:sp>
      <p:sp>
        <p:nvSpPr>
          <p:cNvPr id="2969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5029200" y="1066800"/>
            <a:ext cx="4114800" cy="5791200"/>
          </a:xfrm>
        </p:spPr>
        <p:txBody>
          <a:bodyPr/>
          <a:lstStyle/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32 bit virtual addresses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10 bits – PT1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10 bits – PT2 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12 bits – offset 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Page size = 4KB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No. of pages = 2</a:t>
            </a:r>
            <a:r>
              <a:rPr lang="en-US" alt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Top-level page table – 1024 entries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entry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4MB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Second-level page table – 1024 entries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entry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4KB</a:t>
            </a:r>
          </a:p>
        </p:txBody>
      </p:sp>
      <p:pic>
        <p:nvPicPr>
          <p:cNvPr id="29700" name="Picture 4" descr="03-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1066800"/>
            <a:ext cx="497522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762000" y="5715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3-13.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Page Tables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066800"/>
            <a:ext cx="8915400" cy="2819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MMU extracts the PT1 field and uses this value as an index into the top level page table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entry located by indexing into the top-level page table yields the address or page frame number of a second-level page table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PT2 field is used as an index into the selected second-level page table to find the page frame number for the page itself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32 bit virtual address 0x00403004 (=4.206.596), 12.292 bytes data</a:t>
            </a:r>
          </a:p>
          <a:p>
            <a:pPr lvl="2">
              <a:lnSpc>
                <a:spcPct val="80000"/>
              </a:lnSpc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0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82296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3"/>
          <p:cNvSpPr>
            <a:spLocks/>
          </p:cNvSpPr>
          <p:nvPr/>
        </p:nvSpPr>
        <p:spPr bwMode="auto">
          <a:xfrm>
            <a:off x="228600" y="4343400"/>
            <a:ext cx="8915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PT1=1 → 4M:8M (=4.194.304 bytes) 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PT2=3 → 12KB:16KB(=12.288 byte : 16383 bytes)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virtual address is (4.194.304+12.288 = 4.206.592 to 4.210.687) and Offset = 4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→The page frame PT1 = 1, The page frame of PT2 = 0, thus the physical address is 4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page is not in memory, causing a page fault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page is in memory, the page frame number taken from the second level page table combined with the offset to construct the physical address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>
          <a:xfrm>
            <a:off x="6096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Inverted Page Table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bit computer, with 4KB pages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→2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page table entries, with 8 bytes/entry 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over 30 million GB per page table (very large)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inverted page table for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address space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one entry in table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page frame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memory (vs. each one entry per page of virtual address space in page table)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entry contains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(process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virtual page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located in page frame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process (n) references the virtual address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virtual address is decoupled two parts (virtual page p, offset)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search entire the inverted page table for the entry (n, p)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entry is found, the entry position is the page frame. Then, the physical memory is generated by adding the first address of  detected page frame combined with the offset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page fault occurs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Inverted Page Table</a:t>
            </a:r>
          </a:p>
        </p:txBody>
      </p:sp>
      <p:pic>
        <p:nvPicPr>
          <p:cNvPr id="327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8392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Inverted Page Table</a:t>
            </a:r>
          </a:p>
        </p:txBody>
      </p:sp>
      <p:sp>
        <p:nvSpPr>
          <p:cNvPr id="3379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066800"/>
            <a:ext cx="8915400" cy="3429000"/>
          </a:xfrm>
        </p:spPr>
        <p:txBody>
          <a:bodyPr/>
          <a:lstStyle/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64bit virtual addresses, a 4KB page, 1GB RAM, an inverted table only required 262,144 entries (saving vast amount of space)</a:t>
            </a: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virtual-to-physical translation becomes much harder and slower 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the entire table at every memory reference</a:t>
            </a: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Practically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use of TLB and hash tables (searching in software)</a:t>
            </a: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778250"/>
            <a:ext cx="533400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13707</TotalTime>
  <Words>3377</Words>
  <Application>Microsoft Office PowerPoint</Application>
  <PresentationFormat>On-screen Show (4:3)</PresentationFormat>
  <Paragraphs>373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</vt:lpstr>
      <vt:lpstr>Calibri</vt:lpstr>
      <vt:lpstr>Times New Roman</vt:lpstr>
      <vt:lpstr>Wingdings</vt:lpstr>
      <vt:lpstr>Office Theme</vt:lpstr>
      <vt:lpstr>Memory Management   Virtual Memory</vt:lpstr>
      <vt:lpstr>Review</vt:lpstr>
      <vt:lpstr>Review</vt:lpstr>
      <vt:lpstr>Review</vt:lpstr>
      <vt:lpstr>Objectives…</vt:lpstr>
      <vt:lpstr>Virtual Memory Definitions</vt:lpstr>
      <vt:lpstr>Virtual Memory Terminologies</vt:lpstr>
      <vt:lpstr>Virtual Memory Memory Management Unit (MMU)</vt:lpstr>
      <vt:lpstr>Virtual Memory Paging </vt:lpstr>
      <vt:lpstr>Virtual Memory Paging</vt:lpstr>
      <vt:lpstr>Virtual Memory Paging – General formula</vt:lpstr>
      <vt:lpstr>Virtual Memory Paging</vt:lpstr>
      <vt:lpstr>Virtual Memory Paging</vt:lpstr>
      <vt:lpstr>Virtual Memory Paging</vt:lpstr>
      <vt:lpstr>Virtual Memory Paging</vt:lpstr>
      <vt:lpstr>Virtual Memory Page Tables</vt:lpstr>
      <vt:lpstr>Virtual Memory Page Tables</vt:lpstr>
      <vt:lpstr>Virtual Memory Page Tables – Example </vt:lpstr>
      <vt:lpstr>Virtual Memory Page Tables – Example </vt:lpstr>
      <vt:lpstr>Virtual Memory Speeding up Paging</vt:lpstr>
      <vt:lpstr>Virtual Memory Speeding up Paging – Example </vt:lpstr>
      <vt:lpstr>Virtual Memory Speeding up Paging</vt:lpstr>
      <vt:lpstr>Virtual Memory Translation Lookaside Buffers (TLB)</vt:lpstr>
      <vt:lpstr>Virtual Memory Translation Lookaside Buffers (TLB)</vt:lpstr>
      <vt:lpstr>Virtual Memory Translation Lookaside Buffers (TLB)</vt:lpstr>
      <vt:lpstr>Virtual Memory Translation Lookaside Buffers (TLB)</vt:lpstr>
      <vt:lpstr>Virtual Memory Multilevel Page Tables</vt:lpstr>
      <vt:lpstr>Virtual Memory Multilevel Page Tables</vt:lpstr>
      <vt:lpstr>Virtual Memory Multilevel Page Tables</vt:lpstr>
      <vt:lpstr>Virtual Memory Inverted Page Table</vt:lpstr>
      <vt:lpstr>Virtual Memory Inverted Page Table</vt:lpstr>
      <vt:lpstr>Virtual Memory Inverted Page Table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2143</cp:revision>
  <dcterms:created xsi:type="dcterms:W3CDTF">2007-08-21T04:43:22Z</dcterms:created>
  <dcterms:modified xsi:type="dcterms:W3CDTF">2022-04-19T06:00:30Z</dcterms:modified>
</cp:coreProperties>
</file>