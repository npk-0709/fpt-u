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1" r:id="rId1"/>
  </p:sldMasterIdLst>
  <p:notesMasterIdLst>
    <p:notesMasterId r:id="rId32"/>
  </p:notesMasterIdLst>
  <p:sldIdLst>
    <p:sldId id="256" r:id="rId2"/>
    <p:sldId id="466" r:id="rId3"/>
    <p:sldId id="470" r:id="rId4"/>
    <p:sldId id="468" r:id="rId5"/>
    <p:sldId id="469" r:id="rId6"/>
    <p:sldId id="465" r:id="rId7"/>
    <p:sldId id="359" r:id="rId8"/>
    <p:sldId id="361" r:id="rId9"/>
    <p:sldId id="400" r:id="rId10"/>
    <p:sldId id="362" r:id="rId11"/>
    <p:sldId id="462" r:id="rId12"/>
    <p:sldId id="406" r:id="rId13"/>
    <p:sldId id="407" r:id="rId14"/>
    <p:sldId id="463" r:id="rId15"/>
    <p:sldId id="408" r:id="rId16"/>
    <p:sldId id="409" r:id="rId17"/>
    <p:sldId id="410" r:id="rId18"/>
    <p:sldId id="411" r:id="rId19"/>
    <p:sldId id="444" r:id="rId20"/>
    <p:sldId id="412" r:id="rId21"/>
    <p:sldId id="445" r:id="rId22"/>
    <p:sldId id="401" r:id="rId23"/>
    <p:sldId id="413" r:id="rId24"/>
    <p:sldId id="446" r:id="rId25"/>
    <p:sldId id="374" r:id="rId26"/>
    <p:sldId id="375" r:id="rId27"/>
    <p:sldId id="447" r:id="rId28"/>
    <p:sldId id="460" r:id="rId29"/>
    <p:sldId id="394" r:id="rId30"/>
    <p:sldId id="461" r:id="rId3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66FFFF"/>
    <a:srgbClr val="FFFF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74" autoAdjust="0"/>
    <p:restoredTop sz="92054" autoAdjust="0"/>
  </p:normalViewPr>
  <p:slideViewPr>
    <p:cSldViewPr>
      <p:cViewPr varScale="1">
        <p:scale>
          <a:sx n="81" d="100"/>
          <a:sy n="81" d="100"/>
        </p:scale>
        <p:origin x="946" y="58"/>
      </p:cViewPr>
      <p:guideLst>
        <p:guide orient="horz" pos="2160"/>
        <p:guide pos="2880"/>
      </p:guideLst>
    </p:cSldViewPr>
  </p:slideViewPr>
  <p:outlineViewPr>
    <p:cViewPr>
      <p:scale>
        <a:sx n="33" d="100"/>
        <a:sy n="33" d="100"/>
      </p:scale>
      <p:origin x="0" y="2886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defRPr>
            </a:lvl1pPr>
          </a:lstStyle>
          <a:p>
            <a:pPr>
              <a:defRPr/>
            </a:pPr>
            <a:fld id="{EF251BE3-00FE-4890-AEC7-F0DB3E2C8887}" type="datetimeFigureOut">
              <a:rPr lang="en-US"/>
              <a:pPr>
                <a:defRPr/>
              </a:pPr>
              <a:t>19/04/2022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D41C2112-1062-476C-A2F3-2B332DD75E4D}"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4131040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Strategy: </a:t>
            </a:r>
            <a:r>
              <a:rPr lang="en-US" altLang="en-US" dirty="0" err="1"/>
              <a:t>chiến</a:t>
            </a:r>
            <a:r>
              <a:rPr lang="en-US" altLang="en-US" dirty="0"/>
              <a:t> l</a:t>
            </a:r>
            <a:r>
              <a:rPr lang="vi-VN" altLang="en-US" dirty="0"/>
              <a:t>ư</a:t>
            </a:r>
            <a:r>
              <a:rPr lang="en-US" altLang="en-US" dirty="0" err="1"/>
              <a:t>ợc</a:t>
            </a:r>
            <a:endParaRPr lang="en-US"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Proportionally: </a:t>
            </a:r>
            <a:r>
              <a:rPr lang="en-US" altLang="en-US" dirty="0" err="1"/>
              <a:t>tuong</a:t>
            </a:r>
            <a:r>
              <a:rPr lang="en-US" altLang="en-US" dirty="0"/>
              <a:t> </a:t>
            </a:r>
            <a:r>
              <a:rPr lang="en-US" altLang="en-US" dirty="0" err="1"/>
              <a:t>xung</a:t>
            </a:r>
            <a:endParaRPr lang="en-US"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D6,A7</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Context: </a:t>
            </a:r>
            <a:r>
              <a:rPr lang="en-US" altLang="en-US" dirty="0" err="1"/>
              <a:t>dinh</a:t>
            </a:r>
            <a:r>
              <a:rPr lang="en-US" altLang="en-US" dirty="0"/>
              <a:t> </a:t>
            </a:r>
            <a:r>
              <a:rPr lang="en-US" altLang="en-US" dirty="0" err="1"/>
              <a:t>nghĩa</a:t>
            </a:r>
            <a:endParaRPr lang="en-US"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a:t>Bloated : </a:t>
            </a:r>
            <a:r>
              <a:rPr lang="en-US" altLang="en-US" dirty="0" err="1"/>
              <a:t>đầy</a:t>
            </a:r>
            <a:r>
              <a:rPr lang="en-US" altLang="en-US" dirty="0"/>
              <a:t> h</a:t>
            </a:r>
            <a:r>
              <a:rPr lang="vi-VN" altLang="en-US" dirty="0"/>
              <a:t>ơ</a:t>
            </a:r>
            <a:r>
              <a:rPr lang="en-US" altLang="en-US" dirty="0" err="1"/>
              <a:t>i</a:t>
            </a:r>
            <a:endParaRPr lang="en-US" altLang="en-US" dirty="0"/>
          </a:p>
          <a:p>
            <a:r>
              <a:rPr lang="en-US" altLang="en-US" sz="1200" b="1" dirty="0">
                <a:latin typeface="Times New Roman" panose="02020603050405020304" pitchFamily="18" charset="0"/>
                <a:cs typeface="Times New Roman" panose="02020603050405020304" pitchFamily="18" charset="0"/>
              </a:rPr>
              <a:t>Statically</a:t>
            </a:r>
            <a:r>
              <a:rPr lang="en-US" altLang="en-US" sz="1200" dirty="0">
                <a:latin typeface="Times New Roman" panose="02020603050405020304" pitchFamily="18" charset="0"/>
                <a:cs typeface="Times New Roman" panose="02020603050405020304" pitchFamily="18" charset="0"/>
              </a:rPr>
              <a:t> </a:t>
            </a:r>
            <a:r>
              <a:rPr lang="en-US" altLang="en-US" sz="1200" b="1" dirty="0">
                <a:latin typeface="Times New Roman" panose="02020603050405020304" pitchFamily="18" charset="0"/>
                <a:cs typeface="Times New Roman" panose="02020603050405020304" pitchFamily="18" charset="0"/>
              </a:rPr>
              <a:t>binding</a:t>
            </a:r>
            <a:r>
              <a:rPr lang="en-US" altLang="en-US" sz="1200" dirty="0">
                <a:latin typeface="Times New Roman" panose="02020603050405020304" pitchFamily="18" charset="0"/>
                <a:cs typeface="Times New Roman" panose="02020603050405020304" pitchFamily="18" charset="0"/>
              </a:rPr>
              <a:t> : </a:t>
            </a:r>
            <a:r>
              <a:rPr lang="en-US" altLang="en-US" sz="1200" dirty="0" err="1">
                <a:latin typeface="Times New Roman" panose="02020603050405020304" pitchFamily="18" charset="0"/>
                <a:cs typeface="Times New Roman" panose="02020603050405020304" pitchFamily="18" charset="0"/>
              </a:rPr>
              <a:t>liên</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kết</a:t>
            </a:r>
            <a:r>
              <a:rPr lang="en-US" altLang="en-US" sz="1200" dirty="0">
                <a:latin typeface="Times New Roman" panose="02020603050405020304" pitchFamily="18" charset="0"/>
                <a:cs typeface="Times New Roman" panose="02020603050405020304" pitchFamily="18" charset="0"/>
              </a:rPr>
              <a:t> </a:t>
            </a:r>
            <a:r>
              <a:rPr lang="en-US" altLang="en-US" sz="1200" dirty="0" err="1">
                <a:latin typeface="Times New Roman" panose="02020603050405020304" pitchFamily="18" charset="0"/>
                <a:cs typeface="Times New Roman" panose="02020603050405020304" pitchFamily="18" charset="0"/>
              </a:rPr>
              <a:t>tĩnh</a:t>
            </a:r>
            <a:endParaRPr lang="en-US"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When page fault occurs in OS?</a:t>
            </a:r>
          </a:p>
          <a:p>
            <a:r>
              <a:rPr lang="en-US" sz="1200" b="0" i="0" kern="1200" dirty="0">
                <a:solidFill>
                  <a:schemeClr val="tx1"/>
                </a:solidFill>
                <a:effectLst/>
                <a:latin typeface="+mn-lt"/>
                <a:ea typeface="+mn-ea"/>
                <a:cs typeface="+mn-cs"/>
              </a:rPr>
              <a:t>A </a:t>
            </a:r>
            <a:r>
              <a:rPr lang="en-US" sz="1200" b="1" i="0" kern="1200" dirty="0">
                <a:solidFill>
                  <a:schemeClr val="tx1"/>
                </a:solidFill>
                <a:effectLst/>
                <a:latin typeface="+mn-lt"/>
                <a:ea typeface="+mn-ea"/>
                <a:cs typeface="+mn-cs"/>
              </a:rPr>
              <a:t>page fault occurs</a:t>
            </a:r>
            <a:r>
              <a:rPr lang="en-US" sz="1200" b="0" i="0" kern="1200" dirty="0">
                <a:solidFill>
                  <a:schemeClr val="tx1"/>
                </a:solidFill>
                <a:effectLst/>
                <a:latin typeface="+mn-lt"/>
                <a:ea typeface="+mn-ea"/>
                <a:cs typeface="+mn-cs"/>
              </a:rPr>
              <a:t> when a program attempts to access data or code that is in its address space, but is not currently located in the system RAM. So </a:t>
            </a:r>
            <a:r>
              <a:rPr lang="en-US" sz="1200" b="1" i="0" kern="1200" dirty="0">
                <a:solidFill>
                  <a:schemeClr val="tx1"/>
                </a:solidFill>
                <a:effectLst/>
                <a:latin typeface="+mn-lt"/>
                <a:ea typeface="+mn-ea"/>
                <a:cs typeface="+mn-cs"/>
              </a:rPr>
              <a:t>when page fault occurs</a:t>
            </a:r>
            <a:r>
              <a:rPr lang="en-US" sz="1200" b="0" i="0" kern="1200" dirty="0">
                <a:solidFill>
                  <a:schemeClr val="tx1"/>
                </a:solidFill>
                <a:effectLst/>
                <a:latin typeface="+mn-lt"/>
                <a:ea typeface="+mn-ea"/>
                <a:cs typeface="+mn-cs"/>
              </a:rPr>
              <a:t> then following sequence of events happens : The computer hardware traps to the kernel and program counter (PC) is saved on the stack.</a:t>
            </a:r>
          </a:p>
          <a:p>
            <a:endParaRPr lang="en-US"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sz="1200" b="0" i="0" kern="1200" dirty="0">
                <a:solidFill>
                  <a:schemeClr val="tx1"/>
                </a:solidFill>
                <a:effectLst/>
                <a:latin typeface="+mn-lt"/>
                <a:ea typeface="+mn-ea"/>
                <a:cs typeface="+mn-cs"/>
              </a:rPr>
              <a:t>Many systems have a background process called a </a:t>
            </a:r>
            <a:r>
              <a:rPr lang="en-US" sz="1200" b="1" i="0" kern="1200" dirty="0">
                <a:solidFill>
                  <a:schemeClr val="tx1"/>
                </a:solidFill>
                <a:effectLst/>
                <a:latin typeface="+mn-lt"/>
                <a:ea typeface="+mn-ea"/>
                <a:cs typeface="+mn-cs"/>
              </a:rPr>
              <a:t>paging daemon</a:t>
            </a:r>
            <a:r>
              <a:rPr lang="en-US" sz="1200" b="0" i="0" kern="1200" dirty="0">
                <a:solidFill>
                  <a:schemeClr val="tx1"/>
                </a:solidFill>
                <a:effectLst/>
                <a:latin typeface="+mn-lt"/>
                <a:ea typeface="+mn-ea"/>
                <a:cs typeface="+mn-cs"/>
              </a:rPr>
              <a:t>. ... This process sleeps most of the time but runs at periodic intervals. Its task is to inspect the state of the page frames and, if too few pages are free, it selects pages to evict using the page replacement algorithm that is being used.</a:t>
            </a:r>
          </a:p>
          <a:p>
            <a:r>
              <a:rPr lang="en-US" altLang="en-US" sz="1200" b="0" i="0" kern="1200" dirty="0">
                <a:solidFill>
                  <a:schemeClr val="tx1"/>
                </a:solidFill>
                <a:effectLst/>
                <a:latin typeface="+mn-lt"/>
                <a:ea typeface="+mn-ea"/>
                <a:cs typeface="+mn-cs"/>
              </a:rPr>
              <a:t>Inspect: </a:t>
            </a:r>
            <a:r>
              <a:rPr lang="en-US" altLang="en-US" sz="1200" b="0" i="0" kern="1200" dirty="0" err="1">
                <a:solidFill>
                  <a:schemeClr val="tx1"/>
                </a:solidFill>
                <a:effectLst/>
                <a:latin typeface="+mn-lt"/>
                <a:ea typeface="+mn-ea"/>
                <a:cs typeface="+mn-cs"/>
              </a:rPr>
              <a:t>thanh</a:t>
            </a:r>
            <a:r>
              <a:rPr lang="en-US" altLang="en-US" sz="1200" b="0" i="0" kern="1200" dirty="0">
                <a:solidFill>
                  <a:schemeClr val="tx1"/>
                </a:solidFill>
                <a:effectLst/>
                <a:latin typeface="+mn-lt"/>
                <a:ea typeface="+mn-ea"/>
                <a:cs typeface="+mn-cs"/>
              </a:rPr>
              <a:t> </a:t>
            </a:r>
            <a:r>
              <a:rPr lang="en-US" altLang="en-US" sz="1200" b="0" i="0" kern="1200" dirty="0" err="1">
                <a:solidFill>
                  <a:schemeClr val="tx1"/>
                </a:solidFill>
                <a:effectLst/>
                <a:latin typeface="+mn-lt"/>
                <a:ea typeface="+mn-ea"/>
                <a:cs typeface="+mn-cs"/>
              </a:rPr>
              <a:t>tra</a:t>
            </a:r>
            <a:r>
              <a:rPr lang="en-US" altLang="en-US" sz="1200" b="0" i="0" kern="1200" dirty="0">
                <a:solidFill>
                  <a:schemeClr val="tx1"/>
                </a:solidFill>
                <a:effectLst/>
                <a:latin typeface="+mn-lt"/>
                <a:ea typeface="+mn-ea"/>
                <a:cs typeface="+mn-cs"/>
              </a:rPr>
              <a:t>, </a:t>
            </a:r>
            <a:r>
              <a:rPr lang="en-US" altLang="en-US" sz="1200" b="0" i="0" kern="1200" dirty="0" err="1">
                <a:solidFill>
                  <a:schemeClr val="tx1"/>
                </a:solidFill>
                <a:effectLst/>
                <a:latin typeface="+mn-lt"/>
                <a:ea typeface="+mn-ea"/>
                <a:cs typeface="+mn-cs"/>
              </a:rPr>
              <a:t>quan</a:t>
            </a:r>
            <a:r>
              <a:rPr lang="en-US" altLang="en-US" sz="1200" b="0" i="0" kern="1200" dirty="0">
                <a:solidFill>
                  <a:schemeClr val="tx1"/>
                </a:solidFill>
                <a:effectLst/>
                <a:latin typeface="+mn-lt"/>
                <a:ea typeface="+mn-ea"/>
                <a:cs typeface="+mn-cs"/>
              </a:rPr>
              <a:t> </a:t>
            </a:r>
            <a:r>
              <a:rPr lang="en-US" altLang="en-US" sz="1200" b="0" i="0" kern="1200" dirty="0" err="1">
                <a:solidFill>
                  <a:schemeClr val="tx1"/>
                </a:solidFill>
                <a:effectLst/>
                <a:latin typeface="+mn-lt"/>
                <a:ea typeface="+mn-ea"/>
                <a:cs typeface="+mn-cs"/>
              </a:rPr>
              <a:t>sát</a:t>
            </a:r>
            <a:endParaRPr lang="en-US"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AFC5C1DD-C128-4ED8-ADC4-C0885555E112}" type="datetime1">
              <a:rPr lang="en-US"/>
              <a:pPr>
                <a:defRPr/>
              </a:pPr>
              <a:t>19/04/2022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35D90C6F-BC01-4413-973A-292C9CA70634}" type="slidenum">
              <a:rPr lang="en-US" altLang="en-US"/>
              <a:pPr/>
              <a:t>‹#›</a:t>
            </a:fld>
            <a:r>
              <a:rPr lang="en-US" altLang="en-US"/>
              <a:t>/40</a:t>
            </a:r>
          </a:p>
        </p:txBody>
      </p:sp>
    </p:spTree>
    <p:extLst>
      <p:ext uri="{BB962C8B-B14F-4D97-AF65-F5344CB8AC3E}">
        <p14:creationId xmlns:p14="http://schemas.microsoft.com/office/powerpoint/2010/main" val="364922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Arial" pitchFamily="34" charset="0"/>
                <a:cs typeface="Arial" pitchFamily="34" charset="0"/>
              </a:defRPr>
            </a:lvl1pPr>
          </a:lstStyle>
          <a:p>
            <a:r>
              <a:rPr lang="en-US"/>
              <a:t>Click to edit Master title style</a:t>
            </a:r>
          </a:p>
        </p:txBody>
      </p:sp>
      <p:sp>
        <p:nvSpPr>
          <p:cNvPr id="3" name="Content Placeholder 2"/>
          <p:cNvSpPr>
            <a:spLocks noGrp="1"/>
          </p:cNvSpPr>
          <p:nvPr>
            <p:ph idx="1"/>
          </p:nvPr>
        </p:nvSpPr>
        <p:spPr/>
        <p:txBody>
          <a:bodyPr/>
          <a:lstStyle>
            <a:lvl1pPr>
              <a:buClr>
                <a:schemeClr val="tx2">
                  <a:lumMod val="60000"/>
                  <a:lumOff val="40000"/>
                </a:schemeClr>
              </a:buClr>
              <a:buSzPct val="80000"/>
              <a:buFont typeface="Wingdings" pitchFamily="2" charset="2"/>
              <a:buChar char="l"/>
              <a:defRPr>
                <a:latin typeface="Arial" pitchFamily="34" charset="0"/>
                <a:cs typeface="Arial" pitchFamily="34" charset="0"/>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0A90C6B-F8A5-450B-A0FC-41CDD8F71A6A}" type="datetime1">
              <a:rPr lang="en-US"/>
              <a:pPr>
                <a:defRPr/>
              </a:pPr>
              <a:t>19/04/2022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F621212C-4765-48C0-B0F0-39F65DA502DA}" type="slidenum">
              <a:rPr lang="en-US" altLang="en-US"/>
              <a:pPr/>
              <a:t>‹#›</a:t>
            </a:fld>
            <a:r>
              <a:rPr lang="en-US" altLang="en-US"/>
              <a:t>/40</a:t>
            </a:r>
          </a:p>
        </p:txBody>
      </p:sp>
    </p:spTree>
    <p:extLst>
      <p:ext uri="{BB962C8B-B14F-4D97-AF65-F5344CB8AC3E}">
        <p14:creationId xmlns:p14="http://schemas.microsoft.com/office/powerpoint/2010/main" val="17571166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8167CDC-D311-448F-95A4-90582C0CE2E8}" type="datetime1">
              <a:rPr lang="en-US"/>
              <a:pPr>
                <a:defRPr/>
              </a:pPr>
              <a:t>19/04/2022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0C0C6BAA-EC15-4F96-BBF9-5ABB1FB5E9CA}" type="slidenum">
              <a:rPr lang="en-US" altLang="en-US"/>
              <a:pPr/>
              <a:t>‹#›</a:t>
            </a:fld>
            <a:r>
              <a:rPr lang="en-US" altLang="en-US"/>
              <a:t>/40</a:t>
            </a:r>
          </a:p>
        </p:txBody>
      </p:sp>
    </p:spTree>
    <p:extLst>
      <p:ext uri="{BB962C8B-B14F-4D97-AF65-F5344CB8AC3E}">
        <p14:creationId xmlns:p14="http://schemas.microsoft.com/office/powerpoint/2010/main" val="4159678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0BB8660C-5BF5-4849-BB23-AEC0B8EE0A0B}" type="datetime1">
              <a:rPr lang="en-US"/>
              <a:pPr>
                <a:defRPr/>
              </a:pPr>
              <a:t>19/04/2022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3F6FAD5-6465-4453-B445-58F4FCEE7954}" type="slidenum">
              <a:rPr lang="en-US" altLang="en-US"/>
              <a:pPr/>
              <a:t>‹#›</a:t>
            </a:fld>
            <a:r>
              <a:rPr lang="en-US" altLang="en-US"/>
              <a:t>/40</a:t>
            </a:r>
          </a:p>
        </p:txBody>
      </p:sp>
    </p:spTree>
    <p:extLst>
      <p:ext uri="{BB962C8B-B14F-4D97-AF65-F5344CB8AC3E}">
        <p14:creationId xmlns:p14="http://schemas.microsoft.com/office/powerpoint/2010/main" val="3458050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3E56D2CA-DE6E-4604-8033-0F36EEF5B413}" type="datetime1">
              <a:rPr lang="en-US"/>
              <a:pPr>
                <a:defRPr/>
              </a:pPr>
              <a:t>19/04/2022</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9" name="Slide Number Placeholder 5"/>
          <p:cNvSpPr>
            <a:spLocks noGrp="1"/>
          </p:cNvSpPr>
          <p:nvPr>
            <p:ph type="sldNum" sz="quarter" idx="12"/>
          </p:nvPr>
        </p:nvSpPr>
        <p:spPr/>
        <p:txBody>
          <a:bodyPr/>
          <a:lstStyle>
            <a:lvl1pPr>
              <a:defRPr/>
            </a:lvl1pPr>
          </a:lstStyle>
          <a:p>
            <a:fld id="{5047F2E6-8569-4345-A673-C752A3A5AC04}" type="slidenum">
              <a:rPr lang="en-US" altLang="en-US"/>
              <a:pPr/>
              <a:t>‹#›</a:t>
            </a:fld>
            <a:r>
              <a:rPr lang="en-US" altLang="en-US"/>
              <a:t>/40</a:t>
            </a:r>
          </a:p>
        </p:txBody>
      </p:sp>
    </p:spTree>
    <p:extLst>
      <p:ext uri="{BB962C8B-B14F-4D97-AF65-F5344CB8AC3E}">
        <p14:creationId xmlns:p14="http://schemas.microsoft.com/office/powerpoint/2010/main" val="2617126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63CDFCB3-1527-40F8-8B11-9BBE7122F6A8}" type="datetime1">
              <a:rPr lang="en-US"/>
              <a:pPr>
                <a:defRPr/>
              </a:pPr>
              <a:t>19/04/2022</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5" name="Slide Number Placeholder 5"/>
          <p:cNvSpPr>
            <a:spLocks noGrp="1"/>
          </p:cNvSpPr>
          <p:nvPr>
            <p:ph type="sldNum" sz="quarter" idx="12"/>
          </p:nvPr>
        </p:nvSpPr>
        <p:spPr/>
        <p:txBody>
          <a:bodyPr/>
          <a:lstStyle>
            <a:lvl1pPr>
              <a:defRPr/>
            </a:lvl1pPr>
          </a:lstStyle>
          <a:p>
            <a:fld id="{59C27F01-FDE7-4053-BB05-EFD3E9F7D917}" type="slidenum">
              <a:rPr lang="en-US" altLang="en-US"/>
              <a:pPr/>
              <a:t>‹#›</a:t>
            </a:fld>
            <a:r>
              <a:rPr lang="en-US" altLang="en-US"/>
              <a:t>/40</a:t>
            </a:r>
          </a:p>
        </p:txBody>
      </p:sp>
    </p:spTree>
    <p:extLst>
      <p:ext uri="{BB962C8B-B14F-4D97-AF65-F5344CB8AC3E}">
        <p14:creationId xmlns:p14="http://schemas.microsoft.com/office/powerpoint/2010/main" val="8454974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DD15471-2069-4DA3-AC04-AD574FEE4D0C}" type="datetime1">
              <a:rPr lang="en-US"/>
              <a:pPr>
                <a:defRPr/>
              </a:pPr>
              <a:t>19/04/2022</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4" name="Slide Number Placeholder 5"/>
          <p:cNvSpPr>
            <a:spLocks noGrp="1"/>
          </p:cNvSpPr>
          <p:nvPr>
            <p:ph type="sldNum" sz="quarter" idx="12"/>
          </p:nvPr>
        </p:nvSpPr>
        <p:spPr/>
        <p:txBody>
          <a:bodyPr/>
          <a:lstStyle>
            <a:lvl1pPr>
              <a:defRPr/>
            </a:lvl1pPr>
          </a:lstStyle>
          <a:p>
            <a:fld id="{22653159-88AC-4867-B277-E503DC4D83A5}" type="slidenum">
              <a:rPr lang="en-US" altLang="en-US"/>
              <a:pPr/>
              <a:t>‹#›</a:t>
            </a:fld>
            <a:r>
              <a:rPr lang="en-US" altLang="en-US"/>
              <a:t>/40</a:t>
            </a:r>
          </a:p>
        </p:txBody>
      </p:sp>
    </p:spTree>
    <p:extLst>
      <p:ext uri="{BB962C8B-B14F-4D97-AF65-F5344CB8AC3E}">
        <p14:creationId xmlns:p14="http://schemas.microsoft.com/office/powerpoint/2010/main" val="2055875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6D10C61-D091-4577-A366-38DF826D17F9}" type="datetime1">
              <a:rPr lang="en-US"/>
              <a:pPr>
                <a:defRPr/>
              </a:pPr>
              <a:t>19/04/2022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34988533-9159-4B78-871D-D076B67BF22C}" type="slidenum">
              <a:rPr lang="en-US" altLang="en-US"/>
              <a:pPr/>
              <a:t>‹#›</a:t>
            </a:fld>
            <a:r>
              <a:rPr lang="en-US" altLang="en-US"/>
              <a:t>/40</a:t>
            </a:r>
          </a:p>
        </p:txBody>
      </p:sp>
    </p:spTree>
    <p:extLst>
      <p:ext uri="{BB962C8B-B14F-4D97-AF65-F5344CB8AC3E}">
        <p14:creationId xmlns:p14="http://schemas.microsoft.com/office/powerpoint/2010/main" val="40697029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7D3B7F3-0F73-49F4-8BB2-DB42A00279C4}" type="datetime1">
              <a:rPr lang="en-US"/>
              <a:pPr>
                <a:defRPr/>
              </a:pPr>
              <a:t>19/04/2022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D50B2ED0-6428-4C11-96E4-44455EED4220}" type="slidenum">
              <a:rPr lang="en-US" altLang="en-US"/>
              <a:pPr/>
              <a:t>‹#›</a:t>
            </a:fld>
            <a:r>
              <a:rPr lang="en-US" altLang="en-US"/>
              <a:t>/40</a:t>
            </a:r>
          </a:p>
        </p:txBody>
      </p:sp>
    </p:spTree>
    <p:extLst>
      <p:ext uri="{BB962C8B-B14F-4D97-AF65-F5344CB8AC3E}">
        <p14:creationId xmlns:p14="http://schemas.microsoft.com/office/powerpoint/2010/main" val="45408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12EEA14-77A8-40AA-BFA3-0BFEDDB97E02}" type="datetime1">
              <a:rPr lang="en-US"/>
              <a:pPr>
                <a:defRPr/>
              </a:pPr>
              <a:t>19/04/2022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84B2D9C3-437D-44C0-AD03-74868B21057B}" type="slidenum">
              <a:rPr lang="en-US" altLang="en-US"/>
              <a:pPr/>
              <a:t>‹#›</a:t>
            </a:fld>
            <a:r>
              <a:rPr lang="en-US" altLang="en-US"/>
              <a:t>/40</a:t>
            </a:r>
          </a:p>
        </p:txBody>
      </p:sp>
    </p:spTree>
    <p:extLst>
      <p:ext uri="{BB962C8B-B14F-4D97-AF65-F5344CB8AC3E}">
        <p14:creationId xmlns:p14="http://schemas.microsoft.com/office/powerpoint/2010/main" val="3345390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D3D950F-7CCE-477B-99EF-BF1CB20F3BBE}" type="datetime1">
              <a:rPr lang="en-US"/>
              <a:pPr>
                <a:defRPr/>
              </a:pPr>
              <a:t>19/04/2022</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6" name="Slide Number Placeholder 5"/>
          <p:cNvSpPr>
            <a:spLocks noGrp="1"/>
          </p:cNvSpPr>
          <p:nvPr>
            <p:ph type="sldNum" sz="quarter" idx="12"/>
          </p:nvPr>
        </p:nvSpPr>
        <p:spPr/>
        <p:txBody>
          <a:bodyPr/>
          <a:lstStyle>
            <a:lvl1pPr>
              <a:defRPr/>
            </a:lvl1pPr>
          </a:lstStyle>
          <a:p>
            <a:fld id="{E936E02B-3C32-4608-BC41-6D106E41D1F7}" type="slidenum">
              <a:rPr lang="en-US" altLang="en-US"/>
              <a:pPr/>
              <a:t>‹#›</a:t>
            </a:fld>
            <a:r>
              <a:rPr lang="en-US" altLang="en-US"/>
              <a:t>/40</a:t>
            </a:r>
          </a:p>
        </p:txBody>
      </p:sp>
    </p:spTree>
    <p:extLst>
      <p:ext uri="{BB962C8B-B14F-4D97-AF65-F5344CB8AC3E}">
        <p14:creationId xmlns:p14="http://schemas.microsoft.com/office/powerpoint/2010/main" val="34641350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38588"/>
            <a:ext cx="4038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ABB2DDBF-27B9-4592-A20B-A7148EC0276A}" type="datetime1">
              <a:rPr lang="en-US"/>
              <a:pPr>
                <a:defRPr/>
              </a:pPr>
              <a:t>19/04/2022</a:t>
            </a:fld>
            <a:endParaRPr lang="en-US"/>
          </a:p>
        </p:txBody>
      </p:sp>
      <p:sp>
        <p:nvSpPr>
          <p:cNvPr id="7"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8" name="Slide Number Placeholder 5"/>
          <p:cNvSpPr>
            <a:spLocks noGrp="1"/>
          </p:cNvSpPr>
          <p:nvPr>
            <p:ph type="sldNum" sz="quarter" idx="12"/>
          </p:nvPr>
        </p:nvSpPr>
        <p:spPr/>
        <p:txBody>
          <a:bodyPr/>
          <a:lstStyle>
            <a:lvl1pPr>
              <a:defRPr/>
            </a:lvl1pPr>
          </a:lstStyle>
          <a:p>
            <a:fld id="{AE439C47-FAF9-48BE-ACD9-AF6CA9EF9BA7}" type="slidenum">
              <a:rPr lang="en-US" altLang="en-US"/>
              <a:pPr/>
              <a:t>‹#›</a:t>
            </a:fld>
            <a:r>
              <a:rPr lang="en-US" altLang="en-US"/>
              <a:t>/40</a:t>
            </a:r>
          </a:p>
        </p:txBody>
      </p:sp>
    </p:spTree>
    <p:extLst>
      <p:ext uri="{BB962C8B-B14F-4D97-AF65-F5344CB8AC3E}">
        <p14:creationId xmlns:p14="http://schemas.microsoft.com/office/powerpoint/2010/main" val="608384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0D1F8EA-2D86-4F40-8448-9326B762E289}" type="datetime1">
              <a:rPr lang="en-US"/>
              <a:pPr>
                <a:defRPr/>
              </a:pPr>
              <a:t>19/04/2022</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Module A - Introduction</a:t>
            </a:r>
          </a:p>
        </p:txBody>
      </p:sp>
      <p:sp>
        <p:nvSpPr>
          <p:cNvPr id="7" name="Slide Number Placeholder 5"/>
          <p:cNvSpPr>
            <a:spLocks noGrp="1"/>
          </p:cNvSpPr>
          <p:nvPr>
            <p:ph type="sldNum" sz="quarter" idx="12"/>
          </p:nvPr>
        </p:nvSpPr>
        <p:spPr/>
        <p:txBody>
          <a:bodyPr/>
          <a:lstStyle>
            <a:lvl1pPr>
              <a:defRPr/>
            </a:lvl1pPr>
          </a:lstStyle>
          <a:p>
            <a:fld id="{8882F417-5156-4938-9D37-EEBF76BD9CB3}" type="slidenum">
              <a:rPr lang="en-US" altLang="en-US"/>
              <a:pPr/>
              <a:t>‹#›</a:t>
            </a:fld>
            <a:r>
              <a:rPr lang="en-US" altLang="en-US"/>
              <a:t>/40</a:t>
            </a:r>
          </a:p>
        </p:txBody>
      </p:sp>
    </p:spTree>
    <p:extLst>
      <p:ext uri="{BB962C8B-B14F-4D97-AF65-F5344CB8AC3E}">
        <p14:creationId xmlns:p14="http://schemas.microsoft.com/office/powerpoint/2010/main" val="7180218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7" descr="logoNhoFPT.jpg"/>
          <p:cNvPicPr>
            <a:picLocks noChangeAspect="1"/>
          </p:cNvPicPr>
          <p:nvPr userDrawn="1"/>
        </p:nvPicPr>
        <p:blipFill>
          <a:blip r:embed="rId15">
            <a:lum contrast="20000"/>
            <a:extLst>
              <a:ext uri="{28A0092B-C50C-407E-A947-70E740481C1C}">
                <a14:useLocalDpi xmlns:a14="http://schemas.microsoft.com/office/drawing/2010/main" val="0"/>
              </a:ext>
            </a:extLst>
          </a:blip>
          <a:srcRect/>
          <a:stretch>
            <a:fillRect/>
          </a:stretch>
        </p:blipFill>
        <p:spPr bwMode="auto">
          <a:xfrm>
            <a:off x="0" y="0"/>
            <a:ext cx="1981200" cy="74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2"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Arial" charset="0"/>
              </a:defRPr>
            </a:lvl1pPr>
          </a:lstStyle>
          <a:p>
            <a:pPr>
              <a:defRPr/>
            </a:pPr>
            <a:fld id="{796B458B-D127-44B5-9C26-12C144ABECB3}" type="datetime1">
              <a:rPr lang="en-US"/>
              <a:pPr>
                <a:defRPr/>
              </a:pPr>
              <a:t>19/04/2022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Arial" charset="0"/>
              </a:defRPr>
            </a:lvl1pPr>
          </a:lstStyle>
          <a:p>
            <a:pPr>
              <a:defRPr/>
            </a:pPr>
            <a:r>
              <a:rPr lang="en-US"/>
              <a:t>Module A - Introduction</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C8F7C2FD-EAFF-4219-9650-21D2729BFDCD}" type="slidenum">
              <a:rPr lang="en-US" altLang="en-US"/>
              <a:pPr/>
              <a:t>‹#›</a:t>
            </a:fld>
            <a:r>
              <a:rPr lang="en-US" altLang="en-US"/>
              <a:t>/40</a:t>
            </a:r>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 id="2147483843" r:id="rId12"/>
    <p:sldLayoutId id="2147483844" r:id="rId13"/>
  </p:sldLayoutIdLst>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4.wmf"/><Relationship Id="rId4"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ctrTitle"/>
          </p:nvPr>
        </p:nvSpPr>
        <p:spPr>
          <a:xfrm>
            <a:off x="0" y="1676400"/>
            <a:ext cx="9144000" cy="2438400"/>
          </a:xfrm>
        </p:spPr>
        <p:txBody>
          <a:bodyPr/>
          <a:lstStyle/>
          <a:p>
            <a:pPr eaLnBrk="1" hangingPunct="1"/>
            <a:r>
              <a:rPr lang="en-US" altLang="en-US" sz="4000">
                <a:latin typeface="Times New Roman" panose="02020603050405020304" pitchFamily="18" charset="0"/>
                <a:cs typeface="Times New Roman" panose="02020603050405020304" pitchFamily="18" charset="0"/>
              </a:rPr>
              <a:t>Memory Management </a:t>
            </a:r>
            <a:br>
              <a:rPr lang="en-US" altLang="en-US" sz="4000">
                <a:latin typeface="Times New Roman" panose="02020603050405020304" pitchFamily="18" charset="0"/>
                <a:cs typeface="Times New Roman" panose="02020603050405020304" pitchFamily="18" charset="0"/>
              </a:rPr>
            </a:br>
            <a:br>
              <a:rPr lang="en-US" altLang="en-US" sz="4000">
                <a:latin typeface="Times New Roman" panose="02020603050405020304" pitchFamily="18" charset="0"/>
                <a:cs typeface="Times New Roman" panose="02020603050405020304" pitchFamily="18" charset="0"/>
              </a:rPr>
            </a:br>
            <a:r>
              <a:rPr lang="en-US" altLang="en-US" sz="4000" b="1">
                <a:solidFill>
                  <a:srgbClr val="FF3300"/>
                </a:solidFill>
                <a:latin typeface="Times New Roman" panose="02020603050405020304" pitchFamily="18" charset="0"/>
                <a:cs typeface="Times New Roman" panose="02020603050405020304" pitchFamily="18" charset="0"/>
              </a:rPr>
              <a:t>Design Issues for Paging Systems</a:t>
            </a:r>
            <a:endParaRPr lang="en-US" altLang="en-US" sz="400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Memory Manager</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coordinate</a:t>
            </a:r>
            <a:r>
              <a:rPr lang="en-US" altLang="en-US" sz="2400" dirty="0">
                <a:latin typeface="Times New Roman" panose="02020603050405020304" pitchFamily="18" charset="0"/>
                <a:cs typeface="Times New Roman" panose="02020603050405020304" pitchFamily="18" charset="0"/>
              </a:rPr>
              <a:t> how the different types of memory are used</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keep track memory </a:t>
            </a:r>
            <a:r>
              <a:rPr lang="en-US" altLang="en-US" sz="2400" dirty="0">
                <a:latin typeface="Times New Roman" panose="02020603050405020304" pitchFamily="18" charset="0"/>
                <a:cs typeface="Times New Roman" panose="02020603050405020304" pitchFamily="18" charset="0"/>
              </a:rPr>
              <a:t>to </a:t>
            </a:r>
            <a:r>
              <a:rPr lang="en-US" altLang="en-US" sz="2400" b="1" dirty="0">
                <a:latin typeface="Times New Roman" panose="02020603050405020304" pitchFamily="18" charset="0"/>
                <a:cs typeface="Times New Roman" panose="02020603050405020304" pitchFamily="18" charset="0"/>
              </a:rPr>
              <a:t>allocate</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release</a:t>
            </a:r>
            <a:r>
              <a:rPr lang="en-US" altLang="en-US" sz="2400" dirty="0">
                <a:latin typeface="Times New Roman" panose="02020603050405020304" pitchFamily="18" charset="0"/>
                <a:cs typeface="Times New Roman" panose="02020603050405020304" pitchFamily="18" charset="0"/>
              </a:rPr>
              <a:t> areas of main memory to processes</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manage swapping </a:t>
            </a:r>
            <a:r>
              <a:rPr lang="en-US" altLang="en-US" sz="2400" dirty="0">
                <a:latin typeface="Times New Roman" panose="02020603050405020304" pitchFamily="18" charset="0"/>
                <a:cs typeface="Times New Roman" panose="02020603050405020304" pitchFamily="18" charset="0"/>
              </a:rPr>
              <a:t>between main memory and disk </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No Memory Abstractions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Single program </a:t>
            </a:r>
          </a:p>
          <a:p>
            <a:pPr lvl="2"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One OS, only one process</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Special register is used to protection between OS and process</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r>
              <a:rPr lang="en-US" altLang="en-US" sz="2000" dirty="0">
                <a:latin typeface="Times New Roman" panose="02020603050405020304" pitchFamily="18" charset="0"/>
                <a:cs typeface="Times New Roman" panose="02020603050405020304" pitchFamily="18" charset="0"/>
              </a:rPr>
              <a:t>: slow</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Multiple program</a:t>
            </a:r>
          </a:p>
          <a:p>
            <a:pPr lvl="2"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One OS, many processes locate in memory</a:t>
            </a:r>
            <a:endParaRPr lang="en-US" altLang="en-US" sz="2000" dirty="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Divided into fixed size block </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endParaRPr lang="en-US" altLang="en-US" sz="2000" dirty="0">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Internal fragmentations</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Two programs both reference absolute physical memory </a:t>
            </a:r>
            <a:br>
              <a:rPr lang="en-US" altLang="en-US" dirty="0">
                <a:latin typeface="Times New Roman" panose="02020603050405020304" pitchFamily="18" charset="0"/>
                <a:cs typeface="Times New Roman" panose="02020603050405020304" pitchFamily="18" charset="0"/>
              </a:rPr>
            </a:br>
            <a:r>
              <a:rPr lang="en-US" altLang="en-US" dirty="0">
                <a:latin typeface="Times New Roman" panose="02020603050405020304" pitchFamily="18" charset="0"/>
                <a:cs typeface="Times New Roman" panose="02020603050405020304" pitchFamily="18" charset="0"/>
                <a:sym typeface="Symbol" panose="05050102010706020507" pitchFamily="18" charset="2"/>
              </a:rPr>
              <a:t> static relocation</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par>
                                <p:cTn id="33" presetID="5" presetClass="entr" presetSubtype="10" fill="hold" grpId="0" nodeType="withEffect">
                                  <p:stCondLst>
                                    <p:cond delay="0"/>
                                  </p:stCondLst>
                                  <p:childTnLst>
                                    <p:set>
                                      <p:cBhvr>
                                        <p:cTn id="34"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5" dur="500"/>
                                        <p:tgtEl>
                                          <p:spTgt spid="140291">
                                            <p:txEl>
                                              <p:pRg st="6" end="6"/>
                                            </p:txEl>
                                          </p:spTgt>
                                        </p:tgtEl>
                                      </p:cBhvr>
                                    </p:animEffect>
                                  </p:childTnLst>
                                </p:cTn>
                              </p:par>
                              <p:par>
                                <p:cTn id="36" presetID="5" presetClass="entr" presetSubtype="10" fill="hold" grpId="0" nodeType="withEffect">
                                  <p:stCondLst>
                                    <p:cond delay="0"/>
                                  </p:stCondLst>
                                  <p:childTnLst>
                                    <p:set>
                                      <p:cBhvr>
                                        <p:cTn id="37"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8" dur="500"/>
                                        <p:tgtEl>
                                          <p:spTgt spid="140291">
                                            <p:txEl>
                                              <p:pRg st="7" end="7"/>
                                            </p:txEl>
                                          </p:spTgt>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1" dur="500"/>
                                        <p:tgtEl>
                                          <p:spTgt spid="140291">
                                            <p:txEl>
                                              <p:pRg st="8" end="8"/>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6" dur="500"/>
                                        <p:tgtEl>
                                          <p:spTgt spid="140291">
                                            <p:txEl>
                                              <p:pRg st="9" end="9"/>
                                            </p:txEl>
                                          </p:spTgt>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49" dur="500"/>
                                        <p:tgtEl>
                                          <p:spTgt spid="140291">
                                            <p:txEl>
                                              <p:pRg st="10" end="10"/>
                                            </p:txEl>
                                          </p:spTgt>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52" dur="500"/>
                                        <p:tgtEl>
                                          <p:spTgt spid="140291">
                                            <p:txEl>
                                              <p:pRg st="11" end="11"/>
                                            </p:txEl>
                                          </p:spTgt>
                                        </p:tgtEl>
                                      </p:cBhvr>
                                    </p:animEffect>
                                  </p:childTnLst>
                                </p:cTn>
                              </p:par>
                              <p:par>
                                <p:cTn id="53" presetID="5" presetClass="entr" presetSubtype="10" fill="hold" grpId="0" nodeType="withEffect">
                                  <p:stCondLst>
                                    <p:cond delay="0"/>
                                  </p:stCondLst>
                                  <p:childTnLst>
                                    <p:set>
                                      <p:cBhvr>
                                        <p:cTn id="54"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55" dur="500"/>
                                        <p:tgtEl>
                                          <p:spTgt spid="140291">
                                            <p:txEl>
                                              <p:pRg st="12" end="12"/>
                                            </p:txEl>
                                          </p:spTgt>
                                        </p:tgtEl>
                                      </p:cBhvr>
                                    </p:animEffect>
                                  </p:childTnLst>
                                </p:cTn>
                              </p:par>
                              <p:par>
                                <p:cTn id="56" presetID="5" presetClass="entr" presetSubtype="10" fill="hold" grpId="0" nodeType="withEffect">
                                  <p:stCondLst>
                                    <p:cond delay="0"/>
                                  </p:stCondLst>
                                  <p:childTnLst>
                                    <p:set>
                                      <p:cBhvr>
                                        <p:cTn id="57"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58" dur="500"/>
                                        <p:tgtEl>
                                          <p:spTgt spid="140291">
                                            <p:txEl>
                                              <p:pRg st="13" end="13"/>
                                            </p:txEl>
                                          </p:spTgt>
                                        </p:tgtEl>
                                      </p:cBhvr>
                                    </p:animEffect>
                                  </p:childTnLst>
                                </p:cTn>
                              </p:par>
                              <p:par>
                                <p:cTn id="59" presetID="5" presetClass="entr" presetSubtype="10" fill="hold" grpId="0" nodeType="withEffect">
                                  <p:stCondLst>
                                    <p:cond delay="0"/>
                                  </p:stCondLst>
                                  <p:childTnLst>
                                    <p:set>
                                      <p:cBhvr>
                                        <p:cTn id="60" dur="1" fill="hold">
                                          <p:stCondLst>
                                            <p:cond delay="0"/>
                                          </p:stCondLst>
                                        </p:cTn>
                                        <p:tgtEl>
                                          <p:spTgt spid="140291">
                                            <p:txEl>
                                              <p:pRg st="14" end="14"/>
                                            </p:txEl>
                                          </p:spTgt>
                                        </p:tgtEl>
                                        <p:attrNameLst>
                                          <p:attrName>style.visibility</p:attrName>
                                        </p:attrNameLst>
                                      </p:cBhvr>
                                      <p:to>
                                        <p:strVal val="visible"/>
                                      </p:to>
                                    </p:set>
                                    <p:animEffect transition="in" filter="checkerboard(across)">
                                      <p:cBhvr>
                                        <p:cTn id="61" dur="500"/>
                                        <p:tgtEl>
                                          <p:spTgt spid="140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838200"/>
            <a:ext cx="9144000" cy="60198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Multiple processes locate in memory (both primary and secondary)</a:t>
            </a:r>
          </a:p>
          <a:p>
            <a:pPr lvl="1" algn="just" eaLnBrk="1" hangingPunct="1">
              <a:lnSpc>
                <a:spcPct val="90000"/>
              </a:lnSpc>
            </a:pPr>
            <a:r>
              <a:rPr lang="en-US" altLang="en-US" sz="2400" b="1" i="1" dirty="0">
                <a:latin typeface="Times New Roman" panose="02020603050405020304" pitchFamily="18" charset="0"/>
                <a:cs typeface="Times New Roman" panose="02020603050405020304" pitchFamily="18" charset="0"/>
              </a:rPr>
              <a:t>Base and Limit Registers </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Multiple processes locate in memory and protection </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Base</a:t>
            </a:r>
            <a:r>
              <a:rPr lang="en-US" altLang="en-US" sz="2000" dirty="0">
                <a:latin typeface="Times New Roman" panose="02020603050405020304" pitchFamily="18" charset="0"/>
                <a:cs typeface="Times New Roman" panose="02020603050405020304" pitchFamily="18" charset="0"/>
              </a:rPr>
              <a:t> contains the </a:t>
            </a:r>
            <a:r>
              <a:rPr lang="en-US" altLang="en-US" sz="2000" b="1" dirty="0">
                <a:latin typeface="Times New Roman" panose="02020603050405020304" pitchFamily="18" charset="0"/>
                <a:cs typeface="Times New Roman" panose="02020603050405020304" pitchFamily="18" charset="0"/>
              </a:rPr>
              <a:t>first address </a:t>
            </a:r>
            <a:r>
              <a:rPr lang="en-US" altLang="en-US" sz="2000" dirty="0">
                <a:latin typeface="Times New Roman" panose="02020603050405020304" pitchFamily="18" charset="0"/>
                <a:cs typeface="Times New Roman" panose="02020603050405020304" pitchFamily="18" charset="0"/>
              </a:rPr>
              <a:t>of process in memory, </a:t>
            </a:r>
            <a:r>
              <a:rPr lang="en-US" altLang="en-US" sz="2000" b="1" dirty="0">
                <a:latin typeface="Times New Roman" panose="02020603050405020304" pitchFamily="18" charset="0"/>
                <a:cs typeface="Times New Roman" panose="02020603050405020304" pitchFamily="18" charset="0"/>
              </a:rPr>
              <a:t>Limit</a:t>
            </a:r>
            <a:r>
              <a:rPr lang="en-US" altLang="en-US" sz="2000" dirty="0">
                <a:latin typeface="Times New Roman" panose="02020603050405020304" pitchFamily="18" charset="0"/>
                <a:cs typeface="Times New Roman" panose="02020603050405020304" pitchFamily="18" charset="0"/>
              </a:rPr>
              <a:t> contains the </a:t>
            </a:r>
            <a:r>
              <a:rPr lang="en-US" altLang="en-US" sz="2000" b="1" dirty="0">
                <a:latin typeface="Times New Roman" panose="02020603050405020304" pitchFamily="18" charset="0"/>
                <a:cs typeface="Times New Roman" panose="02020603050405020304" pitchFamily="18" charset="0"/>
              </a:rPr>
              <a:t>length of process, the process owns private address space</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External fragmentation (Defragment)</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Slow</a:t>
            </a:r>
          </a:p>
          <a:p>
            <a:pPr lvl="1" algn="just" eaLnBrk="1" hangingPunct="1">
              <a:lnSpc>
                <a:spcPct val="90000"/>
              </a:lnSpc>
            </a:pPr>
            <a:r>
              <a:rPr lang="en-US" altLang="en-US" sz="2400" b="1" i="1" dirty="0">
                <a:latin typeface="Times New Roman" panose="02020603050405020304" pitchFamily="18" charset="0"/>
                <a:cs typeface="Times New Roman" panose="02020603050405020304" pitchFamily="18" charset="0"/>
              </a:rPr>
              <a:t>Swapping </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Multiple processes with </a:t>
            </a:r>
            <a:r>
              <a:rPr lang="en-US" altLang="en-US" sz="2000" b="1" dirty="0">
                <a:latin typeface="Times New Roman" panose="02020603050405020304" pitchFamily="18" charset="0"/>
                <a:cs typeface="Times New Roman" panose="02020603050405020304" pitchFamily="18" charset="0"/>
              </a:rPr>
              <a:t>ready processes </a:t>
            </a:r>
            <a:r>
              <a:rPr lang="en-US" altLang="en-US" sz="2000" dirty="0">
                <a:latin typeface="Times New Roman" panose="02020603050405020304" pitchFamily="18" charset="0"/>
                <a:cs typeface="Times New Roman" panose="02020603050405020304" pitchFamily="18" charset="0"/>
              </a:rPr>
              <a:t>locate in </a:t>
            </a:r>
            <a:r>
              <a:rPr lang="en-US" altLang="en-US" sz="2000" b="1" dirty="0">
                <a:latin typeface="Times New Roman" panose="02020603050405020304" pitchFamily="18" charset="0"/>
                <a:cs typeface="Times New Roman" panose="02020603050405020304" pitchFamily="18" charset="0"/>
              </a:rPr>
              <a:t>memory</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passive</a:t>
            </a:r>
            <a:r>
              <a:rPr lang="en-US" altLang="en-US" sz="2000" dirty="0">
                <a:latin typeface="Times New Roman" panose="02020603050405020304" pitchFamily="18" charset="0"/>
                <a:cs typeface="Times New Roman" panose="02020603050405020304" pitchFamily="18" charset="0"/>
              </a:rPr>
              <a:t> processes locate </a:t>
            </a:r>
            <a:r>
              <a:rPr lang="en-US" altLang="en-US" sz="2000" b="1" dirty="0">
                <a:latin typeface="Times New Roman" panose="02020603050405020304" pitchFamily="18" charset="0"/>
                <a:cs typeface="Times New Roman" panose="02020603050405020304" pitchFamily="18" charset="0"/>
              </a:rPr>
              <a:t>in HDD – swap file area</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Swap out/ in operator</a:t>
            </a:r>
          </a:p>
          <a:p>
            <a:pPr lvl="2"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Disadvantages</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External fragmentation</a:t>
            </a:r>
          </a:p>
          <a:p>
            <a:pPr lvl="3" algn="just" eaLnBrk="1" hangingPunct="1">
              <a:lnSpc>
                <a:spcPct val="90000"/>
              </a:lnSpc>
            </a:pPr>
            <a:r>
              <a:rPr lang="en-US" altLang="en-US" dirty="0">
                <a:latin typeface="Times New Roman" panose="02020603050405020304" pitchFamily="18" charset="0"/>
                <a:cs typeface="Times New Roman" panose="02020603050405020304" pitchFamily="18" charset="0"/>
              </a:rPr>
              <a:t>Process can not grow in memory and the swap area on the disk is full </a:t>
            </a:r>
            <a:r>
              <a:rPr lang="en-US" altLang="en-US"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b="1" dirty="0">
                <a:latin typeface="Times New Roman" panose="02020603050405020304" pitchFamily="18" charset="0"/>
                <a:cs typeface="Times New Roman" panose="02020603050405020304" pitchFamily="18" charset="0"/>
                <a:sym typeface="Symbol" panose="05050102010706020507" pitchFamily="18" charset="2"/>
              </a:rPr>
              <a:t>data segment upward, stack  segment downward</a:t>
            </a:r>
          </a:p>
        </p:txBody>
      </p:sp>
    </p:spTree>
    <p:extLst>
      <p:ext uri="{BB962C8B-B14F-4D97-AF65-F5344CB8AC3E}">
        <p14:creationId xmlns:p14="http://schemas.microsoft.com/office/powerpoint/2010/main" val="11501410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0" dur="500"/>
                                        <p:tgtEl>
                                          <p:spTgt spid="140291">
                                            <p:txEl>
                                              <p:pRg st="3" end="3"/>
                                            </p:txEl>
                                          </p:spTgt>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3" dur="500"/>
                                        <p:tgtEl>
                                          <p:spTgt spid="140291">
                                            <p:txEl>
                                              <p:pRg st="4" end="4"/>
                                            </p:txEl>
                                          </p:spTgt>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26" dur="500"/>
                                        <p:tgtEl>
                                          <p:spTgt spid="140291">
                                            <p:txEl>
                                              <p:pRg st="5" end="5"/>
                                            </p:txEl>
                                          </p:spTgt>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9" dur="500"/>
                                        <p:tgtEl>
                                          <p:spTgt spid="140291">
                                            <p:txEl>
                                              <p:pRg st="6" end="6"/>
                                            </p:txEl>
                                          </p:spTgt>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32" dur="500"/>
                                        <p:tgtEl>
                                          <p:spTgt spid="140291">
                                            <p:txEl>
                                              <p:pRg st="7" end="7"/>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7" dur="500"/>
                                        <p:tgtEl>
                                          <p:spTgt spid="140291">
                                            <p:txEl>
                                              <p:pRg st="8" end="8"/>
                                            </p:txEl>
                                          </p:spTgt>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40" dur="500"/>
                                        <p:tgtEl>
                                          <p:spTgt spid="140291">
                                            <p:txEl>
                                              <p:pRg st="9" end="9"/>
                                            </p:txEl>
                                          </p:spTgt>
                                        </p:tgtEl>
                                      </p:cBhvr>
                                    </p:animEffect>
                                  </p:childTnLst>
                                </p:cTn>
                              </p:par>
                              <p:par>
                                <p:cTn id="41" presetID="5" presetClass="entr" presetSubtype="10" fill="hold" grpId="0" nodeType="withEffect">
                                  <p:stCondLst>
                                    <p:cond delay="0"/>
                                  </p:stCondLst>
                                  <p:childTnLst>
                                    <p:set>
                                      <p:cBhvr>
                                        <p:cTn id="42"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43" dur="500"/>
                                        <p:tgtEl>
                                          <p:spTgt spid="140291">
                                            <p:txEl>
                                              <p:pRg st="10" end="10"/>
                                            </p:txEl>
                                          </p:spTgt>
                                        </p:tgtEl>
                                      </p:cBhvr>
                                    </p:animEffect>
                                  </p:childTnLst>
                                </p:cTn>
                              </p:par>
                              <p:par>
                                <p:cTn id="44" presetID="5" presetClass="entr" presetSubtype="10" fill="hold" grpId="0" nodeType="withEffect">
                                  <p:stCondLst>
                                    <p:cond delay="0"/>
                                  </p:stCondLst>
                                  <p:childTnLst>
                                    <p:set>
                                      <p:cBhvr>
                                        <p:cTn id="45"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46" dur="500"/>
                                        <p:tgtEl>
                                          <p:spTgt spid="140291">
                                            <p:txEl>
                                              <p:pRg st="11" end="11"/>
                                            </p:txEl>
                                          </p:spTgt>
                                        </p:tgtEl>
                                      </p:cBhvr>
                                    </p:animEffect>
                                  </p:childTnLst>
                                </p:cTn>
                              </p:par>
                              <p:par>
                                <p:cTn id="47" presetID="5" presetClass="entr" presetSubtype="10" fill="hold" grpId="0" nodeType="withEffect">
                                  <p:stCondLst>
                                    <p:cond delay="0"/>
                                  </p:stCondLst>
                                  <p:childTnLst>
                                    <p:set>
                                      <p:cBhvr>
                                        <p:cTn id="48"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49" dur="500"/>
                                        <p:tgtEl>
                                          <p:spTgt spid="140291">
                                            <p:txEl>
                                              <p:pRg st="12" end="12"/>
                                            </p:txEl>
                                          </p:spTgt>
                                        </p:tgtEl>
                                      </p:cBhvr>
                                    </p:animEffect>
                                  </p:childTnLst>
                                </p:cTn>
                              </p:par>
                              <p:par>
                                <p:cTn id="50" presetID="5" presetClass="entr" presetSubtype="10" fill="hold" grpId="0" nodeType="withEffect">
                                  <p:stCondLst>
                                    <p:cond delay="0"/>
                                  </p:stCondLst>
                                  <p:childTnLst>
                                    <p:set>
                                      <p:cBhvr>
                                        <p:cTn id="51"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52" dur="500"/>
                                        <p:tgtEl>
                                          <p:spTgt spid="140291">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Memory Management with Bitmaps </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The memory divides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units</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with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same size </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that </a:t>
            </a:r>
            <a:r>
              <a:rPr lang="en-US" altLang="en-US" sz="2000" b="1">
                <a:latin typeface="Times New Roman" panose="02020603050405020304" pitchFamily="18" charset="0"/>
                <a:cs typeface="Times New Roman" panose="02020603050405020304" pitchFamily="18" charset="0"/>
              </a:rPr>
              <a:t>has</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bit corresponding </a:t>
            </a:r>
            <a:r>
              <a:rPr lang="en-US" altLang="en-US" sz="2000">
                <a:latin typeface="Times New Roman" panose="02020603050405020304" pitchFamily="18" charset="0"/>
                <a:cs typeface="Times New Roman" panose="02020603050405020304" pitchFamily="18" charset="0"/>
              </a:rPr>
              <a:t>bit in the bitmap (0: free, 1: occupied)</a:t>
            </a:r>
            <a:endParaRPr lang="en-US" altLang="en-US" sz="2000">
              <a:latin typeface="Times New Roman" panose="02020603050405020304" pitchFamily="18" charset="0"/>
              <a:cs typeface="Times New Roman" panose="02020603050405020304" pitchFamily="18" charset="0"/>
              <a:sym typeface="Wingdings" panose="05000000000000000000" pitchFamily="2" charset="2"/>
            </a:endParaRP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sym typeface="Wingdings" panose="05000000000000000000" pitchFamily="2" charset="2"/>
              </a:rPr>
              <a:t>Disadvantages</a:t>
            </a:r>
          </a:p>
          <a:p>
            <a:pPr lvl="3" algn="just" eaLnBrk="1" hangingPunct="1">
              <a:lnSpc>
                <a:spcPct val="90000"/>
              </a:lnSpc>
            </a:pPr>
            <a:r>
              <a:rPr lang="en-US" altLang="en-US">
                <a:latin typeface="Times New Roman" panose="02020603050405020304" pitchFamily="18" charset="0"/>
                <a:cs typeface="Times New Roman" panose="02020603050405020304" pitchFamily="18" charset="0"/>
                <a:sym typeface="Wingdings" panose="05000000000000000000" pitchFamily="2" charset="2"/>
              </a:rPr>
              <a:t>Slow when searching the bitmap to find a run of k consecutive 0 bits in the map (small)</a:t>
            </a:r>
          </a:p>
          <a:p>
            <a:pPr lvl="3" algn="just" eaLnBrk="1" hangingPunct="1">
              <a:lnSpc>
                <a:spcPct val="90000"/>
              </a:lnSpc>
            </a:pPr>
            <a:r>
              <a:rPr lang="en-US" altLang="en-US">
                <a:latin typeface="Times New Roman" panose="02020603050405020304" pitchFamily="18" charset="0"/>
                <a:cs typeface="Times New Roman" panose="02020603050405020304" pitchFamily="18" charset="0"/>
                <a:sym typeface="Wingdings" panose="05000000000000000000" pitchFamily="2" charset="2"/>
              </a:rPr>
              <a:t>External fragment (large size)</a:t>
            </a:r>
            <a:endParaRPr lang="en-US" altLang="en-US">
              <a:latin typeface="Times New Roman" panose="02020603050405020304" pitchFamily="18" charset="0"/>
              <a:cs typeface="Times New Roman" panose="02020603050405020304" pitchFamily="18" charset="0"/>
            </a:endParaRPr>
          </a:p>
          <a:p>
            <a:pPr lvl="1" algn="just" eaLnBrk="1" hangingPunct="1">
              <a:lnSpc>
                <a:spcPct val="90000"/>
              </a:lnSpc>
            </a:pPr>
            <a:r>
              <a:rPr lang="en-US" altLang="en-US" sz="2400">
                <a:latin typeface="Times New Roman" panose="02020603050405020304" pitchFamily="18" charset="0"/>
                <a:cs typeface="Times New Roman" panose="02020603050405020304" pitchFamily="18" charset="0"/>
              </a:rPr>
              <a:t>Memory Management with Linked Lists </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Maintain</a:t>
            </a:r>
            <a:r>
              <a:rPr lang="en-US" altLang="en-US" sz="2000">
                <a:latin typeface="Times New Roman" panose="02020603050405020304" pitchFamily="18" charset="0"/>
                <a:cs typeface="Times New Roman" panose="02020603050405020304" pitchFamily="18" charset="0"/>
              </a:rPr>
              <a:t> a </a:t>
            </a:r>
            <a:r>
              <a:rPr lang="en-US" altLang="en-US" sz="2000" b="1">
                <a:latin typeface="Times New Roman" panose="02020603050405020304" pitchFamily="18" charset="0"/>
                <a:cs typeface="Times New Roman" panose="02020603050405020304" pitchFamily="18" charset="0"/>
              </a:rPr>
              <a:t>linked list </a:t>
            </a:r>
            <a:r>
              <a:rPr lang="en-US" altLang="en-US" sz="2000">
                <a:latin typeface="Times New Roman" panose="02020603050405020304" pitchFamily="18" charset="0"/>
                <a:cs typeface="Times New Roman" panose="02020603050405020304" pitchFamily="18" charset="0"/>
              </a:rPr>
              <a:t>of </a:t>
            </a:r>
            <a:r>
              <a:rPr lang="en-US" altLang="en-US" sz="2000" b="1">
                <a:latin typeface="Times New Roman" panose="02020603050405020304" pitchFamily="18" charset="0"/>
                <a:cs typeface="Times New Roman" panose="02020603050405020304" pitchFamily="18" charset="0"/>
              </a:rPr>
              <a:t>allocated</a:t>
            </a:r>
            <a:r>
              <a:rPr lang="en-US" altLang="en-US" sz="2000">
                <a:latin typeface="Times New Roman" panose="02020603050405020304" pitchFamily="18" charset="0"/>
                <a:cs typeface="Times New Roman" panose="02020603050405020304" pitchFamily="18" charset="0"/>
              </a:rPr>
              <a:t>  (P)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free</a:t>
            </a:r>
            <a:r>
              <a:rPr lang="en-US" altLang="en-US" sz="2000">
                <a:latin typeface="Times New Roman" panose="02020603050405020304" pitchFamily="18" charset="0"/>
                <a:cs typeface="Times New Roman" panose="02020603050405020304" pitchFamily="18" charset="0"/>
              </a:rPr>
              <a:t> memory (H)</a:t>
            </a:r>
            <a:endParaRPr lang="en-US" altLang="en-US" sz="2000">
              <a:latin typeface="Times New Roman" panose="02020603050405020304" pitchFamily="18" charset="0"/>
              <a:cs typeface="Times New Roman" panose="02020603050405020304" pitchFamily="18" charset="0"/>
              <a:sym typeface="Wingdings" panose="05000000000000000000" pitchFamily="2" charset="2"/>
            </a:endParaRP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Allocating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algorithms</a:t>
            </a:r>
          </a:p>
          <a:p>
            <a:pPr lvl="3" algn="just" eaLnBrk="1" hangingPunct="1">
              <a:lnSpc>
                <a:spcPct val="90000"/>
              </a:lnSpc>
            </a:pPr>
            <a:r>
              <a:rPr lang="en-US" altLang="en-US">
                <a:latin typeface="Times New Roman" panose="02020603050405020304" pitchFamily="18" charset="0"/>
                <a:cs typeface="Times New Roman" panose="02020603050405020304" pitchFamily="18" charset="0"/>
                <a:sym typeface="Wingdings" panose="05000000000000000000" pitchFamily="2" charset="2"/>
              </a:rPr>
              <a:t>First, Next, Best, Worst, Quick Fit</a:t>
            </a:r>
            <a:endParaRPr lang="de-DE" altLang="en-US">
              <a:latin typeface="Times New Roman" panose="02020603050405020304" pitchFamily="18" charset="0"/>
              <a:cs typeface="Times New Roman" panose="02020603050405020304" pitchFamily="18" charset="0"/>
              <a:sym typeface="Wingdings" panose="05000000000000000000" pitchFamily="2" charset="2"/>
            </a:endParaRP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Virtual Memory </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Software/ Process sizes larger than memory</a:t>
            </a:r>
            <a:endParaRPr lang="de-DE" altLang="en-US" sz="2000">
              <a:latin typeface="Times New Roman" panose="02020603050405020304" pitchFamily="18" charset="0"/>
              <a:cs typeface="Times New Roman" panose="02020603050405020304" pitchFamily="18" charset="0"/>
            </a:endParaRPr>
          </a:p>
          <a:p>
            <a:pPr lvl="2" algn="just" eaLnBrk="1" hangingPunct="1">
              <a:lnSpc>
                <a:spcPct val="90000"/>
              </a:lnSpc>
            </a:pPr>
            <a:r>
              <a:rPr lang="de-DE" altLang="en-US" sz="2000" b="1">
                <a:latin typeface="Times New Roman" panose="02020603050405020304" pitchFamily="18" charset="0"/>
                <a:cs typeface="Times New Roman" panose="02020603050405020304" pitchFamily="18" charset="0"/>
              </a:rPr>
              <a:t>Overlays</a:t>
            </a: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Developer splits program to many overlays </a:t>
            </a:r>
          </a:p>
          <a:p>
            <a:pPr lvl="3" algn="just" eaLnBrk="1" hangingPunct="1">
              <a:lnSpc>
                <a:spcPct val="90000"/>
              </a:lnSpc>
            </a:pPr>
            <a:r>
              <a:rPr lang="de-DE" altLang="en-US" b="1">
                <a:latin typeface="Times New Roman" panose="02020603050405020304" pitchFamily="18" charset="0"/>
                <a:cs typeface="Times New Roman" panose="02020603050405020304" pitchFamily="18" charset="0"/>
              </a:rPr>
              <a:t>Disadvantages</a:t>
            </a:r>
            <a:r>
              <a:rPr lang="de-DE" altLang="en-US">
                <a:latin typeface="Times New Roman" panose="02020603050405020304" pitchFamily="18" charset="0"/>
                <a:cs typeface="Times New Roman" panose="02020603050405020304" pitchFamily="18" charset="0"/>
              </a:rPr>
              <a:t>: developer‘s knowledge is important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7" dur="500"/>
                                        <p:tgtEl>
                                          <p:spTgt spid="140291">
                                            <p:txEl>
                                              <p:pRg st="1" end="1"/>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0" dur="500"/>
                                        <p:tgtEl>
                                          <p:spTgt spid="140291">
                                            <p:txEl>
                                              <p:pRg st="2" end="2"/>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3" dur="500"/>
                                        <p:tgtEl>
                                          <p:spTgt spid="140291">
                                            <p:txEl>
                                              <p:pRg st="3" end="3"/>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16" dur="500"/>
                                        <p:tgtEl>
                                          <p:spTgt spid="140291">
                                            <p:txEl>
                                              <p:pRg st="4" end="4"/>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19" dur="500"/>
                                        <p:tgtEl>
                                          <p:spTgt spid="140291">
                                            <p:txEl>
                                              <p:pRg st="5" end="5"/>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 presetClass="entr" presetSubtype="10" fill="hold" grpId="0" nodeType="clickEffect">
                                  <p:stCondLst>
                                    <p:cond delay="0"/>
                                  </p:stCondLst>
                                  <p:childTnLst>
                                    <p:set>
                                      <p:cBhvr>
                                        <p:cTn id="23"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24" dur="500"/>
                                        <p:tgtEl>
                                          <p:spTgt spid="140291">
                                            <p:txEl>
                                              <p:pRg st="6" end="6"/>
                                            </p:txEl>
                                          </p:spTgt>
                                        </p:tgtEl>
                                      </p:cBhvr>
                                    </p:animEffect>
                                  </p:childTnLst>
                                </p:cTn>
                              </p:par>
                              <p:par>
                                <p:cTn id="25" presetID="5" presetClass="entr" presetSubtype="10" fill="hold" grpId="0" nodeType="withEffect">
                                  <p:stCondLst>
                                    <p:cond delay="0"/>
                                  </p:stCondLst>
                                  <p:childTnLst>
                                    <p:set>
                                      <p:cBhvr>
                                        <p:cTn id="26"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27" dur="500"/>
                                        <p:tgtEl>
                                          <p:spTgt spid="140291">
                                            <p:txEl>
                                              <p:pRg st="7" end="7"/>
                                            </p:txEl>
                                          </p:spTgt>
                                        </p:tgtEl>
                                      </p:cBhvr>
                                    </p:animEffect>
                                  </p:childTnLst>
                                </p:cTn>
                              </p:par>
                              <p:par>
                                <p:cTn id="28" presetID="5" presetClass="entr" presetSubtype="10" fill="hold" grpId="0" nodeType="withEffect">
                                  <p:stCondLst>
                                    <p:cond delay="0"/>
                                  </p:stCondLst>
                                  <p:childTnLst>
                                    <p:set>
                                      <p:cBhvr>
                                        <p:cTn id="29"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30" dur="500"/>
                                        <p:tgtEl>
                                          <p:spTgt spid="140291">
                                            <p:txEl>
                                              <p:pRg st="8" end="8"/>
                                            </p:txEl>
                                          </p:spTgt>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33" dur="500"/>
                                        <p:tgtEl>
                                          <p:spTgt spid="140291">
                                            <p:txEl>
                                              <p:pRg st="9" end="9"/>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38" dur="500"/>
                                        <p:tgtEl>
                                          <p:spTgt spid="140291">
                                            <p:txEl>
                                              <p:pRg st="10" end="10"/>
                                            </p:txEl>
                                          </p:spTgt>
                                        </p:tgtEl>
                                      </p:cBhvr>
                                    </p:animEffect>
                                  </p:childTnLst>
                                </p:cTn>
                              </p:par>
                              <p:par>
                                <p:cTn id="39" presetID="5" presetClass="entr" presetSubtype="10" fill="hold" grpId="0" nodeType="withEffect">
                                  <p:stCondLst>
                                    <p:cond delay="0"/>
                                  </p:stCondLst>
                                  <p:childTnLst>
                                    <p:set>
                                      <p:cBhvr>
                                        <p:cTn id="40"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41" dur="500"/>
                                        <p:tgtEl>
                                          <p:spTgt spid="140291">
                                            <p:txEl>
                                              <p:pRg st="11" end="11"/>
                                            </p:txEl>
                                          </p:spTgt>
                                        </p:tgtEl>
                                      </p:cBhvr>
                                    </p:animEffect>
                                  </p:childTnLst>
                                </p:cTn>
                              </p:par>
                              <p:par>
                                <p:cTn id="42" presetID="5" presetClass="entr" presetSubtype="10" fill="hold" grpId="0" nodeType="withEffect">
                                  <p:stCondLst>
                                    <p:cond delay="0"/>
                                  </p:stCondLst>
                                  <p:childTnLst>
                                    <p:set>
                                      <p:cBhvr>
                                        <p:cTn id="43"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44" dur="500"/>
                                        <p:tgtEl>
                                          <p:spTgt spid="140291">
                                            <p:txEl>
                                              <p:pRg st="12" end="12"/>
                                            </p:txEl>
                                          </p:spTgt>
                                        </p:tgtEl>
                                      </p:cBhvr>
                                    </p:animEffect>
                                  </p:childTnLst>
                                </p:cTn>
                              </p:par>
                              <p:par>
                                <p:cTn id="45" presetID="5" presetClass="entr" presetSubtype="10" fill="hold" grpId="0" nodeType="withEffect">
                                  <p:stCondLst>
                                    <p:cond delay="0"/>
                                  </p:stCondLst>
                                  <p:childTnLst>
                                    <p:set>
                                      <p:cBhvr>
                                        <p:cTn id="46" dur="1" fill="hold">
                                          <p:stCondLst>
                                            <p:cond delay="0"/>
                                          </p:stCondLst>
                                        </p:cTn>
                                        <p:tgtEl>
                                          <p:spTgt spid="140291">
                                            <p:txEl>
                                              <p:pRg st="13" end="13"/>
                                            </p:txEl>
                                          </p:spTgt>
                                        </p:tgtEl>
                                        <p:attrNameLst>
                                          <p:attrName>style.visibility</p:attrName>
                                        </p:attrNameLst>
                                      </p:cBhvr>
                                      <p:to>
                                        <p:strVal val="visible"/>
                                      </p:to>
                                    </p:set>
                                    <p:animEffect transition="in" filter="checkerboard(across)">
                                      <p:cBhvr>
                                        <p:cTn id="47" dur="500"/>
                                        <p:tgtEl>
                                          <p:spTgt spid="140291">
                                            <p:txEl>
                                              <p:pRg st="13" end="13"/>
                                            </p:txEl>
                                          </p:spTgt>
                                        </p:tgtEl>
                                      </p:cBhvr>
                                    </p:animEffect>
                                  </p:childTnLst>
                                </p:cTn>
                              </p:par>
                              <p:par>
                                <p:cTn id="48" presetID="5" presetClass="entr" presetSubtype="10" fill="hold" grpId="0" nodeType="withEffect">
                                  <p:stCondLst>
                                    <p:cond delay="0"/>
                                  </p:stCondLst>
                                  <p:childTnLst>
                                    <p:set>
                                      <p:cBhvr>
                                        <p:cTn id="49" dur="1" fill="hold">
                                          <p:stCondLst>
                                            <p:cond delay="0"/>
                                          </p:stCondLst>
                                        </p:cTn>
                                        <p:tgtEl>
                                          <p:spTgt spid="140291">
                                            <p:txEl>
                                              <p:pRg st="14" end="14"/>
                                            </p:txEl>
                                          </p:spTgt>
                                        </p:tgtEl>
                                        <p:attrNameLst>
                                          <p:attrName>style.visibility</p:attrName>
                                        </p:attrNameLst>
                                      </p:cBhvr>
                                      <p:to>
                                        <p:strVal val="visible"/>
                                      </p:to>
                                    </p:set>
                                    <p:animEffect transition="in" filter="checkerboard(across)">
                                      <p:cBhvr>
                                        <p:cTn id="50" dur="500"/>
                                        <p:tgtEl>
                                          <p:spTgt spid="140291">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6096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de-DE" altLang="en-US" sz="2400">
                <a:latin typeface="Times New Roman" panose="02020603050405020304" pitchFamily="18" charset="0"/>
                <a:cs typeface="Times New Roman" panose="02020603050405020304" pitchFamily="18" charset="0"/>
              </a:rPr>
              <a:t>Virtual Memory </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Paging</a:t>
            </a:r>
            <a:endParaRPr lang="de-DE" altLang="en-US" sz="2000" b="1">
              <a:latin typeface="Times New Roman" panose="02020603050405020304" pitchFamily="18" charset="0"/>
              <a:cs typeface="Times New Roman" panose="02020603050405020304" pitchFamily="18" charset="0"/>
            </a:endParaRP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Address space is broken up into pages </a:t>
            </a:r>
          </a:p>
          <a:p>
            <a:pPr lvl="3" algn="just" eaLnBrk="1" hangingPunct="1">
              <a:lnSpc>
                <a:spcPct val="90000"/>
              </a:lnSpc>
            </a:pPr>
            <a:r>
              <a:rPr lang="en-US" altLang="en-US">
                <a:latin typeface="Times New Roman" panose="02020603050405020304" pitchFamily="18" charset="0"/>
                <a:cs typeface="Times New Roman" panose="02020603050405020304" pitchFamily="18" charset="0"/>
              </a:rPr>
              <a:t>Physical memory is divided up into page frames</a:t>
            </a: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Virtual address  vs. Physical address, manage address space with bit</a:t>
            </a:r>
            <a:endParaRPr lang="en-US" altLang="en-US">
              <a:latin typeface="Times New Roman" panose="02020603050405020304" pitchFamily="18" charset="0"/>
              <a:cs typeface="Times New Roman" panose="02020603050405020304" pitchFamily="18" charset="0"/>
            </a:endParaRPr>
          </a:p>
          <a:p>
            <a:pPr lvl="3" algn="just" eaLnBrk="1" hangingPunct="1">
              <a:lnSpc>
                <a:spcPct val="90000"/>
              </a:lnSpc>
            </a:pPr>
            <a:r>
              <a:rPr lang="de-DE" altLang="en-US">
                <a:latin typeface="Times New Roman" panose="02020603050405020304" pitchFamily="18" charset="0"/>
                <a:cs typeface="Times New Roman" panose="02020603050405020304" pitchFamily="18" charset="0"/>
              </a:rPr>
              <a:t>MMU transfers Virtual address </a:t>
            </a:r>
            <a:r>
              <a:rPr lang="de-DE" altLang="en-US">
                <a:latin typeface="Times New Roman" panose="02020603050405020304" pitchFamily="18" charset="0"/>
                <a:cs typeface="Times New Roman" panose="02020603050405020304" pitchFamily="18" charset="0"/>
                <a:sym typeface="Symbol" panose="05050102010706020507" pitchFamily="18" charset="2"/>
              </a:rPr>
              <a:t> p, d; then it looks up page table following the index to get the page frame;  the page frame combines with d to determine the physical address</a:t>
            </a:r>
          </a:p>
          <a:p>
            <a:pPr lvl="3" algn="just" eaLnBrk="1" hangingPunct="1">
              <a:lnSpc>
                <a:spcPct val="90000"/>
              </a:lnSpc>
            </a:pPr>
            <a:r>
              <a:rPr lang="de-DE" altLang="en-US" b="1">
                <a:latin typeface="Times New Roman" panose="02020603050405020304" pitchFamily="18" charset="0"/>
                <a:cs typeface="Times New Roman" panose="02020603050405020304" pitchFamily="18" charset="0"/>
                <a:sym typeface="Symbol" panose="05050102010706020507" pitchFamily="18" charset="2"/>
              </a:rPr>
              <a:t>Page fault</a:t>
            </a:r>
            <a:r>
              <a:rPr lang="de-DE" altLang="en-US">
                <a:latin typeface="Times New Roman" panose="02020603050405020304" pitchFamily="18" charset="0"/>
                <a:cs typeface="Times New Roman" panose="02020603050405020304" pitchFamily="18" charset="0"/>
                <a:sym typeface="Symbol" panose="05050102010706020507" pitchFamily="18" charset="2"/>
              </a:rPr>
              <a:t>: </a:t>
            </a: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program</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references</a:t>
            </a:r>
            <a:r>
              <a:rPr lang="en-US" altLang="en-US">
                <a:latin typeface="Times New Roman" panose="02020603050405020304" pitchFamily="18" charset="0"/>
                <a:cs typeface="Times New Roman" panose="02020603050405020304" pitchFamily="18" charset="0"/>
              </a:rPr>
              <a:t> a part of its </a:t>
            </a:r>
            <a:r>
              <a:rPr lang="en-US" altLang="en-US" b="1">
                <a:latin typeface="Times New Roman" panose="02020603050405020304" pitchFamily="18" charset="0"/>
                <a:cs typeface="Times New Roman" panose="02020603050405020304" pitchFamily="18" charset="0"/>
              </a:rPr>
              <a:t>address space </a:t>
            </a:r>
            <a:r>
              <a:rPr lang="en-US" altLang="en-US">
                <a:latin typeface="Times New Roman" panose="02020603050405020304" pitchFamily="18" charset="0"/>
                <a:cs typeface="Times New Roman" panose="02020603050405020304" pitchFamily="18" charset="0"/>
              </a:rPr>
              <a:t>that is </a:t>
            </a:r>
            <a:r>
              <a:rPr lang="en-US" altLang="en-US" b="1">
                <a:latin typeface="Times New Roman" panose="02020603050405020304" pitchFamily="18" charset="0"/>
                <a:cs typeface="Times New Roman" panose="02020603050405020304" pitchFamily="18" charset="0"/>
              </a:rPr>
              <a:t>not in physical memory</a:t>
            </a:r>
            <a:endParaRPr lang="de-DE" altLang="en-US">
              <a:latin typeface="Times New Roman" panose="02020603050405020304" pitchFamily="18" charset="0"/>
              <a:cs typeface="Times New Roman" panose="02020603050405020304" pitchFamily="18" charset="0"/>
            </a:endParaRPr>
          </a:p>
          <a:p>
            <a:pPr lvl="3" algn="just" eaLnBrk="1" hangingPunct="1">
              <a:lnSpc>
                <a:spcPct val="90000"/>
              </a:lnSpc>
            </a:pPr>
            <a:r>
              <a:rPr lang="de-DE" altLang="en-US" b="1">
                <a:latin typeface="Times New Roman" panose="02020603050405020304" pitchFamily="18" charset="0"/>
                <a:cs typeface="Times New Roman" panose="02020603050405020304" pitchFamily="18" charset="0"/>
              </a:rPr>
              <a:t>Page table</a:t>
            </a:r>
            <a:endParaRPr lang="de-DE" altLang="en-US">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b="1">
                <a:latin typeface="Times New Roman" panose="02020603050405020304" pitchFamily="18" charset="0"/>
                <a:cs typeface="Times New Roman" panose="02020603050405020304" pitchFamily="18" charset="0"/>
              </a:rPr>
              <a:t>Load</a:t>
            </a:r>
            <a:r>
              <a:rPr lang="de-DE" altLang="en-US">
                <a:latin typeface="Times New Roman" panose="02020603050405020304" pitchFamily="18" charset="0"/>
                <a:cs typeface="Times New Roman" panose="02020603050405020304" pitchFamily="18" charset="0"/>
              </a:rPr>
              <a:t> to collection </a:t>
            </a:r>
            <a:r>
              <a:rPr lang="de-DE" altLang="en-US" b="1">
                <a:latin typeface="Times New Roman" panose="02020603050405020304" pitchFamily="18" charset="0"/>
                <a:cs typeface="Times New Roman" panose="02020603050405020304" pitchFamily="18" charset="0"/>
              </a:rPr>
              <a:t>registers</a:t>
            </a:r>
            <a:r>
              <a:rPr lang="de-DE" altLang="en-US">
                <a:latin typeface="Times New Roman" panose="02020603050405020304" pitchFamily="18" charset="0"/>
                <a:cs typeface="Times New Roman" panose="02020603050405020304" pitchFamily="18" charset="0"/>
              </a:rPr>
              <a:t>, load to </a:t>
            </a:r>
            <a:r>
              <a:rPr lang="de-DE" altLang="en-US" b="1">
                <a:latin typeface="Times New Roman" panose="02020603050405020304" pitchFamily="18" charset="0"/>
                <a:cs typeface="Times New Roman" panose="02020603050405020304" pitchFamily="18" charset="0"/>
              </a:rPr>
              <a:t>memory</a:t>
            </a:r>
            <a:r>
              <a:rPr lang="de-DE" altLang="en-US">
                <a:latin typeface="Times New Roman" panose="02020603050405020304" pitchFamily="18" charset="0"/>
                <a:cs typeface="Times New Roman" panose="02020603050405020304" pitchFamily="18" charset="0"/>
              </a:rPr>
              <a:t> using </a:t>
            </a:r>
            <a:r>
              <a:rPr lang="de-DE" altLang="en-US" b="1">
                <a:latin typeface="Times New Roman" panose="02020603050405020304" pitchFamily="18" charset="0"/>
                <a:cs typeface="Times New Roman" panose="02020603050405020304" pitchFamily="18" charset="0"/>
              </a:rPr>
              <a:t>base register</a:t>
            </a:r>
            <a:r>
              <a:rPr lang="de-DE" altLang="en-US">
                <a:latin typeface="Times New Roman" panose="02020603050405020304" pitchFamily="18" charset="0"/>
                <a:cs typeface="Times New Roman" panose="02020603050405020304" pitchFamily="18" charset="0"/>
              </a:rPr>
              <a:t>, using </a:t>
            </a:r>
            <a:r>
              <a:rPr lang="de-DE" altLang="en-US" b="1">
                <a:latin typeface="Times New Roman" panose="02020603050405020304" pitchFamily="18" charset="0"/>
                <a:cs typeface="Times New Roman" panose="02020603050405020304" pitchFamily="18" charset="0"/>
              </a:rPr>
              <a:t>TLB</a:t>
            </a:r>
          </a:p>
          <a:p>
            <a:pPr lvl="4" algn="just" eaLnBrk="1" hangingPunct="1">
              <a:lnSpc>
                <a:spcPct val="90000"/>
              </a:lnSpc>
            </a:pPr>
            <a:r>
              <a:rPr lang="en-US" altLang="en-US" b="1">
                <a:latin typeface="Times New Roman" panose="02020603050405020304" pitchFamily="18" charset="0"/>
                <a:cs typeface="Times New Roman" panose="02020603050405020304" pitchFamily="18" charset="0"/>
              </a:rPr>
              <a:t>Excessive large page table: </a:t>
            </a:r>
            <a:r>
              <a:rPr lang="en-US" altLang="en-US">
                <a:latin typeface="Times New Roman" panose="02020603050405020304" pitchFamily="18" charset="0"/>
                <a:cs typeface="Times New Roman" panose="02020603050405020304" pitchFamily="18" charset="0"/>
              </a:rPr>
              <a:t>multilevel page, inverted page table, inverted page table with hash or TLB</a:t>
            </a:r>
          </a:p>
          <a:p>
            <a:pPr lvl="4" algn="just" eaLnBrk="1" hangingPunct="1">
              <a:lnSpc>
                <a:spcPct val="90000"/>
              </a:lnSpc>
            </a:pPr>
            <a:r>
              <a:rPr lang="en-US" altLang="en-US" b="1">
                <a:latin typeface="Times New Roman" panose="02020603050405020304" pitchFamily="18" charset="0"/>
                <a:cs typeface="Times New Roman" panose="02020603050405020304" pitchFamily="18" charset="0"/>
              </a:rPr>
              <a:t>Entry</a:t>
            </a:r>
            <a:r>
              <a:rPr lang="en-US" altLang="en-US">
                <a:latin typeface="Times New Roman" panose="02020603050405020304" pitchFamily="18" charset="0"/>
                <a:cs typeface="Times New Roman" panose="02020603050405020304" pitchFamily="18" charset="0"/>
              </a:rPr>
              <a:t>: Caching disabled, Referenced, Modified, Protection, Present/absent, page frame number</a:t>
            </a:r>
            <a:endParaRPr lang="de-DE" altLang="en-US">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7" dur="500"/>
                                        <p:tgtEl>
                                          <p:spTgt spid="140291">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10" dur="500"/>
                                        <p:tgtEl>
                                          <p:spTgt spid="140291">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13" dur="500"/>
                                        <p:tgtEl>
                                          <p:spTgt spid="140291">
                                            <p:txEl>
                                              <p:pRg st="4" end="4"/>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16" dur="500"/>
                                        <p:tgtEl>
                                          <p:spTgt spid="140291">
                                            <p:txEl>
                                              <p:pRg st="5" end="5"/>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19" dur="500"/>
                                        <p:tgtEl>
                                          <p:spTgt spid="140291">
                                            <p:txEl>
                                              <p:pRg st="6" end="6"/>
                                            </p:txEl>
                                          </p:spTgt>
                                        </p:tgtEl>
                                      </p:cBhvr>
                                    </p:animEffect>
                                  </p:childTnLst>
                                </p:cTn>
                              </p:par>
                              <p:par>
                                <p:cTn id="20" presetID="5" presetClass="entr" presetSubtype="10" fill="hold" nodeType="withEffect">
                                  <p:stCondLst>
                                    <p:cond delay="0"/>
                                  </p:stCondLst>
                                  <p:childTnLst>
                                    <p:set>
                                      <p:cBhvr>
                                        <p:cTn id="2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22" dur="500"/>
                                        <p:tgtEl>
                                          <p:spTgt spid="140291">
                                            <p:txEl>
                                              <p:pRg st="7" end="7"/>
                                            </p:txEl>
                                          </p:spTgt>
                                        </p:tgtEl>
                                      </p:cBhvr>
                                    </p:animEffect>
                                  </p:childTnLst>
                                </p:cTn>
                              </p:par>
                              <p:par>
                                <p:cTn id="23" presetID="5" presetClass="entr" presetSubtype="10" fill="hold" nodeType="withEffect">
                                  <p:stCondLst>
                                    <p:cond delay="0"/>
                                  </p:stCondLst>
                                  <p:childTnLst>
                                    <p:set>
                                      <p:cBhvr>
                                        <p:cTn id="24"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25" dur="500"/>
                                        <p:tgtEl>
                                          <p:spTgt spid="140291">
                                            <p:txEl>
                                              <p:pRg st="8" end="8"/>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28" dur="500"/>
                                        <p:tgtEl>
                                          <p:spTgt spid="140291">
                                            <p:txEl>
                                              <p:pRg st="9" end="9"/>
                                            </p:txEl>
                                          </p:spTgt>
                                        </p:tgtEl>
                                      </p:cBhvr>
                                    </p:animEffect>
                                  </p:childTnLst>
                                </p:cTn>
                              </p:par>
                              <p:par>
                                <p:cTn id="29" presetID="5" presetClass="entr" presetSubtype="10" fill="hold" nodeType="withEffect">
                                  <p:stCondLst>
                                    <p:cond delay="0"/>
                                  </p:stCondLst>
                                  <p:childTnLst>
                                    <p:set>
                                      <p:cBhvr>
                                        <p:cTn id="30"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31" dur="500"/>
                                        <p:tgtEl>
                                          <p:spTgt spid="140291">
                                            <p:txEl>
                                              <p:pRg st="10" end="10"/>
                                            </p:txEl>
                                          </p:spTgt>
                                        </p:tgtEl>
                                      </p:cBhvr>
                                    </p:animEffect>
                                  </p:childTnLst>
                                </p:cTn>
                              </p:par>
                              <p:par>
                                <p:cTn id="32" presetID="5" presetClass="entr" presetSubtype="10" fill="hold" nodeType="withEffect">
                                  <p:stCondLst>
                                    <p:cond delay="0"/>
                                  </p:stCondLst>
                                  <p:childTnLst>
                                    <p:set>
                                      <p:cBhvr>
                                        <p:cTn id="33"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34" dur="500"/>
                                        <p:tgtEl>
                                          <p:spTgt spid="140291">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p:cNvSpPr>
          <p:nvPr>
            <p:ph type="title"/>
          </p:nvPr>
        </p:nvSpPr>
        <p:spPr>
          <a:xfrm>
            <a:off x="914400" y="0"/>
            <a:ext cx="8229600" cy="609600"/>
          </a:xfrm>
        </p:spPr>
        <p:txBody>
          <a:bodyPr/>
          <a:lstStyle/>
          <a:p>
            <a:r>
              <a:rPr lang="en-US" altLang="en-US" sz="4000" b="1">
                <a:latin typeface="Times New Roman" panose="02020603050405020304" pitchFamily="18" charset="0"/>
                <a:cs typeface="Times New Roman" panose="02020603050405020304" pitchFamily="18" charset="0"/>
              </a:rPr>
              <a:t>Review</a:t>
            </a:r>
            <a:endParaRPr lang="en-US" altLang="en-US" sz="3200">
              <a:latin typeface="Times New Roman" panose="02020603050405020304" pitchFamily="18" charset="0"/>
              <a:cs typeface="Times New Roman" panose="02020603050405020304" pitchFamily="18" charset="0"/>
            </a:endParaRPr>
          </a:p>
        </p:txBody>
      </p:sp>
      <p:sp>
        <p:nvSpPr>
          <p:cNvPr id="140291" name="Rectangle 3"/>
          <p:cNvSpPr>
            <a:spLocks noGrp="1"/>
          </p:cNvSpPr>
          <p:nvPr>
            <p:ph type="body" idx="1"/>
          </p:nvPr>
        </p:nvSpPr>
        <p:spPr>
          <a:xfrm>
            <a:off x="0" y="381000"/>
            <a:ext cx="9144000" cy="62484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Memory Abstractions</a:t>
            </a:r>
          </a:p>
          <a:p>
            <a:pPr lvl="1" algn="just" eaLnBrk="1" hangingPunct="1">
              <a:lnSpc>
                <a:spcPct val="90000"/>
              </a:lnSpc>
            </a:pPr>
            <a:r>
              <a:rPr lang="de-DE" altLang="en-US" sz="2400" dirty="0">
                <a:latin typeface="Times New Roman" panose="02020603050405020304" pitchFamily="18" charset="0"/>
                <a:cs typeface="Times New Roman" panose="02020603050405020304" pitchFamily="18" charset="0"/>
              </a:rPr>
              <a:t>Virtual Memory</a:t>
            </a:r>
          </a:p>
          <a:p>
            <a:pPr lvl="2" algn="just" eaLnBrk="1" hangingPunct="1">
              <a:lnSpc>
                <a:spcPct val="90000"/>
              </a:lnSpc>
            </a:pPr>
            <a:r>
              <a:rPr lang="de-DE" altLang="en-US" sz="2000" b="1" dirty="0">
                <a:latin typeface="Times New Roman" panose="02020603050405020304" pitchFamily="18" charset="0"/>
                <a:cs typeface="Times New Roman" panose="02020603050405020304" pitchFamily="18" charset="0"/>
              </a:rPr>
              <a:t>Paging</a:t>
            </a:r>
          </a:p>
          <a:p>
            <a:pPr lvl="3" algn="just" eaLnBrk="1" hangingPunct="1">
              <a:lnSpc>
                <a:spcPct val="90000"/>
              </a:lnSpc>
            </a:pPr>
            <a:r>
              <a:rPr lang="de-DE" altLang="en-US" dirty="0">
                <a:latin typeface="Times New Roman" panose="02020603050405020304" pitchFamily="18" charset="0"/>
                <a:cs typeface="Times New Roman" panose="02020603050405020304" pitchFamily="18" charset="0"/>
              </a:rPr>
              <a:t>Page replace algorithms</a:t>
            </a: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Optimal:  the page </a:t>
            </a:r>
            <a:r>
              <a:rPr lang="en-US" altLang="en-US" dirty="0">
                <a:latin typeface="Times New Roman" panose="02020603050405020304" pitchFamily="18" charset="0"/>
                <a:cs typeface="Times New Roman" panose="02020603050405020304" pitchFamily="18" charset="0"/>
              </a:rPr>
              <a:t>will be the </a:t>
            </a:r>
            <a:r>
              <a:rPr lang="en-US" altLang="en-US" b="1" dirty="0">
                <a:latin typeface="Times New Roman" panose="02020603050405020304" pitchFamily="18" charset="0"/>
                <a:cs typeface="Times New Roman" panose="02020603050405020304" pitchFamily="18" charset="0"/>
              </a:rPr>
              <a:t>latest</a:t>
            </a:r>
            <a:r>
              <a:rPr lang="en-US" altLang="en-US" dirty="0">
                <a:latin typeface="Times New Roman" panose="02020603050405020304" pitchFamily="18" charset="0"/>
                <a:cs typeface="Times New Roman" panose="02020603050405020304" pitchFamily="18" charset="0"/>
              </a:rPr>
              <a:t> one </a:t>
            </a:r>
            <a:r>
              <a:rPr lang="en-US" altLang="en-US" b="1" dirty="0">
                <a:latin typeface="Times New Roman" panose="02020603050405020304" pitchFamily="18" charset="0"/>
                <a:cs typeface="Times New Roman" panose="02020603050405020304" pitchFamily="18" charset="0"/>
              </a:rPr>
              <a:t>accessed</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in the future </a:t>
            </a:r>
            <a:endParaRPr lang="de-DE" altLang="en-US"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NRU: the page has </a:t>
            </a:r>
            <a:r>
              <a:rPr lang="de-DE" altLang="en-US" b="1" dirty="0">
                <a:latin typeface="Times New Roman" panose="02020603050405020304" pitchFamily="18" charset="0"/>
                <a:cs typeface="Times New Roman" panose="02020603050405020304" pitchFamily="18" charset="0"/>
              </a:rPr>
              <a:t>lowest class </a:t>
            </a:r>
            <a:r>
              <a:rPr lang="de-DE" altLang="en-US" dirty="0">
                <a:latin typeface="Times New Roman" panose="02020603050405020304" pitchFamily="18" charset="0"/>
                <a:cs typeface="Times New Roman" panose="02020603050405020304" pitchFamily="18" charset="0"/>
              </a:rPr>
              <a:t>that combines R and M bit</a:t>
            </a: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FIFO: </a:t>
            </a:r>
            <a:r>
              <a:rPr lang="en-US" altLang="en-US" dirty="0">
                <a:latin typeface="Times New Roman" panose="02020603050405020304" pitchFamily="18" charset="0"/>
                <a:cs typeface="Times New Roman" panose="02020603050405020304" pitchFamily="18" charset="0"/>
              </a:rPr>
              <a:t>the page at the </a:t>
            </a:r>
            <a:r>
              <a:rPr lang="en-US" altLang="en-US" b="1" dirty="0">
                <a:latin typeface="Times New Roman" panose="02020603050405020304" pitchFamily="18" charset="0"/>
                <a:cs typeface="Times New Roman" panose="02020603050405020304" pitchFamily="18" charset="0"/>
              </a:rPr>
              <a:t>head</a:t>
            </a:r>
            <a:r>
              <a:rPr lang="en-US" altLang="en-US" dirty="0">
                <a:latin typeface="Times New Roman" panose="02020603050405020304" pitchFamily="18" charset="0"/>
                <a:cs typeface="Times New Roman" panose="02020603050405020304" pitchFamily="18" charset="0"/>
              </a:rPr>
              <a:t> of </a:t>
            </a:r>
            <a:r>
              <a:rPr lang="en-US" altLang="en-US" b="1" dirty="0">
                <a:latin typeface="Times New Roman" panose="02020603050405020304" pitchFamily="18" charset="0"/>
                <a:cs typeface="Times New Roman" panose="02020603050405020304" pitchFamily="18" charset="0"/>
              </a:rPr>
              <a:t>queue</a:t>
            </a:r>
            <a:endParaRPr lang="de-DE" altLang="en-US" b="1"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Second Chance: </a:t>
            </a:r>
            <a:r>
              <a:rPr lang="en-US" altLang="en-US" dirty="0">
                <a:latin typeface="Times New Roman" panose="02020603050405020304" pitchFamily="18" charset="0"/>
                <a:cs typeface="Times New Roman" panose="02020603050405020304" pitchFamily="18" charset="0"/>
              </a:rPr>
              <a:t>old page has </a:t>
            </a:r>
            <a:r>
              <a:rPr lang="en-US" altLang="en-US" b="1" dirty="0">
                <a:latin typeface="Times New Roman" panose="02020603050405020304" pitchFamily="18" charset="0"/>
                <a:cs typeface="Times New Roman" panose="02020603050405020304" pitchFamily="18" charset="0"/>
              </a:rPr>
              <a:t>not been not referenced in</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previous clock interval (R = 0). </a:t>
            </a:r>
            <a:r>
              <a:rPr lang="en-US" altLang="en-US" dirty="0">
                <a:latin typeface="Times New Roman" panose="02020603050405020304" pitchFamily="18" charset="0"/>
                <a:cs typeface="Times New Roman" panose="02020603050405020304" pitchFamily="18" charset="0"/>
              </a:rPr>
              <a:t>If </a:t>
            </a:r>
            <a:r>
              <a:rPr lang="en-US" altLang="en-US" b="1" dirty="0">
                <a:latin typeface="Times New Roman" panose="02020603050405020304" pitchFamily="18" charset="0"/>
                <a:cs typeface="Times New Roman" panose="02020603050405020304" pitchFamily="18" charset="0"/>
              </a:rPr>
              <a:t>R</a:t>
            </a:r>
            <a:r>
              <a:rPr lang="en-US" altLang="en-US" dirty="0">
                <a:latin typeface="Times New Roman" panose="02020603050405020304" pitchFamily="18" charset="0"/>
                <a:cs typeface="Times New Roman" panose="02020603050405020304" pitchFamily="18" charset="0"/>
              </a:rPr>
              <a:t> of page </a:t>
            </a:r>
            <a:r>
              <a:rPr lang="en-US" altLang="en-US" b="1" dirty="0">
                <a:latin typeface="Times New Roman" panose="02020603050405020304" pitchFamily="18" charset="0"/>
                <a:cs typeface="Times New Roman" panose="02020603050405020304" pitchFamily="18" charset="0"/>
              </a:rPr>
              <a:t>equals 1</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R </a:t>
            </a:r>
            <a:r>
              <a:rPr lang="en-US" altLang="en-US" dirty="0">
                <a:latin typeface="Times New Roman" panose="02020603050405020304" pitchFamily="18" charset="0"/>
                <a:cs typeface="Times New Roman" panose="02020603050405020304" pitchFamily="18" charset="0"/>
              </a:rPr>
              <a:t>is </a:t>
            </a:r>
            <a:r>
              <a:rPr lang="en-US" altLang="en-US" b="1" dirty="0">
                <a:latin typeface="Times New Roman" panose="02020603050405020304" pitchFamily="18" charset="0"/>
                <a:cs typeface="Times New Roman" panose="02020603050405020304" pitchFamily="18" charset="0"/>
              </a:rPr>
              <a:t>reset</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to 0</a:t>
            </a:r>
            <a:r>
              <a:rPr lang="en-US" altLang="en-US" dirty="0">
                <a:latin typeface="Times New Roman" panose="02020603050405020304" pitchFamily="18" charset="0"/>
                <a:cs typeface="Times New Roman" panose="02020603050405020304" pitchFamily="18" charset="0"/>
              </a:rPr>
              <a:t> and </a:t>
            </a:r>
            <a:r>
              <a:rPr lang="en-US" altLang="en-US" b="1" dirty="0">
                <a:latin typeface="Times New Roman" panose="02020603050405020304" pitchFamily="18" charset="0"/>
                <a:cs typeface="Times New Roman" panose="02020603050405020304" pitchFamily="18" charset="0"/>
              </a:rPr>
              <a:t>put</a:t>
            </a:r>
            <a:r>
              <a:rPr lang="en-US" altLang="en-US" dirty="0">
                <a:latin typeface="Times New Roman" panose="02020603050405020304" pitchFamily="18" charset="0"/>
                <a:cs typeface="Times New Roman" panose="02020603050405020304" pitchFamily="18" charset="0"/>
              </a:rPr>
              <a:t> the </a:t>
            </a:r>
            <a:r>
              <a:rPr lang="en-US" altLang="en-US" b="1" dirty="0">
                <a:latin typeface="Times New Roman" panose="02020603050405020304" pitchFamily="18" charset="0"/>
                <a:cs typeface="Times New Roman" panose="02020603050405020304" pitchFamily="18" charset="0"/>
              </a:rPr>
              <a:t>tail of the queue</a:t>
            </a:r>
            <a:r>
              <a:rPr lang="en-US" altLang="en-US" dirty="0">
                <a:latin typeface="Times New Roman" panose="02020603050405020304" pitchFamily="18" charset="0"/>
                <a:cs typeface="Times New Roman" panose="02020603050405020304" pitchFamily="18" charset="0"/>
              </a:rPr>
              <a:t>.</a:t>
            </a:r>
            <a:endParaRPr lang="de-DE" altLang="en-US"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 </a:t>
            </a:r>
            <a:r>
              <a:rPr lang="de-DE" altLang="en-US" b="1" dirty="0">
                <a:latin typeface="Times New Roman" panose="02020603050405020304" pitchFamily="18" charset="0"/>
                <a:cs typeface="Times New Roman" panose="02020603050405020304" pitchFamily="18" charset="0"/>
              </a:rPr>
              <a:t>Clock </a:t>
            </a:r>
            <a:r>
              <a:rPr lang="de-DE" altLang="en-US" dirty="0">
                <a:latin typeface="Times New Roman" panose="02020603050405020304" pitchFamily="18" charset="0"/>
                <a:cs typeface="Times New Roman" panose="02020603050405020304" pitchFamily="18" charset="0"/>
              </a:rPr>
              <a:t>(circular queue) </a:t>
            </a:r>
            <a:r>
              <a:rPr lang="de-DE" altLang="en-US" b="1"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the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page</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being </a:t>
            </a:r>
            <a:r>
              <a:rPr lang="en-US" altLang="en-US" b="1" dirty="0">
                <a:latin typeface="Times New Roman" panose="02020603050405020304" pitchFamily="18" charset="0"/>
                <a:cs typeface="Times New Roman" panose="02020603050405020304" pitchFamily="18" charset="0"/>
                <a:sym typeface="Wingdings" panose="05000000000000000000" pitchFamily="2" charset="2"/>
              </a:rPr>
              <a:t>pointed</a:t>
            </a:r>
            <a:r>
              <a:rPr lang="en-US" altLang="en-US" dirty="0">
                <a:latin typeface="Times New Roman" panose="02020603050405020304" pitchFamily="18" charset="0"/>
                <a:cs typeface="Times New Roman" panose="02020603050405020304" pitchFamily="18" charset="0"/>
                <a:sym typeface="Wingdings" panose="05000000000000000000" pitchFamily="2" charset="2"/>
              </a:rPr>
              <a:t> to by the hand is inspected. If R = 0, page is evicted. Otherwise, R is reset to 0, the pointer points next</a:t>
            </a:r>
            <a:endParaRPr lang="de-DE" altLang="en-US"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b="1" dirty="0">
                <a:latin typeface="Times New Roman" panose="02020603050405020304" pitchFamily="18" charset="0"/>
                <a:cs typeface="Times New Roman" panose="02020603050405020304" pitchFamily="18" charset="0"/>
              </a:rPr>
              <a:t>LRU</a:t>
            </a:r>
            <a:r>
              <a:rPr lang="de-DE" altLang="en-US" dirty="0">
                <a:latin typeface="Times New Roman" panose="02020603050405020304" pitchFamily="18" charset="0"/>
                <a:cs typeface="Times New Roman" panose="02020603050405020304" pitchFamily="18" charset="0"/>
              </a:rPr>
              <a:t>: </a:t>
            </a: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page</a:t>
            </a:r>
            <a:r>
              <a:rPr lang="en-US" altLang="en-US" dirty="0">
                <a:latin typeface="Times New Roman" panose="02020603050405020304" pitchFamily="18" charset="0"/>
                <a:cs typeface="Times New Roman" panose="02020603050405020304" pitchFamily="18" charset="0"/>
              </a:rPr>
              <a:t> at the </a:t>
            </a:r>
            <a:r>
              <a:rPr lang="en-US" altLang="en-US" b="1" dirty="0">
                <a:latin typeface="Times New Roman" panose="02020603050405020304" pitchFamily="18" charset="0"/>
                <a:cs typeface="Times New Roman" panose="02020603050405020304" pitchFamily="18" charset="0"/>
              </a:rPr>
              <a:t>end of the list is replaced, </a:t>
            </a: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list</a:t>
            </a:r>
            <a:r>
              <a:rPr lang="en-US" altLang="en-US" dirty="0">
                <a:latin typeface="Times New Roman" panose="02020603050405020304" pitchFamily="18" charset="0"/>
                <a:cs typeface="Times New Roman" panose="02020603050405020304" pitchFamily="18" charset="0"/>
              </a:rPr>
              <a:t> must be </a:t>
            </a:r>
            <a:r>
              <a:rPr lang="en-US" altLang="en-US" b="1" dirty="0">
                <a:latin typeface="Times New Roman" panose="02020603050405020304" pitchFamily="18" charset="0"/>
                <a:cs typeface="Times New Roman" panose="02020603050405020304" pitchFamily="18" charset="0"/>
              </a:rPr>
              <a:t>updated</a:t>
            </a: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at</a:t>
            </a:r>
            <a:r>
              <a:rPr lang="en-US" altLang="en-US" dirty="0">
                <a:latin typeface="Times New Roman" panose="02020603050405020304" pitchFamily="18" charset="0"/>
                <a:cs typeface="Times New Roman" panose="02020603050405020304" pitchFamily="18" charset="0"/>
              </a:rPr>
              <a:t> each </a:t>
            </a:r>
            <a:r>
              <a:rPr lang="en-US" altLang="en-US" b="1" dirty="0">
                <a:latin typeface="Times New Roman" panose="02020603050405020304" pitchFamily="18" charset="0"/>
                <a:cs typeface="Times New Roman" panose="02020603050405020304" pitchFamily="18" charset="0"/>
              </a:rPr>
              <a:t>memory reference </a:t>
            </a:r>
            <a:endParaRPr lang="de-DE" altLang="en-US"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 NFU, Aging (using bit): </a:t>
            </a:r>
            <a:r>
              <a:rPr lang="en-US" altLang="en-US" dirty="0">
                <a:latin typeface="Times New Roman" panose="02020603050405020304" pitchFamily="18" charset="0"/>
                <a:cs typeface="Times New Roman" panose="02020603050405020304" pitchFamily="18" charset="0"/>
              </a:rPr>
              <a:t>The </a:t>
            </a:r>
            <a:r>
              <a:rPr lang="en-US" altLang="en-US" b="1" dirty="0">
                <a:latin typeface="Times New Roman" panose="02020603050405020304" pitchFamily="18" charset="0"/>
                <a:cs typeface="Times New Roman" panose="02020603050405020304" pitchFamily="18" charset="0"/>
              </a:rPr>
              <a:t>page</a:t>
            </a:r>
            <a:r>
              <a:rPr lang="en-US" altLang="en-US" dirty="0">
                <a:latin typeface="Times New Roman" panose="02020603050405020304" pitchFamily="18" charset="0"/>
                <a:cs typeface="Times New Roman" panose="02020603050405020304" pitchFamily="18" charset="0"/>
              </a:rPr>
              <a:t> with the </a:t>
            </a:r>
            <a:r>
              <a:rPr lang="en-US" altLang="en-US" b="1" dirty="0">
                <a:latin typeface="Times New Roman" panose="02020603050405020304" pitchFamily="18" charset="0"/>
                <a:cs typeface="Times New Roman" panose="02020603050405020304" pitchFamily="18" charset="0"/>
              </a:rPr>
              <a:t>lowest counter </a:t>
            </a:r>
            <a:endParaRPr lang="de-DE" altLang="en-US"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dirty="0">
                <a:latin typeface="Times New Roman" panose="02020603050405020304" pitchFamily="18" charset="0"/>
                <a:cs typeface="Times New Roman" panose="02020603050405020304" pitchFamily="18" charset="0"/>
              </a:rPr>
              <a:t>Working set model, working set clock (circular queue): </a:t>
            </a:r>
            <a:r>
              <a:rPr lang="de-DE" altLang="en-US" b="1" dirty="0">
                <a:latin typeface="Times New Roman" panose="02020603050405020304" pitchFamily="18" charset="0"/>
                <a:cs typeface="Times New Roman" panose="02020603050405020304" pitchFamily="18" charset="0"/>
              </a:rPr>
              <a:t>Third Chance</a:t>
            </a:r>
            <a:r>
              <a:rPr lang="de-DE" altLang="en-US" dirty="0">
                <a:latin typeface="Times New Roman" panose="02020603050405020304" pitchFamily="18" charset="0"/>
                <a:cs typeface="Times New Roman" panose="02020603050405020304" pitchFamily="18" charset="0"/>
              </a:rPr>
              <a:t> with Second Chance using age </a:t>
            </a:r>
            <a:r>
              <a:rPr lang="en-US" altLang="en-US" b="1" dirty="0">
                <a:latin typeface="Times New Roman" panose="02020603050405020304" pitchFamily="18" charset="0"/>
                <a:cs typeface="Times New Roman" panose="02020603050405020304" pitchFamily="18" charset="0"/>
              </a:rPr>
              <a:t>&gt; </a:t>
            </a:r>
            <a:r>
              <a:rPr lang="el-GR" altLang="en-US" b="1" dirty="0">
                <a:latin typeface="Times New Roman" panose="02020603050405020304" pitchFamily="18" charset="0"/>
                <a:cs typeface="Times New Roman" panose="02020603050405020304" pitchFamily="18" charset="0"/>
              </a:rPr>
              <a:t>τ</a:t>
            </a:r>
            <a:r>
              <a:rPr lang="en-US" altLang="en-US" b="1" dirty="0">
                <a:latin typeface="Times New Roman" panose="02020603050405020304" pitchFamily="18" charset="0"/>
                <a:cs typeface="Times New Roman" panose="02020603050405020304" pitchFamily="18" charset="0"/>
              </a:rPr>
              <a:t> with bit R</a:t>
            </a:r>
            <a:endParaRPr lang="de-DE" altLang="en-US" dirty="0">
              <a:latin typeface="Times New Roman" panose="02020603050405020304" pitchFamily="18" charset="0"/>
              <a:cs typeface="Times New Roman" panose="02020603050405020304" pitchFamily="18" charset="0"/>
            </a:endParaRPr>
          </a:p>
          <a:p>
            <a:pPr lvl="4" algn="just" eaLnBrk="1" hangingPunct="1">
              <a:lnSpc>
                <a:spcPct val="90000"/>
              </a:lnSpc>
            </a:pPr>
            <a:r>
              <a:rPr lang="de-DE" altLang="en-US" b="1" dirty="0">
                <a:latin typeface="Times New Roman" panose="02020603050405020304" pitchFamily="18" charset="0"/>
                <a:cs typeface="Times New Roman" panose="02020603050405020304" pitchFamily="18" charset="0"/>
              </a:rPr>
              <a:t>Terminology</a:t>
            </a:r>
            <a:r>
              <a:rPr lang="de-DE" altLang="en-US" dirty="0">
                <a:latin typeface="Times New Roman" panose="02020603050405020304" pitchFamily="18" charset="0"/>
                <a:cs typeface="Times New Roman" panose="02020603050405020304" pitchFamily="18" charset="0"/>
              </a:rPr>
              <a:t>: Thrashing, Locality of Reference, Demand paging, prepaging, working set, page fault rate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40291">
                                            <p:txEl>
                                              <p:pRg st="0" end="0"/>
                                            </p:txEl>
                                          </p:spTgt>
                                        </p:tgtEl>
                                        <p:attrNameLst>
                                          <p:attrName>style.visibility</p:attrName>
                                        </p:attrNameLst>
                                      </p:cBhvr>
                                      <p:to>
                                        <p:strVal val="visible"/>
                                      </p:to>
                                    </p:set>
                                    <p:animEffect transition="in" filter="checkerboard(across)">
                                      <p:cBhvr>
                                        <p:cTn id="7" dur="500"/>
                                        <p:tgtEl>
                                          <p:spTgt spid="140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0291">
                                            <p:txEl>
                                              <p:pRg st="1" end="1"/>
                                            </p:txEl>
                                          </p:spTgt>
                                        </p:tgtEl>
                                        <p:attrNameLst>
                                          <p:attrName>style.visibility</p:attrName>
                                        </p:attrNameLst>
                                      </p:cBhvr>
                                      <p:to>
                                        <p:strVal val="visible"/>
                                      </p:to>
                                    </p:set>
                                    <p:animEffect transition="in" filter="checkerboard(across)">
                                      <p:cBhvr>
                                        <p:cTn id="12" dur="500"/>
                                        <p:tgtEl>
                                          <p:spTgt spid="140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0291">
                                            <p:txEl>
                                              <p:pRg st="2" end="2"/>
                                            </p:txEl>
                                          </p:spTgt>
                                        </p:tgtEl>
                                        <p:attrNameLst>
                                          <p:attrName>style.visibility</p:attrName>
                                        </p:attrNameLst>
                                      </p:cBhvr>
                                      <p:to>
                                        <p:strVal val="visible"/>
                                      </p:to>
                                    </p:set>
                                    <p:animEffect transition="in" filter="checkerboard(across)">
                                      <p:cBhvr>
                                        <p:cTn id="17" dur="500"/>
                                        <p:tgtEl>
                                          <p:spTgt spid="14029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0291">
                                            <p:txEl>
                                              <p:pRg st="3" end="3"/>
                                            </p:txEl>
                                          </p:spTgt>
                                        </p:tgtEl>
                                        <p:attrNameLst>
                                          <p:attrName>style.visibility</p:attrName>
                                        </p:attrNameLst>
                                      </p:cBhvr>
                                      <p:to>
                                        <p:strVal val="visible"/>
                                      </p:to>
                                    </p:set>
                                    <p:animEffect transition="in" filter="checkerboard(across)">
                                      <p:cBhvr>
                                        <p:cTn id="22" dur="500"/>
                                        <p:tgtEl>
                                          <p:spTgt spid="14029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140291">
                                            <p:txEl>
                                              <p:pRg st="4" end="4"/>
                                            </p:txEl>
                                          </p:spTgt>
                                        </p:tgtEl>
                                        <p:attrNameLst>
                                          <p:attrName>style.visibility</p:attrName>
                                        </p:attrNameLst>
                                      </p:cBhvr>
                                      <p:to>
                                        <p:strVal val="visible"/>
                                      </p:to>
                                    </p:set>
                                    <p:animEffect transition="in" filter="checkerboard(across)">
                                      <p:cBhvr>
                                        <p:cTn id="27" dur="500"/>
                                        <p:tgtEl>
                                          <p:spTgt spid="14029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40291">
                                            <p:txEl>
                                              <p:pRg st="5" end="5"/>
                                            </p:txEl>
                                          </p:spTgt>
                                        </p:tgtEl>
                                        <p:attrNameLst>
                                          <p:attrName>style.visibility</p:attrName>
                                        </p:attrNameLst>
                                      </p:cBhvr>
                                      <p:to>
                                        <p:strVal val="visible"/>
                                      </p:to>
                                    </p:set>
                                    <p:animEffect transition="in" filter="checkerboard(across)">
                                      <p:cBhvr>
                                        <p:cTn id="32" dur="500"/>
                                        <p:tgtEl>
                                          <p:spTgt spid="14029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140291">
                                            <p:txEl>
                                              <p:pRg st="6" end="6"/>
                                            </p:txEl>
                                          </p:spTgt>
                                        </p:tgtEl>
                                        <p:attrNameLst>
                                          <p:attrName>style.visibility</p:attrName>
                                        </p:attrNameLst>
                                      </p:cBhvr>
                                      <p:to>
                                        <p:strVal val="visible"/>
                                      </p:to>
                                    </p:set>
                                    <p:animEffect transition="in" filter="checkerboard(across)">
                                      <p:cBhvr>
                                        <p:cTn id="37" dur="500"/>
                                        <p:tgtEl>
                                          <p:spTgt spid="14029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40291">
                                            <p:txEl>
                                              <p:pRg st="7" end="7"/>
                                            </p:txEl>
                                          </p:spTgt>
                                        </p:tgtEl>
                                        <p:attrNameLst>
                                          <p:attrName>style.visibility</p:attrName>
                                        </p:attrNameLst>
                                      </p:cBhvr>
                                      <p:to>
                                        <p:strVal val="visible"/>
                                      </p:to>
                                    </p:set>
                                    <p:animEffect transition="in" filter="checkerboard(across)">
                                      <p:cBhvr>
                                        <p:cTn id="42" dur="500"/>
                                        <p:tgtEl>
                                          <p:spTgt spid="14029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40291">
                                            <p:txEl>
                                              <p:pRg st="8" end="8"/>
                                            </p:txEl>
                                          </p:spTgt>
                                        </p:tgtEl>
                                        <p:attrNameLst>
                                          <p:attrName>style.visibility</p:attrName>
                                        </p:attrNameLst>
                                      </p:cBhvr>
                                      <p:to>
                                        <p:strVal val="visible"/>
                                      </p:to>
                                    </p:set>
                                    <p:animEffect transition="in" filter="checkerboard(across)">
                                      <p:cBhvr>
                                        <p:cTn id="47" dur="500"/>
                                        <p:tgtEl>
                                          <p:spTgt spid="140291">
                                            <p:txEl>
                                              <p:pRg st="8" end="8"/>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140291">
                                            <p:txEl>
                                              <p:pRg st="9" end="9"/>
                                            </p:txEl>
                                          </p:spTgt>
                                        </p:tgtEl>
                                        <p:attrNameLst>
                                          <p:attrName>style.visibility</p:attrName>
                                        </p:attrNameLst>
                                      </p:cBhvr>
                                      <p:to>
                                        <p:strVal val="visible"/>
                                      </p:to>
                                    </p:set>
                                    <p:animEffect transition="in" filter="checkerboard(across)">
                                      <p:cBhvr>
                                        <p:cTn id="52" dur="500"/>
                                        <p:tgtEl>
                                          <p:spTgt spid="140291">
                                            <p:txEl>
                                              <p:pRg st="9" end="9"/>
                                            </p:txEl>
                                          </p:spTgt>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 presetClass="entr" presetSubtype="10" fill="hold" grpId="0" nodeType="clickEffect">
                                  <p:stCondLst>
                                    <p:cond delay="0"/>
                                  </p:stCondLst>
                                  <p:childTnLst>
                                    <p:set>
                                      <p:cBhvr>
                                        <p:cTn id="56" dur="1" fill="hold">
                                          <p:stCondLst>
                                            <p:cond delay="0"/>
                                          </p:stCondLst>
                                        </p:cTn>
                                        <p:tgtEl>
                                          <p:spTgt spid="140291">
                                            <p:txEl>
                                              <p:pRg st="10" end="10"/>
                                            </p:txEl>
                                          </p:spTgt>
                                        </p:tgtEl>
                                        <p:attrNameLst>
                                          <p:attrName>style.visibility</p:attrName>
                                        </p:attrNameLst>
                                      </p:cBhvr>
                                      <p:to>
                                        <p:strVal val="visible"/>
                                      </p:to>
                                    </p:set>
                                    <p:animEffect transition="in" filter="checkerboard(across)">
                                      <p:cBhvr>
                                        <p:cTn id="57" dur="500"/>
                                        <p:tgtEl>
                                          <p:spTgt spid="140291">
                                            <p:txEl>
                                              <p:pRg st="10" end="10"/>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140291">
                                            <p:txEl>
                                              <p:pRg st="11" end="11"/>
                                            </p:txEl>
                                          </p:spTgt>
                                        </p:tgtEl>
                                        <p:attrNameLst>
                                          <p:attrName>style.visibility</p:attrName>
                                        </p:attrNameLst>
                                      </p:cBhvr>
                                      <p:to>
                                        <p:strVal val="visible"/>
                                      </p:to>
                                    </p:set>
                                    <p:animEffect transition="in" filter="checkerboard(across)">
                                      <p:cBhvr>
                                        <p:cTn id="62" dur="500"/>
                                        <p:tgtEl>
                                          <p:spTgt spid="140291">
                                            <p:txEl>
                                              <p:pRg st="11" end="11"/>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5" presetClass="entr" presetSubtype="10" fill="hold" grpId="0" nodeType="clickEffect">
                                  <p:stCondLst>
                                    <p:cond delay="0"/>
                                  </p:stCondLst>
                                  <p:childTnLst>
                                    <p:set>
                                      <p:cBhvr>
                                        <p:cTn id="66" dur="1" fill="hold">
                                          <p:stCondLst>
                                            <p:cond delay="0"/>
                                          </p:stCondLst>
                                        </p:cTn>
                                        <p:tgtEl>
                                          <p:spTgt spid="140291">
                                            <p:txEl>
                                              <p:pRg st="12" end="12"/>
                                            </p:txEl>
                                          </p:spTgt>
                                        </p:tgtEl>
                                        <p:attrNameLst>
                                          <p:attrName>style.visibility</p:attrName>
                                        </p:attrNameLst>
                                      </p:cBhvr>
                                      <p:to>
                                        <p:strVal val="visible"/>
                                      </p:to>
                                    </p:set>
                                    <p:animEffect transition="in" filter="checkerboard(across)">
                                      <p:cBhvr>
                                        <p:cTn id="67" dur="500"/>
                                        <p:tgtEl>
                                          <p:spTgt spid="14029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91" grpId="0" build="p" bldLvl="5"/>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p:cNvSpPr>
          <p:nvPr>
            <p:ph type="title"/>
          </p:nvPr>
        </p:nvSpPr>
        <p:spPr>
          <a:xfrm>
            <a:off x="457200" y="0"/>
            <a:ext cx="8229600" cy="685800"/>
          </a:xfrm>
        </p:spPr>
        <p:txBody>
          <a:bodyPr/>
          <a:lstStyle/>
          <a:p>
            <a:r>
              <a:rPr lang="en-US" altLang="en-US" sz="4000">
                <a:latin typeface="Times New Roman" panose="02020603050405020304" pitchFamily="18" charset="0"/>
                <a:cs typeface="Times New Roman" panose="02020603050405020304" pitchFamily="18" charset="0"/>
              </a:rPr>
              <a:t>Objectives</a:t>
            </a:r>
          </a:p>
        </p:txBody>
      </p:sp>
      <p:sp>
        <p:nvSpPr>
          <p:cNvPr id="9219" name="Rectangle 3"/>
          <p:cNvSpPr>
            <a:spLocks noGrp="1"/>
          </p:cNvSpPr>
          <p:nvPr>
            <p:ph type="body" idx="1"/>
          </p:nvPr>
        </p:nvSpPr>
        <p:spPr>
          <a:xfrm>
            <a:off x="457200" y="762000"/>
            <a:ext cx="8686800" cy="6096000"/>
          </a:xfrm>
        </p:spPr>
        <p:txBody>
          <a:bodyPr/>
          <a:lstStyle/>
          <a:p>
            <a:pPr>
              <a:buClrTx/>
              <a:buSzTx/>
              <a:buFont typeface="Arial" panose="020B0604020202020204" pitchFamily="34" charset="0"/>
              <a:buChar char="•"/>
            </a:pPr>
            <a:r>
              <a:rPr lang="en-US" altLang="en-US" b="1" dirty="0">
                <a:latin typeface="Times New Roman" panose="02020603050405020304" pitchFamily="18" charset="0"/>
                <a:cs typeface="Times New Roman" panose="02020603050405020304" pitchFamily="18" charset="0"/>
              </a:rPr>
              <a:t>Design Issues for Paging Systems</a:t>
            </a:r>
          </a:p>
          <a:p>
            <a:pPr lvl="1"/>
            <a:r>
              <a:rPr lang="en-US" altLang="en-US" dirty="0">
                <a:latin typeface="Times New Roman" panose="02020603050405020304" pitchFamily="18" charset="0"/>
                <a:cs typeface="Times New Roman" panose="02020603050405020304" pitchFamily="18" charset="0"/>
              </a:rPr>
              <a:t>Local vs. Global Allocation Policies</a:t>
            </a:r>
          </a:p>
          <a:p>
            <a:pPr lvl="1"/>
            <a:r>
              <a:rPr lang="en-US" altLang="en-US" dirty="0">
                <a:latin typeface="Times New Roman" panose="02020603050405020304" pitchFamily="18" charset="0"/>
                <a:cs typeface="Times New Roman" panose="02020603050405020304" pitchFamily="18" charset="0"/>
              </a:rPr>
              <a:t>Load Control</a:t>
            </a:r>
          </a:p>
          <a:p>
            <a:pPr lvl="1"/>
            <a:r>
              <a:rPr lang="en-US" altLang="en-US" dirty="0">
                <a:latin typeface="Times New Roman" panose="02020603050405020304" pitchFamily="18" charset="0"/>
                <a:cs typeface="Times New Roman" panose="02020603050405020304" pitchFamily="18" charset="0"/>
              </a:rPr>
              <a:t>Page Size</a:t>
            </a:r>
          </a:p>
          <a:p>
            <a:pPr lvl="1"/>
            <a:r>
              <a:rPr lang="en-US" altLang="en-US" dirty="0">
                <a:latin typeface="Times New Roman" panose="02020603050405020304" pitchFamily="18" charset="0"/>
                <a:cs typeface="Times New Roman" panose="02020603050405020304" pitchFamily="18" charset="0"/>
              </a:rPr>
              <a:t>Shared Pages</a:t>
            </a:r>
          </a:p>
          <a:p>
            <a:pPr lvl="1"/>
            <a:r>
              <a:rPr lang="en-US" altLang="en-US" dirty="0">
                <a:latin typeface="Times New Roman" panose="02020603050405020304" pitchFamily="18" charset="0"/>
                <a:cs typeface="Times New Roman" panose="02020603050405020304" pitchFamily="18" charset="0"/>
              </a:rPr>
              <a:t>Shared Libraries</a:t>
            </a:r>
          </a:p>
          <a:p>
            <a:pPr lvl="1"/>
            <a:r>
              <a:rPr lang="en-US" altLang="en-US" dirty="0">
                <a:latin typeface="Times New Roman" panose="02020603050405020304" pitchFamily="18" charset="0"/>
                <a:cs typeface="Times New Roman" panose="02020603050405020304" pitchFamily="18" charset="0"/>
              </a:rPr>
              <a:t>Mapped Files</a:t>
            </a:r>
          </a:p>
          <a:p>
            <a:pPr lvl="1"/>
            <a:r>
              <a:rPr lang="en-US" altLang="en-US" dirty="0">
                <a:latin typeface="Times New Roman" panose="02020603050405020304" pitchFamily="18" charset="0"/>
                <a:cs typeface="Times New Roman" panose="02020603050405020304" pitchFamily="18" charset="0"/>
              </a:rPr>
              <a:t>Cleaning Policy</a:t>
            </a:r>
          </a:p>
          <a:p>
            <a:pPr lvl="1"/>
            <a:r>
              <a:rPr lang="en-US" altLang="en-US" dirty="0">
                <a:latin typeface="Times New Roman" panose="02020603050405020304" pitchFamily="18" charset="0"/>
                <a:cs typeface="Times New Roman" panose="02020603050405020304" pitchFamily="18" charset="0"/>
              </a:rPr>
              <a:t>Virtual Memory Interface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p:cNvSpPr>
          <p:nvPr>
            <p:ph type="title"/>
          </p:nvPr>
        </p:nvSpPr>
        <p:spPr>
          <a:xfrm>
            <a:off x="1143000" y="533400"/>
            <a:ext cx="8229600" cy="762000"/>
          </a:xfrm>
        </p:spPr>
        <p:txBody>
          <a:bodyPr/>
          <a:lstStyle/>
          <a:p>
            <a:r>
              <a:rPr lang="en-US" altLang="en-US" sz="3200">
                <a:latin typeface="Times New Roman" panose="02020603050405020304" pitchFamily="18" charset="0"/>
                <a:cs typeface="Times New Roman" panose="02020603050405020304" pitchFamily="18" charset="0"/>
              </a:rPr>
              <a:t>Local vs. Global Allocation Policies</a:t>
            </a:r>
          </a:p>
        </p:txBody>
      </p:sp>
      <p:sp>
        <p:nvSpPr>
          <p:cNvPr id="10243" name="Rectangle 3"/>
          <p:cNvSpPr>
            <a:spLocks noGrp="1"/>
          </p:cNvSpPr>
          <p:nvPr>
            <p:ph type="body" idx="1"/>
          </p:nvPr>
        </p:nvSpPr>
        <p:spPr>
          <a:xfrm>
            <a:off x="0" y="1066800"/>
            <a:ext cx="9144000" cy="5791200"/>
          </a:xfrm>
        </p:spPr>
        <p:txBody>
          <a:bodyPr/>
          <a:lstStyle/>
          <a:p>
            <a:pPr algn="just" eaLnBrk="1" hangingPunct="1">
              <a:lnSpc>
                <a:spcPct val="90000"/>
              </a:lnSpc>
              <a:buClrTx/>
              <a:buSzTx/>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context</a:t>
            </a:r>
          </a:p>
          <a:p>
            <a:pPr lvl="1"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Page fault</a:t>
            </a:r>
          </a:p>
          <a:p>
            <a:pPr lvl="1" algn="just" eaLnBrk="1" hangingPunct="1">
              <a:lnSpc>
                <a:spcPct val="90000"/>
              </a:lnSpc>
            </a:pPr>
            <a:r>
              <a:rPr lang="en-US" altLang="en-US" sz="2000" b="1" dirty="0">
                <a:latin typeface="Times New Roman" panose="02020603050405020304" pitchFamily="18" charset="0"/>
                <a:cs typeface="Times New Roman" panose="02020603050405020304" pitchFamily="18" charset="0"/>
              </a:rPr>
              <a:t>Page replacement</a:t>
            </a:r>
          </a:p>
          <a:p>
            <a:pPr algn="just" eaLnBrk="1" hangingPunct="1">
              <a:lnSpc>
                <a:spcPct val="9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Question</a:t>
            </a:r>
            <a:r>
              <a:rPr lang="en-US" altLang="en-US" sz="2400" dirty="0">
                <a:latin typeface="Times New Roman" panose="02020603050405020304" pitchFamily="18" charset="0"/>
                <a:cs typeface="Times New Roman" panose="02020603050405020304" pitchFamily="18" charset="0"/>
              </a:rPr>
              <a:t>: should the page replacement algorithms try to find LRU page </a:t>
            </a:r>
            <a:r>
              <a:rPr lang="en-US" altLang="en-US" sz="2400" b="1" dirty="0">
                <a:latin typeface="Times New Roman" panose="02020603050405020304" pitchFamily="18" charset="0"/>
                <a:cs typeface="Times New Roman" panose="02020603050405020304" pitchFamily="18" charset="0"/>
              </a:rPr>
              <a:t>consider</a:t>
            </a:r>
            <a:r>
              <a:rPr lang="en-US" altLang="en-US" sz="2400" dirty="0">
                <a:latin typeface="Times New Roman" panose="02020603050405020304" pitchFamily="18" charset="0"/>
                <a:cs typeface="Times New Roman" panose="02020603050405020304" pitchFamily="18" charset="0"/>
              </a:rPr>
              <a:t> only the page currently </a:t>
            </a:r>
            <a:r>
              <a:rPr lang="en-US" altLang="en-US" sz="2400" b="1" dirty="0">
                <a:latin typeface="Times New Roman" panose="02020603050405020304" pitchFamily="18" charset="0"/>
                <a:cs typeface="Times New Roman" panose="02020603050405020304" pitchFamily="18" charset="0"/>
              </a:rPr>
              <a:t>allocated to particular process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or</a:t>
            </a:r>
            <a:r>
              <a:rPr lang="en-US" altLang="en-US" sz="2400" dirty="0">
                <a:latin typeface="Times New Roman" panose="02020603050405020304" pitchFamily="18" charset="0"/>
                <a:cs typeface="Times New Roman" panose="02020603050405020304" pitchFamily="18" charset="0"/>
              </a:rPr>
              <a:t> should it consider </a:t>
            </a:r>
            <a:r>
              <a:rPr lang="en-US" altLang="en-US" sz="2400" b="1" dirty="0">
                <a:latin typeface="Times New Roman" panose="02020603050405020304" pitchFamily="18" charset="0"/>
                <a:cs typeface="Times New Roman" panose="02020603050405020304" pitchFamily="18" charset="0"/>
              </a:rPr>
              <a:t>all the pages in memory</a:t>
            </a:r>
            <a:r>
              <a:rPr lang="en-US" altLang="en-US" sz="2400" dirty="0">
                <a:latin typeface="Times New Roman" panose="02020603050405020304" pitchFamily="18" charset="0"/>
                <a:cs typeface="Times New Roman" panose="02020603050405020304" pitchFamily="18" charset="0"/>
              </a:rPr>
              <a:t>? </a:t>
            </a:r>
          </a:p>
          <a:p>
            <a:pPr lvl="1"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Local</a:t>
            </a:r>
            <a:r>
              <a:rPr lang="en-US" altLang="en-US" sz="2000" dirty="0">
                <a:latin typeface="Times New Roman" panose="02020603050405020304" pitchFamily="18" charset="0"/>
                <a:cs typeface="Times New Roman" panose="02020603050405020304" pitchFamily="18" charset="0"/>
              </a:rPr>
              <a:t>: pages of the </a:t>
            </a:r>
            <a:r>
              <a:rPr lang="en-US" altLang="en-US" sz="2000" b="1" dirty="0">
                <a:latin typeface="Times New Roman" panose="02020603050405020304" pitchFamily="18" charset="0"/>
                <a:cs typeface="Times New Roman" panose="02020603050405020304" pitchFamily="18" charset="0"/>
              </a:rPr>
              <a:t>current process</a:t>
            </a:r>
          </a:p>
          <a:p>
            <a:pPr lvl="1"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Global</a:t>
            </a:r>
            <a:r>
              <a:rPr lang="en-US" altLang="en-US" sz="2000" dirty="0">
                <a:latin typeface="Times New Roman" panose="02020603050405020304" pitchFamily="18" charset="0"/>
                <a:cs typeface="Times New Roman" panose="02020603050405020304" pitchFamily="18" charset="0"/>
              </a:rPr>
              <a:t>: pages of </a:t>
            </a:r>
            <a:r>
              <a:rPr lang="en-US" altLang="en-US" sz="2000" b="1" dirty="0">
                <a:latin typeface="Times New Roman" panose="02020603050405020304" pitchFamily="18" charset="0"/>
                <a:cs typeface="Times New Roman" panose="02020603050405020304" pitchFamily="18" charset="0"/>
              </a:rPr>
              <a:t>all processes</a:t>
            </a:r>
          </a:p>
          <a:p>
            <a:pPr algn="just" eaLnBrk="1" hangingPunct="1">
              <a:lnSpc>
                <a:spcPct val="9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Answer</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depends</a:t>
            </a:r>
            <a:r>
              <a:rPr lang="en-US" altLang="en-US" sz="2400" dirty="0">
                <a:latin typeface="Times New Roman" panose="02020603050405020304" pitchFamily="18" charset="0"/>
                <a:cs typeface="Times New Roman" panose="02020603050405020304" pitchFamily="18" charset="0"/>
              </a:rPr>
              <a:t> on the </a:t>
            </a:r>
            <a:r>
              <a:rPr lang="en-US" altLang="en-US" sz="2400" b="1" dirty="0">
                <a:latin typeface="Times New Roman" panose="02020603050405020304" pitchFamily="18" charset="0"/>
                <a:cs typeface="Times New Roman" panose="02020603050405020304" pitchFamily="18" charset="0"/>
              </a:rPr>
              <a:t>strategy</a:t>
            </a:r>
            <a:r>
              <a:rPr lang="en-US" altLang="en-US" sz="2400" dirty="0">
                <a:latin typeface="Times New Roman" panose="02020603050405020304" pitchFamily="18" charset="0"/>
                <a:cs typeface="Times New Roman" panose="02020603050405020304" pitchFamily="18" charset="0"/>
              </a:rPr>
              <a:t> used to </a:t>
            </a:r>
            <a:r>
              <a:rPr lang="en-US" altLang="en-US" sz="2400" b="1" dirty="0">
                <a:latin typeface="Times New Roman" panose="02020603050405020304" pitchFamily="18" charset="0"/>
                <a:cs typeface="Times New Roman" panose="02020603050405020304" pitchFamily="18" charset="0"/>
              </a:rPr>
              <a:t>allocate</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memory</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between</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competing runnable processes</a:t>
            </a:r>
          </a:p>
          <a:p>
            <a:pPr lvl="1"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Local</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Every process has a </a:t>
            </a:r>
            <a:r>
              <a:rPr lang="en-US" altLang="en-US" sz="2000" b="1" dirty="0">
                <a:latin typeface="Times New Roman" panose="02020603050405020304" pitchFamily="18" charset="0"/>
                <a:cs typeface="Times New Roman" panose="02020603050405020304" pitchFamily="18" charset="0"/>
              </a:rPr>
              <a:t>fixed fraction of memory </a:t>
            </a:r>
            <a:r>
              <a:rPr lang="en-US" altLang="en-US" sz="2000" dirty="0">
                <a:latin typeface="Times New Roman" panose="02020603050405020304" pitchFamily="18" charset="0"/>
                <a:cs typeface="Times New Roman" panose="02020603050405020304" pitchFamily="18" charset="0"/>
              </a:rPr>
              <a:t>allocated (</a:t>
            </a:r>
            <a:r>
              <a:rPr lang="en-US" altLang="en-US" sz="2000" b="1" dirty="0">
                <a:latin typeface="Times New Roman" panose="02020603050405020304" pitchFamily="18" charset="0"/>
                <a:cs typeface="Times New Roman" panose="02020603050405020304" pitchFamily="18" charset="0"/>
              </a:rPr>
              <a:t>advantages</a:t>
            </a:r>
            <a:r>
              <a:rPr lang="en-US" altLang="en-US" sz="2000" dirty="0">
                <a:latin typeface="Times New Roman" panose="02020603050405020304" pitchFamily="18" charset="0"/>
                <a:cs typeface="Times New Roman" panose="02020603050405020304" pitchFamily="18" charset="0"/>
              </a:rPr>
              <a:t>)</a:t>
            </a:r>
          </a:p>
          <a:p>
            <a:pPr lvl="1" algn="just" eaLnBrk="1" hangingPunct="1">
              <a:lnSpc>
                <a:spcPct val="90000"/>
              </a:lnSpc>
            </a:pPr>
            <a:r>
              <a:rPr lang="en-US" altLang="en-US" sz="2000" b="1" i="1" dirty="0">
                <a:latin typeface="Times New Roman" panose="02020603050405020304" pitchFamily="18" charset="0"/>
                <a:cs typeface="Times New Roman" panose="02020603050405020304" pitchFamily="18" charset="0"/>
              </a:rPr>
              <a:t>Global</a:t>
            </a:r>
            <a:r>
              <a:rPr lang="en-US" altLang="en-US" sz="2000" dirty="0">
                <a:latin typeface="Times New Roman" panose="02020603050405020304" pitchFamily="18" charset="0"/>
                <a:cs typeface="Times New Roman" panose="02020603050405020304" pitchFamily="18" charset="0"/>
              </a:rPr>
              <a:t>: page frames are </a:t>
            </a:r>
            <a:r>
              <a:rPr lang="en-US" altLang="en-US" sz="2000" b="1" dirty="0">
                <a:latin typeface="Times New Roman" panose="02020603050405020304" pitchFamily="18" charset="0"/>
                <a:cs typeface="Times New Roman" panose="02020603050405020304" pitchFamily="18" charset="0"/>
              </a:rPr>
              <a:t>dynamically</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allocated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among runnable processes</a:t>
            </a:r>
          </a:p>
          <a:p>
            <a:pPr algn="just" eaLnBrk="1" hangingPunct="1">
              <a:lnSpc>
                <a:spcPct val="9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sym typeface="Wingdings" panose="05000000000000000000" pitchFamily="2" charset="2"/>
              </a:rPr>
              <a:t>Local</a:t>
            </a:r>
            <a:r>
              <a:rPr lang="en-US" altLang="en-US" sz="2400" dirty="0">
                <a:latin typeface="Times New Roman" panose="02020603050405020304" pitchFamily="18" charset="0"/>
                <a:cs typeface="Times New Roman" panose="02020603050405020304" pitchFamily="18" charset="0"/>
                <a:sym typeface="Wingdings" panose="05000000000000000000" pitchFamily="2" charset="2"/>
              </a:rPr>
              <a:t> algorithms</a:t>
            </a:r>
          </a:p>
          <a:p>
            <a:pPr lvl="1" algn="just" eaLnBrk="1" hangingPunct="1">
              <a:lnSpc>
                <a:spcPct val="90000"/>
              </a:lnSpc>
            </a:pPr>
            <a:r>
              <a:rPr lang="en-US" altLang="en-US" sz="2000" dirty="0">
                <a:latin typeface="Times New Roman" panose="02020603050405020304" pitchFamily="18" charset="0"/>
                <a:cs typeface="Times New Roman" panose="02020603050405020304" pitchFamily="18" charset="0"/>
              </a:rPr>
              <a:t>The </a:t>
            </a:r>
            <a:r>
              <a:rPr lang="en-US" altLang="en-US" sz="2000" b="1" dirty="0">
                <a:latin typeface="Times New Roman" panose="02020603050405020304" pitchFamily="18" charset="0"/>
                <a:cs typeface="Times New Roman" panose="02020603050405020304" pitchFamily="18" charset="0"/>
              </a:rPr>
              <a:t>working set grows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sym typeface="Wingdings" panose="05000000000000000000" pitchFamily="2" charset="2"/>
              </a:rPr>
              <a:t>thrashing</a:t>
            </a:r>
          </a:p>
          <a:p>
            <a:pPr lvl="1" algn="just" eaLnBrk="1" hangingPunct="1">
              <a:lnSpc>
                <a:spcPct val="90000"/>
              </a:lnSpc>
            </a:pP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The </a:t>
            </a:r>
            <a:r>
              <a:rPr lang="en-US" altLang="en-US" sz="2000" b="1" dirty="0">
                <a:latin typeface="Times New Roman" panose="02020603050405020304" pitchFamily="18" charset="0"/>
                <a:cs typeface="Times New Roman" panose="02020603050405020304" pitchFamily="18" charset="0"/>
                <a:sym typeface="Wingdings" panose="05000000000000000000" pitchFamily="2" charset="2"/>
              </a:rPr>
              <a:t>working set shrinks </a:t>
            </a:r>
            <a:r>
              <a:rPr lang="en-US" altLang="en-US" sz="2000" dirty="0">
                <a:latin typeface="Times New Roman" panose="02020603050405020304" pitchFamily="18" charset="0"/>
                <a:cs typeface="Times New Roman" panose="02020603050405020304" pitchFamily="18" charset="0"/>
              </a:rPr>
              <a:t>→</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 </a:t>
            </a:r>
            <a:r>
              <a:rPr lang="en-US" altLang="en-US" sz="2000" b="1" dirty="0">
                <a:latin typeface="Times New Roman" panose="02020603050405020304" pitchFamily="18" charset="0"/>
                <a:cs typeface="Times New Roman" panose="02020603050405020304" pitchFamily="18" charset="0"/>
                <a:sym typeface="Wingdings" panose="05000000000000000000" pitchFamily="2" charset="2"/>
              </a:rPr>
              <a:t>waste of memory</a:t>
            </a:r>
            <a:endParaRPr lang="en-GB" altLang="en-US" sz="2000" b="1" dirty="0">
              <a:latin typeface="Times New Roman" panose="02020603050405020304" pitchFamily="18" charset="0"/>
              <a:cs typeface="Times New Roman" panose="02020603050405020304" pitchFamily="18" charset="0"/>
            </a:endParaRPr>
          </a:p>
        </p:txBody>
      </p:sp>
      <p:sp>
        <p:nvSpPr>
          <p:cNvPr id="10244" name="Rectangle 4"/>
          <p:cNvSpPr>
            <a:spLocks/>
          </p:cNvSpPr>
          <p:nvPr/>
        </p:nvSpPr>
        <p:spPr bwMode="auto">
          <a:xfrm>
            <a:off x="1752600" y="0"/>
            <a:ext cx="73914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4000" b="1">
                <a:latin typeface="Times New Roman" panose="02020603050405020304" pitchFamily="18" charset="0"/>
                <a:cs typeface="Times New Roman" panose="02020603050405020304" pitchFamily="18" charset="0"/>
              </a:rPr>
              <a:t>Design Issues for Paging System</a:t>
            </a:r>
            <a:endParaRPr lang="en-US" altLang="en-US" sz="2800" b="1">
              <a:solidFill>
                <a:srgbClr val="FF33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p:cNvSpPr>
          <p:nvPr>
            <p:ph type="title"/>
          </p:nvPr>
        </p:nvSpPr>
        <p:spPr>
          <a:xfrm>
            <a:off x="1600200" y="0"/>
            <a:ext cx="7772400" cy="6858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1267" name="Rectangle 4"/>
          <p:cNvSpPr>
            <a:spLocks/>
          </p:cNvSpPr>
          <p:nvPr/>
        </p:nvSpPr>
        <p:spPr bwMode="auto">
          <a:xfrm>
            <a:off x="1143000" y="5334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Local vs. Global Allocation Policies</a:t>
            </a:r>
          </a:p>
        </p:txBody>
      </p:sp>
      <p:pic>
        <p:nvPicPr>
          <p:cNvPr id="11268" name="Picture 7" descr="03-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143000"/>
            <a:ext cx="7772400" cy="512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1558" name="Text Box 4"/>
          <p:cNvSpPr txBox="1">
            <a:spLocks noChangeArrowheads="1"/>
          </p:cNvSpPr>
          <p:nvPr/>
        </p:nvSpPr>
        <p:spPr bwMode="auto">
          <a:xfrm>
            <a:off x="3657600" y="62484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3-23.</a:t>
            </a:r>
          </a:p>
        </p:txBody>
      </p:sp>
      <p:sp>
        <p:nvSpPr>
          <p:cNvPr id="11270" name="TextBox 5"/>
          <p:cNvSpPr txBox="1">
            <a:spLocks noChangeArrowheads="1"/>
          </p:cNvSpPr>
          <p:nvPr/>
        </p:nvSpPr>
        <p:spPr bwMode="auto">
          <a:xfrm>
            <a:off x="381000" y="1066800"/>
            <a:ext cx="2895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solidFill>
                  <a:srgbClr val="FF0000"/>
                </a:solidFill>
                <a:latin typeface="Times New Roman" panose="02020603050405020304" pitchFamily="18" charset="0"/>
                <a:cs typeface="Times New Roman" panose="02020603050405020304" pitchFamily="18" charset="0"/>
              </a:rPr>
              <a:t>A6 causes the page fault</a:t>
            </a:r>
          </a:p>
        </p:txBody>
      </p:sp>
      <p:sp>
        <p:nvSpPr>
          <p:cNvPr id="11271" name="TextBox 6"/>
          <p:cNvSpPr txBox="1">
            <a:spLocks noChangeArrowheads="1"/>
          </p:cNvSpPr>
          <p:nvPr/>
        </p:nvSpPr>
        <p:spPr bwMode="auto">
          <a:xfrm>
            <a:off x="4038600" y="10668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a:solidFill>
                  <a:srgbClr val="FF0000"/>
                </a:solidFill>
                <a:latin typeface="Times New Roman" panose="02020603050405020304" pitchFamily="18" charset="0"/>
                <a:cs typeface="Times New Roman" panose="02020603050405020304" pitchFamily="18" charset="0"/>
              </a:rPr>
              <a:t>Local</a:t>
            </a:r>
          </a:p>
        </p:txBody>
      </p:sp>
      <p:sp>
        <p:nvSpPr>
          <p:cNvPr id="11272" name="TextBox 7"/>
          <p:cNvSpPr txBox="1">
            <a:spLocks noChangeArrowheads="1"/>
          </p:cNvSpPr>
          <p:nvPr/>
        </p:nvSpPr>
        <p:spPr bwMode="auto">
          <a:xfrm>
            <a:off x="7239000" y="1066800"/>
            <a:ext cx="1295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b="1" dirty="0">
                <a:solidFill>
                  <a:srgbClr val="FF0000"/>
                </a:solidFill>
                <a:latin typeface="Times New Roman" panose="02020603050405020304" pitchFamily="18" charset="0"/>
                <a:cs typeface="Times New Roman" panose="02020603050405020304" pitchFamily="18" charset="0"/>
              </a:rPr>
              <a:t>Global</a:t>
            </a:r>
          </a:p>
        </p:txBody>
      </p:sp>
      <p:sp>
        <p:nvSpPr>
          <p:cNvPr id="9" name="Rectangle 8"/>
          <p:cNvSpPr/>
          <p:nvPr/>
        </p:nvSpPr>
        <p:spPr>
          <a:xfrm>
            <a:off x="3962400" y="1524000"/>
            <a:ext cx="1447800" cy="1676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7162800" y="1447800"/>
            <a:ext cx="1447800" cy="44196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2" name="Picture 1">
            <a:extLst>
              <a:ext uri="{FF2B5EF4-FFF2-40B4-BE49-F238E27FC236}">
                <a16:creationId xmlns:a16="http://schemas.microsoft.com/office/drawing/2014/main" id="{A2CD9181-5363-40E3-881E-877D937C9DFD}"/>
              </a:ext>
            </a:extLst>
          </p:cNvPr>
          <p:cNvPicPr>
            <a:picLocks noChangeAspect="1"/>
          </p:cNvPicPr>
          <p:nvPr/>
        </p:nvPicPr>
        <p:blipFill>
          <a:blip r:embed="rId4"/>
          <a:stretch>
            <a:fillRect/>
          </a:stretch>
        </p:blipFill>
        <p:spPr>
          <a:xfrm>
            <a:off x="700087" y="6172201"/>
            <a:ext cx="7972425" cy="6858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1558"/>
                                        </p:tgtEl>
                                        <p:attrNameLst>
                                          <p:attrName>style.visibility</p:attrName>
                                        </p:attrNameLst>
                                      </p:cBhvr>
                                      <p:to>
                                        <p:strVal val="visible"/>
                                      </p:to>
                                    </p:set>
                                    <p:animEffect transition="in" filter="box(in)">
                                      <p:cBhvr>
                                        <p:cTn id="7" dur="500"/>
                                        <p:tgtEl>
                                          <p:spTgt spid="15155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1127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127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8" grpId="0"/>
      <p:bldP spid="11271" grpId="0"/>
      <p:bldP spid="11272" grpId="0"/>
      <p:bldP spid="9" grpId="0" animBg="1"/>
      <p:bldP spid="1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p:cNvSpPr>
          <p:nvPr>
            <p:ph type="title"/>
          </p:nvPr>
        </p:nvSpPr>
        <p:spPr>
          <a:xfrm>
            <a:off x="1295400" y="0"/>
            <a:ext cx="8229600" cy="762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39267" name="Rectangle 3"/>
          <p:cNvSpPr>
            <a:spLocks noGrp="1"/>
          </p:cNvSpPr>
          <p:nvPr>
            <p:ph type="body" idx="1"/>
          </p:nvPr>
        </p:nvSpPr>
        <p:spPr>
          <a:xfrm>
            <a:off x="0" y="1143000"/>
            <a:ext cx="9144000" cy="5715000"/>
          </a:xfrm>
        </p:spPr>
        <p:txBody>
          <a:bodyPr/>
          <a:lstStyle/>
          <a:p>
            <a:pPr algn="just" eaLnBrk="1" hangingPunct="1">
              <a:lnSpc>
                <a:spcPct val="80000"/>
              </a:lnSpc>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Global</a:t>
            </a:r>
            <a:r>
              <a:rPr lang="en-US" altLang="en-US" sz="2400">
                <a:latin typeface="Times New Roman" panose="02020603050405020304" pitchFamily="18" charset="0"/>
                <a:cs typeface="Times New Roman" panose="02020603050405020304" pitchFamily="18" charset="0"/>
              </a:rPr>
              <a:t> algorithms </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Work </a:t>
            </a:r>
            <a:r>
              <a:rPr lang="en-US" altLang="en-US" sz="2000" b="1">
                <a:latin typeface="Times New Roman" panose="02020603050405020304" pitchFamily="18" charset="0"/>
                <a:cs typeface="Times New Roman" panose="02020603050405020304" pitchFamily="18" charset="0"/>
              </a:rPr>
              <a:t>better</a:t>
            </a:r>
            <a:r>
              <a:rPr lang="en-US" altLang="en-US" sz="2000">
                <a:latin typeface="Times New Roman" panose="02020603050405020304" pitchFamily="18" charset="0"/>
                <a:cs typeface="Times New Roman" panose="02020603050405020304" pitchFamily="18" charset="0"/>
              </a:rPr>
              <a:t>, especially when the </a:t>
            </a:r>
            <a:r>
              <a:rPr lang="en-US" altLang="en-US" sz="2000" b="1">
                <a:latin typeface="Times New Roman" panose="02020603050405020304" pitchFamily="18" charset="0"/>
                <a:cs typeface="Times New Roman" panose="02020603050405020304" pitchFamily="18" charset="0"/>
              </a:rPr>
              <a:t>working set size </a:t>
            </a:r>
            <a:r>
              <a:rPr lang="en-US" altLang="en-US" sz="2000">
                <a:latin typeface="Times New Roman" panose="02020603050405020304" pitchFamily="18" charset="0"/>
                <a:cs typeface="Times New Roman" panose="02020603050405020304" pitchFamily="18" charset="0"/>
              </a:rPr>
              <a:t>can </a:t>
            </a:r>
            <a:r>
              <a:rPr lang="en-US" altLang="en-US" sz="2000" b="1">
                <a:latin typeface="Times New Roman" panose="02020603050405020304" pitchFamily="18" charset="0"/>
                <a:cs typeface="Times New Roman" panose="02020603050405020304" pitchFamily="18" charset="0"/>
              </a:rPr>
              <a:t>vary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over the lifetime </a:t>
            </a:r>
            <a:r>
              <a:rPr lang="en-US" altLang="en-US" sz="2000">
                <a:latin typeface="Times New Roman" panose="02020603050405020304" pitchFamily="18" charset="0"/>
                <a:cs typeface="Times New Roman" panose="02020603050405020304" pitchFamily="18" charset="0"/>
              </a:rPr>
              <a:t>of a process</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rPr>
              <a:t>The</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thrashing</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can occurs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to</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other processes </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of which pages are chosen to replace </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other</a:t>
            </a:r>
            <a:r>
              <a:rPr lang="en-US" altLang="en-US" sz="2000">
                <a:latin typeface="Times New Roman" panose="02020603050405020304" pitchFamily="18" charset="0"/>
                <a:cs typeface="Times New Roman" panose="02020603050405020304" pitchFamily="18" charset="0"/>
              </a:rPr>
              <a:t> processes </a:t>
            </a:r>
            <a:r>
              <a:rPr lang="en-US" altLang="en-US" sz="2000" b="1">
                <a:latin typeface="Times New Roman" panose="02020603050405020304" pitchFamily="18" charset="0"/>
                <a:cs typeface="Times New Roman" panose="02020603050405020304" pitchFamily="18" charset="0"/>
              </a:rPr>
              <a:t>can not control </a:t>
            </a:r>
            <a:r>
              <a:rPr lang="en-US" altLang="en-US" sz="2000">
                <a:latin typeface="Times New Roman" panose="02020603050405020304" pitchFamily="18" charset="0"/>
                <a:cs typeface="Times New Roman" panose="02020603050405020304" pitchFamily="18" charset="0"/>
              </a:rPr>
              <a:t>the page fault rate</a:t>
            </a:r>
            <a:endParaRPr lang="en-US" altLang="en-US" sz="2000">
              <a:latin typeface="Times New Roman" panose="02020603050405020304" pitchFamily="18" charset="0"/>
              <a:cs typeface="Times New Roman" panose="02020603050405020304" pitchFamily="18" charset="0"/>
              <a:sym typeface="Wingdings" panose="05000000000000000000" pitchFamily="2" charset="2"/>
            </a:endParaRP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The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working set size is smaller </a:t>
            </a:r>
            <a:r>
              <a:rPr lang="en-US" altLang="en-US" sz="2000">
                <a:latin typeface="Times New Roman" panose="02020603050405020304" pitchFamily="18" charset="0"/>
                <a:cs typeface="Times New Roman" panose="02020603050405020304" pitchFamily="18" charset="0"/>
              </a:rPr>
              <a:t>→</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waste of memory</a:t>
            </a:r>
            <a:endParaRPr lang="en-US" altLang="en-US" sz="2000" b="1">
              <a:latin typeface="Times New Roman" panose="02020603050405020304" pitchFamily="18" charset="0"/>
              <a:cs typeface="Times New Roman" panose="02020603050405020304" pitchFamily="18" charset="0"/>
            </a:endParaRPr>
          </a:p>
          <a:p>
            <a:pPr algn="just" eaLnBrk="1" hangingPunct="1">
              <a:lnSpc>
                <a:spcPct val="80000"/>
              </a:lnSpc>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sym typeface="Wingdings" panose="05000000000000000000" pitchFamily="2" charset="2"/>
              </a:rPr>
              <a:t>Strategies</a:t>
            </a:r>
            <a:r>
              <a:rPr lang="en-US" altLang="en-US" sz="2400">
                <a:latin typeface="Times New Roman" panose="02020603050405020304" pitchFamily="18" charset="0"/>
                <a:cs typeface="Times New Roman" panose="02020603050405020304" pitchFamily="18" charset="0"/>
                <a:sym typeface="Wingdings" panose="05000000000000000000" pitchFamily="2" charset="2"/>
              </a:rPr>
              <a:t> for t</a:t>
            </a:r>
            <a:r>
              <a:rPr lang="en-US" altLang="en-US" sz="2400">
                <a:latin typeface="Times New Roman" panose="02020603050405020304" pitchFamily="18" charset="0"/>
                <a:cs typeface="Times New Roman" panose="02020603050405020304" pitchFamily="18" charset="0"/>
              </a:rPr>
              <a:t>he system must continually </a:t>
            </a:r>
            <a:r>
              <a:rPr lang="en-US" altLang="en-US" sz="2400" b="1">
                <a:latin typeface="Times New Roman" panose="02020603050405020304" pitchFamily="18" charset="0"/>
                <a:cs typeface="Times New Roman" panose="02020603050405020304" pitchFamily="18" charset="0"/>
              </a:rPr>
              <a:t>decide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how many page frames</a:t>
            </a:r>
            <a:r>
              <a:rPr lang="en-US" altLang="en-US" sz="2400">
                <a:latin typeface="Times New Roman" panose="02020603050405020304" pitchFamily="18" charset="0"/>
                <a:cs typeface="Times New Roman" panose="02020603050405020304" pitchFamily="18" charset="0"/>
              </a:rPr>
              <a:t> to assign to each process</a:t>
            </a:r>
            <a:endParaRPr lang="en-US" altLang="en-US" sz="2400">
              <a:latin typeface="Times New Roman" panose="02020603050405020304" pitchFamily="18" charset="0"/>
              <a:cs typeface="Times New Roman" panose="02020603050405020304" pitchFamily="18" charset="0"/>
              <a:sym typeface="Wingdings" panose="05000000000000000000" pitchFamily="2" charset="2"/>
            </a:endParaRPr>
          </a:p>
          <a:p>
            <a:pPr lvl="1" algn="just" eaLnBrk="1" hangingPunct="1">
              <a:lnSpc>
                <a:spcPct val="80000"/>
              </a:lnSpc>
            </a:pPr>
            <a:r>
              <a:rPr lang="en-US" altLang="en-US" sz="2000" b="1">
                <a:latin typeface="Times New Roman" panose="02020603050405020304" pitchFamily="18" charset="0"/>
                <a:cs typeface="Times New Roman" panose="02020603050405020304" pitchFamily="18" charset="0"/>
                <a:sym typeface="Wingdings" panose="05000000000000000000" pitchFamily="2" charset="2"/>
              </a:rPr>
              <a:t>Monitor</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the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size of working set </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of all processes</a:t>
            </a:r>
          </a:p>
          <a:p>
            <a:pPr lvl="2" algn="just" eaLnBrk="1" hangingPunct="1">
              <a:lnSpc>
                <a:spcPct val="80000"/>
              </a:lnSpc>
            </a:pPr>
            <a:r>
              <a:rPr lang="en-US" altLang="en-US" sz="1800" b="1">
                <a:latin typeface="Times New Roman" panose="02020603050405020304" pitchFamily="18" charset="0"/>
                <a:cs typeface="Times New Roman" panose="02020603050405020304" pitchFamily="18" charset="0"/>
                <a:sym typeface="Wingdings" panose="05000000000000000000" pitchFamily="2" charset="2"/>
              </a:rPr>
              <a:t>Based</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on the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aging</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bits</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of pages (does not necessarily prevent thrashing)</a:t>
            </a:r>
          </a:p>
          <a:p>
            <a:pPr lvl="1" algn="just" eaLnBrk="1" hangingPunct="1">
              <a:lnSpc>
                <a:spcPct val="80000"/>
              </a:lnSpc>
            </a:pPr>
            <a:r>
              <a:rPr lang="en-US" altLang="en-US" sz="2000" b="1">
                <a:latin typeface="Times New Roman" panose="02020603050405020304" pitchFamily="18" charset="0"/>
                <a:cs typeface="Times New Roman" panose="02020603050405020304" pitchFamily="18" charset="0"/>
                <a:sym typeface="Wingdings" panose="05000000000000000000" pitchFamily="2" charset="2"/>
              </a:rPr>
              <a:t>Page frames allocation</a:t>
            </a:r>
            <a:r>
              <a:rPr lang="en-US" altLang="en-US" sz="2000">
                <a:latin typeface="Times New Roman" panose="02020603050405020304" pitchFamily="18" charset="0"/>
                <a:cs typeface="Times New Roman" panose="02020603050405020304" pitchFamily="18" charset="0"/>
                <a:sym typeface="Wingdings" panose="05000000000000000000" pitchFamily="2" charset="2"/>
              </a:rPr>
              <a:t> algorithm </a:t>
            </a:r>
          </a:p>
          <a:p>
            <a:pPr lvl="2" algn="just" eaLnBrk="1" hangingPunct="1">
              <a:lnSpc>
                <a:spcPct val="80000"/>
              </a:lnSpc>
            </a:pPr>
            <a:r>
              <a:rPr lang="en-US" altLang="en-US" sz="1800">
                <a:latin typeface="Times New Roman" panose="02020603050405020304" pitchFamily="18" charset="0"/>
                <a:cs typeface="Times New Roman" panose="02020603050405020304" pitchFamily="18" charset="0"/>
                <a:sym typeface="Wingdings" panose="05000000000000000000" pitchFamily="2" charset="2"/>
              </a:rPr>
              <a:t>To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periodically</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determine</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the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number</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of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running processes</a:t>
            </a:r>
          </a:p>
          <a:p>
            <a:pPr lvl="2" algn="just" eaLnBrk="1" hangingPunct="1">
              <a:lnSpc>
                <a:spcPct val="80000"/>
              </a:lnSpc>
            </a:pPr>
            <a:r>
              <a:rPr lang="en-US" altLang="en-US" sz="1800" b="1">
                <a:latin typeface="Times New Roman" panose="02020603050405020304" pitchFamily="18" charset="0"/>
                <a:cs typeface="Times New Roman" panose="02020603050405020304" pitchFamily="18" charset="0"/>
                <a:sym typeface="Wingdings" panose="05000000000000000000" pitchFamily="2" charset="2"/>
              </a:rPr>
              <a:t>Allocate</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pages</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proportionally</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with each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process size</a:t>
            </a:r>
          </a:p>
          <a:p>
            <a:pPr lvl="2" algn="just" eaLnBrk="1" hangingPunct="1">
              <a:lnSpc>
                <a:spcPct val="80000"/>
              </a:lnSpc>
            </a:pPr>
            <a:r>
              <a:rPr lang="en-US" altLang="en-US" sz="1800" b="1">
                <a:latin typeface="Times New Roman" panose="02020603050405020304" pitchFamily="18" charset="0"/>
                <a:cs typeface="Times New Roman" panose="02020603050405020304" pitchFamily="18" charset="0"/>
                <a:sym typeface="Wingdings" panose="05000000000000000000" pitchFamily="2" charset="2"/>
              </a:rPr>
              <a:t>Give</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each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process</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a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minimum</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number of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frames</a:t>
            </a:r>
          </a:p>
          <a:p>
            <a:pPr lvl="2" algn="just" eaLnBrk="1" hangingPunct="1">
              <a:lnSpc>
                <a:spcPct val="80000"/>
              </a:lnSpc>
            </a:pPr>
            <a:r>
              <a:rPr lang="en-US" altLang="en-US" sz="1800">
                <a:latin typeface="Times New Roman" panose="02020603050405020304" pitchFamily="18" charset="0"/>
                <a:cs typeface="Times New Roman" panose="02020603050405020304" pitchFamily="18" charset="0"/>
                <a:sym typeface="Wingdings" panose="05000000000000000000" pitchFamily="2" charset="2"/>
              </a:rPr>
              <a:t>The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allocation</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is </a:t>
            </a:r>
            <a:r>
              <a:rPr lang="en-US" altLang="en-US" sz="1800" b="1">
                <a:latin typeface="Times New Roman" panose="02020603050405020304" pitchFamily="18" charset="0"/>
                <a:cs typeface="Times New Roman" panose="02020603050405020304" pitchFamily="18" charset="0"/>
                <a:sym typeface="Wingdings" panose="05000000000000000000" pitchFamily="2" charset="2"/>
              </a:rPr>
              <a:t>updated</a:t>
            </a:r>
            <a:r>
              <a:rPr lang="en-US" altLang="en-US" sz="1800">
                <a:latin typeface="Times New Roman" panose="02020603050405020304" pitchFamily="18" charset="0"/>
                <a:cs typeface="Times New Roman" panose="02020603050405020304" pitchFamily="18" charset="0"/>
                <a:sym typeface="Wingdings" panose="05000000000000000000" pitchFamily="2" charset="2"/>
              </a:rPr>
              <a:t> dynamically</a:t>
            </a:r>
          </a:p>
          <a:p>
            <a:pPr lvl="3" algn="just" eaLnBrk="1" hangingPunct="1">
              <a:lnSpc>
                <a:spcPct val="80000"/>
              </a:lnSpc>
            </a:pPr>
            <a:r>
              <a:rPr lang="en-US" altLang="en-US" sz="1600">
                <a:latin typeface="Times New Roman" panose="02020603050405020304" pitchFamily="18" charset="0"/>
                <a:cs typeface="Times New Roman" panose="02020603050405020304" pitchFamily="18" charset="0"/>
                <a:sym typeface="Wingdings" panose="05000000000000000000" pitchFamily="2" charset="2"/>
              </a:rPr>
              <a:t>The </a:t>
            </a:r>
            <a:r>
              <a:rPr lang="en-US" altLang="en-US" sz="1600" b="1">
                <a:latin typeface="Times New Roman" panose="02020603050405020304" pitchFamily="18" charset="0"/>
                <a:cs typeface="Times New Roman" panose="02020603050405020304" pitchFamily="18" charset="0"/>
                <a:sym typeface="Wingdings" panose="05000000000000000000" pitchFamily="2" charset="2"/>
              </a:rPr>
              <a:t>PFF</a:t>
            </a:r>
            <a:r>
              <a:rPr lang="en-US" altLang="en-US" sz="1600">
                <a:latin typeface="Times New Roman" panose="02020603050405020304" pitchFamily="18" charset="0"/>
                <a:cs typeface="Times New Roman" panose="02020603050405020304" pitchFamily="18" charset="0"/>
                <a:sym typeface="Wingdings" panose="05000000000000000000" pitchFamily="2" charset="2"/>
              </a:rPr>
              <a:t> (Page Fault Frequency) algorithm (</a:t>
            </a:r>
            <a:r>
              <a:rPr lang="en-US" altLang="en-US" sz="1600" b="1">
                <a:latin typeface="Times New Roman" panose="02020603050405020304" pitchFamily="18" charset="0"/>
                <a:cs typeface="Times New Roman" panose="02020603050405020304" pitchFamily="18" charset="0"/>
                <a:sym typeface="Wingdings" panose="05000000000000000000" pitchFamily="2" charset="2"/>
              </a:rPr>
              <a:t>Count</a:t>
            </a:r>
            <a:r>
              <a:rPr lang="en-US" altLang="en-US" sz="1600">
                <a:latin typeface="Times New Roman" panose="02020603050405020304" pitchFamily="18" charset="0"/>
                <a:cs typeface="Times New Roman" panose="02020603050405020304" pitchFamily="18" charset="0"/>
                <a:sym typeface="Wingdings" panose="05000000000000000000" pitchFamily="2" charset="2"/>
              </a:rPr>
              <a:t> the page number of faults per </a:t>
            </a:r>
            <a:r>
              <a:rPr lang="en-US" altLang="en-US" sz="1600" b="1">
                <a:latin typeface="Times New Roman" panose="02020603050405020304" pitchFamily="18" charset="0"/>
                <a:cs typeface="Times New Roman" panose="02020603050405020304" pitchFamily="18" charset="0"/>
                <a:sym typeface="Wingdings" panose="05000000000000000000" pitchFamily="2" charset="2"/>
              </a:rPr>
              <a:t>second</a:t>
            </a:r>
            <a:r>
              <a:rPr lang="en-US" altLang="en-US" sz="1600">
                <a:latin typeface="Times New Roman" panose="02020603050405020304" pitchFamily="18" charset="0"/>
                <a:cs typeface="Times New Roman" panose="02020603050405020304" pitchFamily="18" charset="0"/>
                <a:sym typeface="Wingdings" panose="05000000000000000000" pitchFamily="2" charset="2"/>
              </a:rPr>
              <a:t>)</a:t>
            </a:r>
          </a:p>
          <a:p>
            <a:pPr algn="just" eaLnBrk="1" hangingPunct="1">
              <a:lnSpc>
                <a:spcPct val="8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sym typeface="Wingdings" panose="05000000000000000000" pitchFamily="2" charset="2"/>
              </a:rPr>
              <a:t>Some page replacement algorithms </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Can work with both policies (FIFO, LRU)</a:t>
            </a:r>
          </a:p>
          <a:p>
            <a:pPr lvl="1" algn="just" eaLnBrk="1" hangingPunct="1">
              <a:lnSpc>
                <a:spcPct val="80000"/>
              </a:lnSpc>
            </a:pPr>
            <a:r>
              <a:rPr lang="en-US" altLang="en-US" sz="2000">
                <a:latin typeface="Times New Roman" panose="02020603050405020304" pitchFamily="18" charset="0"/>
                <a:cs typeface="Times New Roman" panose="02020603050405020304" pitchFamily="18" charset="0"/>
                <a:sym typeface="Wingdings" panose="05000000000000000000" pitchFamily="2" charset="2"/>
              </a:rPr>
              <a:t>Can work only with the local policy (WSCLock)</a:t>
            </a:r>
            <a:endParaRPr lang="en-GB" altLang="en-US" sz="200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12292" name="Rectangle 4"/>
          <p:cNvSpPr>
            <a:spLocks/>
          </p:cNvSpPr>
          <p:nvPr/>
        </p:nvSpPr>
        <p:spPr bwMode="auto">
          <a:xfrm>
            <a:off x="1295400" y="6096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Local vs. Global Allocation Policies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9267">
                                            <p:txEl>
                                              <p:pRg st="1" end="1"/>
                                            </p:txEl>
                                          </p:spTgt>
                                        </p:tgtEl>
                                        <p:attrNameLst>
                                          <p:attrName>style.visibility</p:attrName>
                                        </p:attrNameLst>
                                      </p:cBhvr>
                                      <p:to>
                                        <p:strVal val="visible"/>
                                      </p:to>
                                    </p:set>
                                    <p:animEffect transition="in" filter="box(in)">
                                      <p:cBhvr>
                                        <p:cTn id="7" dur="500"/>
                                        <p:tgtEl>
                                          <p:spTgt spid="139267">
                                            <p:txEl>
                                              <p:pRg st="1" end="1"/>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39267">
                                            <p:txEl>
                                              <p:pRg st="2" end="2"/>
                                            </p:txEl>
                                          </p:spTgt>
                                        </p:tgtEl>
                                        <p:attrNameLst>
                                          <p:attrName>style.visibility</p:attrName>
                                        </p:attrNameLst>
                                      </p:cBhvr>
                                      <p:to>
                                        <p:strVal val="visible"/>
                                      </p:to>
                                    </p:set>
                                    <p:animEffect transition="in" filter="box(in)">
                                      <p:cBhvr>
                                        <p:cTn id="10" dur="500"/>
                                        <p:tgtEl>
                                          <p:spTgt spid="139267">
                                            <p:txEl>
                                              <p:pRg st="2" end="2"/>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39267">
                                            <p:txEl>
                                              <p:pRg st="3" end="3"/>
                                            </p:txEl>
                                          </p:spTgt>
                                        </p:tgtEl>
                                        <p:attrNameLst>
                                          <p:attrName>style.visibility</p:attrName>
                                        </p:attrNameLst>
                                      </p:cBhvr>
                                      <p:to>
                                        <p:strVal val="visible"/>
                                      </p:to>
                                    </p:set>
                                    <p:animEffect transition="in" filter="box(in)">
                                      <p:cBhvr>
                                        <p:cTn id="13" dur="500"/>
                                        <p:tgtEl>
                                          <p:spTgt spid="139267">
                                            <p:txEl>
                                              <p:pRg st="3" end="3"/>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139267">
                                            <p:txEl>
                                              <p:pRg st="4" end="4"/>
                                            </p:txEl>
                                          </p:spTgt>
                                        </p:tgtEl>
                                        <p:attrNameLst>
                                          <p:attrName>style.visibility</p:attrName>
                                        </p:attrNameLst>
                                      </p:cBhvr>
                                      <p:to>
                                        <p:strVal val="visible"/>
                                      </p:to>
                                    </p:set>
                                    <p:animEffect transition="in" filter="box(in)">
                                      <p:cBhvr>
                                        <p:cTn id="18" dur="500"/>
                                        <p:tgtEl>
                                          <p:spTgt spid="139267">
                                            <p:txEl>
                                              <p:pRg st="4" end="4"/>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139267">
                                            <p:txEl>
                                              <p:pRg st="5" end="5"/>
                                            </p:txEl>
                                          </p:spTgt>
                                        </p:tgtEl>
                                        <p:attrNameLst>
                                          <p:attrName>style.visibility</p:attrName>
                                        </p:attrNameLst>
                                      </p:cBhvr>
                                      <p:to>
                                        <p:strVal val="visible"/>
                                      </p:to>
                                    </p:set>
                                    <p:animEffect transition="in" filter="box(in)">
                                      <p:cBhvr>
                                        <p:cTn id="23" dur="500"/>
                                        <p:tgtEl>
                                          <p:spTgt spid="139267">
                                            <p:txEl>
                                              <p:pRg st="5" end="5"/>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139267">
                                            <p:txEl>
                                              <p:pRg st="6" end="6"/>
                                            </p:txEl>
                                          </p:spTgt>
                                        </p:tgtEl>
                                        <p:attrNameLst>
                                          <p:attrName>style.visibility</p:attrName>
                                        </p:attrNameLst>
                                      </p:cBhvr>
                                      <p:to>
                                        <p:strVal val="visible"/>
                                      </p:to>
                                    </p:set>
                                    <p:animEffect transition="in" filter="box(in)">
                                      <p:cBhvr>
                                        <p:cTn id="26" dur="500"/>
                                        <p:tgtEl>
                                          <p:spTgt spid="139267">
                                            <p:txEl>
                                              <p:pRg st="6" end="6"/>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nodeType="clickEffect">
                                  <p:stCondLst>
                                    <p:cond delay="0"/>
                                  </p:stCondLst>
                                  <p:childTnLst>
                                    <p:set>
                                      <p:cBhvr>
                                        <p:cTn id="30" dur="1" fill="hold">
                                          <p:stCondLst>
                                            <p:cond delay="0"/>
                                          </p:stCondLst>
                                        </p:cTn>
                                        <p:tgtEl>
                                          <p:spTgt spid="139267">
                                            <p:txEl>
                                              <p:pRg st="7" end="7"/>
                                            </p:txEl>
                                          </p:spTgt>
                                        </p:tgtEl>
                                        <p:attrNameLst>
                                          <p:attrName>style.visibility</p:attrName>
                                        </p:attrNameLst>
                                      </p:cBhvr>
                                      <p:to>
                                        <p:strVal val="visible"/>
                                      </p:to>
                                    </p:set>
                                    <p:animEffect transition="in" filter="box(in)">
                                      <p:cBhvr>
                                        <p:cTn id="31" dur="500"/>
                                        <p:tgtEl>
                                          <p:spTgt spid="139267">
                                            <p:txEl>
                                              <p:pRg st="7" end="7"/>
                                            </p:txEl>
                                          </p:spTgt>
                                        </p:tgtEl>
                                      </p:cBhvr>
                                    </p:animEffect>
                                  </p:childTnLst>
                                </p:cTn>
                              </p:par>
                              <p:par>
                                <p:cTn id="32" presetID="4" presetClass="entr" presetSubtype="16" fill="hold" nodeType="withEffect">
                                  <p:stCondLst>
                                    <p:cond delay="0"/>
                                  </p:stCondLst>
                                  <p:childTnLst>
                                    <p:set>
                                      <p:cBhvr>
                                        <p:cTn id="33" dur="1" fill="hold">
                                          <p:stCondLst>
                                            <p:cond delay="0"/>
                                          </p:stCondLst>
                                        </p:cTn>
                                        <p:tgtEl>
                                          <p:spTgt spid="139267">
                                            <p:txEl>
                                              <p:pRg st="8" end="8"/>
                                            </p:txEl>
                                          </p:spTgt>
                                        </p:tgtEl>
                                        <p:attrNameLst>
                                          <p:attrName>style.visibility</p:attrName>
                                        </p:attrNameLst>
                                      </p:cBhvr>
                                      <p:to>
                                        <p:strVal val="visible"/>
                                      </p:to>
                                    </p:set>
                                    <p:animEffect transition="in" filter="box(in)">
                                      <p:cBhvr>
                                        <p:cTn id="34" dur="500"/>
                                        <p:tgtEl>
                                          <p:spTgt spid="139267">
                                            <p:txEl>
                                              <p:pRg st="8" end="8"/>
                                            </p:txEl>
                                          </p:spTgt>
                                        </p:tgtEl>
                                      </p:cBhvr>
                                    </p:animEffect>
                                  </p:childTnLst>
                                </p:cTn>
                              </p:par>
                              <p:par>
                                <p:cTn id="35" presetID="4" presetClass="entr" presetSubtype="16" fill="hold" nodeType="withEffect">
                                  <p:stCondLst>
                                    <p:cond delay="0"/>
                                  </p:stCondLst>
                                  <p:childTnLst>
                                    <p:set>
                                      <p:cBhvr>
                                        <p:cTn id="36" dur="1" fill="hold">
                                          <p:stCondLst>
                                            <p:cond delay="0"/>
                                          </p:stCondLst>
                                        </p:cTn>
                                        <p:tgtEl>
                                          <p:spTgt spid="139267">
                                            <p:txEl>
                                              <p:pRg st="9" end="9"/>
                                            </p:txEl>
                                          </p:spTgt>
                                        </p:tgtEl>
                                        <p:attrNameLst>
                                          <p:attrName>style.visibility</p:attrName>
                                        </p:attrNameLst>
                                      </p:cBhvr>
                                      <p:to>
                                        <p:strVal val="visible"/>
                                      </p:to>
                                    </p:set>
                                    <p:animEffect transition="in" filter="box(in)">
                                      <p:cBhvr>
                                        <p:cTn id="37" dur="500"/>
                                        <p:tgtEl>
                                          <p:spTgt spid="139267">
                                            <p:txEl>
                                              <p:pRg st="9" end="9"/>
                                            </p:txEl>
                                          </p:spTgt>
                                        </p:tgtEl>
                                      </p:cBhvr>
                                    </p:animEffect>
                                  </p:childTnLst>
                                </p:cTn>
                              </p:par>
                              <p:par>
                                <p:cTn id="38" presetID="4" presetClass="entr" presetSubtype="16" fill="hold" nodeType="withEffect">
                                  <p:stCondLst>
                                    <p:cond delay="0"/>
                                  </p:stCondLst>
                                  <p:childTnLst>
                                    <p:set>
                                      <p:cBhvr>
                                        <p:cTn id="39" dur="1" fill="hold">
                                          <p:stCondLst>
                                            <p:cond delay="0"/>
                                          </p:stCondLst>
                                        </p:cTn>
                                        <p:tgtEl>
                                          <p:spTgt spid="139267">
                                            <p:txEl>
                                              <p:pRg st="10" end="10"/>
                                            </p:txEl>
                                          </p:spTgt>
                                        </p:tgtEl>
                                        <p:attrNameLst>
                                          <p:attrName>style.visibility</p:attrName>
                                        </p:attrNameLst>
                                      </p:cBhvr>
                                      <p:to>
                                        <p:strVal val="visible"/>
                                      </p:to>
                                    </p:set>
                                    <p:animEffect transition="in" filter="box(in)">
                                      <p:cBhvr>
                                        <p:cTn id="40" dur="500"/>
                                        <p:tgtEl>
                                          <p:spTgt spid="139267">
                                            <p:txEl>
                                              <p:pRg st="10" end="10"/>
                                            </p:txEl>
                                          </p:spTgt>
                                        </p:tgtEl>
                                      </p:cBhvr>
                                    </p:animEffect>
                                  </p:childTnLst>
                                </p:cTn>
                              </p:par>
                              <p:par>
                                <p:cTn id="41" presetID="4" presetClass="entr" presetSubtype="16" fill="hold" nodeType="withEffect">
                                  <p:stCondLst>
                                    <p:cond delay="0"/>
                                  </p:stCondLst>
                                  <p:childTnLst>
                                    <p:set>
                                      <p:cBhvr>
                                        <p:cTn id="42" dur="1" fill="hold">
                                          <p:stCondLst>
                                            <p:cond delay="0"/>
                                          </p:stCondLst>
                                        </p:cTn>
                                        <p:tgtEl>
                                          <p:spTgt spid="139267">
                                            <p:txEl>
                                              <p:pRg st="11" end="11"/>
                                            </p:txEl>
                                          </p:spTgt>
                                        </p:tgtEl>
                                        <p:attrNameLst>
                                          <p:attrName>style.visibility</p:attrName>
                                        </p:attrNameLst>
                                      </p:cBhvr>
                                      <p:to>
                                        <p:strVal val="visible"/>
                                      </p:to>
                                    </p:set>
                                    <p:animEffect transition="in" filter="box(in)">
                                      <p:cBhvr>
                                        <p:cTn id="43" dur="500"/>
                                        <p:tgtEl>
                                          <p:spTgt spid="139267">
                                            <p:txEl>
                                              <p:pRg st="11" end="11"/>
                                            </p:txEl>
                                          </p:spTgt>
                                        </p:tgtEl>
                                      </p:cBhvr>
                                    </p:animEffect>
                                  </p:childTnLst>
                                </p:cTn>
                              </p:par>
                              <p:par>
                                <p:cTn id="44" presetID="4" presetClass="entr" presetSubtype="16" fill="hold" nodeType="withEffect">
                                  <p:stCondLst>
                                    <p:cond delay="0"/>
                                  </p:stCondLst>
                                  <p:childTnLst>
                                    <p:set>
                                      <p:cBhvr>
                                        <p:cTn id="45" dur="1" fill="hold">
                                          <p:stCondLst>
                                            <p:cond delay="0"/>
                                          </p:stCondLst>
                                        </p:cTn>
                                        <p:tgtEl>
                                          <p:spTgt spid="139267">
                                            <p:txEl>
                                              <p:pRg st="12" end="12"/>
                                            </p:txEl>
                                          </p:spTgt>
                                        </p:tgtEl>
                                        <p:attrNameLst>
                                          <p:attrName>style.visibility</p:attrName>
                                        </p:attrNameLst>
                                      </p:cBhvr>
                                      <p:to>
                                        <p:strVal val="visible"/>
                                      </p:to>
                                    </p:set>
                                    <p:animEffect transition="in" filter="box(in)">
                                      <p:cBhvr>
                                        <p:cTn id="46" dur="500"/>
                                        <p:tgtEl>
                                          <p:spTgt spid="139267">
                                            <p:txEl>
                                              <p:pRg st="12" end="12"/>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4" presetClass="entr" presetSubtype="16" fill="hold" nodeType="clickEffect">
                                  <p:stCondLst>
                                    <p:cond delay="0"/>
                                  </p:stCondLst>
                                  <p:childTnLst>
                                    <p:set>
                                      <p:cBhvr>
                                        <p:cTn id="50" dur="1" fill="hold">
                                          <p:stCondLst>
                                            <p:cond delay="0"/>
                                          </p:stCondLst>
                                        </p:cTn>
                                        <p:tgtEl>
                                          <p:spTgt spid="139267">
                                            <p:txEl>
                                              <p:pRg st="13" end="13"/>
                                            </p:txEl>
                                          </p:spTgt>
                                        </p:tgtEl>
                                        <p:attrNameLst>
                                          <p:attrName>style.visibility</p:attrName>
                                        </p:attrNameLst>
                                      </p:cBhvr>
                                      <p:to>
                                        <p:strVal val="visible"/>
                                      </p:to>
                                    </p:set>
                                    <p:animEffect transition="in" filter="box(in)">
                                      <p:cBhvr>
                                        <p:cTn id="51" dur="500"/>
                                        <p:tgtEl>
                                          <p:spTgt spid="139267">
                                            <p:txEl>
                                              <p:pRg st="13" end="13"/>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4" presetClass="entr" presetSubtype="16" fill="hold" nodeType="clickEffect">
                                  <p:stCondLst>
                                    <p:cond delay="0"/>
                                  </p:stCondLst>
                                  <p:childTnLst>
                                    <p:set>
                                      <p:cBhvr>
                                        <p:cTn id="55" dur="1" fill="hold">
                                          <p:stCondLst>
                                            <p:cond delay="0"/>
                                          </p:stCondLst>
                                        </p:cTn>
                                        <p:tgtEl>
                                          <p:spTgt spid="139267">
                                            <p:txEl>
                                              <p:pRg st="14" end="14"/>
                                            </p:txEl>
                                          </p:spTgt>
                                        </p:tgtEl>
                                        <p:attrNameLst>
                                          <p:attrName>style.visibility</p:attrName>
                                        </p:attrNameLst>
                                      </p:cBhvr>
                                      <p:to>
                                        <p:strVal val="visible"/>
                                      </p:to>
                                    </p:set>
                                    <p:animEffect transition="in" filter="box(in)">
                                      <p:cBhvr>
                                        <p:cTn id="56" dur="500"/>
                                        <p:tgtEl>
                                          <p:spTgt spid="139267">
                                            <p:txEl>
                                              <p:pRg st="14" end="14"/>
                                            </p:txEl>
                                          </p:spTgt>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nodeType="clickEffect">
                                  <p:stCondLst>
                                    <p:cond delay="0"/>
                                  </p:stCondLst>
                                  <p:childTnLst>
                                    <p:set>
                                      <p:cBhvr>
                                        <p:cTn id="60" dur="1" fill="hold">
                                          <p:stCondLst>
                                            <p:cond delay="0"/>
                                          </p:stCondLst>
                                        </p:cTn>
                                        <p:tgtEl>
                                          <p:spTgt spid="139267">
                                            <p:txEl>
                                              <p:pRg st="15" end="15"/>
                                            </p:txEl>
                                          </p:spTgt>
                                        </p:tgtEl>
                                        <p:attrNameLst>
                                          <p:attrName>style.visibility</p:attrName>
                                        </p:attrNameLst>
                                      </p:cBhvr>
                                      <p:to>
                                        <p:strVal val="visible"/>
                                      </p:to>
                                    </p:set>
                                    <p:animEffect transition="in" filter="box(in)">
                                      <p:cBhvr>
                                        <p:cTn id="61" dur="500"/>
                                        <p:tgtEl>
                                          <p:spTgt spid="139267">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314" name="Rectangle 2"/>
          <p:cNvSpPr>
            <a:spLocks noGrp="1"/>
          </p:cNvSpPr>
          <p:nvPr>
            <p:ph type="title"/>
          </p:nvPr>
        </p:nvSpPr>
        <p:spPr>
          <a:xfrm>
            <a:off x="1295400" y="0"/>
            <a:ext cx="8229600" cy="762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39267" name="Rectangle 3"/>
          <p:cNvSpPr>
            <a:spLocks noGrp="1"/>
          </p:cNvSpPr>
          <p:nvPr>
            <p:ph type="body" idx="1"/>
          </p:nvPr>
        </p:nvSpPr>
        <p:spPr>
          <a:xfrm>
            <a:off x="0" y="1371600"/>
            <a:ext cx="9144000" cy="5486400"/>
          </a:xfrm>
        </p:spPr>
        <p:txBody>
          <a:bodyPr/>
          <a:lstStyle/>
          <a:p>
            <a:pPr algn="just" eaLnBrk="1" hangingPunct="1">
              <a:lnSpc>
                <a:spcPct val="80000"/>
              </a:lnSpc>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Assume that process A-D make up the set of runnable processes on memory as</a:t>
            </a:r>
          </a:p>
          <a:p>
            <a:pPr lvl="1" algn="just" eaLnBrk="1" hangingPunct="1">
              <a:lnSpc>
                <a:spcPct val="80000"/>
              </a:lnSpc>
            </a:pPr>
            <a:r>
              <a:rPr lang="en-US" altLang="en-US" dirty="0">
                <a:latin typeface="Times New Roman" panose="02020603050405020304" pitchFamily="18" charset="0"/>
                <a:cs typeface="Times New Roman" panose="02020603050405020304" pitchFamily="18" charset="0"/>
              </a:rPr>
              <a:t>B1 B2 B3 A1 A2 A5 A7 D3 D4 D6 C1 C6 C5.</a:t>
            </a:r>
          </a:p>
          <a:p>
            <a:pPr algn="just" eaLnBrk="1" hangingPunct="1">
              <a:lnSpc>
                <a:spcPct val="80000"/>
              </a:lnSpc>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Suppose that D gets a page fault.</a:t>
            </a:r>
          </a:p>
          <a:p>
            <a:pPr algn="just" eaLnBrk="1" hangingPunct="1">
              <a:lnSpc>
                <a:spcPct val="80000"/>
              </a:lnSpc>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Which page is replaced using the local policy? Assume that the replaced page is always a last page.</a:t>
            </a:r>
          </a:p>
          <a:p>
            <a:pPr lvl="1" algn="just" eaLnBrk="1" hangingPunct="1">
              <a:lnSpc>
                <a:spcPct val="80000"/>
              </a:lnSpc>
            </a:pPr>
            <a:endParaRPr lang="en-US" altLang="en-US" b="1" dirty="0">
              <a:latin typeface="Times New Roman" panose="02020603050405020304" pitchFamily="18" charset="0"/>
              <a:cs typeface="Times New Roman" panose="02020603050405020304" pitchFamily="18" charset="0"/>
            </a:endParaRPr>
          </a:p>
          <a:p>
            <a:pPr algn="just" eaLnBrk="1" hangingPunct="1">
              <a:lnSpc>
                <a:spcPct val="80000"/>
              </a:lnSpc>
              <a:buClrTx/>
              <a:buSz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Which page is replaced using the global policy? Assume that the replaced page is always applied to process taking most pages.</a:t>
            </a:r>
          </a:p>
          <a:p>
            <a:pPr lvl="1" algn="just" eaLnBrk="1" hangingPunct="1">
              <a:lnSpc>
                <a:spcPct val="80000"/>
              </a:lnSpc>
            </a:pPr>
            <a:endParaRPr lang="en-US" altLang="en-US" b="1" dirty="0">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13316" name="Rectangle 4"/>
          <p:cNvSpPr>
            <a:spLocks/>
          </p:cNvSpPr>
          <p:nvPr/>
        </p:nvSpPr>
        <p:spPr bwMode="auto">
          <a:xfrm>
            <a:off x="990600" y="6096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Local vs. Global Allocation Policies – Example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9267">
                                            <p:txEl>
                                              <p:pRg st="5" end="5"/>
                                            </p:txEl>
                                          </p:spTgt>
                                        </p:tgtEl>
                                        <p:attrNameLst>
                                          <p:attrName>style.visibility</p:attrName>
                                        </p:attrNameLst>
                                      </p:cBhvr>
                                      <p:to>
                                        <p:strVal val="visible"/>
                                      </p:to>
                                    </p:set>
                                    <p:animEffect transition="in" filter="checkerboard(across)">
                                      <p:cBhvr>
                                        <p:cTn id="7" dur="500"/>
                                        <p:tgtEl>
                                          <p:spTgt spid="139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p:cNvSpPr>
          <p:nvPr>
            <p:ph type="title"/>
          </p:nvPr>
        </p:nvSpPr>
        <p:spPr>
          <a:xfrm>
            <a:off x="1524000" y="0"/>
            <a:ext cx="7620000" cy="6858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08899" name="Rectangle 3"/>
          <p:cNvSpPr>
            <a:spLocks noGrp="1"/>
          </p:cNvSpPr>
          <p:nvPr>
            <p:ph type="body" idx="1"/>
          </p:nvPr>
        </p:nvSpPr>
        <p:spPr>
          <a:xfrm>
            <a:off x="0" y="990600"/>
            <a:ext cx="9144000" cy="5867400"/>
          </a:xfrm>
        </p:spPr>
        <p:txBody>
          <a:bodyPr/>
          <a:lstStyle/>
          <a:p>
            <a:pPr algn="just" eaLnBrk="1" hangingPunct="1">
              <a:lnSpc>
                <a:spcPct val="90000"/>
              </a:lnSpc>
              <a:buClrTx/>
              <a:buSzTx/>
              <a:buFont typeface="Arial" panose="020B0604020202020204" pitchFamily="34" charset="0"/>
              <a:buChar char="•"/>
            </a:pPr>
            <a:r>
              <a:rPr lang="en-US" altLang="en-US" sz="2400" b="1">
                <a:latin typeface="Times New Roman" panose="02020603050405020304" pitchFamily="18" charset="0"/>
                <a:cs typeface="Times New Roman" panose="02020603050405020304" pitchFamily="18" charset="0"/>
              </a:rPr>
              <a:t>Context</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system thrashes </a:t>
            </a:r>
            <a:r>
              <a:rPr lang="en-US" altLang="en-US" sz="2000">
                <a:latin typeface="Times New Roman" panose="02020603050405020304" pitchFamily="18" charset="0"/>
                <a:cs typeface="Times New Roman" panose="02020603050405020304" pitchFamily="18" charset="0"/>
              </a:rPr>
              <a:t>can </a:t>
            </a:r>
            <a:r>
              <a:rPr lang="en-US" altLang="en-US" sz="2000" b="1">
                <a:latin typeface="Times New Roman" panose="02020603050405020304" pitchFamily="18" charset="0"/>
                <a:cs typeface="Times New Roman" panose="02020603050405020304" pitchFamily="18" charset="0"/>
              </a:rPr>
              <a:t>occurs</a:t>
            </a:r>
            <a:r>
              <a:rPr lang="en-US" altLang="en-US" sz="2000">
                <a:latin typeface="Times New Roman" panose="02020603050405020304" pitchFamily="18" charset="0"/>
                <a:cs typeface="Times New Roman" panose="02020603050405020304" pitchFamily="18" charset="0"/>
              </a:rPr>
              <a:t> even if the best page replacement algorithm and optimal global allocation of page frames is used</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When the combined </a:t>
            </a:r>
            <a:r>
              <a:rPr lang="en-US" altLang="en-US" sz="2000" b="1">
                <a:latin typeface="Times New Roman" panose="02020603050405020304" pitchFamily="18" charset="0"/>
                <a:cs typeface="Times New Roman" panose="02020603050405020304" pitchFamily="18" charset="0"/>
              </a:rPr>
              <a:t>working sets </a:t>
            </a:r>
            <a:r>
              <a:rPr lang="en-US" altLang="en-US" sz="2000">
                <a:latin typeface="Times New Roman" panose="02020603050405020304" pitchFamily="18" charset="0"/>
                <a:cs typeface="Times New Roman" panose="02020603050405020304" pitchFamily="18" charset="0"/>
              </a:rPr>
              <a:t>of all processes </a:t>
            </a:r>
            <a:r>
              <a:rPr lang="en-US" altLang="en-US" sz="2000" b="1">
                <a:latin typeface="Times New Roman" panose="02020603050405020304" pitchFamily="18" charset="0"/>
                <a:cs typeface="Times New Roman" panose="02020603050405020304" pitchFamily="18" charset="0"/>
              </a:rPr>
              <a:t>exceed</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capacity of memory →</a:t>
            </a:r>
            <a:r>
              <a:rPr lang="en-US" altLang="en-US" sz="2000" b="1">
                <a:latin typeface="Times New Roman" panose="02020603050405020304" pitchFamily="18" charset="0"/>
                <a:cs typeface="Times New Roman" panose="02020603050405020304" pitchFamily="18" charset="0"/>
                <a:sym typeface="Wingdings" panose="05000000000000000000" pitchFamily="2" charset="2"/>
              </a:rPr>
              <a:t> thrashing</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PFF algorithm </a:t>
            </a:r>
            <a:r>
              <a:rPr lang="en-US" altLang="en-US" sz="2000">
                <a:latin typeface="Times New Roman" panose="02020603050405020304" pitchFamily="18" charset="0"/>
                <a:cs typeface="Times New Roman" panose="02020603050405020304" pitchFamily="18" charset="0"/>
              </a:rPr>
              <a:t>indicates that some processes need more memory but no process need less memory</a:t>
            </a:r>
          </a:p>
          <a:p>
            <a:pPr lvl="1" algn="just" eaLnBrk="1" hangingPunct="1">
              <a:lnSpc>
                <a:spcPct val="90000"/>
              </a:lnSpc>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no way to give more memory to those processes needing it without hurting some other processes</a:t>
            </a:r>
          </a:p>
          <a:p>
            <a:pPr algn="just" eaLnBrk="1" hangingPunct="1">
              <a:lnSpc>
                <a:spcPct val="90000"/>
              </a:lnSpc>
              <a:buClrTx/>
              <a:buSzTx/>
              <a:buFont typeface="Arial" panose="020B0604020202020204" pitchFamily="34" charset="0"/>
              <a:buChar char="•"/>
            </a:pPr>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good w</a:t>
            </a:r>
            <a:r>
              <a:rPr lang="en-US" altLang="en-US" sz="2400">
                <a:latin typeface="Times New Roman" panose="02020603050405020304" pitchFamily="18" charset="0"/>
                <a:cs typeface="Times New Roman" panose="02020603050405020304" pitchFamily="18" charset="0"/>
              </a:rPr>
              <a:t>ay to </a:t>
            </a:r>
            <a:r>
              <a:rPr lang="en-US" altLang="en-US" sz="2400" b="1">
                <a:latin typeface="Times New Roman" panose="02020603050405020304" pitchFamily="18" charset="0"/>
                <a:cs typeface="Times New Roman" panose="02020603050405020304" pitchFamily="18" charset="0"/>
              </a:rPr>
              <a:t>reduce</a:t>
            </a:r>
            <a:r>
              <a:rPr lang="en-US" altLang="en-US" sz="2400">
                <a:latin typeface="Times New Roman" panose="02020603050405020304" pitchFamily="18" charset="0"/>
                <a:cs typeface="Times New Roman" panose="02020603050405020304" pitchFamily="18" charset="0"/>
              </a:rPr>
              <a:t> the number of </a:t>
            </a:r>
            <a:r>
              <a:rPr lang="en-US" altLang="en-US" sz="2400" b="1">
                <a:latin typeface="Times New Roman" panose="02020603050405020304" pitchFamily="18" charset="0"/>
                <a:cs typeface="Times New Roman" panose="02020603050405020304" pitchFamily="18" charset="0"/>
              </a:rPr>
              <a:t>processing</a:t>
            </a:r>
            <a:r>
              <a:rPr lang="en-US" altLang="en-US" sz="2400">
                <a:latin typeface="Times New Roman" panose="02020603050405020304" pitchFamily="18" charset="0"/>
                <a:cs typeface="Times New Roman" panose="02020603050405020304" pitchFamily="18" charset="0"/>
              </a:rPr>
              <a:t> competing for memory </a:t>
            </a:r>
            <a:r>
              <a:rPr lang="en-US" altLang="en-US" sz="2400" b="1">
                <a:latin typeface="Times New Roman" panose="02020603050405020304" pitchFamily="18" charset="0"/>
                <a:cs typeface="Times New Roman" panose="02020603050405020304" pitchFamily="18" charset="0"/>
              </a:rPr>
              <a:t>is</a:t>
            </a:r>
            <a:r>
              <a:rPr lang="en-US" altLang="en-US" sz="2400">
                <a:latin typeface="Times New Roman" panose="02020603050405020304" pitchFamily="18" charset="0"/>
                <a:cs typeface="Times New Roman" panose="02020603050405020304" pitchFamily="18" charset="0"/>
              </a:rPr>
              <a:t> to </a:t>
            </a:r>
            <a:r>
              <a:rPr lang="en-US" altLang="en-US" sz="2400" b="1">
                <a:latin typeface="Times New Roman" panose="02020603050405020304" pitchFamily="18" charset="0"/>
                <a:cs typeface="Times New Roman" panose="02020603050405020304" pitchFamily="18" charset="0"/>
              </a:rPr>
              <a:t>swap</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out</a:t>
            </a:r>
            <a:r>
              <a:rPr lang="en-US" altLang="en-US" sz="2400">
                <a:latin typeface="Times New Roman" panose="02020603050405020304" pitchFamily="18" charset="0"/>
                <a:cs typeface="Times New Roman" panose="02020603050405020304" pitchFamily="18" charset="0"/>
              </a:rPr>
              <a:t> some processes and </a:t>
            </a:r>
            <a:r>
              <a:rPr lang="en-US" altLang="en-US" sz="2400" b="1">
                <a:latin typeface="Times New Roman" panose="02020603050405020304" pitchFamily="18" charset="0"/>
                <a:cs typeface="Times New Roman" panose="02020603050405020304" pitchFamily="18" charset="0"/>
              </a:rPr>
              <a:t>free up </a:t>
            </a:r>
            <a:r>
              <a:rPr lang="en-US" altLang="en-US" sz="2400">
                <a:latin typeface="Times New Roman" panose="02020603050405020304" pitchFamily="18" charset="0"/>
                <a:cs typeface="Times New Roman" panose="02020603050405020304" pitchFamily="18" charset="0"/>
              </a:rPr>
              <a:t>all the </a:t>
            </a:r>
            <a:r>
              <a:rPr lang="en-US" altLang="en-US" sz="2400" b="1">
                <a:latin typeface="Times New Roman" panose="02020603050405020304" pitchFamily="18" charset="0"/>
                <a:cs typeface="Times New Roman" panose="02020603050405020304" pitchFamily="18" charset="0"/>
              </a:rPr>
              <a:t>pages</a:t>
            </a:r>
            <a:r>
              <a:rPr lang="en-US" altLang="en-US" sz="2400">
                <a:latin typeface="Times New Roman" panose="02020603050405020304" pitchFamily="18" charset="0"/>
                <a:cs typeface="Times New Roman" panose="02020603050405020304" pitchFamily="18" charset="0"/>
              </a:rPr>
              <a:t> they are holding to divide those pages up to thrashing processes</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Keep</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page-fault rate acceptable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periodically</a:t>
            </a:r>
            <a:r>
              <a:rPr lang="en-US" altLang="en-US" sz="2000">
                <a:latin typeface="Times New Roman" panose="02020603050405020304" pitchFamily="18" charset="0"/>
                <a:cs typeface="Times New Roman" panose="02020603050405020304" pitchFamily="18" charset="0"/>
              </a:rPr>
              <a:t>, some </a:t>
            </a:r>
            <a:r>
              <a:rPr lang="en-US" altLang="en-US" sz="2000" b="1">
                <a:latin typeface="Times New Roman" panose="02020603050405020304" pitchFamily="18" charset="0"/>
                <a:cs typeface="Times New Roman" panose="02020603050405020304" pitchFamily="18" charset="0"/>
              </a:rPr>
              <a:t>processes</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swapped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in</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other</a:t>
            </a:r>
            <a:r>
              <a:rPr lang="en-US" altLang="en-US" sz="2000">
                <a:latin typeface="Times New Roman" panose="02020603050405020304" pitchFamily="18" charset="0"/>
                <a:cs typeface="Times New Roman" panose="02020603050405020304" pitchFamily="18" charset="0"/>
              </a:rPr>
              <a:t> ones are </a:t>
            </a:r>
            <a:r>
              <a:rPr lang="en-US" altLang="en-US" sz="2000" b="1">
                <a:latin typeface="Times New Roman" panose="02020603050405020304" pitchFamily="18" charset="0"/>
                <a:cs typeface="Times New Roman" panose="02020603050405020304" pitchFamily="18" charset="0"/>
              </a:rPr>
              <a:t>swapped out)</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Take</a:t>
            </a:r>
            <a:r>
              <a:rPr lang="en-US" altLang="en-US" sz="2000">
                <a:latin typeface="Times New Roman" panose="02020603050405020304" pitchFamily="18" charset="0"/>
                <a:cs typeface="Times New Roman" panose="02020603050405020304" pitchFamily="18" charset="0"/>
              </a:rPr>
              <a:t> into account the </a:t>
            </a:r>
            <a:r>
              <a:rPr lang="en-US" altLang="en-US" sz="2000" b="1">
                <a:latin typeface="Times New Roman" panose="02020603050405020304" pitchFamily="18" charset="0"/>
                <a:cs typeface="Times New Roman" panose="02020603050405020304" pitchFamily="18" charset="0"/>
              </a:rPr>
              <a:t>degree of multiprogramming</a:t>
            </a:r>
          </a:p>
          <a:p>
            <a:pPr lvl="2" algn="just" eaLnBrk="1" hangingPunct="1">
              <a:lnSpc>
                <a:spcPct val="90000"/>
              </a:lnSpc>
            </a:pPr>
            <a:r>
              <a:rPr lang="en-US" altLang="en-US" sz="1800">
                <a:latin typeface="Times New Roman" panose="02020603050405020304" pitchFamily="18" charset="0"/>
                <a:cs typeface="Times New Roman" panose="02020603050405020304" pitchFamily="18" charset="0"/>
              </a:rPr>
              <a:t>Considering </a:t>
            </a:r>
            <a:r>
              <a:rPr lang="en-US" altLang="en-US" sz="1800" b="1">
                <a:latin typeface="Times New Roman" panose="02020603050405020304" pitchFamily="18" charset="0"/>
                <a:cs typeface="Times New Roman" panose="02020603050405020304" pitchFamily="18" charset="0"/>
              </a:rPr>
              <a:t>not only </a:t>
            </a:r>
            <a:r>
              <a:rPr lang="en-US" altLang="en-US" sz="1800">
                <a:latin typeface="Times New Roman" panose="02020603050405020304" pitchFamily="18" charset="0"/>
                <a:cs typeface="Times New Roman" panose="02020603050405020304" pitchFamily="18" charset="0"/>
              </a:rPr>
              <a:t>process </a:t>
            </a:r>
            <a:r>
              <a:rPr lang="en-US" altLang="en-US" sz="1800" b="1">
                <a:latin typeface="Times New Roman" panose="02020603050405020304" pitchFamily="18" charset="0"/>
                <a:cs typeface="Times New Roman" panose="02020603050405020304" pitchFamily="18" charset="0"/>
              </a:rPr>
              <a:t>size</a:t>
            </a:r>
            <a:r>
              <a:rPr lang="en-US" altLang="en-US" sz="1800">
                <a:latin typeface="Times New Roman" panose="02020603050405020304" pitchFamily="18" charset="0"/>
                <a:cs typeface="Times New Roman" panose="02020603050405020304" pitchFamily="18" charset="0"/>
              </a:rPr>
              <a:t> and </a:t>
            </a:r>
            <a:r>
              <a:rPr lang="en-US" altLang="en-US" sz="1800" b="1">
                <a:latin typeface="Times New Roman" panose="02020603050405020304" pitchFamily="18" charset="0"/>
                <a:cs typeface="Times New Roman" panose="02020603050405020304" pitchFamily="18" charset="0"/>
              </a:rPr>
              <a:t>paging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rate</a:t>
            </a:r>
            <a:r>
              <a:rPr lang="en-US" altLang="en-US" sz="1800">
                <a:latin typeface="Times New Roman" panose="02020603050405020304" pitchFamily="18" charset="0"/>
                <a:cs typeface="Times New Roman" panose="02020603050405020304" pitchFamily="18" charset="0"/>
              </a:rPr>
              <a:t> when deciding which process to swap out, </a:t>
            </a:r>
            <a:r>
              <a:rPr lang="en-US" altLang="en-US" sz="1800" b="1">
                <a:latin typeface="Times New Roman" panose="02020603050405020304" pitchFamily="18" charset="0"/>
                <a:cs typeface="Times New Roman" panose="02020603050405020304" pitchFamily="18" charset="0"/>
              </a:rPr>
              <a:t>but also its characteristics (CPU or I/O bound) </a:t>
            </a:r>
          </a:p>
        </p:txBody>
      </p:sp>
      <p:sp>
        <p:nvSpPr>
          <p:cNvPr id="14340" name="Rectangle 4"/>
          <p:cNvSpPr>
            <a:spLocks/>
          </p:cNvSpPr>
          <p:nvPr/>
        </p:nvSpPr>
        <p:spPr bwMode="auto">
          <a:xfrm>
            <a:off x="914400" y="5334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Load Control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08899">
                                            <p:txEl>
                                              <p:pRg st="0" end="0"/>
                                            </p:txEl>
                                          </p:spTgt>
                                        </p:tgtEl>
                                        <p:attrNameLst>
                                          <p:attrName>style.visibility</p:attrName>
                                        </p:attrNameLst>
                                      </p:cBhvr>
                                      <p:to>
                                        <p:strVal val="visible"/>
                                      </p:to>
                                    </p:set>
                                    <p:animEffect transition="in" filter="box(in)">
                                      <p:cBhvr>
                                        <p:cTn id="7" dur="500"/>
                                        <p:tgtEl>
                                          <p:spTgt spid="208899">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08899">
                                            <p:txEl>
                                              <p:pRg st="1" end="1"/>
                                            </p:txEl>
                                          </p:spTgt>
                                        </p:tgtEl>
                                        <p:attrNameLst>
                                          <p:attrName>style.visibility</p:attrName>
                                        </p:attrNameLst>
                                      </p:cBhvr>
                                      <p:to>
                                        <p:strVal val="visible"/>
                                      </p:to>
                                    </p:set>
                                    <p:animEffect transition="in" filter="box(in)">
                                      <p:cBhvr>
                                        <p:cTn id="10" dur="500"/>
                                        <p:tgtEl>
                                          <p:spTgt spid="208899">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08899">
                                            <p:txEl>
                                              <p:pRg st="2" end="2"/>
                                            </p:txEl>
                                          </p:spTgt>
                                        </p:tgtEl>
                                        <p:attrNameLst>
                                          <p:attrName>style.visibility</p:attrName>
                                        </p:attrNameLst>
                                      </p:cBhvr>
                                      <p:to>
                                        <p:strVal val="visible"/>
                                      </p:to>
                                    </p:set>
                                    <p:animEffect transition="in" filter="box(in)">
                                      <p:cBhvr>
                                        <p:cTn id="13" dur="500"/>
                                        <p:tgtEl>
                                          <p:spTgt spid="208899">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08899">
                                            <p:txEl>
                                              <p:pRg st="3" end="3"/>
                                            </p:txEl>
                                          </p:spTgt>
                                        </p:tgtEl>
                                        <p:attrNameLst>
                                          <p:attrName>style.visibility</p:attrName>
                                        </p:attrNameLst>
                                      </p:cBhvr>
                                      <p:to>
                                        <p:strVal val="visible"/>
                                      </p:to>
                                    </p:set>
                                    <p:animEffect transition="in" filter="box(in)">
                                      <p:cBhvr>
                                        <p:cTn id="16" dur="500"/>
                                        <p:tgtEl>
                                          <p:spTgt spid="208899">
                                            <p:txEl>
                                              <p:pRg st="3" end="3"/>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08899">
                                            <p:txEl>
                                              <p:pRg st="4" end="4"/>
                                            </p:txEl>
                                          </p:spTgt>
                                        </p:tgtEl>
                                        <p:attrNameLst>
                                          <p:attrName>style.visibility</p:attrName>
                                        </p:attrNameLst>
                                      </p:cBhvr>
                                      <p:to>
                                        <p:strVal val="visible"/>
                                      </p:to>
                                    </p:set>
                                    <p:animEffect transition="in" filter="box(in)">
                                      <p:cBhvr>
                                        <p:cTn id="19" dur="500"/>
                                        <p:tgtEl>
                                          <p:spTgt spid="208899">
                                            <p:txEl>
                                              <p:pRg st="4" end="4"/>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208899">
                                            <p:txEl>
                                              <p:pRg st="5" end="5"/>
                                            </p:txEl>
                                          </p:spTgt>
                                        </p:tgtEl>
                                        <p:attrNameLst>
                                          <p:attrName>style.visibility</p:attrName>
                                        </p:attrNameLst>
                                      </p:cBhvr>
                                      <p:to>
                                        <p:strVal val="visible"/>
                                      </p:to>
                                    </p:set>
                                    <p:animEffect transition="in" filter="box(in)">
                                      <p:cBhvr>
                                        <p:cTn id="24" dur="500"/>
                                        <p:tgtEl>
                                          <p:spTgt spid="208899">
                                            <p:txEl>
                                              <p:pRg st="5" end="5"/>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4" presetClass="entr" presetSubtype="16" fill="hold" nodeType="clickEffect">
                                  <p:stCondLst>
                                    <p:cond delay="0"/>
                                  </p:stCondLst>
                                  <p:childTnLst>
                                    <p:set>
                                      <p:cBhvr>
                                        <p:cTn id="28" dur="1" fill="hold">
                                          <p:stCondLst>
                                            <p:cond delay="0"/>
                                          </p:stCondLst>
                                        </p:cTn>
                                        <p:tgtEl>
                                          <p:spTgt spid="208899">
                                            <p:txEl>
                                              <p:pRg st="6" end="6"/>
                                            </p:txEl>
                                          </p:spTgt>
                                        </p:tgtEl>
                                        <p:attrNameLst>
                                          <p:attrName>style.visibility</p:attrName>
                                        </p:attrNameLst>
                                      </p:cBhvr>
                                      <p:to>
                                        <p:strVal val="visible"/>
                                      </p:to>
                                    </p:set>
                                    <p:animEffect transition="in" filter="box(in)">
                                      <p:cBhvr>
                                        <p:cTn id="29" dur="500"/>
                                        <p:tgtEl>
                                          <p:spTgt spid="208899">
                                            <p:txEl>
                                              <p:pRg st="6" end="6"/>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208899">
                                            <p:txEl>
                                              <p:pRg st="7" end="7"/>
                                            </p:txEl>
                                          </p:spTgt>
                                        </p:tgtEl>
                                        <p:attrNameLst>
                                          <p:attrName>style.visibility</p:attrName>
                                        </p:attrNameLst>
                                      </p:cBhvr>
                                      <p:to>
                                        <p:strVal val="visible"/>
                                      </p:to>
                                    </p:set>
                                    <p:animEffect transition="in" filter="box(in)">
                                      <p:cBhvr>
                                        <p:cTn id="32" dur="500"/>
                                        <p:tgtEl>
                                          <p:spTgt spid="208899">
                                            <p:txEl>
                                              <p:pRg st="7" end="7"/>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208899">
                                            <p:txEl>
                                              <p:pRg st="8" end="8"/>
                                            </p:txEl>
                                          </p:spTgt>
                                        </p:tgtEl>
                                        <p:attrNameLst>
                                          <p:attrName>style.visibility</p:attrName>
                                        </p:attrNameLst>
                                      </p:cBhvr>
                                      <p:to>
                                        <p:strVal val="visible"/>
                                      </p:to>
                                    </p:set>
                                    <p:animEffect transition="in" filter="box(in)">
                                      <p:cBhvr>
                                        <p:cTn id="35" dur="500"/>
                                        <p:tgtEl>
                                          <p:spTgt spid="20889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p:cNvSpPr>
          <p:nvPr>
            <p:ph type="title"/>
          </p:nvPr>
        </p:nvSpPr>
        <p:spPr>
          <a:xfrm>
            <a:off x="1600200" y="0"/>
            <a:ext cx="7543800" cy="762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10947" name="Rectangle 3"/>
          <p:cNvSpPr>
            <a:spLocks noGrp="1"/>
          </p:cNvSpPr>
          <p:nvPr>
            <p:ph type="body" idx="1"/>
          </p:nvPr>
        </p:nvSpPr>
        <p:spPr>
          <a:xfrm>
            <a:off x="0" y="1066800"/>
            <a:ext cx="9144000" cy="5791200"/>
          </a:xfrm>
        </p:spPr>
        <p:txBody>
          <a:bodyPr/>
          <a:lstStyle/>
          <a:p>
            <a:pPr algn="just" eaLnBrk="1" hangingPunct="1">
              <a:lnSpc>
                <a:spcPct val="80000"/>
              </a:lnSpc>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Is often a parameter that can be chosen by the OS</a:t>
            </a:r>
          </a:p>
          <a:p>
            <a:pPr algn="just" eaLnBrk="1" hangingPunct="1">
              <a:lnSpc>
                <a:spcPct val="80000"/>
              </a:lnSpc>
              <a:buClrTx/>
              <a:buSzTx/>
              <a:buFont typeface="Arial" panose="020B0604020202020204" pitchFamily="34" charset="0"/>
              <a:buChar char="•"/>
            </a:pPr>
            <a:r>
              <a:rPr lang="en-US" altLang="en-US" sz="2800" dirty="0">
                <a:latin typeface="Times New Roman" panose="02020603050405020304" pitchFamily="18" charset="0"/>
                <a:cs typeface="Times New Roman" panose="02020603050405020304" pitchFamily="18" charset="0"/>
              </a:rPr>
              <a:t>Determining the best page size requires balancing several competing factors (</a:t>
            </a:r>
            <a:r>
              <a:rPr lang="en-US" altLang="en-US" sz="2800" b="1" dirty="0">
                <a:latin typeface="Times New Roman" panose="02020603050405020304" pitchFamily="18" charset="0"/>
                <a:cs typeface="Times New Roman" panose="02020603050405020304" pitchFamily="18" charset="0"/>
              </a:rPr>
              <a:t>there is no overall optimum</a:t>
            </a:r>
            <a:r>
              <a:rPr lang="en-US" altLang="en-US" sz="2800" dirty="0">
                <a:latin typeface="Times New Roman" panose="02020603050405020304" pitchFamily="18" charset="0"/>
                <a:cs typeface="Times New Roman" panose="02020603050405020304" pitchFamily="18" charset="0"/>
              </a:rPr>
              <a:t>)</a:t>
            </a: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Argue for </a:t>
            </a:r>
            <a:r>
              <a:rPr lang="en-US" altLang="en-US" sz="2400" b="1" dirty="0">
                <a:latin typeface="Times New Roman" panose="02020603050405020304" pitchFamily="18" charset="0"/>
                <a:cs typeface="Times New Roman" panose="02020603050405020304" pitchFamily="18" charset="0"/>
              </a:rPr>
              <a:t>small</a:t>
            </a:r>
            <a:r>
              <a:rPr lang="en-US" altLang="en-US" sz="2400" dirty="0">
                <a:latin typeface="Times New Roman" panose="02020603050405020304" pitchFamily="18" charset="0"/>
                <a:cs typeface="Times New Roman" panose="02020603050405020304" pitchFamily="18" charset="0"/>
              </a:rPr>
              <a:t> size</a:t>
            </a:r>
            <a:endParaRPr lang="en-US" altLang="en-US" sz="2400" i="1" dirty="0">
              <a:latin typeface="Times New Roman" panose="02020603050405020304" pitchFamily="18" charset="0"/>
              <a:cs typeface="Times New Roman" panose="02020603050405020304" pitchFamily="18" charset="0"/>
            </a:endParaRP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Internal fragmentation (n = segments in memory, p = bytes of a page size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 internal fragment is np/2 bytes)</a:t>
            </a: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Need many pages </a:t>
            </a:r>
            <a:r>
              <a:rPr lang="en-US" altLang="en-US" sz="2000" dirty="0">
                <a:latin typeface="Times New Roman" panose="02020603050405020304" pitchFamily="18" charset="0"/>
                <a:cs typeface="Times New Roman" panose="02020603050405020304" pitchFamily="18" charset="0"/>
                <a:sym typeface="Wingdings" panose="05000000000000000000" pitchFamily="2" charset="2"/>
              </a:rPr>
              <a:t>→ the page table is large and transferring takes more time</a:t>
            </a:r>
            <a:endParaRPr lang="en-US" altLang="en-US" sz="2000" dirty="0">
              <a:latin typeface="Times New Roman" panose="02020603050405020304" pitchFamily="18" charset="0"/>
              <a:cs typeface="Times New Roman" panose="02020603050405020304" pitchFamily="18" charset="0"/>
            </a:endParaRP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Argue for </a:t>
            </a:r>
            <a:r>
              <a:rPr lang="en-US" altLang="en-US" sz="2400" b="1" dirty="0">
                <a:latin typeface="Times New Roman" panose="02020603050405020304" pitchFamily="18" charset="0"/>
                <a:cs typeface="Times New Roman" panose="02020603050405020304" pitchFamily="18" charset="0"/>
              </a:rPr>
              <a:t>large</a:t>
            </a:r>
            <a:r>
              <a:rPr lang="en-US" altLang="en-US" sz="2400" dirty="0">
                <a:latin typeface="Times New Roman" panose="02020603050405020304" pitchFamily="18" charset="0"/>
                <a:cs typeface="Times New Roman" panose="02020603050405020304" pitchFamily="18" charset="0"/>
              </a:rPr>
              <a:t> size </a:t>
            </a: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Cause more unused program to be in memory than a small size</a:t>
            </a: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Transferring takes less time than small size</a:t>
            </a: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Analyzed mathematically</a:t>
            </a:r>
          </a:p>
          <a:p>
            <a:pPr lvl="3" algn="just" eaLnBrk="1" hangingPunct="1">
              <a:lnSpc>
                <a:spcPct val="80000"/>
              </a:lnSpc>
            </a:pPr>
            <a:r>
              <a:rPr lang="en-US" altLang="en-US" sz="1800" dirty="0">
                <a:latin typeface="Times New Roman" panose="02020603050405020304" pitchFamily="18" charset="0"/>
                <a:cs typeface="Times New Roman" panose="02020603050405020304" pitchFamily="18" charset="0"/>
              </a:rPr>
              <a:t>s = average process size in bytes, p = page size in bytes</a:t>
            </a:r>
          </a:p>
          <a:p>
            <a:pPr lvl="3" algn="just" eaLnBrk="1" hangingPunct="1">
              <a:lnSpc>
                <a:spcPct val="80000"/>
              </a:lnSpc>
            </a:pPr>
            <a:r>
              <a:rPr lang="en-US" altLang="en-US"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dirty="0">
                <a:latin typeface="Times New Roman" panose="02020603050405020304" pitchFamily="18" charset="0"/>
                <a:cs typeface="Times New Roman" panose="02020603050405020304" pitchFamily="18" charset="0"/>
              </a:rPr>
              <a:t> s/p = approximate number of pages needed per process</a:t>
            </a:r>
          </a:p>
          <a:p>
            <a:pPr lvl="3" algn="just" eaLnBrk="1" hangingPunct="1">
              <a:lnSpc>
                <a:spcPct val="80000"/>
              </a:lnSpc>
            </a:pPr>
            <a:r>
              <a:rPr lang="en-US" altLang="en-US" sz="1800" dirty="0">
                <a:latin typeface="Times New Roman" panose="02020603050405020304" pitchFamily="18" charset="0"/>
                <a:cs typeface="Times New Roman" panose="02020603050405020304" pitchFamily="18" charset="0"/>
              </a:rPr>
              <a:t>e = number of bytes per page table entry</a:t>
            </a:r>
          </a:p>
          <a:p>
            <a:pPr lvl="3" algn="just" eaLnBrk="1" hangingPunct="1">
              <a:lnSpc>
                <a:spcPct val="80000"/>
              </a:lnSpc>
            </a:pPr>
            <a:r>
              <a:rPr lang="en-US" altLang="en-US"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dirty="0">
                <a:latin typeface="Times New Roman" panose="02020603050405020304" pitchFamily="18" charset="0"/>
                <a:cs typeface="Times New Roman" panose="02020603050405020304" pitchFamily="18" charset="0"/>
              </a:rPr>
              <a:t> overhead of memory for a process = se/p + p/2, due to page table size and internal fragmentation</a:t>
            </a:r>
          </a:p>
          <a:p>
            <a:pPr lvl="3" algn="just" eaLnBrk="1" hangingPunct="1">
              <a:lnSpc>
                <a:spcPct val="80000"/>
              </a:lnSpc>
            </a:pPr>
            <a:r>
              <a:rPr lang="en-US" altLang="en-US" sz="1800" b="1" dirty="0">
                <a:latin typeface="Times New Roman" panose="02020603050405020304" pitchFamily="18" charset="0"/>
                <a:cs typeface="Times New Roman" panose="02020603050405020304" pitchFamily="18" charset="0"/>
              </a:rPr>
              <a:t>optimum</a:t>
            </a:r>
            <a:r>
              <a:rPr lang="en-US" altLang="en-US" sz="1800" dirty="0">
                <a:latin typeface="Times New Roman" panose="02020603050405020304" pitchFamily="18" charset="0"/>
                <a:cs typeface="Times New Roman" panose="02020603050405020304" pitchFamily="18" charset="0"/>
              </a:rPr>
              <a:t> is found equating the first derivative to 0 </a:t>
            </a:r>
            <a:r>
              <a:rPr lang="en-US" altLang="en-US" sz="1800" dirty="0">
                <a:latin typeface="Times New Roman" panose="02020603050405020304" pitchFamily="18" charset="0"/>
                <a:cs typeface="Times New Roman" panose="02020603050405020304" pitchFamily="18" charset="0"/>
                <a:sym typeface="Wingdings" panose="05000000000000000000" pitchFamily="2" charset="2"/>
              </a:rPr>
              <a:t>→</a:t>
            </a:r>
            <a:r>
              <a:rPr lang="en-US" altLang="en-US" sz="1800" dirty="0">
                <a:latin typeface="Times New Roman" panose="02020603050405020304" pitchFamily="18" charset="0"/>
                <a:cs typeface="Times New Roman" panose="02020603050405020304" pitchFamily="18" charset="0"/>
              </a:rPr>
              <a:t> -se/p</a:t>
            </a:r>
            <a:r>
              <a:rPr lang="en-US" altLang="en-US" sz="1800" baseline="30000" dirty="0">
                <a:latin typeface="Times New Roman" panose="02020603050405020304" pitchFamily="18" charset="0"/>
                <a:cs typeface="Times New Roman" panose="02020603050405020304" pitchFamily="18" charset="0"/>
              </a:rPr>
              <a:t>2</a:t>
            </a:r>
            <a:r>
              <a:rPr lang="en-US" altLang="en-US" sz="1800" dirty="0">
                <a:latin typeface="Times New Roman" panose="02020603050405020304" pitchFamily="18" charset="0"/>
                <a:cs typeface="Times New Roman" panose="02020603050405020304" pitchFamily="18" charset="0"/>
              </a:rPr>
              <a:t> + ½ = 0 </a:t>
            </a:r>
          </a:p>
          <a:p>
            <a:pPr lvl="3" algn="just" eaLnBrk="1" hangingPunct="1">
              <a:lnSpc>
                <a:spcPct val="80000"/>
              </a:lnSpc>
            </a:pPr>
            <a:r>
              <a:rPr lang="en-US" sz="1800" dirty="0"/>
              <a:t>For s = 1MB and e = 8 bytes per page table entry, the optimum p?</a:t>
            </a:r>
            <a:endParaRPr lang="en-US" altLang="en-US" sz="1800" dirty="0">
              <a:latin typeface="Times New Roman" panose="02020603050405020304" pitchFamily="18" charset="0"/>
              <a:cs typeface="Times New Roman" panose="02020603050405020304" pitchFamily="18" charset="0"/>
            </a:endParaRPr>
          </a:p>
        </p:txBody>
      </p:sp>
      <p:sp>
        <p:nvSpPr>
          <p:cNvPr id="1029" name="Rectangle 4"/>
          <p:cNvSpPr>
            <a:spLocks/>
          </p:cNvSpPr>
          <p:nvPr/>
        </p:nvSpPr>
        <p:spPr bwMode="auto">
          <a:xfrm>
            <a:off x="914400" y="6096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Page Size</a:t>
            </a:r>
          </a:p>
        </p:txBody>
      </p:sp>
      <p:graphicFrame>
        <p:nvGraphicFramePr>
          <p:cNvPr id="11271" name="Object 6"/>
          <p:cNvGraphicFramePr>
            <a:graphicFrameLocks noChangeAspect="1"/>
          </p:cNvGraphicFramePr>
          <p:nvPr/>
        </p:nvGraphicFramePr>
        <p:xfrm>
          <a:off x="7772400" y="6324600"/>
          <a:ext cx="838200" cy="325438"/>
        </p:xfrm>
        <a:graphic>
          <a:graphicData uri="http://schemas.openxmlformats.org/presentationml/2006/ole">
            <mc:AlternateContent xmlns:mc="http://schemas.openxmlformats.org/markup-compatibility/2006">
              <mc:Choice xmlns:v="urn:schemas-microsoft-com:vml" Requires="v">
                <p:oleObj spid="_x0000_s1075" name="Equation" r:id="rId4" imgW="622080" imgH="241200" progId="Equation.3">
                  <p:embed/>
                </p:oleObj>
              </mc:Choice>
              <mc:Fallback>
                <p:oleObj name="Equation" r:id="rId4" imgW="622080" imgH="241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72400" y="6324600"/>
                        <a:ext cx="838200" cy="32543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10947">
                                            <p:txEl>
                                              <p:pRg st="0" end="0"/>
                                            </p:txEl>
                                          </p:spTgt>
                                        </p:tgtEl>
                                        <p:attrNameLst>
                                          <p:attrName>style.visibility</p:attrName>
                                        </p:attrNameLst>
                                      </p:cBhvr>
                                      <p:to>
                                        <p:strVal val="visible"/>
                                      </p:to>
                                    </p:set>
                                    <p:animEffect transition="in" filter="box(in)">
                                      <p:cBhvr>
                                        <p:cTn id="7" dur="500"/>
                                        <p:tgtEl>
                                          <p:spTgt spid="2109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210947">
                                            <p:txEl>
                                              <p:pRg st="1" end="1"/>
                                            </p:txEl>
                                          </p:spTgt>
                                        </p:tgtEl>
                                        <p:attrNameLst>
                                          <p:attrName>style.visibility</p:attrName>
                                        </p:attrNameLst>
                                      </p:cBhvr>
                                      <p:to>
                                        <p:strVal val="visible"/>
                                      </p:to>
                                    </p:set>
                                    <p:animEffect transition="in" filter="box(in)">
                                      <p:cBhvr>
                                        <p:cTn id="12" dur="500"/>
                                        <p:tgtEl>
                                          <p:spTgt spid="21094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10947">
                                            <p:txEl>
                                              <p:pRg st="2" end="2"/>
                                            </p:txEl>
                                          </p:spTgt>
                                        </p:tgtEl>
                                        <p:attrNameLst>
                                          <p:attrName>style.visibility</p:attrName>
                                        </p:attrNameLst>
                                      </p:cBhvr>
                                      <p:to>
                                        <p:strVal val="visible"/>
                                      </p:to>
                                    </p:set>
                                    <p:animEffect transition="in" filter="box(in)">
                                      <p:cBhvr>
                                        <p:cTn id="17" dur="500"/>
                                        <p:tgtEl>
                                          <p:spTgt spid="21094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10947">
                                            <p:txEl>
                                              <p:pRg st="3" end="3"/>
                                            </p:txEl>
                                          </p:spTgt>
                                        </p:tgtEl>
                                        <p:attrNameLst>
                                          <p:attrName>style.visibility</p:attrName>
                                        </p:attrNameLst>
                                      </p:cBhvr>
                                      <p:to>
                                        <p:strVal val="visible"/>
                                      </p:to>
                                    </p:set>
                                    <p:animEffect transition="in" filter="box(in)">
                                      <p:cBhvr>
                                        <p:cTn id="22" dur="500"/>
                                        <p:tgtEl>
                                          <p:spTgt spid="21094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10947">
                                            <p:txEl>
                                              <p:pRg st="4" end="4"/>
                                            </p:txEl>
                                          </p:spTgt>
                                        </p:tgtEl>
                                        <p:attrNameLst>
                                          <p:attrName>style.visibility</p:attrName>
                                        </p:attrNameLst>
                                      </p:cBhvr>
                                      <p:to>
                                        <p:strVal val="visible"/>
                                      </p:to>
                                    </p:set>
                                    <p:animEffect transition="in" filter="box(in)">
                                      <p:cBhvr>
                                        <p:cTn id="27" dur="500"/>
                                        <p:tgtEl>
                                          <p:spTgt spid="21094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10947">
                                            <p:txEl>
                                              <p:pRg st="5" end="5"/>
                                            </p:txEl>
                                          </p:spTgt>
                                        </p:tgtEl>
                                        <p:attrNameLst>
                                          <p:attrName>style.visibility</p:attrName>
                                        </p:attrNameLst>
                                      </p:cBhvr>
                                      <p:to>
                                        <p:strVal val="visible"/>
                                      </p:to>
                                    </p:set>
                                    <p:animEffect transition="in" filter="box(in)">
                                      <p:cBhvr>
                                        <p:cTn id="32" dur="500"/>
                                        <p:tgtEl>
                                          <p:spTgt spid="210947">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10947">
                                            <p:txEl>
                                              <p:pRg st="6" end="6"/>
                                            </p:txEl>
                                          </p:spTgt>
                                        </p:tgtEl>
                                        <p:attrNameLst>
                                          <p:attrName>style.visibility</p:attrName>
                                        </p:attrNameLst>
                                      </p:cBhvr>
                                      <p:to>
                                        <p:strVal val="visible"/>
                                      </p:to>
                                    </p:set>
                                    <p:animEffect transition="in" filter="box(in)">
                                      <p:cBhvr>
                                        <p:cTn id="37" dur="500"/>
                                        <p:tgtEl>
                                          <p:spTgt spid="210947">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210947">
                                            <p:txEl>
                                              <p:pRg st="7" end="7"/>
                                            </p:txEl>
                                          </p:spTgt>
                                        </p:tgtEl>
                                        <p:attrNameLst>
                                          <p:attrName>style.visibility</p:attrName>
                                        </p:attrNameLst>
                                      </p:cBhvr>
                                      <p:to>
                                        <p:strVal val="visible"/>
                                      </p:to>
                                    </p:set>
                                    <p:animEffect transition="in" filter="box(in)">
                                      <p:cBhvr>
                                        <p:cTn id="42" dur="500"/>
                                        <p:tgtEl>
                                          <p:spTgt spid="210947">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10947">
                                            <p:txEl>
                                              <p:pRg st="8" end="8"/>
                                            </p:txEl>
                                          </p:spTgt>
                                        </p:tgtEl>
                                        <p:attrNameLst>
                                          <p:attrName>style.visibility</p:attrName>
                                        </p:attrNameLst>
                                      </p:cBhvr>
                                      <p:to>
                                        <p:strVal val="visible"/>
                                      </p:to>
                                    </p:set>
                                    <p:animEffect transition="in" filter="box(in)">
                                      <p:cBhvr>
                                        <p:cTn id="47" dur="500"/>
                                        <p:tgtEl>
                                          <p:spTgt spid="210947">
                                            <p:txEl>
                                              <p:pRg st="8" end="8"/>
                                            </p:txEl>
                                          </p:spTgt>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210947">
                                            <p:txEl>
                                              <p:pRg st="9" end="9"/>
                                            </p:txEl>
                                          </p:spTgt>
                                        </p:tgtEl>
                                        <p:attrNameLst>
                                          <p:attrName>style.visibility</p:attrName>
                                        </p:attrNameLst>
                                      </p:cBhvr>
                                      <p:to>
                                        <p:strVal val="visible"/>
                                      </p:to>
                                    </p:set>
                                    <p:animEffect transition="in" filter="box(in)">
                                      <p:cBhvr>
                                        <p:cTn id="50" dur="500"/>
                                        <p:tgtEl>
                                          <p:spTgt spid="210947">
                                            <p:txEl>
                                              <p:pRg st="9" end="9"/>
                                            </p:txEl>
                                          </p:spTgt>
                                        </p:tgtEl>
                                      </p:cBhvr>
                                    </p:animEffect>
                                  </p:childTnLst>
                                </p:cTn>
                              </p:par>
                              <p:par>
                                <p:cTn id="51" presetID="4" presetClass="entr" presetSubtype="16" fill="hold" grpId="0" nodeType="withEffect">
                                  <p:stCondLst>
                                    <p:cond delay="0"/>
                                  </p:stCondLst>
                                  <p:childTnLst>
                                    <p:set>
                                      <p:cBhvr>
                                        <p:cTn id="52" dur="1" fill="hold">
                                          <p:stCondLst>
                                            <p:cond delay="0"/>
                                          </p:stCondLst>
                                        </p:cTn>
                                        <p:tgtEl>
                                          <p:spTgt spid="210947">
                                            <p:txEl>
                                              <p:pRg st="10" end="10"/>
                                            </p:txEl>
                                          </p:spTgt>
                                        </p:tgtEl>
                                        <p:attrNameLst>
                                          <p:attrName>style.visibility</p:attrName>
                                        </p:attrNameLst>
                                      </p:cBhvr>
                                      <p:to>
                                        <p:strVal val="visible"/>
                                      </p:to>
                                    </p:set>
                                    <p:animEffect transition="in" filter="box(in)">
                                      <p:cBhvr>
                                        <p:cTn id="53" dur="500"/>
                                        <p:tgtEl>
                                          <p:spTgt spid="210947">
                                            <p:txEl>
                                              <p:pRg st="10" end="10"/>
                                            </p:txEl>
                                          </p:spTgt>
                                        </p:tgtEl>
                                      </p:cBhvr>
                                    </p:animEffect>
                                  </p:childTnLst>
                                </p:cTn>
                              </p:par>
                              <p:par>
                                <p:cTn id="54" presetID="4" presetClass="entr" presetSubtype="16" fill="hold" grpId="0" nodeType="withEffect">
                                  <p:stCondLst>
                                    <p:cond delay="0"/>
                                  </p:stCondLst>
                                  <p:childTnLst>
                                    <p:set>
                                      <p:cBhvr>
                                        <p:cTn id="55" dur="1" fill="hold">
                                          <p:stCondLst>
                                            <p:cond delay="0"/>
                                          </p:stCondLst>
                                        </p:cTn>
                                        <p:tgtEl>
                                          <p:spTgt spid="210947">
                                            <p:txEl>
                                              <p:pRg st="11" end="11"/>
                                            </p:txEl>
                                          </p:spTgt>
                                        </p:tgtEl>
                                        <p:attrNameLst>
                                          <p:attrName>style.visibility</p:attrName>
                                        </p:attrNameLst>
                                      </p:cBhvr>
                                      <p:to>
                                        <p:strVal val="visible"/>
                                      </p:to>
                                    </p:set>
                                    <p:animEffect transition="in" filter="box(in)">
                                      <p:cBhvr>
                                        <p:cTn id="56" dur="500"/>
                                        <p:tgtEl>
                                          <p:spTgt spid="210947">
                                            <p:txEl>
                                              <p:pRg st="11" end="11"/>
                                            </p:txEl>
                                          </p:spTgt>
                                        </p:tgtEl>
                                      </p:cBhvr>
                                    </p:animEffect>
                                  </p:childTnLst>
                                </p:cTn>
                              </p:par>
                              <p:par>
                                <p:cTn id="57" presetID="4" presetClass="entr" presetSubtype="16" fill="hold" grpId="0" nodeType="withEffect">
                                  <p:stCondLst>
                                    <p:cond delay="0"/>
                                  </p:stCondLst>
                                  <p:childTnLst>
                                    <p:set>
                                      <p:cBhvr>
                                        <p:cTn id="58" dur="1" fill="hold">
                                          <p:stCondLst>
                                            <p:cond delay="0"/>
                                          </p:stCondLst>
                                        </p:cTn>
                                        <p:tgtEl>
                                          <p:spTgt spid="210947">
                                            <p:txEl>
                                              <p:pRg st="12" end="12"/>
                                            </p:txEl>
                                          </p:spTgt>
                                        </p:tgtEl>
                                        <p:attrNameLst>
                                          <p:attrName>style.visibility</p:attrName>
                                        </p:attrNameLst>
                                      </p:cBhvr>
                                      <p:to>
                                        <p:strVal val="visible"/>
                                      </p:to>
                                    </p:set>
                                    <p:animEffect transition="in" filter="box(in)">
                                      <p:cBhvr>
                                        <p:cTn id="59" dur="500"/>
                                        <p:tgtEl>
                                          <p:spTgt spid="210947">
                                            <p:txEl>
                                              <p:pRg st="12" end="12"/>
                                            </p:txEl>
                                          </p:spTgt>
                                        </p:tgtEl>
                                      </p:cBhvr>
                                    </p:animEffect>
                                  </p:childTnLst>
                                </p:cTn>
                              </p:par>
                              <p:par>
                                <p:cTn id="60" presetID="4" presetClass="entr" presetSubtype="16" fill="hold" grpId="0" nodeType="withEffect">
                                  <p:stCondLst>
                                    <p:cond delay="0"/>
                                  </p:stCondLst>
                                  <p:childTnLst>
                                    <p:set>
                                      <p:cBhvr>
                                        <p:cTn id="61" dur="1" fill="hold">
                                          <p:stCondLst>
                                            <p:cond delay="0"/>
                                          </p:stCondLst>
                                        </p:cTn>
                                        <p:tgtEl>
                                          <p:spTgt spid="210947">
                                            <p:txEl>
                                              <p:pRg st="13" end="13"/>
                                            </p:txEl>
                                          </p:spTgt>
                                        </p:tgtEl>
                                        <p:attrNameLst>
                                          <p:attrName>style.visibility</p:attrName>
                                        </p:attrNameLst>
                                      </p:cBhvr>
                                      <p:to>
                                        <p:strVal val="visible"/>
                                      </p:to>
                                    </p:set>
                                    <p:animEffect transition="in" filter="box(in)">
                                      <p:cBhvr>
                                        <p:cTn id="62" dur="500"/>
                                        <p:tgtEl>
                                          <p:spTgt spid="210947">
                                            <p:txEl>
                                              <p:pRg st="13" end="13"/>
                                            </p:txEl>
                                          </p:spTgt>
                                        </p:tgtEl>
                                      </p:cBhvr>
                                    </p:animEffect>
                                  </p:childTnLst>
                                </p:cTn>
                              </p:par>
                              <p:par>
                                <p:cTn id="63" presetID="4" presetClass="entr" presetSubtype="16" fill="hold" grpId="0" nodeType="withEffect">
                                  <p:stCondLst>
                                    <p:cond delay="0"/>
                                  </p:stCondLst>
                                  <p:childTnLst>
                                    <p:set>
                                      <p:cBhvr>
                                        <p:cTn id="64" dur="1" fill="hold">
                                          <p:stCondLst>
                                            <p:cond delay="0"/>
                                          </p:stCondLst>
                                        </p:cTn>
                                        <p:tgtEl>
                                          <p:spTgt spid="210947">
                                            <p:txEl>
                                              <p:pRg st="14" end="14"/>
                                            </p:txEl>
                                          </p:spTgt>
                                        </p:tgtEl>
                                        <p:attrNameLst>
                                          <p:attrName>style.visibility</p:attrName>
                                        </p:attrNameLst>
                                      </p:cBhvr>
                                      <p:to>
                                        <p:strVal val="visible"/>
                                      </p:to>
                                    </p:set>
                                    <p:animEffect transition="in" filter="box(in)">
                                      <p:cBhvr>
                                        <p:cTn id="65" dur="500"/>
                                        <p:tgtEl>
                                          <p:spTgt spid="210947">
                                            <p:txEl>
                                              <p:pRg st="14" end="14"/>
                                            </p:txEl>
                                          </p:spTgt>
                                        </p:tgtEl>
                                      </p:cBhvr>
                                    </p:animEffect>
                                  </p:childTnLst>
                                </p:cTn>
                              </p:par>
                              <p:par>
                                <p:cTn id="66" presetID="6" presetClass="entr" presetSubtype="16" fill="hold" nodeType="withEffect">
                                  <p:stCondLst>
                                    <p:cond delay="0"/>
                                  </p:stCondLst>
                                  <p:childTnLst>
                                    <p:set>
                                      <p:cBhvr>
                                        <p:cTn id="67" dur="1" fill="hold">
                                          <p:stCondLst>
                                            <p:cond delay="0"/>
                                          </p:stCondLst>
                                        </p:cTn>
                                        <p:tgtEl>
                                          <p:spTgt spid="11271"/>
                                        </p:tgtEl>
                                        <p:attrNameLst>
                                          <p:attrName>style.visibility</p:attrName>
                                        </p:attrNameLst>
                                      </p:cBhvr>
                                      <p:to>
                                        <p:strVal val="visible"/>
                                      </p:to>
                                    </p:set>
                                    <p:animEffect transition="in" filter="circle(in)">
                                      <p:cBhvr>
                                        <p:cTn id="68" dur="2000"/>
                                        <p:tgtEl>
                                          <p:spTgt spid="11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7" grpId="0" build="p" bldLvl="3"/>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p:cNvSpPr>
          <p:nvPr>
            <p:ph type="title"/>
          </p:nvPr>
        </p:nvSpPr>
        <p:spPr>
          <a:xfrm>
            <a:off x="1600200" y="0"/>
            <a:ext cx="7543800" cy="762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5363" name="Rectangle 4"/>
          <p:cNvSpPr>
            <a:spLocks/>
          </p:cNvSpPr>
          <p:nvPr/>
        </p:nvSpPr>
        <p:spPr bwMode="auto">
          <a:xfrm>
            <a:off x="914400" y="6096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Page Size</a:t>
            </a:r>
          </a:p>
        </p:txBody>
      </p:sp>
      <p:grpSp>
        <p:nvGrpSpPr>
          <p:cNvPr id="15364" name="Group 22"/>
          <p:cNvGrpSpPr>
            <a:grpSpLocks/>
          </p:cNvGrpSpPr>
          <p:nvPr/>
        </p:nvGrpSpPr>
        <p:grpSpPr bwMode="auto">
          <a:xfrm>
            <a:off x="1828800" y="1371600"/>
            <a:ext cx="2514600" cy="4572000"/>
            <a:chOff x="762000" y="1524000"/>
            <a:chExt cx="2514600" cy="4572000"/>
          </a:xfrm>
        </p:grpSpPr>
        <p:sp>
          <p:nvSpPr>
            <p:cNvPr id="12" name="Rectangle 11"/>
            <p:cNvSpPr/>
            <p:nvPr/>
          </p:nvSpPr>
          <p:spPr>
            <a:xfrm>
              <a:off x="762000" y="1524000"/>
              <a:ext cx="2514600" cy="25003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chemeClr val="tx1"/>
                  </a:solidFill>
                  <a:latin typeface="Times New Roman" pitchFamily="18" charset="0"/>
                  <a:cs typeface="Times New Roman" pitchFamily="18" charset="0"/>
                </a:rPr>
                <a:t>Memory</a:t>
              </a: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a:p>
              <a:pPr algn="ctr">
                <a:defRPr/>
              </a:pPr>
              <a:endParaRPr lang="en-US" dirty="0">
                <a:solidFill>
                  <a:schemeClr val="tx1"/>
                </a:solidFill>
                <a:latin typeface="Times New Roman" pitchFamily="18" charset="0"/>
                <a:cs typeface="Times New Roman" pitchFamily="18" charset="0"/>
              </a:endParaRPr>
            </a:p>
          </p:txBody>
        </p:sp>
        <p:grpSp>
          <p:nvGrpSpPr>
            <p:cNvPr id="15386" name="Group 14"/>
            <p:cNvGrpSpPr>
              <a:grpSpLocks/>
            </p:cNvGrpSpPr>
            <p:nvPr/>
          </p:nvGrpSpPr>
          <p:grpSpPr bwMode="auto">
            <a:xfrm>
              <a:off x="762000" y="5410200"/>
              <a:ext cx="2514600" cy="685800"/>
              <a:chOff x="3962400" y="4343400"/>
              <a:chExt cx="2514600" cy="685800"/>
            </a:xfrm>
          </p:grpSpPr>
          <p:sp>
            <p:nvSpPr>
              <p:cNvPr id="13" name="Rectangle 12"/>
              <p:cNvSpPr/>
              <p:nvPr/>
            </p:nvSpPr>
            <p:spPr>
              <a:xfrm>
                <a:off x="3962400" y="4343400"/>
                <a:ext cx="25146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Rectangle 13"/>
              <p:cNvSpPr/>
              <p:nvPr/>
            </p:nvSpPr>
            <p:spPr>
              <a:xfrm>
                <a:off x="3962400" y="4343400"/>
                <a:ext cx="2514600" cy="304800"/>
              </a:xfrm>
              <a:prstGeom prst="rect">
                <a:avLst/>
              </a:prstGeom>
              <a:solidFill>
                <a:schemeClr val="bg1">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5387" name="Group 15"/>
            <p:cNvGrpSpPr>
              <a:grpSpLocks/>
            </p:cNvGrpSpPr>
            <p:nvPr/>
          </p:nvGrpSpPr>
          <p:grpSpPr bwMode="auto">
            <a:xfrm>
              <a:off x="762000" y="4724400"/>
              <a:ext cx="2514600" cy="685800"/>
              <a:chOff x="3962400" y="4343400"/>
              <a:chExt cx="2514600" cy="685800"/>
            </a:xfrm>
          </p:grpSpPr>
          <p:sp>
            <p:nvSpPr>
              <p:cNvPr id="17" name="Rectangle 16"/>
              <p:cNvSpPr/>
              <p:nvPr/>
            </p:nvSpPr>
            <p:spPr>
              <a:xfrm>
                <a:off x="3962400" y="4343400"/>
                <a:ext cx="25146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8" name="Rectangle 17"/>
              <p:cNvSpPr/>
              <p:nvPr/>
            </p:nvSpPr>
            <p:spPr>
              <a:xfrm>
                <a:off x="3962400" y="4343400"/>
                <a:ext cx="2514600" cy="304800"/>
              </a:xfrm>
              <a:prstGeom prst="rect">
                <a:avLst/>
              </a:prstGeom>
              <a:solidFill>
                <a:schemeClr val="bg1">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5388" name="Group 18"/>
            <p:cNvGrpSpPr>
              <a:grpSpLocks/>
            </p:cNvGrpSpPr>
            <p:nvPr/>
          </p:nvGrpSpPr>
          <p:grpSpPr bwMode="auto">
            <a:xfrm>
              <a:off x="762000" y="4038600"/>
              <a:ext cx="2514600" cy="685800"/>
              <a:chOff x="3962400" y="4343400"/>
              <a:chExt cx="2514600" cy="685800"/>
            </a:xfrm>
          </p:grpSpPr>
          <p:sp>
            <p:nvSpPr>
              <p:cNvPr id="20" name="Rectangle 19"/>
              <p:cNvSpPr/>
              <p:nvPr/>
            </p:nvSpPr>
            <p:spPr>
              <a:xfrm>
                <a:off x="3962400" y="4343400"/>
                <a:ext cx="2514600" cy="685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1" name="Rectangle 20"/>
              <p:cNvSpPr/>
              <p:nvPr/>
            </p:nvSpPr>
            <p:spPr>
              <a:xfrm>
                <a:off x="3962400" y="4343400"/>
                <a:ext cx="2514600" cy="304800"/>
              </a:xfrm>
              <a:prstGeom prst="rect">
                <a:avLst/>
              </a:prstGeom>
              <a:solidFill>
                <a:schemeClr val="bg1">
                  <a:lumMod val="8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graphicFrame>
        <p:nvGraphicFramePr>
          <p:cNvPr id="22" name="Table 21"/>
          <p:cNvGraphicFramePr>
            <a:graphicFrameLocks noGrp="1"/>
          </p:cNvGraphicFramePr>
          <p:nvPr/>
        </p:nvGraphicFramePr>
        <p:xfrm>
          <a:off x="2286000" y="1981200"/>
          <a:ext cx="1460500" cy="1676400"/>
        </p:xfrm>
        <a:graphic>
          <a:graphicData uri="http://schemas.openxmlformats.org/drawingml/2006/table">
            <a:tbl>
              <a:tblPr firstRow="1" bandRow="1">
                <a:tableStyleId>{5C22544A-7EE6-4342-B048-85BDC9FD1C3A}</a:tableStyleId>
              </a:tblPr>
              <a:tblGrid>
                <a:gridCol w="381166">
                  <a:extLst>
                    <a:ext uri="{9D8B030D-6E8A-4147-A177-3AD203B41FA5}">
                      <a16:colId xmlns:a16="http://schemas.microsoft.com/office/drawing/2014/main" val="20000"/>
                    </a:ext>
                  </a:extLst>
                </a:gridCol>
                <a:gridCol w="1079334">
                  <a:extLst>
                    <a:ext uri="{9D8B030D-6E8A-4147-A177-3AD203B41FA5}">
                      <a16:colId xmlns:a16="http://schemas.microsoft.com/office/drawing/2014/main" val="20001"/>
                    </a:ext>
                  </a:extLst>
                </a:gridCol>
              </a:tblGrid>
              <a:tr h="419100">
                <a:tc gridSpan="2">
                  <a:txBody>
                    <a:bodyPr/>
                    <a:lstStyle/>
                    <a:p>
                      <a:pPr algn="ctr"/>
                      <a:r>
                        <a:rPr lang="en-US" dirty="0">
                          <a:solidFill>
                            <a:schemeClr val="tx1"/>
                          </a:solidFill>
                          <a:latin typeface="Times New Roman" pitchFamily="18" charset="0"/>
                          <a:cs typeface="Times New Roman" pitchFamily="18" charset="0"/>
                        </a:rPr>
                        <a:t>Page table</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19100">
                <a:tc>
                  <a:txBody>
                    <a:bodyPr/>
                    <a:lstStyle/>
                    <a:p>
                      <a:pPr algn="ctr"/>
                      <a:r>
                        <a:rPr lang="en-US" dirty="0">
                          <a:solidFill>
                            <a:schemeClr val="tx1"/>
                          </a:solidFill>
                          <a:latin typeface="Times New Roman" pitchFamily="18" charset="0"/>
                          <a:cs typeface="Times New Roman" pitchFamily="18" charset="0"/>
                        </a:rPr>
                        <a:t>1</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Times New Roman" pitchFamily="18" charset="0"/>
                          <a:cs typeface="Times New Roman" pitchFamily="18" charset="0"/>
                        </a:rPr>
                        <a:t>…</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419100">
                <a:tc>
                  <a:txBody>
                    <a:bodyPr/>
                    <a:lstStyle/>
                    <a:p>
                      <a:pPr algn="ctr"/>
                      <a:r>
                        <a:rPr lang="en-US" dirty="0">
                          <a:solidFill>
                            <a:schemeClr val="tx1"/>
                          </a:solidFill>
                          <a:latin typeface="Times New Roman" pitchFamily="18" charset="0"/>
                          <a:cs typeface="Times New Roman" pitchFamily="18" charset="0"/>
                        </a:rPr>
                        <a:t>2</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Times New Roman" pitchFamily="18" charset="0"/>
                          <a:cs typeface="Times New Roman" pitchFamily="18" charset="0"/>
                        </a:rPr>
                        <a:t>…</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19100">
                <a:tc>
                  <a:txBody>
                    <a:bodyPr/>
                    <a:lstStyle/>
                    <a:p>
                      <a:pPr algn="ctr"/>
                      <a:r>
                        <a:rPr lang="en-US" dirty="0">
                          <a:solidFill>
                            <a:schemeClr val="tx1"/>
                          </a:solidFill>
                          <a:latin typeface="Times New Roman" pitchFamily="18" charset="0"/>
                          <a:cs typeface="Times New Roman" pitchFamily="18" charset="0"/>
                        </a:rPr>
                        <a:t>3</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dirty="0">
                          <a:solidFill>
                            <a:schemeClr val="tx1"/>
                          </a:solidFill>
                          <a:latin typeface="Times New Roman" pitchFamily="18" charset="0"/>
                          <a:cs typeface="Times New Roman" pitchFamily="18" charset="0"/>
                        </a:rPr>
                        <a:t>….</a:t>
                      </a:r>
                    </a:p>
                  </a:txBody>
                  <a:tcPr marL="91480" marR="9148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bl>
          </a:graphicData>
        </a:graphic>
      </p:graphicFrame>
      <p:cxnSp>
        <p:nvCxnSpPr>
          <p:cNvPr id="25" name="Curved Connector 24"/>
          <p:cNvCxnSpPr>
            <a:endCxn id="14" idx="3"/>
          </p:cNvCxnSpPr>
          <p:nvPr/>
        </p:nvCxnSpPr>
        <p:spPr>
          <a:xfrm rot="16200000" flipH="1">
            <a:off x="2628900" y="3695700"/>
            <a:ext cx="2819400" cy="609600"/>
          </a:xfrm>
          <a:prstGeom prst="curvedConnector4">
            <a:avLst>
              <a:gd name="adj1" fmla="val -11082"/>
              <a:gd name="adj2" fmla="val 642885"/>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Shape 37"/>
          <p:cNvCxnSpPr>
            <a:endCxn id="18" idx="3"/>
          </p:cNvCxnSpPr>
          <p:nvPr/>
        </p:nvCxnSpPr>
        <p:spPr>
          <a:xfrm rot="16200000" flipH="1">
            <a:off x="3200400" y="3581400"/>
            <a:ext cx="1676400" cy="609600"/>
          </a:xfrm>
          <a:prstGeom prst="curvedConnector4">
            <a:avLst>
              <a:gd name="adj1" fmla="val -27552"/>
              <a:gd name="adj2" fmla="val 559808"/>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1" name="Curved Connector 50"/>
          <p:cNvCxnSpPr>
            <a:endCxn id="21" idx="3"/>
          </p:cNvCxnSpPr>
          <p:nvPr/>
        </p:nvCxnSpPr>
        <p:spPr>
          <a:xfrm>
            <a:off x="3733800" y="3505200"/>
            <a:ext cx="609600" cy="533400"/>
          </a:xfrm>
          <a:prstGeom prst="curvedConnector3">
            <a:avLst>
              <a:gd name="adj1" fmla="val 428270"/>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5257800" y="1447800"/>
            <a:ext cx="1219200" cy="304800"/>
          </a:xfrm>
          <a:prstGeom prst="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b="1" dirty="0">
                <a:solidFill>
                  <a:srgbClr val="FF0000"/>
                </a:solidFill>
                <a:latin typeface="Times New Roman" pitchFamily="18" charset="0"/>
                <a:cs typeface="Times New Roman" pitchFamily="18" charset="0"/>
              </a:rPr>
              <a:t>Fragment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up)">
                                      <p:cBhvr>
                                        <p:cTn id="7" dur="500"/>
                                        <p:tgtEl>
                                          <p:spTgt spid="25"/>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up)">
                                      <p:cBhvr>
                                        <p:cTn id="11" dur="500"/>
                                        <p:tgtEl>
                                          <p:spTgt spid="38"/>
                                        </p:tgtEl>
                                      </p:cBhvr>
                                    </p:animEffect>
                                  </p:childTnLst>
                                </p:cTn>
                              </p:par>
                            </p:childTnLst>
                          </p:cTn>
                        </p:par>
                        <p:par>
                          <p:cTn id="12" fill="hold" nodeType="afterGroup">
                            <p:stCondLst>
                              <p:cond delay="1000"/>
                            </p:stCondLst>
                            <p:childTnLst>
                              <p:par>
                                <p:cTn id="13" presetID="22" presetClass="entr" presetSubtype="1" fill="hold" nodeType="afterEffect">
                                  <p:stCondLst>
                                    <p:cond delay="0"/>
                                  </p:stCondLst>
                                  <p:childTnLst>
                                    <p:set>
                                      <p:cBhvr>
                                        <p:cTn id="14" dur="1" fill="hold">
                                          <p:stCondLst>
                                            <p:cond delay="0"/>
                                          </p:stCondLst>
                                        </p:cTn>
                                        <p:tgtEl>
                                          <p:spTgt spid="51"/>
                                        </p:tgtEl>
                                        <p:attrNameLst>
                                          <p:attrName>style.visibility</p:attrName>
                                        </p:attrNameLst>
                                      </p:cBhvr>
                                      <p:to>
                                        <p:strVal val="visible"/>
                                      </p:to>
                                    </p:set>
                                    <p:animEffect transition="in" filter="wipe(up)">
                                      <p:cBhvr>
                                        <p:cTn id="15"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p:cNvSpPr>
          <p:nvPr>
            <p:ph type="title"/>
          </p:nvPr>
        </p:nvSpPr>
        <p:spPr>
          <a:xfrm>
            <a:off x="1600200" y="0"/>
            <a:ext cx="7543800" cy="6858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12995" name="Rectangle 3"/>
          <p:cNvSpPr>
            <a:spLocks noGrp="1"/>
          </p:cNvSpPr>
          <p:nvPr>
            <p:ph type="body" idx="1"/>
          </p:nvPr>
        </p:nvSpPr>
        <p:spPr>
          <a:xfrm>
            <a:off x="228600" y="990600"/>
            <a:ext cx="8915400" cy="5867400"/>
          </a:xfrm>
        </p:spPr>
        <p:txBody>
          <a:bodyPr/>
          <a:lstStyle/>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Problems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Most computers have a </a:t>
            </a:r>
            <a:r>
              <a:rPr lang="en-US" altLang="en-US" sz="2400" b="1" dirty="0">
                <a:latin typeface="Times New Roman" panose="02020603050405020304" pitchFamily="18" charset="0"/>
                <a:cs typeface="Times New Roman" panose="02020603050405020304" pitchFamily="18" charset="0"/>
              </a:rPr>
              <a:t>single address space </a:t>
            </a:r>
            <a:r>
              <a:rPr lang="en-US" altLang="en-US" sz="2400" dirty="0">
                <a:latin typeface="Times New Roman" panose="02020603050405020304" pitchFamily="18" charset="0"/>
                <a:cs typeface="Times New Roman" panose="02020603050405020304" pitchFamily="18" charset="0"/>
              </a:rPr>
              <a:t>that </a:t>
            </a:r>
            <a:r>
              <a:rPr lang="en-US" altLang="en-US" sz="2400" b="1" dirty="0">
                <a:latin typeface="Times New Roman" panose="02020603050405020304" pitchFamily="18" charset="0"/>
                <a:cs typeface="Times New Roman" panose="02020603050405020304" pitchFamily="18" charset="0"/>
              </a:rPr>
              <a:t>holds both programs and data</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If that </a:t>
            </a:r>
            <a:r>
              <a:rPr lang="en-US" altLang="en-US" sz="2400" b="1" dirty="0">
                <a:latin typeface="Times New Roman" panose="02020603050405020304" pitchFamily="18" charset="0"/>
                <a:cs typeface="Times New Roman" panose="02020603050405020304" pitchFamily="18" charset="0"/>
              </a:rPr>
              <a:t>address space </a:t>
            </a:r>
            <a:r>
              <a:rPr lang="en-US" altLang="en-US" sz="2400" dirty="0">
                <a:latin typeface="Times New Roman" panose="02020603050405020304" pitchFamily="18" charset="0"/>
                <a:cs typeface="Times New Roman" panose="02020603050405020304" pitchFamily="18" charset="0"/>
              </a:rPr>
              <a:t>is often </a:t>
            </a:r>
            <a:r>
              <a:rPr lang="en-US" altLang="en-US" sz="2400" b="1" dirty="0">
                <a:latin typeface="Times New Roman" panose="02020603050405020304" pitchFamily="18" charset="0"/>
                <a:cs typeface="Times New Roman" panose="02020603050405020304" pitchFamily="18" charset="0"/>
              </a:rPr>
              <a:t>too</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small</a:t>
            </a:r>
            <a:r>
              <a:rPr lang="en-US" altLang="en-US" sz="2400" dirty="0">
                <a:latin typeface="Times New Roman" panose="02020603050405020304" pitchFamily="18" charset="0"/>
                <a:cs typeface="Times New Roman" panose="02020603050405020304" pitchFamily="18" charset="0"/>
              </a:rPr>
              <a:t>, forcing programmer </a:t>
            </a:r>
            <a:r>
              <a:rPr lang="en-US" altLang="en-US" sz="2400" b="1" dirty="0">
                <a:latin typeface="Times New Roman" panose="02020603050405020304" pitchFamily="18" charset="0"/>
                <a:cs typeface="Times New Roman" panose="02020603050405020304" pitchFamily="18" charset="0"/>
              </a:rPr>
              <a:t>to</a:t>
            </a:r>
            <a:r>
              <a:rPr lang="en-US" altLang="en-US" sz="2400" dirty="0">
                <a:latin typeface="Times New Roman" panose="02020603050405020304" pitchFamily="18" charset="0"/>
                <a:cs typeface="Times New Roman" panose="02020603050405020304" pitchFamily="18" charset="0"/>
              </a:rPr>
              <a:t> stand on their </a:t>
            </a:r>
            <a:r>
              <a:rPr lang="en-US" altLang="en-US" sz="2400" b="1" dirty="0">
                <a:latin typeface="Times New Roman" panose="02020603050405020304" pitchFamily="18" charset="0"/>
                <a:cs typeface="Times New Roman" panose="02020603050405020304" pitchFamily="18" charset="0"/>
              </a:rPr>
              <a:t>heads</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fit everything into the address space</a:t>
            </a:r>
          </a:p>
          <a:p>
            <a:pPr algn="just" eaLnBrk="1" hangingPunct="1">
              <a:lnSpc>
                <a:spcPct val="9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Solutions</a:t>
            </a:r>
          </a:p>
          <a:p>
            <a:pPr lvl="1" algn="just" eaLnBrk="1" hangingPunct="1">
              <a:lnSpc>
                <a:spcPct val="90000"/>
              </a:lnSpc>
            </a:pPr>
            <a:r>
              <a:rPr lang="en-US" altLang="en-US" sz="2400" b="1" dirty="0">
                <a:latin typeface="Times New Roman" panose="02020603050405020304" pitchFamily="18" charset="0"/>
                <a:cs typeface="Times New Roman" panose="02020603050405020304" pitchFamily="18" charset="0"/>
              </a:rPr>
              <a:t>Separate</a:t>
            </a:r>
            <a:r>
              <a:rPr lang="en-US" altLang="en-US" sz="2400" dirty="0">
                <a:latin typeface="Times New Roman" panose="02020603050405020304" pitchFamily="18" charset="0"/>
                <a:cs typeface="Times New Roman" panose="02020603050405020304" pitchFamily="18" charset="0"/>
              </a:rPr>
              <a:t> address spaces for</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Instructions (</a:t>
            </a:r>
            <a:r>
              <a:rPr lang="en-US" altLang="en-US" sz="2000" b="1" dirty="0">
                <a:latin typeface="Times New Roman" panose="02020603050405020304" pitchFamily="18" charset="0"/>
                <a:cs typeface="Times New Roman" panose="02020603050405020304" pitchFamily="18" charset="0"/>
              </a:rPr>
              <a:t>I-space</a:t>
            </a:r>
            <a:r>
              <a:rPr lang="en-US" altLang="en-US" sz="2000" dirty="0">
                <a:latin typeface="Times New Roman" panose="02020603050405020304" pitchFamily="18" charset="0"/>
                <a:cs typeface="Times New Roman" panose="02020603050405020304" pitchFamily="18" charset="0"/>
              </a:rPr>
              <a:t>)</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Data (</a:t>
            </a:r>
            <a:r>
              <a:rPr lang="en-US" altLang="en-US" sz="2000" b="1" dirty="0">
                <a:latin typeface="Times New Roman" panose="02020603050405020304" pitchFamily="18" charset="0"/>
                <a:cs typeface="Times New Roman" panose="02020603050405020304" pitchFamily="18" charset="0"/>
              </a:rPr>
              <a:t>D-space</a:t>
            </a:r>
            <a:r>
              <a:rPr lang="en-US" altLang="en-US" sz="2000" dirty="0">
                <a:latin typeface="Times New Roman" panose="02020603050405020304" pitchFamily="18" charset="0"/>
                <a:cs typeface="Times New Roman" panose="02020603050405020304" pitchFamily="18" charset="0"/>
              </a:rPr>
              <a:t>)</a:t>
            </a:r>
          </a:p>
          <a:p>
            <a:pPr lvl="2" algn="just" eaLnBrk="1" hangingPunct="1">
              <a:lnSpc>
                <a:spcPct val="90000"/>
              </a:lnSpc>
            </a:pPr>
            <a:r>
              <a:rPr lang="en-US" altLang="en-US" sz="2000" dirty="0">
                <a:latin typeface="Times New Roman" panose="02020603050405020304" pitchFamily="18" charset="0"/>
                <a:cs typeface="Times New Roman" panose="02020603050405020304" pitchFamily="18" charset="0"/>
              </a:rPr>
              <a:t>Each address space </a:t>
            </a:r>
            <a:r>
              <a:rPr lang="en-US" altLang="en-US" sz="2000" b="1" dirty="0">
                <a:latin typeface="Times New Roman" panose="02020603050405020304" pitchFamily="18" charset="0"/>
                <a:cs typeface="Times New Roman" panose="02020603050405020304" pitchFamily="18" charset="0"/>
              </a:rPr>
              <a:t>runs from 0 to maximum</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linker</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and</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hardware</a:t>
            </a:r>
            <a:r>
              <a:rPr lang="en-US" altLang="en-US" sz="2400" dirty="0">
                <a:latin typeface="Times New Roman" panose="02020603050405020304" pitchFamily="18" charset="0"/>
                <a:cs typeface="Times New Roman" panose="02020603050405020304" pitchFamily="18" charset="0"/>
              </a:rPr>
              <a:t> must </a:t>
            </a:r>
            <a:r>
              <a:rPr lang="en-US" altLang="en-US" sz="2400" b="1" dirty="0">
                <a:latin typeface="Times New Roman" panose="02020603050405020304" pitchFamily="18" charset="0"/>
                <a:cs typeface="Times New Roman" panose="02020603050405020304" pitchFamily="18" charset="0"/>
              </a:rPr>
              <a:t>know</a:t>
            </a:r>
            <a:r>
              <a:rPr lang="en-US" altLang="en-US" sz="2400" dirty="0">
                <a:latin typeface="Times New Roman" panose="02020603050405020304" pitchFamily="18" charset="0"/>
                <a:cs typeface="Times New Roman" panose="02020603050405020304" pitchFamily="18" charset="0"/>
              </a:rPr>
              <a:t> when </a:t>
            </a:r>
            <a:r>
              <a:rPr lang="en-US" altLang="en-US" sz="2400" b="1" dirty="0">
                <a:latin typeface="Times New Roman" panose="02020603050405020304" pitchFamily="18" charset="0"/>
                <a:cs typeface="Times New Roman" panose="02020603050405020304" pitchFamily="18" charset="0"/>
              </a:rPr>
              <a:t>separate spaces </a:t>
            </a:r>
            <a:r>
              <a:rPr lang="en-US" altLang="en-US" sz="2400" dirty="0">
                <a:latin typeface="Times New Roman" panose="02020603050405020304" pitchFamily="18" charset="0"/>
                <a:cs typeface="Times New Roman" panose="02020603050405020304" pitchFamily="18" charset="0"/>
              </a:rPr>
              <a:t>are being used</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Both </a:t>
            </a:r>
            <a:r>
              <a:rPr lang="en-US" altLang="en-US" sz="2400" b="1" dirty="0">
                <a:latin typeface="Times New Roman" panose="02020603050405020304" pitchFamily="18" charset="0"/>
                <a:cs typeface="Times New Roman" panose="02020603050405020304" pitchFamily="18" charset="0"/>
              </a:rPr>
              <a:t>address spaces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can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be paged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independently</a:t>
            </a:r>
            <a:r>
              <a:rPr lang="en-US" altLang="en-US" sz="2400" dirty="0">
                <a:latin typeface="Times New Roman" panose="02020603050405020304" pitchFamily="18" charset="0"/>
                <a:cs typeface="Times New Roman" panose="02020603050405020304" pitchFamily="18" charset="0"/>
              </a:rPr>
              <a:t> and </a:t>
            </a:r>
            <a:r>
              <a:rPr lang="en-US" altLang="en-US" sz="2400" b="1" dirty="0">
                <a:latin typeface="Times New Roman" panose="02020603050405020304" pitchFamily="18" charset="0"/>
                <a:cs typeface="Times New Roman" panose="02020603050405020304" pitchFamily="18" charset="0"/>
              </a:rPr>
              <a:t>have its own page table</a:t>
            </a:r>
            <a:r>
              <a:rPr lang="en-US" altLang="en-US" sz="2400" dirty="0">
                <a:latin typeface="Times New Roman" panose="02020603050405020304" pitchFamily="18" charset="0"/>
                <a:cs typeface="Times New Roman" panose="02020603050405020304" pitchFamily="18" charset="0"/>
              </a:rPr>
              <a:t> (mapping virtual pages to physical page frames)</a:t>
            </a:r>
          </a:p>
          <a:p>
            <a:pPr lvl="1" algn="just" eaLnBrk="1" hangingPunct="1">
              <a:lnSpc>
                <a:spcPct val="90000"/>
              </a:lnSpc>
            </a:pPr>
            <a:r>
              <a:rPr lang="en-US" altLang="en-US" sz="2400" dirty="0">
                <a:latin typeface="Times New Roman" panose="02020603050405020304" pitchFamily="18" charset="0"/>
                <a:cs typeface="Times New Roman" panose="02020603050405020304" pitchFamily="18" charset="0"/>
              </a:rPr>
              <a:t>Practically is </a:t>
            </a:r>
            <a:r>
              <a:rPr lang="en-US" altLang="en-US" sz="2400" b="1" dirty="0">
                <a:latin typeface="Times New Roman" panose="02020603050405020304" pitchFamily="18" charset="0"/>
                <a:cs typeface="Times New Roman" panose="02020603050405020304" pitchFamily="18" charset="0"/>
              </a:rPr>
              <a:t>double</a:t>
            </a:r>
            <a:r>
              <a:rPr lang="en-US" altLang="en-US" sz="2400" dirty="0">
                <a:latin typeface="Times New Roman" panose="02020603050405020304" pitchFamily="18" charset="0"/>
                <a:cs typeface="Times New Roman" panose="02020603050405020304" pitchFamily="18" charset="0"/>
              </a:rPr>
              <a:t> the available address space</a:t>
            </a:r>
          </a:p>
        </p:txBody>
      </p:sp>
      <p:sp>
        <p:nvSpPr>
          <p:cNvPr id="16388" name="Rectangle 4"/>
          <p:cNvSpPr>
            <a:spLocks/>
          </p:cNvSpPr>
          <p:nvPr/>
        </p:nvSpPr>
        <p:spPr bwMode="auto">
          <a:xfrm>
            <a:off x="914400" y="609600"/>
            <a:ext cx="822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Separate Instruction and Data Spaces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2995">
                                            <p:txEl>
                                              <p:pRg st="4" end="4"/>
                                            </p:txEl>
                                          </p:spTgt>
                                        </p:tgtEl>
                                        <p:attrNameLst>
                                          <p:attrName>style.visibility</p:attrName>
                                        </p:attrNameLst>
                                      </p:cBhvr>
                                      <p:to>
                                        <p:strVal val="visible"/>
                                      </p:to>
                                    </p:set>
                                    <p:animEffect transition="in" filter="box(in)">
                                      <p:cBhvr>
                                        <p:cTn id="7" dur="500"/>
                                        <p:tgtEl>
                                          <p:spTgt spid="212995">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12995">
                                            <p:txEl>
                                              <p:pRg st="5" end="5"/>
                                            </p:txEl>
                                          </p:spTgt>
                                        </p:tgtEl>
                                        <p:attrNameLst>
                                          <p:attrName>style.visibility</p:attrName>
                                        </p:attrNameLst>
                                      </p:cBhvr>
                                      <p:to>
                                        <p:strVal val="visible"/>
                                      </p:to>
                                    </p:set>
                                    <p:animEffect transition="in" filter="box(in)">
                                      <p:cBhvr>
                                        <p:cTn id="10" dur="500"/>
                                        <p:tgtEl>
                                          <p:spTgt spid="212995">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12995">
                                            <p:txEl>
                                              <p:pRg st="6" end="6"/>
                                            </p:txEl>
                                          </p:spTgt>
                                        </p:tgtEl>
                                        <p:attrNameLst>
                                          <p:attrName>style.visibility</p:attrName>
                                        </p:attrNameLst>
                                      </p:cBhvr>
                                      <p:to>
                                        <p:strVal val="visible"/>
                                      </p:to>
                                    </p:set>
                                    <p:animEffect transition="in" filter="box(in)">
                                      <p:cBhvr>
                                        <p:cTn id="13" dur="500"/>
                                        <p:tgtEl>
                                          <p:spTgt spid="212995">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12995">
                                            <p:txEl>
                                              <p:pRg st="7" end="7"/>
                                            </p:txEl>
                                          </p:spTgt>
                                        </p:tgtEl>
                                        <p:attrNameLst>
                                          <p:attrName>style.visibility</p:attrName>
                                        </p:attrNameLst>
                                      </p:cBhvr>
                                      <p:to>
                                        <p:strVal val="visible"/>
                                      </p:to>
                                    </p:set>
                                    <p:animEffect transition="in" filter="box(in)">
                                      <p:cBhvr>
                                        <p:cTn id="16" dur="500"/>
                                        <p:tgtEl>
                                          <p:spTgt spid="212995">
                                            <p:txEl>
                                              <p:pRg st="7" end="7"/>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12995">
                                            <p:txEl>
                                              <p:pRg st="8" end="8"/>
                                            </p:txEl>
                                          </p:spTgt>
                                        </p:tgtEl>
                                        <p:attrNameLst>
                                          <p:attrName>style.visibility</p:attrName>
                                        </p:attrNameLst>
                                      </p:cBhvr>
                                      <p:to>
                                        <p:strVal val="visible"/>
                                      </p:to>
                                    </p:set>
                                    <p:animEffect transition="in" filter="box(in)">
                                      <p:cBhvr>
                                        <p:cTn id="19" dur="500"/>
                                        <p:tgtEl>
                                          <p:spTgt spid="212995">
                                            <p:txEl>
                                              <p:pRg st="8" end="8"/>
                                            </p:txEl>
                                          </p:spTgt>
                                        </p:tgtEl>
                                      </p:cBhvr>
                                    </p:animEffect>
                                  </p:childTnLst>
                                </p:cTn>
                              </p:par>
                              <p:par>
                                <p:cTn id="20" presetID="4" presetClass="entr" presetSubtype="16" fill="hold" nodeType="withEffect">
                                  <p:stCondLst>
                                    <p:cond delay="0"/>
                                  </p:stCondLst>
                                  <p:childTnLst>
                                    <p:set>
                                      <p:cBhvr>
                                        <p:cTn id="21" dur="1" fill="hold">
                                          <p:stCondLst>
                                            <p:cond delay="0"/>
                                          </p:stCondLst>
                                        </p:cTn>
                                        <p:tgtEl>
                                          <p:spTgt spid="212995">
                                            <p:txEl>
                                              <p:pRg st="9" end="9"/>
                                            </p:txEl>
                                          </p:spTgt>
                                        </p:tgtEl>
                                        <p:attrNameLst>
                                          <p:attrName>style.visibility</p:attrName>
                                        </p:attrNameLst>
                                      </p:cBhvr>
                                      <p:to>
                                        <p:strVal val="visible"/>
                                      </p:to>
                                    </p:set>
                                    <p:animEffect transition="in" filter="box(in)">
                                      <p:cBhvr>
                                        <p:cTn id="22" dur="500"/>
                                        <p:tgtEl>
                                          <p:spTgt spid="212995">
                                            <p:txEl>
                                              <p:pRg st="9" end="9"/>
                                            </p:txEl>
                                          </p:spTgt>
                                        </p:tgtEl>
                                      </p:cBhvr>
                                    </p:animEffect>
                                  </p:childTnLst>
                                </p:cTn>
                              </p:par>
                              <p:par>
                                <p:cTn id="23" presetID="4" presetClass="entr" presetSubtype="16" fill="hold" nodeType="withEffect">
                                  <p:stCondLst>
                                    <p:cond delay="0"/>
                                  </p:stCondLst>
                                  <p:childTnLst>
                                    <p:set>
                                      <p:cBhvr>
                                        <p:cTn id="24" dur="1" fill="hold">
                                          <p:stCondLst>
                                            <p:cond delay="0"/>
                                          </p:stCondLst>
                                        </p:cTn>
                                        <p:tgtEl>
                                          <p:spTgt spid="212995">
                                            <p:txEl>
                                              <p:pRg st="10" end="10"/>
                                            </p:txEl>
                                          </p:spTgt>
                                        </p:tgtEl>
                                        <p:attrNameLst>
                                          <p:attrName>style.visibility</p:attrName>
                                        </p:attrNameLst>
                                      </p:cBhvr>
                                      <p:to>
                                        <p:strVal val="visible"/>
                                      </p:to>
                                    </p:set>
                                    <p:animEffect transition="in" filter="box(in)">
                                      <p:cBhvr>
                                        <p:cTn id="25" dur="500"/>
                                        <p:tgtEl>
                                          <p:spTgt spid="21299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p:cNvSpPr>
          <p:nvPr>
            <p:ph type="title"/>
          </p:nvPr>
        </p:nvSpPr>
        <p:spPr>
          <a:xfrm>
            <a:off x="1524000" y="0"/>
            <a:ext cx="7772400" cy="6096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7411" name="Rectangle 4"/>
          <p:cNvSpPr>
            <a:spLocks/>
          </p:cNvSpPr>
          <p:nvPr/>
        </p:nvSpPr>
        <p:spPr bwMode="auto">
          <a:xfrm>
            <a:off x="1066800" y="533400"/>
            <a:ext cx="82296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Separate Instruction and Data Spaces</a:t>
            </a:r>
          </a:p>
        </p:txBody>
      </p:sp>
      <p:pic>
        <p:nvPicPr>
          <p:cNvPr id="17412" name="Picture 7" descr="03-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00200"/>
            <a:ext cx="8458200" cy="296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6" name="Text Box 4"/>
          <p:cNvSpPr txBox="1">
            <a:spLocks noChangeArrowheads="1"/>
          </p:cNvSpPr>
          <p:nvPr/>
        </p:nvSpPr>
        <p:spPr bwMode="auto">
          <a:xfrm>
            <a:off x="3429000" y="50292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3-25.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p:cNvSpPr>
          <p:nvPr>
            <p:ph type="title"/>
          </p:nvPr>
        </p:nvSpPr>
        <p:spPr>
          <a:xfrm>
            <a:off x="1524000" y="0"/>
            <a:ext cx="7620000" cy="6096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17091" name="Rectangle 3"/>
          <p:cNvSpPr>
            <a:spLocks noGrp="1"/>
          </p:cNvSpPr>
          <p:nvPr>
            <p:ph type="body" idx="1"/>
          </p:nvPr>
        </p:nvSpPr>
        <p:spPr>
          <a:xfrm>
            <a:off x="0" y="762000"/>
            <a:ext cx="9144000" cy="6096000"/>
          </a:xfrm>
        </p:spPr>
        <p:txBody>
          <a:bodyPr/>
          <a:lstStyle/>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Problem</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In large </a:t>
            </a:r>
            <a:r>
              <a:rPr lang="en-US" altLang="en-US" sz="2400" b="1">
                <a:latin typeface="Times New Roman" panose="02020603050405020304" pitchFamily="18" charset="0"/>
                <a:cs typeface="Times New Roman" panose="02020603050405020304" pitchFamily="18" charset="0"/>
              </a:rPr>
              <a:t>multiprogramming</a:t>
            </a:r>
            <a:r>
              <a:rPr lang="en-US" altLang="en-US" sz="2400">
                <a:latin typeface="Times New Roman" panose="02020603050405020304" pitchFamily="18" charset="0"/>
                <a:cs typeface="Times New Roman" panose="02020603050405020304" pitchFamily="18" charset="0"/>
              </a:rPr>
              <a:t> system, it is common for </a:t>
            </a:r>
            <a:r>
              <a:rPr lang="en-US" altLang="en-US" sz="2400" b="1">
                <a:latin typeface="Times New Roman" panose="02020603050405020304" pitchFamily="18" charset="0"/>
                <a:cs typeface="Times New Roman" panose="02020603050405020304" pitchFamily="18" charset="0"/>
              </a:rPr>
              <a:t>several users </a:t>
            </a:r>
            <a:r>
              <a:rPr lang="en-US" altLang="en-US" sz="2400">
                <a:latin typeface="Times New Roman" panose="02020603050405020304" pitchFamily="18" charset="0"/>
                <a:cs typeface="Times New Roman" panose="02020603050405020304" pitchFamily="18" charset="0"/>
              </a:rPr>
              <a:t>to be </a:t>
            </a:r>
            <a:r>
              <a:rPr lang="en-US" altLang="en-US" sz="2400" b="1">
                <a:latin typeface="Times New Roman" panose="02020603050405020304" pitchFamily="18" charset="0"/>
                <a:cs typeface="Times New Roman" panose="02020603050405020304" pitchFamily="18" charset="0"/>
              </a:rPr>
              <a:t>running the same program at the same time</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Having </a:t>
            </a:r>
            <a:r>
              <a:rPr lang="en-US" altLang="en-US" sz="2400" b="1">
                <a:latin typeface="Times New Roman" panose="02020603050405020304" pitchFamily="18" charset="0"/>
                <a:cs typeface="Times New Roman" panose="02020603050405020304" pitchFamily="18" charset="0"/>
              </a:rPr>
              <a:t>two copies </a:t>
            </a:r>
            <a:r>
              <a:rPr lang="en-US" altLang="en-US" sz="2400">
                <a:latin typeface="Times New Roman" panose="02020603050405020304" pitchFamily="18" charset="0"/>
                <a:cs typeface="Times New Roman" panose="02020603050405020304" pitchFamily="18" charset="0"/>
              </a:rPr>
              <a:t>of the </a:t>
            </a:r>
            <a:r>
              <a:rPr lang="en-US" altLang="en-US" sz="2400" b="1">
                <a:latin typeface="Times New Roman" panose="02020603050405020304" pitchFamily="18" charset="0"/>
                <a:cs typeface="Times New Roman" panose="02020603050405020304" pitchFamily="18" charset="0"/>
              </a:rPr>
              <a:t>same page in memory at the same time</a:t>
            </a:r>
          </a:p>
          <a:p>
            <a:pPr algn="just" eaLnBrk="1" hangingPunct="1">
              <a:lnSpc>
                <a:spcPct val="80000"/>
              </a:lnSpc>
              <a:buClrTx/>
              <a:buSzTx/>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rPr>
              <a:t>Solution</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Share</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read only pages </a:t>
            </a:r>
            <a:r>
              <a:rPr lang="en-US" altLang="en-US" sz="2400">
                <a:latin typeface="Times New Roman" panose="02020603050405020304" pitchFamily="18" charset="0"/>
                <a:cs typeface="Times New Roman" panose="02020603050405020304" pitchFamily="18" charset="0"/>
              </a:rPr>
              <a:t>(</a:t>
            </a:r>
            <a:r>
              <a:rPr lang="en-US" altLang="en-US" sz="2400" b="1">
                <a:latin typeface="Times New Roman" panose="02020603050405020304" pitchFamily="18" charset="0"/>
                <a:cs typeface="Times New Roman" panose="02020603050405020304" pitchFamily="18" charset="0"/>
              </a:rPr>
              <a:t>code</a:t>
            </a:r>
            <a:r>
              <a:rPr lang="en-US" altLang="en-US" sz="2400">
                <a:latin typeface="Times New Roman" panose="02020603050405020304" pitchFamily="18" charset="0"/>
                <a:cs typeface="Times New Roman" panose="02020603050405020304" pitchFamily="18" charset="0"/>
              </a:rPr>
              <a:t> can be shared but data cannot)</a:t>
            </a:r>
          </a:p>
          <a:p>
            <a:pPr lvl="1" algn="just" eaLnBrk="1" hangingPunct="1">
              <a:lnSpc>
                <a:spcPct val="80000"/>
              </a:lnSpc>
            </a:pPr>
            <a:r>
              <a:rPr lang="en-US" altLang="en-US" sz="2400">
                <a:latin typeface="Times New Roman" panose="02020603050405020304" pitchFamily="18" charset="0"/>
                <a:cs typeface="Times New Roman" panose="02020603050405020304" pitchFamily="18" charset="0"/>
              </a:rPr>
              <a:t>If </a:t>
            </a:r>
            <a:r>
              <a:rPr lang="en-US" altLang="en-US" sz="2400" b="1">
                <a:latin typeface="Times New Roman" panose="02020603050405020304" pitchFamily="18" charset="0"/>
                <a:cs typeface="Times New Roman" panose="02020603050405020304" pitchFamily="18" charset="0"/>
              </a:rPr>
              <a:t>separate spaces </a:t>
            </a:r>
            <a:r>
              <a:rPr lang="en-US" altLang="en-US" sz="2400">
                <a:latin typeface="Times New Roman" panose="02020603050405020304" pitchFamily="18" charset="0"/>
                <a:cs typeface="Times New Roman" panose="02020603050405020304" pitchFamily="18" charset="0"/>
              </a:rPr>
              <a:t>are </a:t>
            </a:r>
            <a:r>
              <a:rPr lang="en-US" altLang="en-US" sz="2400" b="1">
                <a:latin typeface="Times New Roman" panose="02020603050405020304" pitchFamily="18" charset="0"/>
                <a:cs typeface="Times New Roman" panose="02020603050405020304" pitchFamily="18" charset="0"/>
              </a:rPr>
              <a:t>supported</a:t>
            </a:r>
            <a:r>
              <a:rPr lang="en-US" altLang="en-US" sz="2400">
                <a:latin typeface="Times New Roman" panose="02020603050405020304" pitchFamily="18" charset="0"/>
                <a:cs typeface="Times New Roman" panose="02020603050405020304" pitchFamily="18" charset="0"/>
              </a:rPr>
              <a:t>, two or more </a:t>
            </a:r>
            <a:r>
              <a:rPr lang="en-US" altLang="en-US" sz="2400" b="1">
                <a:latin typeface="Times New Roman" panose="02020603050405020304" pitchFamily="18" charset="0"/>
                <a:cs typeface="Times New Roman" panose="02020603050405020304" pitchFamily="18" charset="0"/>
              </a:rPr>
              <a:t>processes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use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same</a:t>
            </a:r>
            <a:r>
              <a:rPr lang="en-US" altLang="en-US" sz="2400">
                <a:latin typeface="Times New Roman" panose="02020603050405020304" pitchFamily="18" charset="0"/>
                <a:cs typeface="Times New Roman" panose="02020603050405020304" pitchFamily="18" charset="0"/>
              </a:rPr>
              <a:t> their </a:t>
            </a:r>
            <a:r>
              <a:rPr lang="en-US" altLang="en-US" sz="2400" b="1">
                <a:latin typeface="Times New Roman" panose="02020603050405020304" pitchFamily="18" charset="0"/>
                <a:cs typeface="Times New Roman" panose="02020603050405020304" pitchFamily="18" charset="0"/>
              </a:rPr>
              <a:t>I-Space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but</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different</a:t>
            </a:r>
            <a:r>
              <a:rPr lang="en-US" altLang="en-US" sz="2400">
                <a:latin typeface="Times New Roman" panose="02020603050405020304" pitchFamily="18" charset="0"/>
                <a:cs typeface="Times New Roman" panose="02020603050405020304" pitchFamily="18" charset="0"/>
              </a:rPr>
              <a:t> their </a:t>
            </a:r>
            <a:r>
              <a:rPr lang="en-US" altLang="en-US" sz="2400" b="1">
                <a:latin typeface="Times New Roman" panose="02020603050405020304" pitchFamily="18" charset="0"/>
                <a:cs typeface="Times New Roman" panose="02020603050405020304" pitchFamily="18" charset="0"/>
              </a:rPr>
              <a:t>D-Space.</a:t>
            </a:r>
            <a:r>
              <a:rPr lang="en-US" altLang="en-US" sz="2400">
                <a:latin typeface="Times New Roman" panose="02020603050405020304" pitchFamily="18" charset="0"/>
                <a:cs typeface="Times New Roman" panose="02020603050405020304" pitchFamily="18" charset="0"/>
              </a:rPr>
              <a:t> Implementing</a:t>
            </a:r>
          </a:p>
          <a:p>
            <a:pPr lvl="2" algn="just" eaLnBrk="1" hangingPunct="1">
              <a:lnSpc>
                <a:spcPct val="80000"/>
              </a:lnSpc>
            </a:pPr>
            <a:r>
              <a:rPr lang="en-US" altLang="en-US" sz="2000" b="1">
                <a:latin typeface="Times New Roman" panose="02020603050405020304" pitchFamily="18" charset="0"/>
                <a:cs typeface="Times New Roman" panose="02020603050405020304" pitchFamily="18" charset="0"/>
              </a:rPr>
              <a:t>Page tables are </a:t>
            </a:r>
            <a:r>
              <a:rPr lang="en-US" altLang="en-US" sz="2000">
                <a:latin typeface="Times New Roman" panose="02020603050405020304" pitchFamily="18" charset="0"/>
                <a:cs typeface="Times New Roman" panose="02020603050405020304" pitchFamily="18" charset="0"/>
              </a:rPr>
              <a:t>data </a:t>
            </a:r>
            <a:r>
              <a:rPr lang="en-US" altLang="en-US" sz="2000" b="1">
                <a:latin typeface="Times New Roman" panose="02020603050405020304" pitchFamily="18" charset="0"/>
                <a:cs typeface="Times New Roman" panose="02020603050405020304" pitchFamily="18" charset="0"/>
              </a:rPr>
              <a:t>structures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independent</a:t>
            </a:r>
            <a:r>
              <a:rPr lang="en-US" altLang="en-US" sz="2000">
                <a:latin typeface="Times New Roman" panose="02020603050405020304" pitchFamily="18" charset="0"/>
                <a:cs typeface="Times New Roman" panose="02020603050405020304" pitchFamily="18" charset="0"/>
              </a:rPr>
              <a:t> of the </a:t>
            </a:r>
            <a:r>
              <a:rPr lang="en-US" altLang="en-US" sz="2000" b="1">
                <a:latin typeface="Times New Roman" panose="02020603050405020304" pitchFamily="18" charset="0"/>
                <a:cs typeface="Times New Roman" panose="02020603050405020304" pitchFamily="18" charset="0"/>
              </a:rPr>
              <a:t>process table</a:t>
            </a:r>
          </a:p>
          <a:p>
            <a:pPr lvl="2" algn="just" eaLnBrk="1" hangingPunct="1">
              <a:lnSpc>
                <a:spcPct val="80000"/>
              </a:lnSpc>
            </a:pPr>
            <a:r>
              <a:rPr lang="en-US" altLang="en-US" sz="2000">
                <a:latin typeface="Times New Roman" panose="02020603050405020304" pitchFamily="18" charset="0"/>
                <a:cs typeface="Times New Roman" panose="02020603050405020304" pitchFamily="18" charset="0"/>
              </a:rPr>
              <a:t>Each </a:t>
            </a:r>
            <a:r>
              <a:rPr lang="en-US" altLang="en-US" sz="2000" b="1">
                <a:latin typeface="Times New Roman" panose="02020603050405020304" pitchFamily="18" charset="0"/>
                <a:cs typeface="Times New Roman" panose="02020603050405020304" pitchFamily="18" charset="0"/>
              </a:rPr>
              <a:t>process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has two pointers </a:t>
            </a:r>
            <a:r>
              <a:rPr lang="en-US" altLang="en-US" sz="2000">
                <a:latin typeface="Times New Roman" panose="02020603050405020304" pitchFamily="18" charset="0"/>
                <a:cs typeface="Times New Roman" panose="02020603050405020304" pitchFamily="18" charset="0"/>
              </a:rPr>
              <a:t>in </a:t>
            </a:r>
            <a:r>
              <a:rPr lang="en-US" altLang="en-US" sz="2000" b="1">
                <a:latin typeface="Times New Roman" panose="02020603050405020304" pitchFamily="18" charset="0"/>
                <a:cs typeface="Times New Roman" panose="02020603050405020304" pitchFamily="18" charset="0"/>
              </a:rPr>
              <a:t>process table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one</a:t>
            </a:r>
            <a:r>
              <a:rPr lang="en-US" altLang="en-US" sz="2000">
                <a:latin typeface="Times New Roman" panose="02020603050405020304" pitchFamily="18" charset="0"/>
                <a:cs typeface="Times New Roman" panose="02020603050405020304" pitchFamily="18" charset="0"/>
              </a:rPr>
              <a:t> to the </a:t>
            </a:r>
            <a:r>
              <a:rPr lang="en-US" altLang="en-US" sz="2000" b="1">
                <a:latin typeface="Times New Roman" panose="02020603050405020304" pitchFamily="18" charset="0"/>
                <a:cs typeface="Times New Roman" panose="02020603050405020304" pitchFamily="18" charset="0"/>
              </a:rPr>
              <a:t>I-space and one </a:t>
            </a:r>
            <a:r>
              <a:rPr lang="en-US" altLang="en-US" sz="2000">
                <a:latin typeface="Times New Roman" panose="02020603050405020304" pitchFamily="18" charset="0"/>
                <a:cs typeface="Times New Roman" panose="02020603050405020304" pitchFamily="18" charset="0"/>
              </a:rPr>
              <a:t>to the </a:t>
            </a:r>
            <a:r>
              <a:rPr lang="en-US" altLang="en-US" sz="2000" b="1">
                <a:latin typeface="Times New Roman" panose="02020603050405020304" pitchFamily="18" charset="0"/>
                <a:cs typeface="Times New Roman" panose="02020603050405020304" pitchFamily="18" charset="0"/>
              </a:rPr>
              <a:t>D-space</a:t>
            </a:r>
          </a:p>
          <a:p>
            <a:pPr lvl="1" algn="just" eaLnBrk="1" hangingPunct="1">
              <a:lnSpc>
                <a:spcPct val="80000"/>
              </a:lnSpc>
            </a:pPr>
            <a:r>
              <a:rPr lang="en-US" altLang="en-US" sz="2400" b="1">
                <a:latin typeface="Times New Roman" panose="02020603050405020304" pitchFamily="18" charset="0"/>
                <a:cs typeface="Times New Roman" panose="02020603050405020304" pitchFamily="18" charset="0"/>
              </a:rPr>
              <a:t>Problems</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Both</a:t>
            </a:r>
            <a:r>
              <a:rPr lang="en-US" altLang="en-US" sz="2400">
                <a:latin typeface="Times New Roman" panose="02020603050405020304" pitchFamily="18" charset="0"/>
                <a:cs typeface="Times New Roman" panose="02020603050405020304" pitchFamily="18" charset="0"/>
              </a:rPr>
              <a:t> A &amp; B processes </a:t>
            </a:r>
            <a:r>
              <a:rPr lang="en-US" altLang="en-US" sz="2400" b="1">
                <a:latin typeface="Times New Roman" panose="02020603050405020304" pitchFamily="18" charset="0"/>
                <a:cs typeface="Times New Roman" panose="02020603050405020304" pitchFamily="18" charset="0"/>
              </a:rPr>
              <a:t>running</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editor &amp; sharing pages</a:t>
            </a:r>
          </a:p>
          <a:p>
            <a:pPr lvl="2" algn="just" eaLnBrk="1" hangingPunct="1">
              <a:lnSpc>
                <a:spcPct val="80000"/>
              </a:lnSpc>
            </a:pPr>
            <a:r>
              <a:rPr lang="en-US" altLang="en-US" sz="2000">
                <a:latin typeface="Times New Roman" panose="02020603050405020304" pitchFamily="18" charset="0"/>
                <a:cs typeface="Times New Roman" panose="02020603050405020304" pitchFamily="18" charset="0"/>
              </a:rPr>
              <a:t>The scheduler decides to </a:t>
            </a:r>
            <a:r>
              <a:rPr lang="en-US" altLang="en-US" sz="2000" b="1">
                <a:latin typeface="Times New Roman" panose="02020603050405020304" pitchFamily="18" charset="0"/>
                <a:cs typeface="Times New Roman" panose="02020603050405020304" pitchFamily="18" charset="0"/>
              </a:rPr>
              <a:t>remove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a:t>
            </a:r>
            <a:r>
              <a:rPr lang="en-US" altLang="en-US" sz="2000">
                <a:latin typeface="Times New Roman" panose="02020603050405020304" pitchFamily="18" charset="0"/>
                <a:cs typeface="Times New Roman" panose="02020603050405020304" pitchFamily="18" charset="0"/>
              </a:rPr>
              <a:t> to </a:t>
            </a:r>
            <a:r>
              <a:rPr lang="en-US" altLang="en-US" sz="2000" b="1">
                <a:latin typeface="Times New Roman" panose="02020603050405020304" pitchFamily="18" charset="0"/>
                <a:cs typeface="Times New Roman" panose="02020603050405020304" pitchFamily="18" charset="0"/>
              </a:rPr>
              <a:t>from memory</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evicting</a:t>
            </a:r>
            <a:r>
              <a:rPr lang="en-US" altLang="en-US" sz="2000">
                <a:latin typeface="Times New Roman" panose="02020603050405020304" pitchFamily="18" charset="0"/>
                <a:cs typeface="Times New Roman" panose="02020603050405020304" pitchFamily="18" charset="0"/>
              </a:rPr>
              <a:t> all </a:t>
            </a:r>
            <a:r>
              <a:rPr lang="en-US" altLang="en-US" sz="2000" b="1">
                <a:latin typeface="Times New Roman" panose="02020603050405020304" pitchFamily="18" charset="0"/>
                <a:cs typeface="Times New Roman" panose="02020603050405020304" pitchFamily="18" charset="0"/>
              </a:rPr>
              <a:t>its pages </a:t>
            </a:r>
            <a:r>
              <a:rPr lang="en-US" altLang="en-US" sz="2000">
                <a:latin typeface="Times New Roman" panose="02020603050405020304" pitchFamily="18" charset="0"/>
                <a:cs typeface="Times New Roman" panose="02020603050405020304" pitchFamily="18" charset="0"/>
              </a:rPr>
              <a:t>and </a:t>
            </a:r>
            <a:r>
              <a:rPr lang="en-US" altLang="en-US" sz="2000" b="1">
                <a:latin typeface="Times New Roman" panose="02020603050405020304" pitchFamily="18" charset="0"/>
                <a:cs typeface="Times New Roman" panose="02020603050405020304" pitchFamily="18" charset="0"/>
              </a:rPr>
              <a:t>filling</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empty page frames with</a:t>
            </a:r>
            <a:r>
              <a:rPr lang="en-US" altLang="en-US" sz="2000">
                <a:latin typeface="Times New Roman" panose="02020603050405020304" pitchFamily="18" charset="0"/>
                <a:cs typeface="Times New Roman" panose="02020603050405020304" pitchFamily="18" charset="0"/>
              </a:rPr>
              <a:t> some </a:t>
            </a:r>
            <a:r>
              <a:rPr lang="en-US" altLang="en-US" sz="2000" b="1">
                <a:latin typeface="Times New Roman" panose="02020603050405020304" pitchFamily="18" charset="0"/>
                <a:cs typeface="Times New Roman" panose="02020603050405020304" pitchFamily="18" charset="0"/>
              </a:rPr>
              <a:t>other program </a:t>
            </a:r>
            <a:r>
              <a:rPr lang="en-US" altLang="en-US" sz="2000">
                <a:latin typeface="Times New Roman" panose="02020603050405020304" pitchFamily="18" charset="0"/>
                <a:cs typeface="Times New Roman" panose="02020603050405020304" pitchFamily="18" charset="0"/>
              </a:rPr>
              <a:t>will </a:t>
            </a:r>
            <a:r>
              <a:rPr lang="en-US" altLang="en-US" sz="2000" b="1">
                <a:latin typeface="Times New Roman" panose="02020603050405020304" pitchFamily="18" charset="0"/>
                <a:cs typeface="Times New Roman" panose="02020603050405020304" pitchFamily="18" charset="0"/>
              </a:rPr>
              <a:t>cause</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B generate</a:t>
            </a:r>
            <a:r>
              <a:rPr lang="en-US" altLang="en-US" sz="2000">
                <a:latin typeface="Times New Roman" panose="02020603050405020304" pitchFamily="18" charset="0"/>
                <a:cs typeface="Times New Roman" panose="02020603050405020304" pitchFamily="18" charset="0"/>
              </a:rPr>
              <a:t> a large number of </a:t>
            </a:r>
            <a:r>
              <a:rPr lang="en-US" altLang="en-US" sz="2000" b="1">
                <a:latin typeface="Times New Roman" panose="02020603050405020304" pitchFamily="18" charset="0"/>
                <a:cs typeface="Times New Roman" panose="02020603050405020304" pitchFamily="18" charset="0"/>
              </a:rPr>
              <a:t>page faults </a:t>
            </a:r>
            <a:r>
              <a:rPr lang="en-US" altLang="en-US" sz="2000">
                <a:latin typeface="Times New Roman" panose="02020603050405020304" pitchFamily="18" charset="0"/>
                <a:cs typeface="Times New Roman" panose="02020603050405020304" pitchFamily="18" charset="0"/>
              </a:rPr>
              <a:t>to </a:t>
            </a:r>
            <a:r>
              <a:rPr lang="en-US" altLang="en-US" sz="2000" b="1">
                <a:latin typeface="Times New Roman" panose="02020603050405020304" pitchFamily="18" charset="0"/>
                <a:cs typeface="Times New Roman" panose="02020603050405020304" pitchFamily="18" charset="0"/>
              </a:rPr>
              <a:t>bring</a:t>
            </a:r>
            <a:r>
              <a:rPr lang="en-US" altLang="en-US" sz="2000">
                <a:latin typeface="Times New Roman" panose="02020603050405020304" pitchFamily="18" charset="0"/>
                <a:cs typeface="Times New Roman" panose="02020603050405020304" pitchFamily="18" charset="0"/>
              </a:rPr>
              <a:t> them </a:t>
            </a:r>
            <a:r>
              <a:rPr lang="en-US" altLang="en-US" sz="2000" b="1">
                <a:latin typeface="Times New Roman" panose="02020603050405020304" pitchFamily="18" charset="0"/>
                <a:cs typeface="Times New Roman" panose="02020603050405020304" pitchFamily="18" charset="0"/>
              </a:rPr>
              <a:t>back</a:t>
            </a:r>
            <a:r>
              <a:rPr lang="en-US" altLang="en-US" sz="2000">
                <a:latin typeface="Times New Roman" panose="02020603050405020304" pitchFamily="18" charset="0"/>
                <a:cs typeface="Times New Roman" panose="02020603050405020304" pitchFamily="18" charset="0"/>
              </a:rPr>
              <a:t> in </a:t>
            </a:r>
            <a:r>
              <a:rPr lang="en-US" altLang="en-US" sz="2000" b="1">
                <a:latin typeface="Times New Roman" panose="02020603050405020304" pitchFamily="18" charset="0"/>
                <a:cs typeface="Times New Roman" panose="02020603050405020304" pitchFamily="18" charset="0"/>
              </a:rPr>
              <a:t>again</a:t>
            </a:r>
          </a:p>
          <a:p>
            <a:pPr lvl="2" algn="just" eaLnBrk="1" hangingPunct="1">
              <a:lnSpc>
                <a:spcPct val="80000"/>
              </a:lnSpc>
            </a:pPr>
            <a:r>
              <a:rPr lang="en-US" altLang="en-US" sz="2000">
                <a:latin typeface="Times New Roman" panose="02020603050405020304" pitchFamily="18" charset="0"/>
                <a:cs typeface="Times New Roman" panose="02020603050405020304" pitchFamily="18" charset="0"/>
              </a:rPr>
              <a:t>Similar, </a:t>
            </a:r>
            <a:r>
              <a:rPr lang="en-US" altLang="en-US" sz="2000" b="1">
                <a:latin typeface="Times New Roman" panose="02020603050405020304" pitchFamily="18" charset="0"/>
                <a:cs typeface="Times New Roman" panose="02020603050405020304" pitchFamily="18" charset="0"/>
              </a:rPr>
              <a:t>A terminates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scheduler</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discover</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pages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still</a:t>
            </a:r>
            <a:r>
              <a:rPr lang="en-US" altLang="en-US" sz="2000">
                <a:latin typeface="Times New Roman" panose="02020603050405020304" pitchFamily="18" charset="0"/>
                <a:cs typeface="Times New Roman" panose="02020603050405020304" pitchFamily="18" charset="0"/>
              </a:rPr>
              <a:t> in </a:t>
            </a:r>
            <a:r>
              <a:rPr lang="en-US" altLang="en-US" sz="2000" b="1">
                <a:latin typeface="Times New Roman" panose="02020603050405020304" pitchFamily="18" charset="0"/>
                <a:cs typeface="Times New Roman" panose="02020603050405020304" pitchFamily="18" charset="0"/>
              </a:rPr>
              <a:t>used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not removed</a:t>
            </a:r>
            <a:r>
              <a:rPr lang="en-US" altLang="en-US" sz="2000">
                <a:latin typeface="Times New Roman" panose="02020603050405020304" pitchFamily="18" charset="0"/>
                <a:cs typeface="Times New Roman" panose="02020603050405020304" pitchFamily="18" charset="0"/>
              </a:rPr>
              <a:t>) → implement the data structure to keep track of shared pages to reduce the searching (since searching is expensive)</a:t>
            </a:r>
          </a:p>
        </p:txBody>
      </p:sp>
      <p:sp>
        <p:nvSpPr>
          <p:cNvPr id="18436" name="Rectangle 4"/>
          <p:cNvSpPr>
            <a:spLocks/>
          </p:cNvSpPr>
          <p:nvPr/>
        </p:nvSpPr>
        <p:spPr bwMode="auto">
          <a:xfrm>
            <a:off x="9144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Shared Pages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17091">
                                            <p:txEl>
                                              <p:pRg st="4" end="4"/>
                                            </p:txEl>
                                          </p:spTgt>
                                        </p:tgtEl>
                                        <p:attrNameLst>
                                          <p:attrName>style.visibility</p:attrName>
                                        </p:attrNameLst>
                                      </p:cBhvr>
                                      <p:to>
                                        <p:strVal val="visible"/>
                                      </p:to>
                                    </p:set>
                                    <p:animEffect transition="in" filter="box(in)">
                                      <p:cBhvr>
                                        <p:cTn id="7" dur="500"/>
                                        <p:tgtEl>
                                          <p:spTgt spid="217091">
                                            <p:txEl>
                                              <p:pRg st="4" end="4"/>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17091">
                                            <p:txEl>
                                              <p:pRg st="5" end="5"/>
                                            </p:txEl>
                                          </p:spTgt>
                                        </p:tgtEl>
                                        <p:attrNameLst>
                                          <p:attrName>style.visibility</p:attrName>
                                        </p:attrNameLst>
                                      </p:cBhvr>
                                      <p:to>
                                        <p:strVal val="visible"/>
                                      </p:to>
                                    </p:set>
                                    <p:animEffect transition="in" filter="box(in)">
                                      <p:cBhvr>
                                        <p:cTn id="10" dur="500"/>
                                        <p:tgtEl>
                                          <p:spTgt spid="217091">
                                            <p:txEl>
                                              <p:pRg st="5" end="5"/>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17091">
                                            <p:txEl>
                                              <p:pRg st="6" end="6"/>
                                            </p:txEl>
                                          </p:spTgt>
                                        </p:tgtEl>
                                        <p:attrNameLst>
                                          <p:attrName>style.visibility</p:attrName>
                                        </p:attrNameLst>
                                      </p:cBhvr>
                                      <p:to>
                                        <p:strVal val="visible"/>
                                      </p:to>
                                    </p:set>
                                    <p:animEffect transition="in" filter="box(in)">
                                      <p:cBhvr>
                                        <p:cTn id="13" dur="500"/>
                                        <p:tgtEl>
                                          <p:spTgt spid="217091">
                                            <p:txEl>
                                              <p:pRg st="6" end="6"/>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17091">
                                            <p:txEl>
                                              <p:pRg st="7" end="7"/>
                                            </p:txEl>
                                          </p:spTgt>
                                        </p:tgtEl>
                                        <p:attrNameLst>
                                          <p:attrName>style.visibility</p:attrName>
                                        </p:attrNameLst>
                                      </p:cBhvr>
                                      <p:to>
                                        <p:strVal val="visible"/>
                                      </p:to>
                                    </p:set>
                                    <p:animEffect transition="in" filter="box(in)">
                                      <p:cBhvr>
                                        <p:cTn id="16" dur="500"/>
                                        <p:tgtEl>
                                          <p:spTgt spid="217091">
                                            <p:txEl>
                                              <p:pRg st="7" end="7"/>
                                            </p:txEl>
                                          </p:spTgt>
                                        </p:tgtEl>
                                      </p:cBhvr>
                                    </p:animEffect>
                                  </p:childTnLst>
                                </p:cTn>
                              </p:par>
                            </p:childTnLst>
                          </p:cTn>
                        </p:par>
                        <p:par>
                          <p:cTn id="17" fill="hold" nodeType="afterGroup">
                            <p:stCondLst>
                              <p:cond delay="500"/>
                            </p:stCondLst>
                            <p:childTnLst>
                              <p:par>
                                <p:cTn id="18" presetID="4" presetClass="entr" presetSubtype="16" fill="hold" nodeType="afterEffect">
                                  <p:stCondLst>
                                    <p:cond delay="0"/>
                                  </p:stCondLst>
                                  <p:childTnLst>
                                    <p:set>
                                      <p:cBhvr>
                                        <p:cTn id="19" dur="1" fill="hold">
                                          <p:stCondLst>
                                            <p:cond delay="0"/>
                                          </p:stCondLst>
                                        </p:cTn>
                                        <p:tgtEl>
                                          <p:spTgt spid="217091">
                                            <p:txEl>
                                              <p:pRg st="8" end="8"/>
                                            </p:txEl>
                                          </p:spTgt>
                                        </p:tgtEl>
                                        <p:attrNameLst>
                                          <p:attrName>style.visibility</p:attrName>
                                        </p:attrNameLst>
                                      </p:cBhvr>
                                      <p:to>
                                        <p:strVal val="visible"/>
                                      </p:to>
                                    </p:set>
                                    <p:animEffect transition="in" filter="box(in)">
                                      <p:cBhvr>
                                        <p:cTn id="20" dur="500"/>
                                        <p:tgtEl>
                                          <p:spTgt spid="217091">
                                            <p:txEl>
                                              <p:pRg st="8" end="8"/>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4" presetClass="entr" presetSubtype="16" fill="hold" nodeType="clickEffect">
                                  <p:stCondLst>
                                    <p:cond delay="0"/>
                                  </p:stCondLst>
                                  <p:childTnLst>
                                    <p:set>
                                      <p:cBhvr>
                                        <p:cTn id="24" dur="1" fill="hold">
                                          <p:stCondLst>
                                            <p:cond delay="0"/>
                                          </p:stCondLst>
                                        </p:cTn>
                                        <p:tgtEl>
                                          <p:spTgt spid="217091">
                                            <p:txEl>
                                              <p:pRg st="9" end="9"/>
                                            </p:txEl>
                                          </p:spTgt>
                                        </p:tgtEl>
                                        <p:attrNameLst>
                                          <p:attrName>style.visibility</p:attrName>
                                        </p:attrNameLst>
                                      </p:cBhvr>
                                      <p:to>
                                        <p:strVal val="visible"/>
                                      </p:to>
                                    </p:set>
                                    <p:animEffect transition="in" filter="box(in)">
                                      <p:cBhvr>
                                        <p:cTn id="25" dur="500"/>
                                        <p:tgtEl>
                                          <p:spTgt spid="217091">
                                            <p:txEl>
                                              <p:pRg st="9" end="9"/>
                                            </p:txEl>
                                          </p:spTgt>
                                        </p:tgtEl>
                                      </p:cBhvr>
                                    </p:animEffect>
                                  </p:childTnLst>
                                </p:cTn>
                              </p:par>
                              <p:par>
                                <p:cTn id="26" presetID="4" presetClass="entr" presetSubtype="16" fill="hold" nodeType="withEffect">
                                  <p:stCondLst>
                                    <p:cond delay="0"/>
                                  </p:stCondLst>
                                  <p:childTnLst>
                                    <p:set>
                                      <p:cBhvr>
                                        <p:cTn id="27" dur="1" fill="hold">
                                          <p:stCondLst>
                                            <p:cond delay="0"/>
                                          </p:stCondLst>
                                        </p:cTn>
                                        <p:tgtEl>
                                          <p:spTgt spid="217091">
                                            <p:txEl>
                                              <p:pRg st="10" end="10"/>
                                            </p:txEl>
                                          </p:spTgt>
                                        </p:tgtEl>
                                        <p:attrNameLst>
                                          <p:attrName>style.visibility</p:attrName>
                                        </p:attrNameLst>
                                      </p:cBhvr>
                                      <p:to>
                                        <p:strVal val="visible"/>
                                      </p:to>
                                    </p:set>
                                    <p:animEffect transition="in" filter="box(in)">
                                      <p:cBhvr>
                                        <p:cTn id="28" dur="500"/>
                                        <p:tgtEl>
                                          <p:spTgt spid="21709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p:cNvSpPr>
          <p:nvPr>
            <p:ph type="title"/>
          </p:nvPr>
        </p:nvSpPr>
        <p:spPr>
          <a:xfrm>
            <a:off x="1524000" y="0"/>
            <a:ext cx="7620000" cy="6096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9459" name="Rectangle 4"/>
          <p:cNvSpPr>
            <a:spLocks/>
          </p:cNvSpPr>
          <p:nvPr/>
        </p:nvSpPr>
        <p:spPr bwMode="auto">
          <a:xfrm>
            <a:off x="9144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Shared Pages</a:t>
            </a:r>
          </a:p>
        </p:txBody>
      </p:sp>
      <p:pic>
        <p:nvPicPr>
          <p:cNvPr id="19460" name="Picture 7" descr="03-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1600"/>
            <a:ext cx="5867400" cy="491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6" name="Text Box 4"/>
          <p:cNvSpPr txBox="1">
            <a:spLocks noChangeArrowheads="1"/>
          </p:cNvSpPr>
          <p:nvPr/>
        </p:nvSpPr>
        <p:spPr bwMode="auto">
          <a:xfrm>
            <a:off x="6934200" y="4495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3-26.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p:cNvSpPr>
          <p:nvPr>
            <p:ph type="title" idx="4294967295"/>
          </p:nvPr>
        </p:nvSpPr>
        <p:spPr>
          <a:xfrm>
            <a:off x="1524000" y="0"/>
            <a:ext cx="7620000" cy="6096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18435" name="Rectangle 3"/>
          <p:cNvSpPr>
            <a:spLocks noGrp="1"/>
          </p:cNvSpPr>
          <p:nvPr>
            <p:ph type="body" idx="4294967295"/>
          </p:nvPr>
        </p:nvSpPr>
        <p:spPr>
          <a:xfrm>
            <a:off x="0" y="990600"/>
            <a:ext cx="9144000" cy="5867400"/>
          </a:xfrm>
        </p:spPr>
        <p:txBody>
          <a:bodyPr/>
          <a:lstStyle/>
          <a:p>
            <a:pPr algn="just" eaLnBrk="1" hangingPunct="1">
              <a:lnSpc>
                <a:spcPct val="90000"/>
              </a:lnSpc>
            </a:pPr>
            <a:r>
              <a:rPr lang="en-US" altLang="en-US" sz="2800" b="1">
                <a:latin typeface="Times New Roman" panose="02020603050405020304" pitchFamily="18" charset="0"/>
                <a:cs typeface="Times New Roman" panose="02020603050405020304" pitchFamily="18" charset="0"/>
              </a:rPr>
              <a:t>Sharing data </a:t>
            </a:r>
            <a:r>
              <a:rPr lang="en-US" altLang="en-US" sz="2800">
                <a:latin typeface="Times New Roman" panose="02020603050405020304" pitchFamily="18" charset="0"/>
                <a:cs typeface="Times New Roman" panose="02020603050405020304" pitchFamily="18" charset="0"/>
              </a:rPr>
              <a:t>(modifiable pages)</a:t>
            </a:r>
          </a:p>
          <a:p>
            <a:pPr lvl="1" algn="just" eaLnBrk="1" hangingPunct="1">
              <a:lnSpc>
                <a:spcPct val="90000"/>
              </a:lnSpc>
            </a:pPr>
            <a:r>
              <a:rPr lang="en-US" altLang="en-US" sz="2400" b="1">
                <a:latin typeface="Times New Roman" panose="02020603050405020304" pitchFamily="18" charset="0"/>
                <a:cs typeface="Times New Roman" panose="02020603050405020304" pitchFamily="18" charset="0"/>
              </a:rPr>
              <a:t>Context</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The </a:t>
            </a:r>
            <a:r>
              <a:rPr lang="en-US" altLang="en-US" sz="2000" b="1">
                <a:latin typeface="Times New Roman" panose="02020603050405020304" pitchFamily="18" charset="0"/>
                <a:cs typeface="Times New Roman" panose="02020603050405020304" pitchFamily="18" charset="0"/>
              </a:rPr>
              <a:t>parent</a:t>
            </a:r>
            <a:r>
              <a:rPr lang="en-US" altLang="en-US" sz="2000">
                <a:latin typeface="Times New Roman" panose="02020603050405020304" pitchFamily="18" charset="0"/>
                <a:cs typeface="Times New Roman" panose="02020603050405020304" pitchFamily="18" charset="0"/>
              </a:rPr>
              <a:t> and </a:t>
            </a:r>
            <a:r>
              <a:rPr lang="en-US" altLang="en-US" sz="2000" b="1">
                <a:latin typeface="Times New Roman" panose="02020603050405020304" pitchFamily="18" charset="0"/>
                <a:cs typeface="Times New Roman" panose="02020603050405020304" pitchFamily="18" charset="0"/>
              </a:rPr>
              <a:t>child</a:t>
            </a:r>
            <a:r>
              <a:rPr lang="en-US" altLang="en-US" sz="2000">
                <a:latin typeface="Times New Roman" panose="02020603050405020304" pitchFamily="18" charset="0"/>
                <a:cs typeface="Times New Roman" panose="02020603050405020304" pitchFamily="18" charset="0"/>
              </a:rPr>
              <a:t> processes to </a:t>
            </a:r>
            <a:r>
              <a:rPr lang="en-US" altLang="en-US" sz="2000" b="1">
                <a:latin typeface="Times New Roman" panose="02020603050405020304" pitchFamily="18" charset="0"/>
                <a:cs typeface="Times New Roman" panose="02020603050405020304" pitchFamily="18" charset="0"/>
              </a:rPr>
              <a:t>initially share the same pages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Data</a:t>
            </a:r>
            <a:r>
              <a:rPr lang="en-US" altLang="en-US" sz="2000">
                <a:latin typeface="Times New Roman" panose="02020603050405020304" pitchFamily="18" charset="0"/>
                <a:cs typeface="Times New Roman" panose="02020603050405020304" pitchFamily="18" charset="0"/>
              </a:rPr>
              <a:t> can be </a:t>
            </a:r>
            <a:r>
              <a:rPr lang="en-US" altLang="en-US" sz="2000" b="1">
                <a:latin typeface="Times New Roman" panose="02020603050405020304" pitchFamily="18" charset="0"/>
                <a:cs typeface="Times New Roman" panose="02020603050405020304" pitchFamily="18" charset="0"/>
              </a:rPr>
              <a:t>shared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and</a:t>
            </a:r>
            <a:r>
              <a:rPr lang="en-US" altLang="en-US" sz="2000">
                <a:latin typeface="Times New Roman" panose="02020603050405020304" pitchFamily="18" charset="0"/>
                <a:cs typeface="Times New Roman" panose="02020603050405020304" pitchFamily="18" charset="0"/>
              </a:rPr>
              <a:t> can be </a:t>
            </a:r>
            <a:r>
              <a:rPr lang="en-US" altLang="en-US" sz="2000" b="1">
                <a:latin typeface="Times New Roman" panose="02020603050405020304" pitchFamily="18" charset="0"/>
                <a:cs typeface="Times New Roman" panose="02020603050405020304" pitchFamily="18" charset="0"/>
              </a:rPr>
              <a:t>modified</a:t>
            </a:r>
            <a:r>
              <a:rPr lang="en-US" altLang="en-US" sz="2000">
                <a:latin typeface="Times New Roman" panose="02020603050405020304" pitchFamily="18" charset="0"/>
                <a:cs typeface="Times New Roman" panose="02020603050405020304" pitchFamily="18" charset="0"/>
              </a:rPr>
              <a:t> concurrently by many processes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Ex</a:t>
            </a:r>
            <a:r>
              <a:rPr lang="en-US" altLang="en-US" sz="2000">
                <a:latin typeface="Times New Roman" panose="02020603050405020304" pitchFamily="18" charset="0"/>
                <a:cs typeface="Times New Roman" panose="02020603050405020304" pitchFamily="18" charset="0"/>
              </a:rPr>
              <a:t>:</a:t>
            </a:r>
          </a:p>
          <a:p>
            <a:pPr lvl="3" algn="just" eaLnBrk="1" hangingPunct="1">
              <a:lnSpc>
                <a:spcPct val="90000"/>
              </a:lnSpc>
            </a:pPr>
            <a:r>
              <a:rPr lang="en-US" altLang="en-US" sz="1800">
                <a:latin typeface="Times New Roman" panose="02020603050405020304" pitchFamily="18" charset="0"/>
                <a:cs typeface="Times New Roman" panose="02020603050405020304" pitchFamily="18" charset="0"/>
              </a:rPr>
              <a:t>The child process attempt to modified a page containing portion of stack</a:t>
            </a:r>
          </a:p>
          <a:p>
            <a:pPr lvl="3" algn="just" eaLnBrk="1" hangingPunct="1">
              <a:lnSpc>
                <a:spcPct val="90000"/>
              </a:lnSpc>
            </a:pPr>
            <a:r>
              <a:rPr lang="en-US" altLang="en-US" sz="1800">
                <a:latin typeface="Times New Roman" panose="02020603050405020304" pitchFamily="18" charset="0"/>
                <a:cs typeface="Times New Roman" panose="02020603050405020304" pitchFamily="18" charset="0"/>
              </a:rPr>
              <a:t>The OS recognizes that the page may be shared and can be modified (by both processes), the OS will create a copy of this page and map it to the address space of the child process</a:t>
            </a:r>
          </a:p>
          <a:p>
            <a:pPr lvl="3" algn="just" eaLnBrk="1" hangingPunct="1">
              <a:lnSpc>
                <a:spcPct val="90000"/>
              </a:lnSpc>
            </a:pPr>
            <a:r>
              <a:rPr lang="en-US" altLang="en-US" sz="1800">
                <a:latin typeface="Times New Roman" panose="02020603050405020304" pitchFamily="18" charset="0"/>
                <a:cs typeface="Times New Roman" panose="02020603050405020304" pitchFamily="18" charset="0"/>
              </a:rPr>
              <a:t>The process will modify its copied page and not the page belonging to the parent process</a:t>
            </a:r>
          </a:p>
          <a:p>
            <a:pPr lvl="1" algn="just" eaLnBrk="1" hangingPunct="1">
              <a:lnSpc>
                <a:spcPct val="90000"/>
              </a:lnSpc>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→Above example is </a:t>
            </a:r>
            <a:r>
              <a:rPr lang="en-US" altLang="en-US" sz="2400" b="1">
                <a:latin typeface="Times New Roman" panose="02020603050405020304" pitchFamily="18" charset="0"/>
                <a:cs typeface="Times New Roman" panose="02020603050405020304" pitchFamily="18" charset="0"/>
              </a:rPr>
              <a:t>the copy-on-write strategy solution</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If either process writes to a shared page (that can be modified), a </a:t>
            </a:r>
            <a:r>
              <a:rPr lang="en-US" altLang="en-US" sz="2000" b="1">
                <a:latin typeface="Times New Roman" panose="02020603050405020304" pitchFamily="18" charset="0"/>
                <a:cs typeface="Times New Roman" panose="02020603050405020304" pitchFamily="18" charset="0"/>
              </a:rPr>
              <a:t>copy of shared page is created</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Only</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pages</a:t>
            </a:r>
            <a:r>
              <a:rPr lang="en-US" altLang="en-US" sz="2000">
                <a:latin typeface="Times New Roman" panose="02020603050405020304" pitchFamily="18" charset="0"/>
                <a:cs typeface="Times New Roman" panose="02020603050405020304" pitchFamily="18" charset="0"/>
              </a:rPr>
              <a:t> that are </a:t>
            </a:r>
            <a:r>
              <a:rPr lang="en-US" altLang="en-US" sz="2000" b="1">
                <a:latin typeface="Times New Roman" panose="02020603050405020304" pitchFamily="18" charset="0"/>
                <a:cs typeface="Times New Roman" panose="02020603050405020304" pitchFamily="18" charset="0"/>
              </a:rPr>
              <a:t>modified</a:t>
            </a:r>
            <a:r>
              <a:rPr lang="en-US" altLang="en-US" sz="2000">
                <a:latin typeface="Times New Roman" panose="02020603050405020304" pitchFamily="18" charset="0"/>
                <a:cs typeface="Times New Roman" panose="02020603050405020304" pitchFamily="18" charset="0"/>
              </a:rPr>
              <a:t> by </a:t>
            </a:r>
            <a:r>
              <a:rPr lang="en-US" altLang="en-US" sz="2000" b="1">
                <a:latin typeface="Times New Roman" panose="02020603050405020304" pitchFamily="18" charset="0"/>
                <a:cs typeface="Times New Roman" panose="02020603050405020304" pitchFamily="18" charset="0"/>
              </a:rPr>
              <a:t>either process are copied</a:t>
            </a:r>
            <a:r>
              <a:rPr lang="en-US" altLang="en-US" sz="2000">
                <a:latin typeface="Times New Roman" panose="02020603050405020304" pitchFamily="18" charset="0"/>
                <a:cs typeface="Times New Roman" panose="02020603050405020304" pitchFamily="18" charset="0"/>
              </a:rPr>
              <a:t>; all non-modified pages may be shared by the parent and the child processes</a:t>
            </a:r>
          </a:p>
          <a:p>
            <a:pPr lvl="2" algn="just" eaLnBrk="1" hangingPunct="1">
              <a:lnSpc>
                <a:spcPct val="90000"/>
              </a:lnSpc>
            </a:pPr>
            <a:r>
              <a:rPr lang="en-US" altLang="en-US" sz="2000">
                <a:latin typeface="Times New Roman" panose="02020603050405020304" pitchFamily="18" charset="0"/>
                <a:cs typeface="Times New Roman" panose="02020603050405020304" pitchFamily="18" charset="0"/>
              </a:rPr>
              <a:t>This solution is applied to the OS using the duplicating process strategies</a:t>
            </a:r>
          </a:p>
          <a:p>
            <a:pPr lvl="2" algn="just" eaLnBrk="1" hangingPunct="1">
              <a:lnSpc>
                <a:spcPct val="90000"/>
              </a:lnSpc>
            </a:pPr>
            <a:r>
              <a:rPr lang="en-US" altLang="en-US" sz="2000" b="1">
                <a:latin typeface="Times New Roman" panose="02020603050405020304" pitchFamily="18" charset="0"/>
                <a:cs typeface="Times New Roman" panose="02020603050405020304" pitchFamily="18" charset="0"/>
              </a:rPr>
              <a:t>Ex</a:t>
            </a:r>
            <a:r>
              <a:rPr lang="en-US" altLang="en-US" sz="2000">
                <a:latin typeface="Times New Roman" panose="02020603050405020304" pitchFamily="18" charset="0"/>
                <a:cs typeface="Times New Roman" panose="02020603050405020304" pitchFamily="18" charset="0"/>
              </a:rPr>
              <a:t>: Windows 2000, Linux, Solaris 2</a:t>
            </a:r>
          </a:p>
        </p:txBody>
      </p:sp>
      <p:sp>
        <p:nvSpPr>
          <p:cNvPr id="20484" name="Rectangle 4"/>
          <p:cNvSpPr>
            <a:spLocks/>
          </p:cNvSpPr>
          <p:nvPr/>
        </p:nvSpPr>
        <p:spPr bwMode="auto">
          <a:xfrm>
            <a:off x="9144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Shared Pages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435">
                                            <p:txEl>
                                              <p:pRg st="8" end="8"/>
                                            </p:txEl>
                                          </p:spTgt>
                                        </p:tgtEl>
                                        <p:attrNameLst>
                                          <p:attrName>style.visibility</p:attrName>
                                        </p:attrNameLst>
                                      </p:cBhvr>
                                      <p:to>
                                        <p:strVal val="visible"/>
                                      </p:to>
                                    </p:set>
                                    <p:animEffect transition="in" filter="box(in)">
                                      <p:cBhvr>
                                        <p:cTn id="7" dur="500"/>
                                        <p:tgtEl>
                                          <p:spTgt spid="18435">
                                            <p:txEl>
                                              <p:pRg st="8" end="8"/>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18435">
                                            <p:txEl>
                                              <p:pRg st="9" end="9"/>
                                            </p:txEl>
                                          </p:spTgt>
                                        </p:tgtEl>
                                        <p:attrNameLst>
                                          <p:attrName>style.visibility</p:attrName>
                                        </p:attrNameLst>
                                      </p:cBhvr>
                                      <p:to>
                                        <p:strVal val="visible"/>
                                      </p:to>
                                    </p:set>
                                    <p:animEffect transition="in" filter="box(in)">
                                      <p:cBhvr>
                                        <p:cTn id="10" dur="500"/>
                                        <p:tgtEl>
                                          <p:spTgt spid="18435">
                                            <p:txEl>
                                              <p:pRg st="9" end="9"/>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18435">
                                            <p:txEl>
                                              <p:pRg st="10" end="10"/>
                                            </p:txEl>
                                          </p:spTgt>
                                        </p:tgtEl>
                                        <p:attrNameLst>
                                          <p:attrName>style.visibility</p:attrName>
                                        </p:attrNameLst>
                                      </p:cBhvr>
                                      <p:to>
                                        <p:strVal val="visible"/>
                                      </p:to>
                                    </p:set>
                                    <p:animEffect transition="in" filter="box(in)">
                                      <p:cBhvr>
                                        <p:cTn id="13" dur="500"/>
                                        <p:tgtEl>
                                          <p:spTgt spid="18435">
                                            <p:txEl>
                                              <p:pRg st="10" end="10"/>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18435">
                                            <p:txEl>
                                              <p:pRg st="11" end="11"/>
                                            </p:txEl>
                                          </p:spTgt>
                                        </p:tgtEl>
                                        <p:attrNameLst>
                                          <p:attrName>style.visibility</p:attrName>
                                        </p:attrNameLst>
                                      </p:cBhvr>
                                      <p:to>
                                        <p:strVal val="visible"/>
                                      </p:to>
                                    </p:set>
                                    <p:animEffect transition="in" filter="box(in)">
                                      <p:cBhvr>
                                        <p:cTn id="16" dur="500"/>
                                        <p:tgtEl>
                                          <p:spTgt spid="18435">
                                            <p:txEl>
                                              <p:pRg st="11" end="11"/>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18435">
                                            <p:txEl>
                                              <p:pRg st="12" end="12"/>
                                            </p:txEl>
                                          </p:spTgt>
                                        </p:tgtEl>
                                        <p:attrNameLst>
                                          <p:attrName>style.visibility</p:attrName>
                                        </p:attrNameLst>
                                      </p:cBhvr>
                                      <p:to>
                                        <p:strVal val="visible"/>
                                      </p:to>
                                    </p:set>
                                    <p:animEffect transition="in" filter="box(in)">
                                      <p:cBhvr>
                                        <p:cTn id="19" dur="500"/>
                                        <p:tgtEl>
                                          <p:spTgt spid="1843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p:cNvSpPr>
          <p:nvPr>
            <p:ph type="title"/>
          </p:nvPr>
        </p:nvSpPr>
        <p:spPr>
          <a:xfrm>
            <a:off x="1600200" y="0"/>
            <a:ext cx="7543800" cy="6096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21187" name="Rectangle 3"/>
          <p:cNvSpPr>
            <a:spLocks noGrp="1"/>
          </p:cNvSpPr>
          <p:nvPr>
            <p:ph type="body" idx="1"/>
          </p:nvPr>
        </p:nvSpPr>
        <p:spPr>
          <a:xfrm>
            <a:off x="0" y="609600"/>
            <a:ext cx="9144000" cy="6400800"/>
          </a:xfrm>
        </p:spPr>
        <p:txBody>
          <a:bodyPr/>
          <a:lstStyle/>
          <a:p>
            <a:pPr algn="just" eaLnBrk="1" hangingPunct="1">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Problems</a:t>
            </a: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In modern system, there are </a:t>
            </a:r>
            <a:r>
              <a:rPr lang="en-US" altLang="en-US" sz="2400" b="1" dirty="0">
                <a:latin typeface="Times New Roman" panose="02020603050405020304" pitchFamily="18" charset="0"/>
                <a:cs typeface="Times New Roman" panose="02020603050405020304" pitchFamily="18" charset="0"/>
              </a:rPr>
              <a:t>many libraries used </a:t>
            </a:r>
            <a:r>
              <a:rPr lang="en-US" altLang="en-US" sz="2400" dirty="0">
                <a:latin typeface="Times New Roman" panose="02020603050405020304" pitchFamily="18" charset="0"/>
                <a:cs typeface="Times New Roman" panose="02020603050405020304" pitchFamily="18" charset="0"/>
              </a:rPr>
              <a:t>by many process</a:t>
            </a:r>
          </a:p>
          <a:p>
            <a:pPr lvl="1" algn="just" eaLnBrk="1" hangingPunct="1">
              <a:lnSpc>
                <a:spcPct val="80000"/>
              </a:lnSpc>
            </a:pPr>
            <a:r>
              <a:rPr lang="en-US" altLang="en-US" sz="2400" b="1" dirty="0">
                <a:latin typeface="Times New Roman" panose="02020603050405020304" pitchFamily="18" charset="0"/>
                <a:cs typeface="Times New Roman" panose="02020603050405020304" pitchFamily="18" charset="0"/>
              </a:rPr>
              <a:t>Statically</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binding</a:t>
            </a:r>
            <a:r>
              <a:rPr lang="en-US" altLang="en-US" sz="2400" dirty="0">
                <a:latin typeface="Times New Roman" panose="02020603050405020304" pitchFamily="18" charset="0"/>
                <a:cs typeface="Times New Roman" panose="02020603050405020304" pitchFamily="18" charset="0"/>
              </a:rPr>
              <a:t> all these </a:t>
            </a:r>
            <a:r>
              <a:rPr lang="en-US" altLang="en-US" sz="2400" b="1" dirty="0">
                <a:latin typeface="Times New Roman" panose="02020603050405020304" pitchFamily="18" charset="0"/>
                <a:cs typeface="Times New Roman" panose="02020603050405020304" pitchFamily="18" charset="0"/>
              </a:rPr>
              <a:t>libraries</a:t>
            </a:r>
            <a:r>
              <a:rPr lang="en-US" altLang="en-US" sz="2400" dirty="0">
                <a:latin typeface="Times New Roman" panose="02020603050405020304" pitchFamily="18" charset="0"/>
                <a:cs typeface="Times New Roman" panose="02020603050405020304" pitchFamily="18" charset="0"/>
              </a:rPr>
              <a:t> to every executable program on the disk would </a:t>
            </a:r>
            <a:r>
              <a:rPr lang="en-US" altLang="en-US" sz="2400" b="1" dirty="0">
                <a:latin typeface="Times New Roman" panose="02020603050405020304" pitchFamily="18" charset="0"/>
                <a:cs typeface="Times New Roman" panose="02020603050405020304" pitchFamily="18" charset="0"/>
              </a:rPr>
              <a:t>make them even more bloated</a:t>
            </a:r>
          </a:p>
          <a:p>
            <a:pPr algn="just" eaLnBrk="1" hangingPunct="1">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Solutions</a:t>
            </a:r>
            <a:r>
              <a:rPr lang="en-US" altLang="en-US" sz="2800" dirty="0">
                <a:latin typeface="Times New Roman" panose="02020603050405020304" pitchFamily="18" charset="0"/>
                <a:cs typeface="Times New Roman" panose="02020603050405020304" pitchFamily="18" charset="0"/>
              </a:rPr>
              <a:t>: using </a:t>
            </a:r>
            <a:r>
              <a:rPr lang="en-US" altLang="en-US" sz="2800" b="1" dirty="0">
                <a:latin typeface="Times New Roman" panose="02020603050405020304" pitchFamily="18" charset="0"/>
                <a:cs typeface="Times New Roman" panose="02020603050405020304" pitchFamily="18" charset="0"/>
              </a:rPr>
              <a:t>Share libraries </a:t>
            </a:r>
            <a:endParaRPr lang="en-US" altLang="en-US" sz="2800" dirty="0">
              <a:latin typeface="Times New Roman" panose="02020603050405020304" pitchFamily="18" charset="0"/>
              <a:cs typeface="Times New Roman" panose="02020603050405020304" pitchFamily="18" charset="0"/>
            </a:endParaRP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Ex: DLL – Dynamic Link Libraries</a:t>
            </a: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program</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linked</a:t>
            </a:r>
            <a:r>
              <a:rPr lang="en-US" altLang="en-US" sz="2400" dirty="0">
                <a:latin typeface="Times New Roman" panose="02020603050405020304" pitchFamily="18" charset="0"/>
                <a:cs typeface="Times New Roman" panose="02020603050405020304" pitchFamily="18" charset="0"/>
              </a:rPr>
              <a:t> with a </a:t>
            </a:r>
            <a:r>
              <a:rPr lang="en-US" altLang="en-US" sz="2400" b="1" dirty="0">
                <a:latin typeface="Times New Roman" panose="02020603050405020304" pitchFamily="18" charset="0"/>
                <a:cs typeface="Times New Roman" panose="02020603050405020304" pitchFamily="18" charset="0"/>
              </a:rPr>
              <a:t>share libraries</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instead</a:t>
            </a:r>
            <a:r>
              <a:rPr lang="en-US" altLang="en-US" sz="2400" dirty="0">
                <a:latin typeface="Times New Roman" panose="02020603050405020304" pitchFamily="18" charset="0"/>
                <a:cs typeface="Times New Roman" panose="02020603050405020304" pitchFamily="18" charset="0"/>
              </a:rPr>
              <a:t> of </a:t>
            </a:r>
            <a:r>
              <a:rPr lang="en-US" altLang="en-US" sz="2400" b="1" dirty="0">
                <a:latin typeface="Times New Roman" panose="02020603050405020304" pitchFamily="18" charset="0"/>
                <a:cs typeface="Times New Roman" panose="02020603050405020304" pitchFamily="18" charset="0"/>
              </a:rPr>
              <a:t>including</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actual function called</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linker</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includes</a:t>
            </a:r>
            <a:r>
              <a:rPr lang="en-US" altLang="en-US" sz="2400" dirty="0">
                <a:latin typeface="Times New Roman" panose="02020603050405020304" pitchFamily="18" charset="0"/>
                <a:cs typeface="Times New Roman" panose="02020603050405020304" pitchFamily="18" charset="0"/>
              </a:rPr>
              <a:t> a </a:t>
            </a:r>
            <a:r>
              <a:rPr lang="en-US" altLang="en-US" sz="2400" b="1" dirty="0">
                <a:latin typeface="Times New Roman" panose="02020603050405020304" pitchFamily="18" charset="0"/>
                <a:cs typeface="Times New Roman" panose="02020603050405020304" pitchFamily="18" charset="0"/>
              </a:rPr>
              <a:t>small stub routine </a:t>
            </a:r>
            <a:r>
              <a:rPr lang="en-US" altLang="en-US" sz="2400" dirty="0">
                <a:latin typeface="Times New Roman" panose="02020603050405020304" pitchFamily="18" charset="0"/>
                <a:cs typeface="Times New Roman" panose="02020603050405020304" pitchFamily="18" charset="0"/>
              </a:rPr>
              <a:t>that binds to the called function at the run time</a:t>
            </a:r>
          </a:p>
          <a:p>
            <a:pPr lvl="1" algn="just" eaLnBrk="1" hangingPunct="1">
              <a:lnSpc>
                <a:spcPct val="80000"/>
              </a:lnSpc>
            </a:pPr>
            <a:r>
              <a:rPr lang="en-US" altLang="en-US" sz="2400" b="1" dirty="0">
                <a:latin typeface="Times New Roman" panose="02020603050405020304" pitchFamily="18" charset="0"/>
                <a:cs typeface="Times New Roman" panose="02020603050405020304" pitchFamily="18" charset="0"/>
              </a:rPr>
              <a:t>Shared libraries </a:t>
            </a:r>
            <a:r>
              <a:rPr lang="en-US" altLang="en-US" sz="2400" dirty="0">
                <a:latin typeface="Times New Roman" panose="02020603050405020304" pitchFamily="18" charset="0"/>
                <a:cs typeface="Times New Roman" panose="02020603050405020304" pitchFamily="18" charset="0"/>
              </a:rPr>
              <a:t>is only </a:t>
            </a:r>
            <a:r>
              <a:rPr lang="en-US" altLang="en-US" sz="2400" b="1" dirty="0">
                <a:latin typeface="Times New Roman" panose="02020603050405020304" pitchFamily="18" charset="0"/>
                <a:cs typeface="Times New Roman" panose="02020603050405020304" pitchFamily="18" charset="0"/>
              </a:rPr>
              <a:t>loaded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either</a:t>
            </a:r>
            <a:r>
              <a:rPr lang="en-US" altLang="en-US" sz="2400" dirty="0">
                <a:latin typeface="Times New Roman" panose="02020603050405020304" pitchFamily="18" charset="0"/>
                <a:cs typeface="Times New Roman" panose="02020603050405020304" pitchFamily="18" charset="0"/>
              </a:rPr>
              <a:t> when the </a:t>
            </a:r>
            <a:r>
              <a:rPr lang="en-US" altLang="en-US" sz="2400" b="1" dirty="0">
                <a:latin typeface="Times New Roman" panose="02020603050405020304" pitchFamily="18" charset="0"/>
                <a:cs typeface="Times New Roman" panose="02020603050405020304" pitchFamily="18" charset="0"/>
              </a:rPr>
              <a:t>program</a:t>
            </a:r>
            <a:r>
              <a:rPr lang="en-US" altLang="en-US" sz="2400" dirty="0">
                <a:latin typeface="Times New Roman" panose="02020603050405020304" pitchFamily="18" charset="0"/>
                <a:cs typeface="Times New Roman" panose="02020603050405020304" pitchFamily="18" charset="0"/>
              </a:rPr>
              <a:t> is </a:t>
            </a:r>
            <a:r>
              <a:rPr lang="en-US" altLang="en-US" sz="2400" b="1" dirty="0">
                <a:latin typeface="Times New Roman" panose="02020603050405020304" pitchFamily="18" charset="0"/>
                <a:cs typeface="Times New Roman" panose="02020603050405020304" pitchFamily="18" charset="0"/>
              </a:rPr>
              <a:t>loaded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or</a:t>
            </a:r>
            <a:r>
              <a:rPr lang="en-US" altLang="en-US" sz="2400" dirty="0">
                <a:latin typeface="Times New Roman" panose="02020603050405020304" pitchFamily="18" charset="0"/>
                <a:cs typeface="Times New Roman" panose="02020603050405020304" pitchFamily="18" charset="0"/>
              </a:rPr>
              <a:t> when </a:t>
            </a:r>
            <a:r>
              <a:rPr lang="en-US" altLang="en-US" sz="2400" b="1" dirty="0">
                <a:latin typeface="Times New Roman" panose="02020603050405020304" pitchFamily="18" charset="0"/>
                <a:cs typeface="Times New Roman" panose="02020603050405020304" pitchFamily="18" charset="0"/>
              </a:rPr>
              <a:t>functions</a:t>
            </a:r>
            <a:r>
              <a:rPr lang="en-US" altLang="en-US" sz="2400" dirty="0">
                <a:latin typeface="Times New Roman" panose="02020603050405020304" pitchFamily="18" charset="0"/>
                <a:cs typeface="Times New Roman" panose="02020603050405020304" pitchFamily="18" charset="0"/>
              </a:rPr>
              <a:t> in them are </a:t>
            </a:r>
            <a:r>
              <a:rPr lang="en-US" altLang="en-US" sz="2400" b="1" dirty="0">
                <a:latin typeface="Times New Roman" panose="02020603050405020304" pitchFamily="18" charset="0"/>
                <a:cs typeface="Times New Roman" panose="02020603050405020304" pitchFamily="18" charset="0"/>
              </a:rPr>
              <a:t>called</a:t>
            </a:r>
            <a:r>
              <a:rPr lang="en-US" altLang="en-US" sz="2400" dirty="0">
                <a:latin typeface="Times New Roman" panose="02020603050405020304" pitchFamily="18" charset="0"/>
                <a:cs typeface="Times New Roman" panose="02020603050405020304" pitchFamily="18" charset="0"/>
              </a:rPr>
              <a:t> for the </a:t>
            </a:r>
            <a:r>
              <a:rPr lang="en-US" altLang="en-US" sz="2400" b="1" dirty="0">
                <a:latin typeface="Times New Roman" panose="02020603050405020304" pitchFamily="18" charset="0"/>
                <a:cs typeface="Times New Roman" panose="02020603050405020304" pitchFamily="18" charset="0"/>
              </a:rPr>
              <a:t>first time</a:t>
            </a:r>
          </a:p>
          <a:p>
            <a:pPr lvl="1" algn="just" eaLnBrk="1" hangingPunct="1">
              <a:lnSpc>
                <a:spcPct val="80000"/>
              </a:lnSpc>
            </a:pPr>
            <a:r>
              <a:rPr lang="en-US" altLang="en-US" sz="2400" dirty="0">
                <a:latin typeface="Times New Roman" panose="02020603050405020304" pitchFamily="18" charset="0"/>
                <a:cs typeface="Times New Roman" panose="02020603050405020304" pitchFamily="18" charset="0"/>
              </a:rPr>
              <a:t>The </a:t>
            </a:r>
            <a:r>
              <a:rPr lang="en-US" altLang="en-US" sz="2400" b="1" dirty="0">
                <a:latin typeface="Times New Roman" panose="02020603050405020304" pitchFamily="18" charset="0"/>
                <a:cs typeface="Times New Roman" panose="02020603050405020304" pitchFamily="18" charset="0"/>
              </a:rPr>
              <a:t>entire libraries </a:t>
            </a:r>
            <a:r>
              <a:rPr lang="en-US" altLang="en-US" sz="2400" dirty="0">
                <a:latin typeface="Times New Roman" panose="02020603050405020304" pitchFamily="18" charset="0"/>
                <a:cs typeface="Times New Roman" panose="02020603050405020304" pitchFamily="18" charset="0"/>
              </a:rPr>
              <a:t>is </a:t>
            </a:r>
            <a:r>
              <a:rPr lang="en-US" altLang="en-US" sz="2400" b="1" dirty="0">
                <a:latin typeface="Times New Roman" panose="02020603050405020304" pitchFamily="18" charset="0"/>
                <a:cs typeface="Times New Roman" panose="02020603050405020304" pitchFamily="18" charset="0"/>
              </a:rPr>
              <a:t>not read into memory</a:t>
            </a:r>
            <a:r>
              <a:rPr lang="en-US" altLang="en-US" sz="2400" dirty="0">
                <a:latin typeface="Times New Roman" panose="02020603050405020304" pitchFamily="18" charset="0"/>
                <a:cs typeface="Times New Roman" panose="02020603050405020304" pitchFamily="18" charset="0"/>
              </a:rPr>
              <a:t>, it is </a:t>
            </a:r>
            <a:r>
              <a:rPr lang="en-US" altLang="en-US" sz="2400" b="1" dirty="0">
                <a:latin typeface="Times New Roman" panose="02020603050405020304" pitchFamily="18" charset="0"/>
                <a:cs typeface="Times New Roman" panose="02020603050405020304" pitchFamily="18" charset="0"/>
              </a:rPr>
              <a:t>paged in</a:t>
            </a:r>
            <a:r>
              <a:rPr lang="en-US" altLang="en-US" sz="2400" dirty="0">
                <a:latin typeface="Times New Roman" panose="02020603050405020304" pitchFamily="18" charset="0"/>
                <a:cs typeface="Times New Roman" panose="02020603050405020304" pitchFamily="18" charset="0"/>
              </a:rPr>
              <a:t>, pa</a:t>
            </a:r>
            <a:r>
              <a:rPr lang="en-US" altLang="en-US" sz="2400" b="1" dirty="0">
                <a:latin typeface="Times New Roman" panose="02020603050405020304" pitchFamily="18" charset="0"/>
                <a:cs typeface="Times New Roman" panose="02020603050405020304" pitchFamily="18" charset="0"/>
              </a:rPr>
              <a:t>ge by page, as needed</a:t>
            </a:r>
            <a:r>
              <a:rPr lang="en-US" altLang="en-US" sz="2400" dirty="0">
                <a:latin typeface="Times New Roman" panose="02020603050405020304" pitchFamily="18" charset="0"/>
                <a:cs typeface="Times New Roman" panose="02020603050405020304" pitchFamily="18" charset="0"/>
              </a:rPr>
              <a:t>, so functions that are not called will not be brought into RAM</a:t>
            </a:r>
          </a:p>
          <a:p>
            <a:pPr lvl="1" algn="just" eaLnBrk="1" hangingPunct="1">
              <a:lnSpc>
                <a:spcPct val="80000"/>
              </a:lnSpc>
            </a:pPr>
            <a:r>
              <a:rPr lang="en-US" altLang="en-US" sz="2400" b="1" dirty="0">
                <a:latin typeface="Times New Roman" panose="02020603050405020304" pitchFamily="18" charset="0"/>
                <a:cs typeface="Times New Roman" panose="02020603050405020304" pitchFamily="18" charset="0"/>
              </a:rPr>
              <a:t>Advantages</a:t>
            </a: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Making </a:t>
            </a:r>
            <a:r>
              <a:rPr lang="en-US" altLang="en-US" sz="2000" b="1" dirty="0">
                <a:latin typeface="Times New Roman" panose="02020603050405020304" pitchFamily="18" charset="0"/>
                <a:cs typeface="Times New Roman" panose="02020603050405020304" pitchFamily="18" charset="0"/>
              </a:rPr>
              <a:t>executable file </a:t>
            </a:r>
            <a:r>
              <a:rPr lang="en-US" altLang="en-US" sz="2000" dirty="0">
                <a:latin typeface="Times New Roman" panose="02020603050405020304" pitchFamily="18" charset="0"/>
                <a:cs typeface="Times New Roman" panose="02020603050405020304" pitchFamily="18" charset="0"/>
              </a:rPr>
              <a:t>is </a:t>
            </a:r>
            <a:r>
              <a:rPr lang="en-US" altLang="en-US" sz="2000" b="1" dirty="0">
                <a:latin typeface="Times New Roman" panose="02020603050405020304" pitchFamily="18" charset="0"/>
                <a:cs typeface="Times New Roman" panose="02020603050405020304" pitchFamily="18" charset="0"/>
              </a:rPr>
              <a:t>smaller</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saving space in memory</a:t>
            </a:r>
          </a:p>
          <a:p>
            <a:pPr lvl="2" algn="just" eaLnBrk="1" hangingPunct="1">
              <a:lnSpc>
                <a:spcPct val="80000"/>
              </a:lnSpc>
            </a:pPr>
            <a:r>
              <a:rPr lang="en-US" altLang="en-US" sz="2000" dirty="0">
                <a:latin typeface="Times New Roman" panose="02020603050405020304" pitchFamily="18" charset="0"/>
                <a:cs typeface="Times New Roman" panose="02020603050405020304" pitchFamily="18" charset="0"/>
              </a:rPr>
              <a:t>If function in a shared library is </a:t>
            </a:r>
            <a:r>
              <a:rPr lang="en-US" altLang="en-US" sz="2000" b="1" dirty="0">
                <a:latin typeface="Times New Roman" panose="02020603050405020304" pitchFamily="18" charset="0"/>
                <a:cs typeface="Times New Roman" panose="02020603050405020304" pitchFamily="18" charset="0"/>
              </a:rPr>
              <a:t>updated</a:t>
            </a:r>
            <a:r>
              <a:rPr lang="en-US" altLang="en-US" sz="2000" dirty="0">
                <a:latin typeface="Times New Roman" panose="02020603050405020304" pitchFamily="18" charset="0"/>
                <a:cs typeface="Times New Roman" panose="02020603050405020304" pitchFamily="18" charset="0"/>
              </a:rPr>
              <a:t> to </a:t>
            </a:r>
            <a:r>
              <a:rPr lang="en-US" altLang="en-US" sz="2000" b="1" dirty="0">
                <a:latin typeface="Times New Roman" panose="02020603050405020304" pitchFamily="18" charset="0"/>
                <a:cs typeface="Times New Roman" panose="02020603050405020304" pitchFamily="18" charset="0"/>
              </a:rPr>
              <a:t>remove a bug</a:t>
            </a:r>
            <a:r>
              <a:rPr lang="en-US" altLang="en-US" sz="2000" dirty="0">
                <a:latin typeface="Times New Roman" panose="02020603050405020304" pitchFamily="18" charset="0"/>
                <a:cs typeface="Times New Roman" panose="02020603050405020304" pitchFamily="18" charset="0"/>
              </a:rPr>
              <a:t>, it </a:t>
            </a:r>
            <a:r>
              <a:rPr lang="en-US" altLang="en-US" sz="2000" b="1" dirty="0">
                <a:latin typeface="Times New Roman" panose="02020603050405020304" pitchFamily="18" charset="0"/>
                <a:cs typeface="Times New Roman" panose="02020603050405020304" pitchFamily="18" charset="0"/>
              </a:rPr>
              <a:t>is not necessary</a:t>
            </a:r>
            <a:r>
              <a:rPr lang="en-US" altLang="en-US" sz="2000" dirty="0">
                <a:latin typeface="Times New Roman" panose="02020603050405020304" pitchFamily="18" charset="0"/>
                <a:cs typeface="Times New Roman" panose="02020603050405020304" pitchFamily="18" charset="0"/>
              </a:rPr>
              <a:t> to </a:t>
            </a:r>
            <a:r>
              <a:rPr lang="en-US" altLang="en-US" sz="2000" b="1" dirty="0">
                <a:latin typeface="Times New Roman" panose="02020603050405020304" pitchFamily="18" charset="0"/>
                <a:cs typeface="Times New Roman" panose="02020603050405020304" pitchFamily="18" charset="0"/>
              </a:rPr>
              <a:t>recompile</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programs</a:t>
            </a:r>
            <a:r>
              <a:rPr lang="en-US" altLang="en-US" sz="2000" dirty="0">
                <a:latin typeface="Times New Roman" panose="02020603050405020304" pitchFamily="18" charset="0"/>
                <a:cs typeface="Times New Roman" panose="02020603050405020304" pitchFamily="18" charset="0"/>
              </a:rPr>
              <a:t> that call it. The old binaries continue to work</a:t>
            </a:r>
          </a:p>
        </p:txBody>
      </p:sp>
      <p:sp>
        <p:nvSpPr>
          <p:cNvPr id="21508" name="Rectangle 4"/>
          <p:cNvSpPr>
            <a:spLocks/>
          </p:cNvSpPr>
          <p:nvPr/>
        </p:nvSpPr>
        <p:spPr bwMode="auto">
          <a:xfrm>
            <a:off x="914400" y="6096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Shared Libraries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1187">
                                            <p:txEl>
                                              <p:pRg st="3" end="3"/>
                                            </p:txEl>
                                          </p:spTgt>
                                        </p:tgtEl>
                                        <p:attrNameLst>
                                          <p:attrName>style.visibility</p:attrName>
                                        </p:attrNameLst>
                                      </p:cBhvr>
                                      <p:to>
                                        <p:strVal val="visible"/>
                                      </p:to>
                                    </p:set>
                                    <p:animEffect transition="in" filter="box(in)">
                                      <p:cBhvr>
                                        <p:cTn id="7" dur="500"/>
                                        <p:tgtEl>
                                          <p:spTgt spid="221187">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21187">
                                            <p:txEl>
                                              <p:pRg st="4" end="4"/>
                                            </p:txEl>
                                          </p:spTgt>
                                        </p:tgtEl>
                                        <p:attrNameLst>
                                          <p:attrName>style.visibility</p:attrName>
                                        </p:attrNameLst>
                                      </p:cBhvr>
                                      <p:to>
                                        <p:strVal val="visible"/>
                                      </p:to>
                                    </p:set>
                                    <p:animEffect transition="in" filter="box(in)">
                                      <p:cBhvr>
                                        <p:cTn id="12" dur="500"/>
                                        <p:tgtEl>
                                          <p:spTgt spid="221187">
                                            <p:txEl>
                                              <p:pRg st="4" end="4"/>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221187">
                                            <p:txEl>
                                              <p:pRg st="5" end="5"/>
                                            </p:txEl>
                                          </p:spTgt>
                                        </p:tgtEl>
                                        <p:attrNameLst>
                                          <p:attrName>style.visibility</p:attrName>
                                        </p:attrNameLst>
                                      </p:cBhvr>
                                      <p:to>
                                        <p:strVal val="visible"/>
                                      </p:to>
                                    </p:set>
                                    <p:animEffect transition="in" filter="box(in)">
                                      <p:cBhvr>
                                        <p:cTn id="15" dur="500"/>
                                        <p:tgtEl>
                                          <p:spTgt spid="221187">
                                            <p:txEl>
                                              <p:pRg st="5" end="5"/>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221187">
                                            <p:txEl>
                                              <p:pRg st="6" end="6"/>
                                            </p:txEl>
                                          </p:spTgt>
                                        </p:tgtEl>
                                        <p:attrNameLst>
                                          <p:attrName>style.visibility</p:attrName>
                                        </p:attrNameLst>
                                      </p:cBhvr>
                                      <p:to>
                                        <p:strVal val="visible"/>
                                      </p:to>
                                    </p:set>
                                    <p:animEffect transition="in" filter="box(in)">
                                      <p:cBhvr>
                                        <p:cTn id="18" dur="500"/>
                                        <p:tgtEl>
                                          <p:spTgt spid="221187">
                                            <p:txEl>
                                              <p:pRg st="6" end="6"/>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21187">
                                            <p:txEl>
                                              <p:pRg st="7" end="7"/>
                                            </p:txEl>
                                          </p:spTgt>
                                        </p:tgtEl>
                                        <p:attrNameLst>
                                          <p:attrName>style.visibility</p:attrName>
                                        </p:attrNameLst>
                                      </p:cBhvr>
                                      <p:to>
                                        <p:strVal val="visible"/>
                                      </p:to>
                                    </p:set>
                                    <p:animEffect transition="in" filter="box(in)">
                                      <p:cBhvr>
                                        <p:cTn id="21" dur="500"/>
                                        <p:tgtEl>
                                          <p:spTgt spid="221187">
                                            <p:txEl>
                                              <p:pRg st="7" end="7"/>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21187">
                                            <p:txEl>
                                              <p:pRg st="8" end="8"/>
                                            </p:txEl>
                                          </p:spTgt>
                                        </p:tgtEl>
                                        <p:attrNameLst>
                                          <p:attrName>style.visibility</p:attrName>
                                        </p:attrNameLst>
                                      </p:cBhvr>
                                      <p:to>
                                        <p:strVal val="visible"/>
                                      </p:to>
                                    </p:set>
                                    <p:animEffect transition="in" filter="box(in)">
                                      <p:cBhvr>
                                        <p:cTn id="24" dur="500"/>
                                        <p:tgtEl>
                                          <p:spTgt spid="221187">
                                            <p:txEl>
                                              <p:pRg st="8" end="8"/>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221187">
                                            <p:txEl>
                                              <p:pRg st="9" end="9"/>
                                            </p:txEl>
                                          </p:spTgt>
                                        </p:tgtEl>
                                        <p:attrNameLst>
                                          <p:attrName>style.visibility</p:attrName>
                                        </p:attrNameLst>
                                      </p:cBhvr>
                                      <p:to>
                                        <p:strVal val="visible"/>
                                      </p:to>
                                    </p:set>
                                    <p:animEffect transition="in" filter="box(in)">
                                      <p:cBhvr>
                                        <p:cTn id="27" dur="500"/>
                                        <p:tgtEl>
                                          <p:spTgt spid="221187">
                                            <p:txEl>
                                              <p:pRg st="9" end="9"/>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221187">
                                            <p:txEl>
                                              <p:pRg st="10" end="10"/>
                                            </p:txEl>
                                          </p:spTgt>
                                        </p:tgtEl>
                                        <p:attrNameLst>
                                          <p:attrName>style.visibility</p:attrName>
                                        </p:attrNameLst>
                                      </p:cBhvr>
                                      <p:to>
                                        <p:strVal val="visible"/>
                                      </p:to>
                                    </p:set>
                                    <p:animEffect transition="in" filter="box(in)">
                                      <p:cBhvr>
                                        <p:cTn id="30" dur="500"/>
                                        <p:tgtEl>
                                          <p:spTgt spid="22118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p:cNvSpPr>
          <p:nvPr>
            <p:ph type="title" idx="4294967295"/>
          </p:nvPr>
        </p:nvSpPr>
        <p:spPr>
          <a:xfrm>
            <a:off x="1600200" y="0"/>
            <a:ext cx="7543800" cy="6096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21187" name="Rectangle 3"/>
          <p:cNvSpPr>
            <a:spLocks noGrp="1"/>
          </p:cNvSpPr>
          <p:nvPr>
            <p:ph type="body" idx="4294967295"/>
          </p:nvPr>
        </p:nvSpPr>
        <p:spPr>
          <a:xfrm>
            <a:off x="0" y="1066800"/>
            <a:ext cx="9144000" cy="6096000"/>
          </a:xfrm>
        </p:spPr>
        <p:txBody>
          <a:bodyPr/>
          <a:lstStyle/>
          <a:p>
            <a:pPr algn="just" eaLnBrk="1" hangingPunct="1">
              <a:lnSpc>
                <a:spcPct val="90000"/>
              </a:lnSpc>
            </a:pPr>
            <a:r>
              <a:rPr lang="en-US" altLang="en-US" sz="2400" b="1">
                <a:latin typeface="Times New Roman" panose="02020603050405020304" pitchFamily="18" charset="0"/>
                <a:cs typeface="Times New Roman" panose="02020603050405020304" pitchFamily="18" charset="0"/>
              </a:rPr>
              <a:t>Problems</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Two processes </a:t>
            </a:r>
            <a:r>
              <a:rPr lang="en-US" altLang="en-US" sz="2000">
                <a:latin typeface="Times New Roman" panose="02020603050405020304" pitchFamily="18" charset="0"/>
                <a:cs typeface="Times New Roman" panose="02020603050405020304" pitchFamily="18" charset="0"/>
              </a:rPr>
              <a:t>uses the </a:t>
            </a:r>
            <a:r>
              <a:rPr lang="en-US" altLang="en-US" sz="2000" b="1">
                <a:latin typeface="Times New Roman" panose="02020603050405020304" pitchFamily="18" charset="0"/>
                <a:cs typeface="Times New Roman" panose="02020603050405020304" pitchFamily="18" charset="0"/>
              </a:rPr>
              <a:t>shared library </a:t>
            </a:r>
            <a:r>
              <a:rPr lang="en-US" altLang="en-US" sz="2000">
                <a:latin typeface="Times New Roman" panose="02020603050405020304" pitchFamily="18" charset="0"/>
                <a:cs typeface="Times New Roman" panose="02020603050405020304" pitchFamily="18" charset="0"/>
              </a:rPr>
              <a:t>at a </a:t>
            </a:r>
            <a:r>
              <a:rPr lang="en-US" altLang="en-US" sz="2000" b="1">
                <a:latin typeface="Times New Roman" panose="02020603050405020304" pitchFamily="18" charset="0"/>
                <a:cs typeface="Times New Roman" panose="02020603050405020304" pitchFamily="18" charset="0"/>
              </a:rPr>
              <a:t>different address </a:t>
            </a:r>
            <a:r>
              <a:rPr lang="en-US" altLang="en-US" sz="2000">
                <a:latin typeface="Times New Roman" panose="02020603050405020304" pitchFamily="18" charset="0"/>
                <a:cs typeface="Times New Roman" panose="02020603050405020304" pitchFamily="18" charset="0"/>
              </a:rPr>
              <a:t>in each process</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Each</a:t>
            </a:r>
            <a:r>
              <a:rPr lang="en-US" altLang="en-US" sz="2000">
                <a:latin typeface="Times New Roman" panose="02020603050405020304" pitchFamily="18" charset="0"/>
                <a:cs typeface="Times New Roman" panose="02020603050405020304" pitchFamily="18" charset="0"/>
              </a:rPr>
              <a:t> process and shared library are </a:t>
            </a:r>
            <a:r>
              <a:rPr lang="en-US" altLang="en-US" sz="2000" b="1">
                <a:latin typeface="Times New Roman" panose="02020603050405020304" pitchFamily="18" charset="0"/>
                <a:cs typeface="Times New Roman" panose="02020603050405020304" pitchFamily="18" charset="0"/>
              </a:rPr>
              <a:t>located at the different addresses</a:t>
            </a:r>
          </a:p>
          <a:p>
            <a:pPr lvl="1" algn="just" eaLnBrk="1" hangingPunct="1">
              <a:lnSpc>
                <a:spcPct val="90000"/>
              </a:lnSpc>
            </a:pPr>
            <a:r>
              <a:rPr lang="en-US" altLang="en-US" sz="2000">
                <a:latin typeface="Times New Roman" panose="02020603050405020304" pitchFamily="18" charset="0"/>
                <a:cs typeface="Times New Roman" panose="02020603050405020304" pitchFamily="18" charset="0"/>
              </a:rPr>
              <a:t>Therefore, </a:t>
            </a:r>
            <a:r>
              <a:rPr lang="en-US" altLang="en-US" sz="2000" b="1">
                <a:latin typeface="Times New Roman" panose="02020603050405020304" pitchFamily="18" charset="0"/>
                <a:cs typeface="Times New Roman" panose="02020603050405020304" pitchFamily="18" charset="0"/>
              </a:rPr>
              <a:t>some functions </a:t>
            </a:r>
            <a:r>
              <a:rPr lang="en-US" altLang="en-US" sz="2000">
                <a:latin typeface="Times New Roman" panose="02020603050405020304" pitchFamily="18" charset="0"/>
                <a:cs typeface="Times New Roman" panose="02020603050405020304" pitchFamily="18" charset="0"/>
              </a:rPr>
              <a:t>may be </a:t>
            </a:r>
            <a:r>
              <a:rPr lang="en-US" altLang="en-US" sz="2000" b="1">
                <a:latin typeface="Times New Roman" panose="02020603050405020304" pitchFamily="18" charset="0"/>
                <a:cs typeface="Times New Roman" panose="02020603050405020304" pitchFamily="18" charset="0"/>
              </a:rPr>
              <a:t>gone</a:t>
            </a:r>
            <a:r>
              <a:rPr lang="en-US" altLang="en-US" sz="2000">
                <a:latin typeface="Times New Roman" panose="02020603050405020304" pitchFamily="18" charset="0"/>
                <a:cs typeface="Times New Roman" panose="02020603050405020304" pitchFamily="18" charset="0"/>
              </a:rPr>
              <a:t> to the </a:t>
            </a:r>
            <a:r>
              <a:rPr lang="en-US" altLang="en-US" sz="2000" b="1">
                <a:latin typeface="Times New Roman" panose="02020603050405020304" pitchFamily="18" charset="0"/>
                <a:cs typeface="Times New Roman" panose="02020603050405020304" pitchFamily="18" charset="0"/>
              </a:rPr>
              <a:t>different absolute addresses </a:t>
            </a:r>
            <a:r>
              <a:rPr lang="en-US" altLang="en-US" sz="2000">
                <a:latin typeface="Times New Roman" panose="02020603050405020304" pitchFamily="18" charset="0"/>
                <a:cs typeface="Times New Roman" panose="02020603050405020304" pitchFamily="18" charset="0"/>
              </a:rPr>
              <a:t>in the shared library</a:t>
            </a:r>
          </a:p>
          <a:p>
            <a:pPr lvl="1" algn="just" eaLnBrk="1" hangingPunct="1">
              <a:lnSpc>
                <a:spcPct val="90000"/>
              </a:lnSpc>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reference address </a:t>
            </a:r>
            <a:r>
              <a:rPr lang="en-US" altLang="en-US" sz="2000">
                <a:latin typeface="Times New Roman" panose="02020603050405020304" pitchFamily="18" charset="0"/>
                <a:cs typeface="Times New Roman" panose="02020603050405020304" pitchFamily="18" charset="0"/>
              </a:rPr>
              <a:t>will </a:t>
            </a:r>
            <a:r>
              <a:rPr lang="en-US" altLang="en-US" sz="2000" b="1">
                <a:latin typeface="Times New Roman" panose="02020603050405020304" pitchFamily="18" charset="0"/>
                <a:cs typeface="Times New Roman" panose="02020603050405020304" pitchFamily="18" charset="0"/>
              </a:rPr>
              <a:t>not be moved in exactly because</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relocation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on the fly will not work </a:t>
            </a:r>
            <a:r>
              <a:rPr lang="en-US" altLang="en-US" sz="2000">
                <a:latin typeface="Times New Roman" panose="02020603050405020304" pitchFamily="18" charset="0"/>
                <a:cs typeface="Times New Roman" panose="02020603050405020304" pitchFamily="18" charset="0"/>
              </a:rPr>
              <a:t>with using the shared libraries</a:t>
            </a:r>
          </a:p>
          <a:p>
            <a:pPr lvl="1" algn="just" eaLnBrk="1" hangingPunct="1">
              <a:lnSpc>
                <a:spcPct val="90000"/>
              </a:lnSpc>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absolute address cannot be applied </a:t>
            </a:r>
            <a:r>
              <a:rPr lang="en-US" altLang="en-US" sz="2000">
                <a:latin typeface="Times New Roman" panose="02020603050405020304" pitchFamily="18" charset="0"/>
                <a:cs typeface="Times New Roman" panose="02020603050405020304" pitchFamily="18" charset="0"/>
              </a:rPr>
              <a:t>with using shared libraries</a:t>
            </a:r>
          </a:p>
          <a:p>
            <a:pPr algn="just" eaLnBrk="1" hangingPunct="1">
              <a:lnSpc>
                <a:spcPct val="90000"/>
              </a:lnSpc>
            </a:pPr>
            <a:r>
              <a:rPr lang="en-US" altLang="en-US" sz="2400" b="1">
                <a:latin typeface="Times New Roman" panose="02020603050405020304" pitchFamily="18" charset="0"/>
                <a:cs typeface="Times New Roman" panose="02020603050405020304" pitchFamily="18" charset="0"/>
              </a:rPr>
              <a:t>Solution</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First Approach</a:t>
            </a:r>
            <a:r>
              <a:rPr lang="en-US" altLang="en-US" sz="2000">
                <a:latin typeface="Times New Roman" panose="02020603050405020304" pitchFamily="18" charset="0"/>
                <a:cs typeface="Times New Roman" panose="02020603050405020304" pitchFamily="18" charset="0"/>
              </a:rPr>
              <a:t>: Using </a:t>
            </a:r>
            <a:r>
              <a:rPr lang="en-US" altLang="en-US" sz="2000" b="1">
                <a:latin typeface="Times New Roman" panose="02020603050405020304" pitchFamily="18" charset="0"/>
                <a:cs typeface="Times New Roman" panose="02020603050405020304" pitchFamily="18" charset="0"/>
              </a:rPr>
              <a:t>copy-on-write</a:t>
            </a:r>
            <a:endParaRPr lang="en-US" altLang="en-US" sz="2000">
              <a:latin typeface="Times New Roman" panose="02020603050405020304" pitchFamily="18" charset="0"/>
              <a:cs typeface="Times New Roman" panose="02020603050405020304" pitchFamily="18" charset="0"/>
            </a:endParaRPr>
          </a:p>
          <a:p>
            <a:pPr lvl="2" algn="just" eaLnBrk="1" hangingPunct="1">
              <a:lnSpc>
                <a:spcPct val="90000"/>
              </a:lnSpc>
            </a:pPr>
            <a:r>
              <a:rPr lang="en-US" altLang="en-US" sz="1800">
                <a:latin typeface="Times New Roman" panose="02020603050405020304" pitchFamily="18" charset="0"/>
                <a:cs typeface="Times New Roman" panose="02020603050405020304" pitchFamily="18" charset="0"/>
              </a:rPr>
              <a:t>This will </a:t>
            </a:r>
            <a:r>
              <a:rPr lang="en-US" altLang="en-US" sz="1800" b="1">
                <a:latin typeface="Times New Roman" panose="02020603050405020304" pitchFamily="18" charset="0"/>
                <a:cs typeface="Times New Roman" panose="02020603050405020304" pitchFamily="18" charset="0"/>
              </a:rPr>
              <a:t>create</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new pages </a:t>
            </a:r>
            <a:r>
              <a:rPr lang="en-US" altLang="en-US" sz="1800">
                <a:latin typeface="Times New Roman" panose="02020603050405020304" pitchFamily="18" charset="0"/>
                <a:cs typeface="Times New Roman" panose="02020603050405020304" pitchFamily="18" charset="0"/>
              </a:rPr>
              <a:t>and </a:t>
            </a:r>
            <a:r>
              <a:rPr lang="en-US" altLang="en-US" sz="1800" b="1">
                <a:latin typeface="Times New Roman" panose="02020603050405020304" pitchFamily="18" charset="0"/>
                <a:cs typeface="Times New Roman" panose="02020603050405020304" pitchFamily="18" charset="0"/>
              </a:rPr>
              <a:t>relocate</a:t>
            </a:r>
            <a:r>
              <a:rPr lang="en-US" altLang="en-US" sz="1800">
                <a:latin typeface="Times New Roman" panose="02020603050405020304" pitchFamily="18" charset="0"/>
                <a:cs typeface="Times New Roman" panose="02020603050405020304" pitchFamily="18" charset="0"/>
              </a:rPr>
              <a:t> them </a:t>
            </a:r>
            <a:r>
              <a:rPr lang="en-US" altLang="en-US" sz="1800" b="1">
                <a:latin typeface="Times New Roman" panose="02020603050405020304" pitchFamily="18" charset="0"/>
                <a:cs typeface="Times New Roman" panose="02020603050405020304" pitchFamily="18" charset="0"/>
              </a:rPr>
              <a:t>on the fly</a:t>
            </a:r>
            <a:r>
              <a:rPr lang="en-US" altLang="en-US" sz="1800">
                <a:latin typeface="Times New Roman" panose="02020603050405020304" pitchFamily="18" charset="0"/>
                <a:cs typeface="Times New Roman" panose="02020603050405020304" pitchFamily="18" charset="0"/>
              </a:rPr>
              <a:t> in correctly for each process in creating progress</a:t>
            </a:r>
          </a:p>
          <a:p>
            <a:pPr lvl="2" algn="just" eaLnBrk="1" hangingPunct="1">
              <a:lnSpc>
                <a:spcPct val="90000"/>
              </a:lnSpc>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 This is </a:t>
            </a:r>
            <a:r>
              <a:rPr lang="en-US" altLang="en-US" sz="1800" b="1">
                <a:latin typeface="Times New Roman" panose="02020603050405020304" pitchFamily="18" charset="0"/>
                <a:cs typeface="Times New Roman" panose="02020603050405020304" pitchFamily="18" charset="0"/>
              </a:rPr>
              <a:t>not the shared solution </a:t>
            </a:r>
            <a:r>
              <a:rPr lang="en-US" altLang="en-US" sz="1800">
                <a:latin typeface="Times New Roman" panose="02020603050405020304" pitchFamily="18" charset="0"/>
                <a:cs typeface="Times New Roman" panose="02020603050405020304" pitchFamily="18" charset="0"/>
              </a:rPr>
              <a:t>because this solution copies the non-modified pages</a:t>
            </a:r>
          </a:p>
          <a:p>
            <a:pPr lvl="1" algn="just" eaLnBrk="1" hangingPunct="1">
              <a:lnSpc>
                <a:spcPct val="90000"/>
              </a:lnSpc>
            </a:pPr>
            <a:r>
              <a:rPr lang="en-US" altLang="en-US" sz="2000" b="1">
                <a:latin typeface="Times New Roman" panose="02020603050405020304" pitchFamily="18" charset="0"/>
                <a:cs typeface="Times New Roman" panose="02020603050405020304" pitchFamily="18" charset="0"/>
              </a:rPr>
              <a:t>Second Approach</a:t>
            </a:r>
            <a:r>
              <a:rPr lang="en-US" altLang="en-US" sz="2000">
                <a:latin typeface="Times New Roman" panose="02020603050405020304" pitchFamily="18" charset="0"/>
                <a:cs typeface="Times New Roman" panose="02020603050405020304" pitchFamily="18" charset="0"/>
              </a:rPr>
              <a:t>: using </a:t>
            </a:r>
            <a:r>
              <a:rPr lang="en-US" altLang="en-US" sz="2000" b="1">
                <a:latin typeface="Times New Roman" panose="02020603050405020304" pitchFamily="18" charset="0"/>
                <a:cs typeface="Times New Roman" panose="02020603050405020304" pitchFamily="18" charset="0"/>
              </a:rPr>
              <a:t>position-independent-code</a:t>
            </a:r>
          </a:p>
          <a:p>
            <a:pPr lvl="2" algn="just" eaLnBrk="1" hangingPunct="1">
              <a:lnSpc>
                <a:spcPct val="90000"/>
              </a:lnSpc>
            </a:pPr>
            <a:r>
              <a:rPr lang="en-US" altLang="en-US" sz="1800">
                <a:latin typeface="Times New Roman" panose="02020603050405020304" pitchFamily="18" charset="0"/>
                <a:cs typeface="Times New Roman" panose="02020603050405020304" pitchFamily="18" charset="0"/>
              </a:rPr>
              <a:t>The instruction in code should </a:t>
            </a:r>
            <a:r>
              <a:rPr lang="en-US" altLang="en-US" sz="1800" b="1">
                <a:latin typeface="Times New Roman" panose="02020603050405020304" pitchFamily="18" charset="0"/>
                <a:cs typeface="Times New Roman" panose="02020603050405020304" pitchFamily="18" charset="0"/>
              </a:rPr>
              <a:t>used</a:t>
            </a:r>
            <a:r>
              <a:rPr lang="en-US" altLang="en-US" sz="1800">
                <a:latin typeface="Times New Roman" panose="02020603050405020304" pitchFamily="18" charset="0"/>
                <a:cs typeface="Times New Roman" panose="02020603050405020304" pitchFamily="18" charset="0"/>
              </a:rPr>
              <a:t> only </a:t>
            </a:r>
            <a:r>
              <a:rPr lang="en-US" altLang="en-US" sz="1800" b="1">
                <a:latin typeface="Times New Roman" panose="02020603050405020304" pitchFamily="18" charset="0"/>
                <a:cs typeface="Times New Roman" panose="02020603050405020304" pitchFamily="18" charset="0"/>
              </a:rPr>
              <a:t>relative offsets then</a:t>
            </a:r>
            <a:r>
              <a:rPr lang="en-US" altLang="en-US" sz="1800">
                <a:latin typeface="Times New Roman" panose="02020603050405020304" pitchFamily="18" charset="0"/>
                <a:cs typeface="Times New Roman" panose="02020603050405020304" pitchFamily="18" charset="0"/>
              </a:rPr>
              <a:t> the </a:t>
            </a:r>
            <a:r>
              <a:rPr lang="en-US" altLang="en-US" sz="1800" b="1">
                <a:latin typeface="Times New Roman" panose="02020603050405020304" pitchFamily="18" charset="0"/>
                <a:cs typeface="Times New Roman" panose="02020603050405020304" pitchFamily="18" charset="0"/>
              </a:rPr>
              <a:t>absolute addresses</a:t>
            </a:r>
          </a:p>
          <a:p>
            <a:pPr lvl="2" algn="just" eaLnBrk="1" hangingPunct="1">
              <a:lnSpc>
                <a:spcPct val="90000"/>
              </a:lnSpc>
            </a:pPr>
            <a:r>
              <a:rPr lang="en-US" altLang="en-US" sz="1800">
                <a:latin typeface="Times New Roman" panose="02020603050405020304" pitchFamily="18" charset="0"/>
                <a:cs typeface="Times New Roman" panose="02020603050405020304" pitchFamily="18" charset="0"/>
              </a:rPr>
              <a:t>This is </a:t>
            </a:r>
            <a:r>
              <a:rPr lang="en-US" altLang="en-US" sz="1800" b="1">
                <a:latin typeface="Times New Roman" panose="02020603050405020304" pitchFamily="18" charset="0"/>
                <a:cs typeface="Times New Roman" panose="02020603050405020304" pitchFamily="18" charset="0"/>
              </a:rPr>
              <a:t>word correctly </a:t>
            </a:r>
            <a:r>
              <a:rPr lang="en-US" altLang="en-US" sz="1800">
                <a:latin typeface="Times New Roman" panose="02020603050405020304" pitchFamily="18" charset="0"/>
                <a:cs typeface="Times New Roman" panose="02020603050405020304" pitchFamily="18" charset="0"/>
              </a:rPr>
              <a:t>with the shared libraries </a:t>
            </a:r>
            <a:r>
              <a:rPr lang="en-US" altLang="en-US" sz="1800" b="1">
                <a:latin typeface="Times New Roman" panose="02020603050405020304" pitchFamily="18" charset="0"/>
                <a:cs typeface="Times New Roman" panose="02020603050405020304" pitchFamily="18" charset="0"/>
              </a:rPr>
              <a:t>placing anywhere in virtual address space</a:t>
            </a:r>
          </a:p>
        </p:txBody>
      </p:sp>
      <p:sp>
        <p:nvSpPr>
          <p:cNvPr id="22532" name="Rectangle 4"/>
          <p:cNvSpPr>
            <a:spLocks/>
          </p:cNvSpPr>
          <p:nvPr/>
        </p:nvSpPr>
        <p:spPr bwMode="auto">
          <a:xfrm>
            <a:off x="914400" y="6096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Shared Libraries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1187">
                                            <p:txEl>
                                              <p:pRg st="7" end="7"/>
                                            </p:txEl>
                                          </p:spTgt>
                                        </p:tgtEl>
                                        <p:attrNameLst>
                                          <p:attrName>style.visibility</p:attrName>
                                        </p:attrNameLst>
                                      </p:cBhvr>
                                      <p:to>
                                        <p:strVal val="visible"/>
                                      </p:to>
                                    </p:set>
                                    <p:animEffect transition="in" filter="box(in)">
                                      <p:cBhvr>
                                        <p:cTn id="7" dur="500"/>
                                        <p:tgtEl>
                                          <p:spTgt spid="221187">
                                            <p:txEl>
                                              <p:pRg st="7" end="7"/>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21187">
                                            <p:txEl>
                                              <p:pRg st="8" end="8"/>
                                            </p:txEl>
                                          </p:spTgt>
                                        </p:tgtEl>
                                        <p:attrNameLst>
                                          <p:attrName>style.visibility</p:attrName>
                                        </p:attrNameLst>
                                      </p:cBhvr>
                                      <p:to>
                                        <p:strVal val="visible"/>
                                      </p:to>
                                    </p:set>
                                    <p:animEffect transition="in" filter="box(in)">
                                      <p:cBhvr>
                                        <p:cTn id="10" dur="500"/>
                                        <p:tgtEl>
                                          <p:spTgt spid="221187">
                                            <p:txEl>
                                              <p:pRg st="8" end="8"/>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21187">
                                            <p:txEl>
                                              <p:pRg st="9" end="9"/>
                                            </p:txEl>
                                          </p:spTgt>
                                        </p:tgtEl>
                                        <p:attrNameLst>
                                          <p:attrName>style.visibility</p:attrName>
                                        </p:attrNameLst>
                                      </p:cBhvr>
                                      <p:to>
                                        <p:strVal val="visible"/>
                                      </p:to>
                                    </p:set>
                                    <p:animEffect transition="in" filter="box(in)">
                                      <p:cBhvr>
                                        <p:cTn id="13" dur="500"/>
                                        <p:tgtEl>
                                          <p:spTgt spid="221187">
                                            <p:txEl>
                                              <p:pRg st="9" end="9"/>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4" presetClass="entr" presetSubtype="16" fill="hold" nodeType="clickEffect">
                                  <p:stCondLst>
                                    <p:cond delay="0"/>
                                  </p:stCondLst>
                                  <p:childTnLst>
                                    <p:set>
                                      <p:cBhvr>
                                        <p:cTn id="17" dur="1" fill="hold">
                                          <p:stCondLst>
                                            <p:cond delay="0"/>
                                          </p:stCondLst>
                                        </p:cTn>
                                        <p:tgtEl>
                                          <p:spTgt spid="221187">
                                            <p:txEl>
                                              <p:pRg st="10" end="10"/>
                                            </p:txEl>
                                          </p:spTgt>
                                        </p:tgtEl>
                                        <p:attrNameLst>
                                          <p:attrName>style.visibility</p:attrName>
                                        </p:attrNameLst>
                                      </p:cBhvr>
                                      <p:to>
                                        <p:strVal val="visible"/>
                                      </p:to>
                                    </p:set>
                                    <p:animEffect transition="in" filter="box(in)">
                                      <p:cBhvr>
                                        <p:cTn id="18" dur="500"/>
                                        <p:tgtEl>
                                          <p:spTgt spid="221187">
                                            <p:txEl>
                                              <p:pRg st="10" end="10"/>
                                            </p:txEl>
                                          </p:spTgt>
                                        </p:tgtEl>
                                      </p:cBhvr>
                                    </p:animEffect>
                                  </p:childTnLst>
                                </p:cTn>
                              </p:par>
                              <p:par>
                                <p:cTn id="19" presetID="4" presetClass="entr" presetSubtype="16" fill="hold" nodeType="withEffect">
                                  <p:stCondLst>
                                    <p:cond delay="0"/>
                                  </p:stCondLst>
                                  <p:childTnLst>
                                    <p:set>
                                      <p:cBhvr>
                                        <p:cTn id="20" dur="1" fill="hold">
                                          <p:stCondLst>
                                            <p:cond delay="0"/>
                                          </p:stCondLst>
                                        </p:cTn>
                                        <p:tgtEl>
                                          <p:spTgt spid="221187">
                                            <p:txEl>
                                              <p:pRg st="11" end="11"/>
                                            </p:txEl>
                                          </p:spTgt>
                                        </p:tgtEl>
                                        <p:attrNameLst>
                                          <p:attrName>style.visibility</p:attrName>
                                        </p:attrNameLst>
                                      </p:cBhvr>
                                      <p:to>
                                        <p:strVal val="visible"/>
                                      </p:to>
                                    </p:set>
                                    <p:animEffect transition="in" filter="box(in)">
                                      <p:cBhvr>
                                        <p:cTn id="21" dur="500"/>
                                        <p:tgtEl>
                                          <p:spTgt spid="221187">
                                            <p:txEl>
                                              <p:pRg st="11" end="11"/>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221187">
                                            <p:txEl>
                                              <p:pRg st="12" end="12"/>
                                            </p:txEl>
                                          </p:spTgt>
                                        </p:tgtEl>
                                        <p:attrNameLst>
                                          <p:attrName>style.visibility</p:attrName>
                                        </p:attrNameLst>
                                      </p:cBhvr>
                                      <p:to>
                                        <p:strVal val="visible"/>
                                      </p:to>
                                    </p:set>
                                    <p:animEffect transition="in" filter="box(in)">
                                      <p:cBhvr>
                                        <p:cTn id="24" dur="500"/>
                                        <p:tgtEl>
                                          <p:spTgt spid="221187">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p:cNvSpPr>
          <p:nvPr>
            <p:ph type="title"/>
          </p:nvPr>
        </p:nvSpPr>
        <p:spPr>
          <a:xfrm>
            <a:off x="1600200" y="76200"/>
            <a:ext cx="7772400" cy="10668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Shared Libraries</a:t>
            </a:r>
          </a:p>
        </p:txBody>
      </p:sp>
      <p:pic>
        <p:nvPicPr>
          <p:cNvPr id="23555" name="Picture 8" descr="03-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1602"/>
            <a:ext cx="8153400" cy="2717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06" name="Text Box 4"/>
          <p:cNvSpPr txBox="1">
            <a:spLocks noChangeArrowheads="1"/>
          </p:cNvSpPr>
          <p:nvPr/>
        </p:nvSpPr>
        <p:spPr bwMode="auto">
          <a:xfrm>
            <a:off x="3581400" y="6019800"/>
            <a:ext cx="18954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1400" b="1">
                <a:latin typeface="Times New Roman" panose="02020603050405020304" pitchFamily="18" charset="0"/>
              </a:rPr>
              <a:t>Tanenbaum, Fig. 3-27.</a:t>
            </a:r>
          </a:p>
        </p:txBody>
      </p:sp>
      <p:pic>
        <p:nvPicPr>
          <p:cNvPr id="2" name="Picture 1">
            <a:extLst>
              <a:ext uri="{FF2B5EF4-FFF2-40B4-BE49-F238E27FC236}">
                <a16:creationId xmlns:a16="http://schemas.microsoft.com/office/drawing/2014/main" id="{4F466C10-C444-4BD3-8E5A-8FED7F2F03D8}"/>
              </a:ext>
            </a:extLst>
          </p:cNvPr>
          <p:cNvPicPr>
            <a:picLocks noChangeAspect="1"/>
          </p:cNvPicPr>
          <p:nvPr/>
        </p:nvPicPr>
        <p:blipFill>
          <a:blip r:embed="rId4"/>
          <a:stretch>
            <a:fillRect/>
          </a:stretch>
        </p:blipFill>
        <p:spPr>
          <a:xfrm>
            <a:off x="609600" y="4163239"/>
            <a:ext cx="7913532" cy="1234354"/>
          </a:xfrm>
          <a:prstGeom prst="rect">
            <a:avLst/>
          </a:prstGeom>
        </p:spPr>
      </p:pic>
      <p:pic>
        <p:nvPicPr>
          <p:cNvPr id="3" name="Picture 2">
            <a:extLst>
              <a:ext uri="{FF2B5EF4-FFF2-40B4-BE49-F238E27FC236}">
                <a16:creationId xmlns:a16="http://schemas.microsoft.com/office/drawing/2014/main" id="{69B184FF-ABE1-41B4-A285-EA5DDC49C289}"/>
              </a:ext>
            </a:extLst>
          </p:cNvPr>
          <p:cNvPicPr>
            <a:picLocks noChangeAspect="1"/>
          </p:cNvPicPr>
          <p:nvPr/>
        </p:nvPicPr>
        <p:blipFill>
          <a:blip r:embed="rId5"/>
          <a:stretch>
            <a:fillRect/>
          </a:stretch>
        </p:blipFill>
        <p:spPr>
          <a:xfrm>
            <a:off x="617838" y="5397594"/>
            <a:ext cx="7991475" cy="126524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06"/>
                                        </p:tgtEl>
                                        <p:attrNameLst>
                                          <p:attrName>style.visibility</p:attrName>
                                        </p:attrNameLst>
                                      </p:cBhvr>
                                      <p:to>
                                        <p:strVal val="visible"/>
                                      </p:to>
                                    </p:set>
                                    <p:animEffect transition="in" filter="box(in)">
                                      <p:cBhvr>
                                        <p:cTn id="7" dur="500"/>
                                        <p:tgtEl>
                                          <p:spTgt spid="153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p:cNvSpPr>
          <p:nvPr>
            <p:ph type="title"/>
          </p:nvPr>
        </p:nvSpPr>
        <p:spPr>
          <a:xfrm>
            <a:off x="1676400" y="0"/>
            <a:ext cx="7620000" cy="4572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23235" name="Rectangle 3"/>
          <p:cNvSpPr>
            <a:spLocks noGrp="1"/>
          </p:cNvSpPr>
          <p:nvPr>
            <p:ph type="body" idx="1"/>
          </p:nvPr>
        </p:nvSpPr>
        <p:spPr>
          <a:xfrm>
            <a:off x="0" y="838200"/>
            <a:ext cx="9144000" cy="6172200"/>
          </a:xfrm>
        </p:spPr>
        <p:txBody>
          <a:bodyPr/>
          <a:lstStyle/>
          <a:p>
            <a:pPr algn="just" eaLnBrk="1" hangingPunct="1">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Context</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Manipulating</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file</a:t>
            </a:r>
            <a:r>
              <a:rPr lang="en-US" altLang="en-US" sz="2000" dirty="0">
                <a:latin typeface="Times New Roman" panose="02020603050405020304" pitchFamily="18" charset="0"/>
                <a:cs typeface="Times New Roman" panose="02020603050405020304" pitchFamily="18" charset="0"/>
              </a:rPr>
              <a:t> on disk </a:t>
            </a:r>
            <a:r>
              <a:rPr lang="en-US" altLang="en-US" sz="2000" b="1" dirty="0">
                <a:latin typeface="Times New Roman" panose="02020603050405020304" pitchFamily="18" charset="0"/>
                <a:cs typeface="Times New Roman" panose="02020603050405020304" pitchFamily="18" charset="0"/>
              </a:rPr>
              <a:t>must</a:t>
            </a:r>
            <a:r>
              <a:rPr lang="en-US" altLang="en-US" sz="2000" dirty="0">
                <a:latin typeface="Times New Roman" panose="02020603050405020304" pitchFamily="18" charset="0"/>
                <a:cs typeface="Times New Roman" panose="02020603050405020304" pitchFamily="18" charset="0"/>
              </a:rPr>
              <a:t> be </a:t>
            </a:r>
            <a:r>
              <a:rPr lang="en-US" altLang="en-US" sz="2000" b="1" dirty="0">
                <a:latin typeface="Times New Roman" panose="02020603050405020304" pitchFamily="18" charset="0"/>
                <a:cs typeface="Times New Roman" panose="02020603050405020304" pitchFamily="18" charset="0"/>
              </a:rPr>
              <a:t>invoked the system call </a:t>
            </a:r>
            <a:r>
              <a:rPr lang="en-US" altLang="en-US" sz="2000" dirty="0">
                <a:latin typeface="Times New Roman" panose="02020603050405020304" pitchFamily="18" charset="0"/>
                <a:cs typeface="Times New Roman" panose="02020603050405020304" pitchFamily="18" charset="0"/>
              </a:rPr>
              <a:t>open(), read() and write() </a:t>
            </a:r>
            <a:r>
              <a:rPr lang="en-US" altLang="en-US" sz="2000" b="1" dirty="0">
                <a:latin typeface="Times New Roman" panose="02020603050405020304" pitchFamily="18" charset="0"/>
                <a:cs typeface="Times New Roman" panose="02020603050405020304" pitchFamily="18" charset="0"/>
              </a:rPr>
              <a:t>and must access the disk </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slow</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Virtual memory</a:t>
            </a:r>
          </a:p>
          <a:p>
            <a:pPr algn="just" eaLnBrk="1" hangingPunct="1">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Memory Mapped File</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Treat</a:t>
            </a:r>
            <a:r>
              <a:rPr lang="en-US" altLang="en-US" sz="2000" dirty="0">
                <a:latin typeface="Times New Roman" panose="02020603050405020304" pitchFamily="18" charset="0"/>
                <a:cs typeface="Times New Roman" panose="02020603050405020304" pitchFamily="18" charset="0"/>
              </a:rPr>
              <a:t> file I/O </a:t>
            </a:r>
            <a:r>
              <a:rPr lang="en-US" altLang="en-US" sz="2000" b="1" dirty="0">
                <a:latin typeface="Times New Roman" panose="02020603050405020304" pitchFamily="18" charset="0"/>
                <a:cs typeface="Times New Roman" panose="02020603050405020304" pitchFamily="18" charset="0"/>
              </a:rPr>
              <a:t>as routine memory access</a:t>
            </a:r>
          </a:p>
          <a:p>
            <a:pPr lvl="1" algn="just" eaLnBrk="1" hangingPunct="1">
              <a:lnSpc>
                <a:spcPct val="80000"/>
              </a:lnSpc>
            </a:pPr>
            <a:r>
              <a:rPr lang="en-US" altLang="en-US" sz="2000" dirty="0">
                <a:latin typeface="Times New Roman" panose="02020603050405020304" pitchFamily="18" charset="0"/>
                <a:cs typeface="Times New Roman" panose="02020603050405020304" pitchFamily="18" charset="0"/>
              </a:rPr>
              <a:t>Allowing a part of the </a:t>
            </a:r>
            <a:r>
              <a:rPr lang="en-US" altLang="en-US" sz="2000" b="1" dirty="0">
                <a:latin typeface="Times New Roman" panose="02020603050405020304" pitchFamily="18" charset="0"/>
                <a:cs typeface="Times New Roman" panose="02020603050405020304" pitchFamily="18" charset="0"/>
              </a:rPr>
              <a:t>virtual address space </a:t>
            </a:r>
            <a:r>
              <a:rPr lang="en-US" altLang="en-US" sz="2000" dirty="0">
                <a:latin typeface="Times New Roman" panose="02020603050405020304" pitchFamily="18" charset="0"/>
                <a:cs typeface="Times New Roman" panose="02020603050405020304" pitchFamily="18" charset="0"/>
              </a:rPr>
              <a:t>to be logically </a:t>
            </a:r>
            <a:r>
              <a:rPr lang="en-US" altLang="en-US" sz="2000" b="1" dirty="0">
                <a:latin typeface="Times New Roman" panose="02020603050405020304" pitchFamily="18" charset="0"/>
                <a:cs typeface="Times New Roman" panose="02020603050405020304" pitchFamily="18" charset="0"/>
              </a:rPr>
              <a:t>associated</a:t>
            </a:r>
            <a:r>
              <a:rPr lang="en-US" altLang="en-US" sz="2000" dirty="0">
                <a:latin typeface="Times New Roman" panose="02020603050405020304" pitchFamily="18" charset="0"/>
                <a:cs typeface="Times New Roman" panose="02020603050405020304" pitchFamily="18" charset="0"/>
              </a:rPr>
              <a:t> with the </a:t>
            </a:r>
            <a:r>
              <a:rPr lang="en-US" altLang="en-US" sz="2000" b="1" dirty="0">
                <a:latin typeface="Times New Roman" panose="02020603050405020304" pitchFamily="18" charset="0"/>
                <a:cs typeface="Times New Roman" panose="02020603050405020304" pitchFamily="18" charset="0"/>
              </a:rPr>
              <a:t>file</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Map</a:t>
            </a:r>
            <a:r>
              <a:rPr lang="en-US" altLang="en-US" sz="2000" dirty="0">
                <a:latin typeface="Times New Roman" panose="02020603050405020304" pitchFamily="18" charset="0"/>
                <a:cs typeface="Times New Roman" panose="02020603050405020304" pitchFamily="18" charset="0"/>
              </a:rPr>
              <a:t> a disk </a:t>
            </a:r>
            <a:r>
              <a:rPr lang="en-US" altLang="en-US" sz="2000" b="1" dirty="0">
                <a:latin typeface="Times New Roman" panose="02020603050405020304" pitchFamily="18" charset="0"/>
                <a:cs typeface="Times New Roman" panose="02020603050405020304" pitchFamily="18" charset="0"/>
              </a:rPr>
              <a:t>block</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to</a:t>
            </a:r>
            <a:r>
              <a:rPr lang="en-US" altLang="en-US" sz="2000" dirty="0">
                <a:latin typeface="Times New Roman" panose="02020603050405020304" pitchFamily="18" charset="0"/>
                <a:cs typeface="Times New Roman" panose="02020603050405020304" pitchFamily="18" charset="0"/>
              </a:rPr>
              <a:t> a </a:t>
            </a:r>
            <a:r>
              <a:rPr lang="en-US" altLang="en-US" sz="2000" b="1" dirty="0">
                <a:latin typeface="Times New Roman" panose="02020603050405020304" pitchFamily="18" charset="0"/>
                <a:cs typeface="Times New Roman" panose="02020603050405020304" pitchFamily="18" charset="0"/>
              </a:rPr>
              <a:t>page</a:t>
            </a:r>
            <a:r>
              <a:rPr lang="en-US" altLang="en-US" sz="2000" dirty="0">
                <a:latin typeface="Times New Roman" panose="02020603050405020304" pitchFamily="18" charset="0"/>
                <a:cs typeface="Times New Roman" panose="02020603050405020304" pitchFamily="18" charset="0"/>
              </a:rPr>
              <a:t> (s) in memory </a:t>
            </a:r>
            <a:r>
              <a:rPr lang="en-US" altLang="en-US" sz="2000" b="1" dirty="0">
                <a:latin typeface="Times New Roman" panose="02020603050405020304" pitchFamily="18" charset="0"/>
                <a:cs typeface="Times New Roman" panose="02020603050405020304" pitchFamily="18" charset="0"/>
              </a:rPr>
              <a:t>and</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page</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used</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file on disk as</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backing store</a:t>
            </a:r>
          </a:p>
          <a:p>
            <a:pPr lvl="1" algn="just" eaLnBrk="1" hangingPunct="1">
              <a:lnSpc>
                <a:spcPct val="80000"/>
              </a:lnSpc>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faster and simplifier</a:t>
            </a:r>
          </a:p>
          <a:p>
            <a:pPr algn="just" eaLnBrk="1" hangingPunct="1">
              <a:lnSpc>
                <a:spcPct val="80000"/>
              </a:lnSpc>
              <a:buClrTx/>
              <a:buSzTx/>
              <a:buFont typeface="Arial" panose="020B0604020202020204" pitchFamily="34" charset="0"/>
              <a:buChar char="•"/>
            </a:pPr>
            <a:r>
              <a:rPr lang="en-US" altLang="en-US" sz="2400" b="1" dirty="0">
                <a:latin typeface="Times New Roman" panose="02020603050405020304" pitchFamily="18" charset="0"/>
                <a:cs typeface="Times New Roman" panose="02020603050405020304" pitchFamily="18" charset="0"/>
              </a:rPr>
              <a:t>How</a:t>
            </a:r>
            <a:r>
              <a:rPr lang="en-US" altLang="en-US" sz="2400" dirty="0">
                <a:latin typeface="Times New Roman" panose="02020603050405020304" pitchFamily="18" charset="0"/>
                <a:cs typeface="Times New Roman" panose="02020603050405020304" pitchFamily="18" charset="0"/>
              </a:rPr>
              <a:t> does it </a:t>
            </a:r>
            <a:r>
              <a:rPr lang="en-US" altLang="en-US" sz="2400" b="1" dirty="0">
                <a:latin typeface="Times New Roman" panose="02020603050405020304" pitchFamily="18" charset="0"/>
                <a:cs typeface="Times New Roman" panose="02020603050405020304" pitchFamily="18" charset="0"/>
              </a:rPr>
              <a:t>work</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Initial</a:t>
            </a:r>
            <a:r>
              <a:rPr lang="en-US" altLang="en-US" sz="2000" dirty="0">
                <a:latin typeface="Times New Roman" panose="02020603050405020304" pitchFamily="18" charset="0"/>
                <a:cs typeface="Times New Roman" panose="02020603050405020304" pitchFamily="18" charset="0"/>
              </a:rPr>
              <a:t>, when the file is </a:t>
            </a:r>
            <a:r>
              <a:rPr lang="en-US" altLang="en-US" sz="2000" b="1" dirty="0">
                <a:latin typeface="Times New Roman" panose="02020603050405020304" pitchFamily="18" charset="0"/>
                <a:cs typeface="Times New Roman" panose="02020603050405020304" pitchFamily="18" charset="0"/>
              </a:rPr>
              <a:t>accessed</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page fault </a:t>
            </a:r>
            <a:r>
              <a:rPr lang="en-US" altLang="en-US" sz="2000" dirty="0">
                <a:latin typeface="Times New Roman" panose="02020603050405020304" pitchFamily="18" charset="0"/>
                <a:cs typeface="Times New Roman" panose="02020603050405020304" pitchFamily="18" charset="0"/>
              </a:rPr>
              <a:t>is occurs</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Then</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pages</a:t>
            </a:r>
            <a:r>
              <a:rPr lang="en-US" altLang="en-US" sz="2000" dirty="0">
                <a:latin typeface="Times New Roman" panose="02020603050405020304" pitchFamily="18" charset="0"/>
                <a:cs typeface="Times New Roman" panose="02020603050405020304" pitchFamily="18" charset="0"/>
              </a:rPr>
              <a:t> are </a:t>
            </a:r>
            <a:r>
              <a:rPr lang="en-US" altLang="en-US" sz="2000" b="1" dirty="0">
                <a:latin typeface="Times New Roman" panose="02020603050405020304" pitchFamily="18" charset="0"/>
                <a:cs typeface="Times New Roman" panose="02020603050405020304" pitchFamily="18" charset="0"/>
              </a:rPr>
              <a:t>allocated</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are loaded </a:t>
            </a:r>
            <a:r>
              <a:rPr lang="en-US" altLang="en-US" sz="2000" dirty="0">
                <a:latin typeface="Times New Roman" panose="02020603050405020304" pitchFamily="18" charset="0"/>
                <a:cs typeface="Times New Roman" panose="02020603050405020304" pitchFamily="18" charset="0"/>
              </a:rPr>
              <a:t>the content </a:t>
            </a:r>
            <a:r>
              <a:rPr lang="en-US" altLang="en-US" sz="2000" b="1" dirty="0">
                <a:latin typeface="Times New Roman" panose="02020603050405020304" pitchFamily="18" charset="0"/>
                <a:cs typeface="Times New Roman" panose="02020603050405020304" pitchFamily="18" charset="0"/>
              </a:rPr>
              <a:t>from file </a:t>
            </a:r>
            <a:r>
              <a:rPr lang="en-US" altLang="en-US" sz="2000" dirty="0">
                <a:latin typeface="Times New Roman" panose="02020603050405020304" pitchFamily="18" charset="0"/>
                <a:cs typeface="Times New Roman" panose="02020603050405020304" pitchFamily="18" charset="0"/>
              </a:rPr>
              <a:t>system</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Subsequent</a:t>
            </a:r>
            <a:r>
              <a:rPr lang="en-US" altLang="en-US" sz="2000" dirty="0">
                <a:latin typeface="Times New Roman" panose="02020603050405020304" pitchFamily="18" charset="0"/>
                <a:cs typeface="Times New Roman" panose="02020603050405020304" pitchFamily="18" charset="0"/>
              </a:rPr>
              <a:t>, the file </a:t>
            </a:r>
            <a:r>
              <a:rPr lang="en-US" altLang="en-US" sz="2000" b="1" dirty="0">
                <a:latin typeface="Times New Roman" panose="02020603050405020304" pitchFamily="18" charset="0"/>
                <a:cs typeface="Times New Roman" panose="02020603050405020304" pitchFamily="18" charset="0"/>
              </a:rPr>
              <a:t>manipulations</a:t>
            </a:r>
            <a:r>
              <a:rPr lang="en-US" altLang="en-US" sz="2000" dirty="0">
                <a:latin typeface="Times New Roman" panose="02020603050405020304" pitchFamily="18" charset="0"/>
                <a:cs typeface="Times New Roman" panose="02020603050405020304" pitchFamily="18" charset="0"/>
              </a:rPr>
              <a:t> are handled as </a:t>
            </a:r>
            <a:r>
              <a:rPr lang="en-US" altLang="en-US" sz="2000" b="1" dirty="0">
                <a:latin typeface="Times New Roman" panose="02020603050405020304" pitchFamily="18" charset="0"/>
                <a:cs typeface="Times New Roman" panose="02020603050405020304" pitchFamily="18" charset="0"/>
              </a:rPr>
              <a:t>routine memory accesses</a:t>
            </a:r>
          </a:p>
          <a:p>
            <a:pPr lvl="1" algn="just" eaLnBrk="1" hangingPunct="1">
              <a:lnSpc>
                <a:spcPct val="80000"/>
              </a:lnSpc>
            </a:pPr>
            <a:r>
              <a:rPr lang="en-US" altLang="en-US" sz="2000" dirty="0">
                <a:latin typeface="Times New Roman" panose="02020603050405020304" pitchFamily="18" charset="0"/>
                <a:cs typeface="Times New Roman" panose="02020603050405020304" pitchFamily="18" charset="0"/>
              </a:rPr>
              <a:t>It is </a:t>
            </a:r>
            <a:r>
              <a:rPr lang="en-US" altLang="en-US" sz="2000" b="1" dirty="0">
                <a:latin typeface="Times New Roman" panose="02020603050405020304" pitchFamily="18" charset="0"/>
                <a:cs typeface="Times New Roman" panose="02020603050405020304" pitchFamily="18" charset="0"/>
              </a:rPr>
              <a:t>not necessarily </a:t>
            </a:r>
            <a:r>
              <a:rPr lang="en-US" altLang="en-US" sz="2000" dirty="0">
                <a:latin typeface="Times New Roman" panose="02020603050405020304" pitchFamily="18" charset="0"/>
                <a:cs typeface="Times New Roman" panose="02020603050405020304" pitchFamily="18" charset="0"/>
              </a:rPr>
              <a:t>be </a:t>
            </a:r>
            <a:r>
              <a:rPr lang="en-US" altLang="en-US" sz="2000" b="1" dirty="0">
                <a:latin typeface="Times New Roman" panose="02020603050405020304" pitchFamily="18" charset="0"/>
                <a:cs typeface="Times New Roman" panose="02020603050405020304" pitchFamily="18" charset="0"/>
              </a:rPr>
              <a:t>immediate writes file to disk </a:t>
            </a:r>
            <a:r>
              <a:rPr lang="en-US" altLang="en-US" sz="2000" dirty="0">
                <a:latin typeface="Times New Roman" panose="02020603050405020304" pitchFamily="18" charset="0"/>
                <a:cs typeface="Times New Roman" panose="02020603050405020304" pitchFamily="18" charset="0"/>
              </a:rPr>
              <a:t>when the memory is modified. </a:t>
            </a:r>
            <a:r>
              <a:rPr lang="en-US" altLang="en-US" sz="2000" b="1" dirty="0">
                <a:latin typeface="Times New Roman" panose="02020603050405020304" pitchFamily="18" charset="0"/>
                <a:cs typeface="Times New Roman" panose="02020603050405020304" pitchFamily="18" charset="0"/>
              </a:rPr>
              <a:t>Instead of </a:t>
            </a:r>
            <a:r>
              <a:rPr lang="en-US" altLang="en-US" sz="2000" dirty="0">
                <a:latin typeface="Times New Roman" panose="02020603050405020304" pitchFamily="18" charset="0"/>
                <a:cs typeface="Times New Roman" panose="02020603050405020304" pitchFamily="18" charset="0"/>
              </a:rPr>
              <a:t>this, the </a:t>
            </a:r>
            <a:r>
              <a:rPr lang="en-US" altLang="en-US" sz="2000" b="1" dirty="0">
                <a:latin typeface="Times New Roman" panose="02020603050405020304" pitchFamily="18" charset="0"/>
                <a:cs typeface="Times New Roman" panose="02020603050405020304" pitchFamily="18" charset="0"/>
              </a:rPr>
              <a:t>OS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updates</a:t>
            </a:r>
            <a:r>
              <a:rPr lang="en-US" altLang="en-US" sz="2000" dirty="0">
                <a:latin typeface="Times New Roman" panose="02020603050405020304" pitchFamily="18" charset="0"/>
                <a:cs typeface="Times New Roman" panose="02020603050405020304" pitchFamily="18" charset="0"/>
              </a:rPr>
              <a:t> the file on </a:t>
            </a:r>
            <a:r>
              <a:rPr lang="en-US" altLang="en-US" sz="2000" b="1" dirty="0">
                <a:latin typeface="Times New Roman" panose="02020603050405020304" pitchFamily="18" charset="0"/>
                <a:cs typeface="Times New Roman" panose="02020603050405020304" pitchFamily="18" charset="0"/>
              </a:rPr>
              <a:t>disk</a:t>
            </a:r>
            <a:r>
              <a:rPr lang="en-US" altLang="en-US" sz="2000" dirty="0">
                <a:latin typeface="Times New Roman" panose="02020603050405020304" pitchFamily="18" charset="0"/>
                <a:cs typeface="Times New Roman" panose="02020603050405020304" pitchFamily="18" charset="0"/>
              </a:rPr>
              <a:t> in </a:t>
            </a:r>
            <a:r>
              <a:rPr lang="en-US" altLang="en-US" sz="2000" b="1" dirty="0">
                <a:latin typeface="Times New Roman" panose="02020603050405020304" pitchFamily="18" charset="0"/>
                <a:cs typeface="Times New Roman" panose="02020603050405020304" pitchFamily="18" charset="0"/>
              </a:rPr>
              <a:t>periodically</a:t>
            </a:r>
            <a:r>
              <a:rPr lang="en-US" altLang="en-US" sz="2000" dirty="0">
                <a:latin typeface="Times New Roman" panose="02020603050405020304" pitchFamily="18" charset="0"/>
                <a:cs typeface="Times New Roman" panose="02020603050405020304" pitchFamily="18" charset="0"/>
              </a:rPr>
              <a:t> if any if the memory </a:t>
            </a:r>
            <a:r>
              <a:rPr lang="en-US" altLang="en-US" sz="2000" b="1" dirty="0">
                <a:latin typeface="Times New Roman" panose="02020603050405020304" pitchFamily="18" charset="0"/>
                <a:cs typeface="Times New Roman" panose="02020603050405020304" pitchFamily="18" charset="0"/>
              </a:rPr>
              <a:t>has been modified</a:t>
            </a:r>
          </a:p>
          <a:p>
            <a:pPr lvl="1" algn="just" eaLnBrk="1" hangingPunct="1">
              <a:lnSpc>
                <a:spcPct val="80000"/>
              </a:lnSpc>
            </a:pPr>
            <a:r>
              <a:rPr lang="en-US" altLang="en-US" sz="2000" b="1" dirty="0">
                <a:latin typeface="Times New Roman" panose="02020603050405020304" pitchFamily="18" charset="0"/>
                <a:cs typeface="Times New Roman" panose="02020603050405020304" pitchFamily="18" charset="0"/>
              </a:rPr>
              <a:t>When</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process</a:t>
            </a: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exits</a:t>
            </a:r>
            <a:r>
              <a:rPr lang="en-US" altLang="en-US" sz="2000" dirty="0">
                <a:latin typeface="Times New Roman" panose="02020603050405020304" pitchFamily="18" charset="0"/>
                <a:cs typeface="Times New Roman" panose="02020603050405020304" pitchFamily="18" charset="0"/>
              </a:rPr>
              <a:t> (e.g. file is closed), </a:t>
            </a:r>
            <a:r>
              <a:rPr lang="en-US" altLang="en-US" sz="2000" b="1" dirty="0">
                <a:latin typeface="Times New Roman" panose="02020603050405020304" pitchFamily="18" charset="0"/>
                <a:cs typeface="Times New Roman" panose="02020603050405020304" pitchFamily="18" charset="0"/>
              </a:rPr>
              <a:t>all</a:t>
            </a:r>
            <a:r>
              <a:rPr lang="en-US" altLang="en-US" sz="2000" dirty="0">
                <a:latin typeface="Times New Roman" panose="02020603050405020304" pitchFamily="18" charset="0"/>
                <a:cs typeface="Times New Roman" panose="02020603050405020304" pitchFamily="18" charset="0"/>
              </a:rPr>
              <a:t> the </a:t>
            </a:r>
            <a:r>
              <a:rPr lang="en-US" altLang="en-US" sz="2000" b="1" dirty="0">
                <a:latin typeface="Times New Roman" panose="02020603050405020304" pitchFamily="18" charset="0"/>
                <a:cs typeface="Times New Roman" panose="02020603050405020304" pitchFamily="18" charset="0"/>
              </a:rPr>
              <a:t>modified pages </a:t>
            </a:r>
            <a:r>
              <a:rPr lang="en-US" altLang="en-US" sz="2000" dirty="0">
                <a:latin typeface="Times New Roman" panose="02020603050405020304" pitchFamily="18" charset="0"/>
                <a:cs typeface="Times New Roman" panose="02020603050405020304" pitchFamily="18" charset="0"/>
              </a:rPr>
              <a:t>are </a:t>
            </a:r>
            <a:r>
              <a:rPr lang="en-US" altLang="en-US" sz="2000" b="1" dirty="0">
                <a:latin typeface="Times New Roman" panose="02020603050405020304" pitchFamily="18" charset="0"/>
                <a:cs typeface="Times New Roman" panose="02020603050405020304" pitchFamily="18" charset="0"/>
              </a:rPr>
              <a:t>written</a:t>
            </a:r>
            <a:r>
              <a:rPr lang="en-US" altLang="en-US" sz="2000" dirty="0">
                <a:latin typeface="Times New Roman" panose="02020603050405020304" pitchFamily="18" charset="0"/>
                <a:cs typeface="Times New Roman" panose="02020603050405020304" pitchFamily="18" charset="0"/>
              </a:rPr>
              <a:t> back </a:t>
            </a:r>
            <a:r>
              <a:rPr lang="en-US" altLang="en-US" sz="2000" b="1" dirty="0">
                <a:latin typeface="Times New Roman" panose="02020603050405020304" pitchFamily="18" charset="0"/>
                <a:cs typeface="Times New Roman" panose="02020603050405020304" pitchFamily="18" charset="0"/>
              </a:rPr>
              <a:t>to the file</a:t>
            </a:r>
          </a:p>
        </p:txBody>
      </p:sp>
      <p:sp>
        <p:nvSpPr>
          <p:cNvPr id="24580" name="Rectangle 4"/>
          <p:cNvSpPr>
            <a:spLocks/>
          </p:cNvSpPr>
          <p:nvPr/>
        </p:nvSpPr>
        <p:spPr bwMode="auto">
          <a:xfrm>
            <a:off x="1066800" y="4572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Memory-Mapped Files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23235">
                                            <p:txEl>
                                              <p:pRg st="3" end="3"/>
                                            </p:txEl>
                                          </p:spTgt>
                                        </p:tgtEl>
                                        <p:attrNameLst>
                                          <p:attrName>style.visibility</p:attrName>
                                        </p:attrNameLst>
                                      </p:cBhvr>
                                      <p:to>
                                        <p:strVal val="visible"/>
                                      </p:to>
                                    </p:set>
                                    <p:animEffect transition="in" filter="box(in)">
                                      <p:cBhvr>
                                        <p:cTn id="7" dur="500"/>
                                        <p:tgtEl>
                                          <p:spTgt spid="223235">
                                            <p:txEl>
                                              <p:pRg st="3" end="3"/>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223235">
                                            <p:txEl>
                                              <p:pRg st="4" end="4"/>
                                            </p:txEl>
                                          </p:spTgt>
                                        </p:tgtEl>
                                        <p:attrNameLst>
                                          <p:attrName>style.visibility</p:attrName>
                                        </p:attrNameLst>
                                      </p:cBhvr>
                                      <p:to>
                                        <p:strVal val="visible"/>
                                      </p:to>
                                    </p:set>
                                    <p:animEffect transition="in" filter="box(in)">
                                      <p:cBhvr>
                                        <p:cTn id="10" dur="500"/>
                                        <p:tgtEl>
                                          <p:spTgt spid="223235">
                                            <p:txEl>
                                              <p:pRg st="4" end="4"/>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223235">
                                            <p:txEl>
                                              <p:pRg st="5" end="5"/>
                                            </p:txEl>
                                          </p:spTgt>
                                        </p:tgtEl>
                                        <p:attrNameLst>
                                          <p:attrName>style.visibility</p:attrName>
                                        </p:attrNameLst>
                                      </p:cBhvr>
                                      <p:to>
                                        <p:strVal val="visible"/>
                                      </p:to>
                                    </p:set>
                                    <p:animEffect transition="in" filter="box(in)">
                                      <p:cBhvr>
                                        <p:cTn id="13" dur="500"/>
                                        <p:tgtEl>
                                          <p:spTgt spid="223235">
                                            <p:txEl>
                                              <p:pRg st="5" end="5"/>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223235">
                                            <p:txEl>
                                              <p:pRg st="6" end="6"/>
                                            </p:txEl>
                                          </p:spTgt>
                                        </p:tgtEl>
                                        <p:attrNameLst>
                                          <p:attrName>style.visibility</p:attrName>
                                        </p:attrNameLst>
                                      </p:cBhvr>
                                      <p:to>
                                        <p:strVal val="visible"/>
                                      </p:to>
                                    </p:set>
                                    <p:animEffect transition="in" filter="box(in)">
                                      <p:cBhvr>
                                        <p:cTn id="16" dur="500"/>
                                        <p:tgtEl>
                                          <p:spTgt spid="223235">
                                            <p:txEl>
                                              <p:pRg st="6" end="6"/>
                                            </p:txEl>
                                          </p:spTgt>
                                        </p:tgtEl>
                                      </p:cBhvr>
                                    </p:animEffect>
                                  </p:childTnLst>
                                </p:cTn>
                              </p:par>
                              <p:par>
                                <p:cTn id="17" presetID="4" presetClass="entr" presetSubtype="16" fill="hold" nodeType="withEffect">
                                  <p:stCondLst>
                                    <p:cond delay="0"/>
                                  </p:stCondLst>
                                  <p:childTnLst>
                                    <p:set>
                                      <p:cBhvr>
                                        <p:cTn id="18" dur="1" fill="hold">
                                          <p:stCondLst>
                                            <p:cond delay="0"/>
                                          </p:stCondLst>
                                        </p:cTn>
                                        <p:tgtEl>
                                          <p:spTgt spid="223235">
                                            <p:txEl>
                                              <p:pRg st="7" end="7"/>
                                            </p:txEl>
                                          </p:spTgt>
                                        </p:tgtEl>
                                        <p:attrNameLst>
                                          <p:attrName>style.visibility</p:attrName>
                                        </p:attrNameLst>
                                      </p:cBhvr>
                                      <p:to>
                                        <p:strVal val="visible"/>
                                      </p:to>
                                    </p:set>
                                    <p:animEffect transition="in" filter="box(in)">
                                      <p:cBhvr>
                                        <p:cTn id="19" dur="500"/>
                                        <p:tgtEl>
                                          <p:spTgt spid="223235">
                                            <p:txEl>
                                              <p:pRg st="7" end="7"/>
                                            </p:txEl>
                                          </p:spTgt>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4" presetClass="entr" presetSubtype="16" fill="hold" nodeType="clickEffect">
                                  <p:stCondLst>
                                    <p:cond delay="0"/>
                                  </p:stCondLst>
                                  <p:childTnLst>
                                    <p:set>
                                      <p:cBhvr>
                                        <p:cTn id="23" dur="1" fill="hold">
                                          <p:stCondLst>
                                            <p:cond delay="0"/>
                                          </p:stCondLst>
                                        </p:cTn>
                                        <p:tgtEl>
                                          <p:spTgt spid="223235">
                                            <p:txEl>
                                              <p:pRg st="8" end="8"/>
                                            </p:txEl>
                                          </p:spTgt>
                                        </p:tgtEl>
                                        <p:attrNameLst>
                                          <p:attrName>style.visibility</p:attrName>
                                        </p:attrNameLst>
                                      </p:cBhvr>
                                      <p:to>
                                        <p:strVal val="visible"/>
                                      </p:to>
                                    </p:set>
                                    <p:animEffect transition="in" filter="box(in)">
                                      <p:cBhvr>
                                        <p:cTn id="24" dur="500"/>
                                        <p:tgtEl>
                                          <p:spTgt spid="223235">
                                            <p:txEl>
                                              <p:pRg st="8" end="8"/>
                                            </p:txEl>
                                          </p:spTgt>
                                        </p:tgtEl>
                                      </p:cBhvr>
                                    </p:animEffect>
                                  </p:childTnLst>
                                </p:cTn>
                              </p:par>
                              <p:par>
                                <p:cTn id="25" presetID="4" presetClass="entr" presetSubtype="16" fill="hold" nodeType="withEffect">
                                  <p:stCondLst>
                                    <p:cond delay="0"/>
                                  </p:stCondLst>
                                  <p:childTnLst>
                                    <p:set>
                                      <p:cBhvr>
                                        <p:cTn id="26" dur="1" fill="hold">
                                          <p:stCondLst>
                                            <p:cond delay="0"/>
                                          </p:stCondLst>
                                        </p:cTn>
                                        <p:tgtEl>
                                          <p:spTgt spid="223235">
                                            <p:txEl>
                                              <p:pRg st="9" end="9"/>
                                            </p:txEl>
                                          </p:spTgt>
                                        </p:tgtEl>
                                        <p:attrNameLst>
                                          <p:attrName>style.visibility</p:attrName>
                                        </p:attrNameLst>
                                      </p:cBhvr>
                                      <p:to>
                                        <p:strVal val="visible"/>
                                      </p:to>
                                    </p:set>
                                    <p:animEffect transition="in" filter="box(in)">
                                      <p:cBhvr>
                                        <p:cTn id="27" dur="500"/>
                                        <p:tgtEl>
                                          <p:spTgt spid="223235">
                                            <p:txEl>
                                              <p:pRg st="9" end="9"/>
                                            </p:txEl>
                                          </p:spTgt>
                                        </p:tgtEl>
                                      </p:cBhvr>
                                    </p:animEffect>
                                  </p:childTnLst>
                                </p:cTn>
                              </p:par>
                              <p:par>
                                <p:cTn id="28" presetID="4" presetClass="entr" presetSubtype="16" fill="hold" nodeType="withEffect">
                                  <p:stCondLst>
                                    <p:cond delay="0"/>
                                  </p:stCondLst>
                                  <p:childTnLst>
                                    <p:set>
                                      <p:cBhvr>
                                        <p:cTn id="29" dur="1" fill="hold">
                                          <p:stCondLst>
                                            <p:cond delay="0"/>
                                          </p:stCondLst>
                                        </p:cTn>
                                        <p:tgtEl>
                                          <p:spTgt spid="223235">
                                            <p:txEl>
                                              <p:pRg st="10" end="10"/>
                                            </p:txEl>
                                          </p:spTgt>
                                        </p:tgtEl>
                                        <p:attrNameLst>
                                          <p:attrName>style.visibility</p:attrName>
                                        </p:attrNameLst>
                                      </p:cBhvr>
                                      <p:to>
                                        <p:strVal val="visible"/>
                                      </p:to>
                                    </p:set>
                                    <p:animEffect transition="in" filter="box(in)">
                                      <p:cBhvr>
                                        <p:cTn id="30" dur="500"/>
                                        <p:tgtEl>
                                          <p:spTgt spid="223235">
                                            <p:txEl>
                                              <p:pRg st="10" end="10"/>
                                            </p:txEl>
                                          </p:spTgt>
                                        </p:tgtEl>
                                      </p:cBhvr>
                                    </p:animEffect>
                                  </p:childTnLst>
                                </p:cTn>
                              </p:par>
                              <p:par>
                                <p:cTn id="31" presetID="4" presetClass="entr" presetSubtype="16" fill="hold" nodeType="withEffect">
                                  <p:stCondLst>
                                    <p:cond delay="0"/>
                                  </p:stCondLst>
                                  <p:childTnLst>
                                    <p:set>
                                      <p:cBhvr>
                                        <p:cTn id="32" dur="1" fill="hold">
                                          <p:stCondLst>
                                            <p:cond delay="0"/>
                                          </p:stCondLst>
                                        </p:cTn>
                                        <p:tgtEl>
                                          <p:spTgt spid="223235">
                                            <p:txEl>
                                              <p:pRg st="11" end="11"/>
                                            </p:txEl>
                                          </p:spTgt>
                                        </p:tgtEl>
                                        <p:attrNameLst>
                                          <p:attrName>style.visibility</p:attrName>
                                        </p:attrNameLst>
                                      </p:cBhvr>
                                      <p:to>
                                        <p:strVal val="visible"/>
                                      </p:to>
                                    </p:set>
                                    <p:animEffect transition="in" filter="box(in)">
                                      <p:cBhvr>
                                        <p:cTn id="33" dur="500"/>
                                        <p:tgtEl>
                                          <p:spTgt spid="223235">
                                            <p:txEl>
                                              <p:pRg st="11" end="11"/>
                                            </p:txEl>
                                          </p:spTgt>
                                        </p:tgtEl>
                                      </p:cBhvr>
                                    </p:animEffect>
                                  </p:childTnLst>
                                </p:cTn>
                              </p:par>
                              <p:par>
                                <p:cTn id="34" presetID="4" presetClass="entr" presetSubtype="16" fill="hold" nodeType="withEffect">
                                  <p:stCondLst>
                                    <p:cond delay="0"/>
                                  </p:stCondLst>
                                  <p:childTnLst>
                                    <p:set>
                                      <p:cBhvr>
                                        <p:cTn id="35" dur="1" fill="hold">
                                          <p:stCondLst>
                                            <p:cond delay="0"/>
                                          </p:stCondLst>
                                        </p:cTn>
                                        <p:tgtEl>
                                          <p:spTgt spid="223235">
                                            <p:txEl>
                                              <p:pRg st="12" end="12"/>
                                            </p:txEl>
                                          </p:spTgt>
                                        </p:tgtEl>
                                        <p:attrNameLst>
                                          <p:attrName>style.visibility</p:attrName>
                                        </p:attrNameLst>
                                      </p:cBhvr>
                                      <p:to>
                                        <p:strVal val="visible"/>
                                      </p:to>
                                    </p:set>
                                    <p:animEffect transition="in" filter="box(in)">
                                      <p:cBhvr>
                                        <p:cTn id="36" dur="500"/>
                                        <p:tgtEl>
                                          <p:spTgt spid="223235">
                                            <p:txEl>
                                              <p:pRg st="12" end="12"/>
                                            </p:txEl>
                                          </p:spTgt>
                                        </p:tgtEl>
                                      </p:cBhvr>
                                    </p:animEffect>
                                  </p:childTnLst>
                                </p:cTn>
                              </p:par>
                              <p:par>
                                <p:cTn id="37" presetID="4" presetClass="entr" presetSubtype="16" fill="hold" nodeType="withEffect">
                                  <p:stCondLst>
                                    <p:cond delay="0"/>
                                  </p:stCondLst>
                                  <p:childTnLst>
                                    <p:set>
                                      <p:cBhvr>
                                        <p:cTn id="38" dur="1" fill="hold">
                                          <p:stCondLst>
                                            <p:cond delay="0"/>
                                          </p:stCondLst>
                                        </p:cTn>
                                        <p:tgtEl>
                                          <p:spTgt spid="223235">
                                            <p:txEl>
                                              <p:pRg st="13" end="13"/>
                                            </p:txEl>
                                          </p:spTgt>
                                        </p:tgtEl>
                                        <p:attrNameLst>
                                          <p:attrName>style.visibility</p:attrName>
                                        </p:attrNameLst>
                                      </p:cBhvr>
                                      <p:to>
                                        <p:strVal val="visible"/>
                                      </p:to>
                                    </p:set>
                                    <p:animEffect transition="in" filter="box(in)">
                                      <p:cBhvr>
                                        <p:cTn id="39" dur="500"/>
                                        <p:tgtEl>
                                          <p:spTgt spid="223235">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p:cNvSpPr>
          <p:nvPr>
            <p:ph type="title" idx="4294967295"/>
          </p:nvPr>
        </p:nvSpPr>
        <p:spPr>
          <a:xfrm>
            <a:off x="1676400" y="76200"/>
            <a:ext cx="7620000" cy="4572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a:t>
            </a:r>
          </a:p>
        </p:txBody>
      </p:sp>
      <p:sp>
        <p:nvSpPr>
          <p:cNvPr id="25603" name="Rectangle 3"/>
          <p:cNvSpPr>
            <a:spLocks noGrp="1"/>
          </p:cNvSpPr>
          <p:nvPr>
            <p:ph type="body" idx="4294967295"/>
          </p:nvPr>
        </p:nvSpPr>
        <p:spPr>
          <a:xfrm>
            <a:off x="0" y="838200"/>
            <a:ext cx="9144000" cy="6172200"/>
          </a:xfrm>
        </p:spPr>
        <p:txBody>
          <a:bodyPr/>
          <a:lstStyle/>
          <a:p>
            <a:pPr algn="just" eaLnBrk="1" hangingPunct="1"/>
            <a:r>
              <a:rPr lang="en-US" altLang="en-US">
                <a:latin typeface="Times New Roman" panose="02020603050405020304" pitchFamily="18" charset="0"/>
                <a:cs typeface="Times New Roman" panose="02020603050405020304" pitchFamily="18" charset="0"/>
              </a:rPr>
              <a:t>In </a:t>
            </a:r>
            <a:r>
              <a:rPr lang="en-US" altLang="en-US" b="1">
                <a:latin typeface="Times New Roman" panose="02020603050405020304" pitchFamily="18" charset="0"/>
                <a:cs typeface="Times New Roman" panose="02020603050405020304" pitchFamily="18" charset="0"/>
              </a:rPr>
              <a:t>practically</a:t>
            </a:r>
            <a:r>
              <a:rPr lang="en-US" altLang="en-US">
                <a:latin typeface="Times New Roman" panose="02020603050405020304" pitchFamily="18" charset="0"/>
                <a:cs typeface="Times New Roman" panose="02020603050405020304" pitchFamily="18" charset="0"/>
              </a:rPr>
              <a:t>,</a:t>
            </a:r>
          </a:p>
          <a:p>
            <a:pPr lvl="1" algn="just" eaLnBrk="1" hangingPunct="1"/>
            <a:r>
              <a:rPr lang="en-US" altLang="en-US">
                <a:latin typeface="Times New Roman" panose="02020603050405020304" pitchFamily="18" charset="0"/>
                <a:cs typeface="Times New Roman" panose="02020603050405020304" pitchFamily="18" charset="0"/>
              </a:rPr>
              <a:t>Some OS </a:t>
            </a:r>
            <a:r>
              <a:rPr lang="en-US" altLang="en-US" b="1">
                <a:latin typeface="Times New Roman" panose="02020603050405020304" pitchFamily="18" charset="0"/>
                <a:cs typeface="Times New Roman" panose="02020603050405020304" pitchFamily="18" charset="0"/>
              </a:rPr>
              <a:t>using</a:t>
            </a:r>
            <a:r>
              <a:rPr lang="en-US" altLang="en-US">
                <a:latin typeface="Times New Roman" panose="02020603050405020304" pitchFamily="18" charset="0"/>
                <a:cs typeface="Times New Roman" panose="02020603050405020304" pitchFamily="18" charset="0"/>
              </a:rPr>
              <a:t> this solution only through </a:t>
            </a:r>
            <a:r>
              <a:rPr lang="en-US" altLang="en-US" b="1">
                <a:latin typeface="Times New Roman" panose="02020603050405020304" pitchFamily="18" charset="0"/>
                <a:cs typeface="Times New Roman" panose="02020603050405020304" pitchFamily="18" charset="0"/>
              </a:rPr>
              <a:t>a specific system call </a:t>
            </a:r>
            <a:r>
              <a:rPr lang="en-US" altLang="en-US">
                <a:latin typeface="Times New Roman" panose="02020603050405020304" pitchFamily="18" charset="0"/>
                <a:cs typeface="Times New Roman" panose="02020603050405020304" pitchFamily="18" charset="0"/>
              </a:rPr>
              <a:t>(ex: mmap() in Solaris 2) an</a:t>
            </a:r>
            <a:r>
              <a:rPr lang="en-US" altLang="en-US" b="1">
                <a:latin typeface="Times New Roman" panose="02020603050405020304" pitchFamily="18" charset="0"/>
                <a:cs typeface="Times New Roman" panose="02020603050405020304" pitchFamily="18" charset="0"/>
              </a:rPr>
              <a:t>d treat all other file I/O </a:t>
            </a:r>
            <a:r>
              <a:rPr lang="en-US" altLang="en-US">
                <a:latin typeface="Times New Roman" panose="02020603050405020304" pitchFamily="18" charset="0"/>
                <a:cs typeface="Times New Roman" panose="02020603050405020304" pitchFamily="18" charset="0"/>
              </a:rPr>
              <a:t>using the standard system calls</a:t>
            </a:r>
          </a:p>
          <a:p>
            <a:pPr lvl="1" algn="just" eaLnBrk="1" hangingPunct="1"/>
            <a:r>
              <a:rPr lang="en-US" altLang="en-US">
                <a:latin typeface="Times New Roman" panose="02020603050405020304" pitchFamily="18" charset="0"/>
                <a:cs typeface="Times New Roman" panose="02020603050405020304" pitchFamily="18" charset="0"/>
              </a:rPr>
              <a:t>If </a:t>
            </a:r>
            <a:r>
              <a:rPr lang="en-US" altLang="en-US" b="1">
                <a:latin typeface="Times New Roman" panose="02020603050405020304" pitchFamily="18" charset="0"/>
                <a:cs typeface="Times New Roman" panose="02020603050405020304" pitchFamily="18" charset="0"/>
              </a:rPr>
              <a:t>two processes map</a:t>
            </a:r>
            <a:r>
              <a:rPr lang="en-US" altLang="en-US">
                <a:latin typeface="Times New Roman" panose="02020603050405020304" pitchFamily="18" charset="0"/>
                <a:cs typeface="Times New Roman" panose="02020603050405020304" pitchFamily="18" charset="0"/>
              </a:rPr>
              <a:t> onto the </a:t>
            </a:r>
            <a:r>
              <a:rPr lang="en-US" altLang="en-US" b="1">
                <a:latin typeface="Times New Roman" panose="02020603050405020304" pitchFamily="18" charset="0"/>
                <a:cs typeface="Times New Roman" panose="02020603050405020304" pitchFamily="18" charset="0"/>
              </a:rPr>
              <a:t>same file at the same time</a:t>
            </a:r>
            <a:r>
              <a:rPr lang="en-US" altLang="en-US">
                <a:latin typeface="Times New Roman" panose="02020603050405020304" pitchFamily="18" charset="0"/>
                <a:cs typeface="Times New Roman" panose="02020603050405020304" pitchFamily="18" charset="0"/>
              </a:rPr>
              <a:t>, they can </a:t>
            </a:r>
            <a:r>
              <a:rPr lang="en-US" altLang="en-US" b="1">
                <a:latin typeface="Times New Roman" panose="02020603050405020304" pitchFamily="18" charset="0"/>
                <a:cs typeface="Times New Roman" panose="02020603050405020304" pitchFamily="18" charset="0"/>
              </a:rPr>
              <a:t>communicated over shared memory</a:t>
            </a:r>
          </a:p>
          <a:p>
            <a:pPr lvl="2" algn="just" eaLnBrk="1" hangingPunct="1"/>
            <a:r>
              <a:rPr lang="en-US" altLang="en-US">
                <a:latin typeface="Times New Roman" panose="02020603050405020304" pitchFamily="18" charset="0"/>
                <a:cs typeface="Times New Roman" panose="02020603050405020304" pitchFamily="18" charset="0"/>
              </a:rPr>
              <a:t>One </a:t>
            </a:r>
            <a:r>
              <a:rPr lang="en-US" altLang="en-US" b="1">
                <a:latin typeface="Times New Roman" panose="02020603050405020304" pitchFamily="18" charset="0"/>
                <a:cs typeface="Times New Roman" panose="02020603050405020304" pitchFamily="18" charset="0"/>
              </a:rPr>
              <a:t>process</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writing</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done</a:t>
            </a:r>
            <a:r>
              <a:rPr lang="en-US" altLang="en-US">
                <a:latin typeface="Times New Roman" panose="02020603050405020304" pitchFamily="18" charset="0"/>
                <a:cs typeface="Times New Roman" panose="02020603050405020304" pitchFamily="18" charset="0"/>
              </a:rPr>
              <a:t> to the </a:t>
            </a:r>
            <a:r>
              <a:rPr lang="en-US" altLang="en-US" b="1">
                <a:latin typeface="Times New Roman" panose="02020603050405020304" pitchFamily="18" charset="0"/>
                <a:cs typeface="Times New Roman" panose="02020603050405020304" pitchFamily="18" charset="0"/>
              </a:rPr>
              <a:t>share memory </a:t>
            </a:r>
            <a:r>
              <a:rPr lang="en-US" altLang="en-US">
                <a:latin typeface="Times New Roman" panose="02020603050405020304" pitchFamily="18" charset="0"/>
                <a:cs typeface="Times New Roman" panose="02020603050405020304" pitchFamily="18" charset="0"/>
              </a:rPr>
              <a:t>are </a:t>
            </a:r>
            <a:r>
              <a:rPr lang="en-US" altLang="en-US" b="1">
                <a:latin typeface="Times New Roman" panose="02020603050405020304" pitchFamily="18" charset="0"/>
                <a:cs typeface="Times New Roman" panose="02020603050405020304" pitchFamily="18" charset="0"/>
              </a:rPr>
              <a:t>immediately</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visible</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when</a:t>
            </a:r>
            <a:r>
              <a:rPr lang="en-US" altLang="en-US">
                <a:latin typeface="Times New Roman" panose="02020603050405020304" pitchFamily="18" charset="0"/>
                <a:cs typeface="Times New Roman" panose="02020603050405020304" pitchFamily="18" charset="0"/>
              </a:rPr>
              <a:t> the </a:t>
            </a:r>
            <a:r>
              <a:rPr lang="en-US" altLang="en-US" b="1">
                <a:latin typeface="Times New Roman" panose="02020603050405020304" pitchFamily="18" charset="0"/>
                <a:cs typeface="Times New Roman" panose="02020603050405020304" pitchFamily="18" charset="0"/>
              </a:rPr>
              <a:t>others</a:t>
            </a:r>
            <a:r>
              <a:rPr lang="en-US" altLang="en-US">
                <a:latin typeface="Times New Roman" panose="02020603050405020304" pitchFamily="18" charset="0"/>
                <a:cs typeface="Times New Roman" panose="02020603050405020304" pitchFamily="18" charset="0"/>
              </a:rPr>
              <a:t> one </a:t>
            </a:r>
            <a:r>
              <a:rPr lang="en-US" altLang="en-US" b="1">
                <a:latin typeface="Times New Roman" panose="02020603050405020304" pitchFamily="18" charset="0"/>
                <a:cs typeface="Times New Roman" panose="02020603050405020304" pitchFamily="18" charset="0"/>
              </a:rPr>
              <a:t>reads</a:t>
            </a:r>
            <a:r>
              <a:rPr lang="en-US" altLang="en-US">
                <a:latin typeface="Times New Roman" panose="02020603050405020304" pitchFamily="18" charset="0"/>
                <a:cs typeface="Times New Roman" panose="02020603050405020304" pitchFamily="18" charset="0"/>
              </a:rPr>
              <a:t> (</a:t>
            </a:r>
            <a:r>
              <a:rPr lang="en-US" altLang="en-US" b="1">
                <a:latin typeface="Times New Roman" panose="02020603050405020304" pitchFamily="18" charset="0"/>
                <a:cs typeface="Times New Roman" panose="02020603050405020304" pitchFamily="18" charset="0"/>
              </a:rPr>
              <a:t>sharing data and</a:t>
            </a:r>
            <a:r>
              <a:rPr lang="en-US" altLang="en-US">
                <a:latin typeface="Times New Roman" panose="02020603050405020304" pitchFamily="18" charset="0"/>
                <a:cs typeface="Times New Roman" panose="02020603050405020304" pitchFamily="18" charset="0"/>
              </a:rPr>
              <a:t> support to </a:t>
            </a:r>
            <a:r>
              <a:rPr lang="en-US" altLang="en-US" b="1">
                <a:latin typeface="Times New Roman" panose="02020603050405020304" pitchFamily="18" charset="0"/>
                <a:cs typeface="Times New Roman" panose="02020603050405020304" pitchFamily="18" charset="0"/>
              </a:rPr>
              <a:t>copy-on-write</a:t>
            </a:r>
            <a:r>
              <a:rPr lang="en-US" altLang="en-US">
                <a:latin typeface="Times New Roman" panose="02020603050405020304" pitchFamily="18" charset="0"/>
                <a:cs typeface="Times New Roman" panose="02020603050405020304" pitchFamily="18" charset="0"/>
              </a:rPr>
              <a:t>) → Provide high bandwidth channel between process</a:t>
            </a:r>
          </a:p>
          <a:p>
            <a:pPr lvl="2" algn="just" eaLnBrk="1" hangingPunct="1"/>
            <a:r>
              <a:rPr lang="en-US" altLang="en-US" b="1">
                <a:latin typeface="Times New Roman" panose="02020603050405020304" pitchFamily="18" charset="0"/>
                <a:cs typeface="Times New Roman" panose="02020603050405020304" pitchFamily="18" charset="0"/>
              </a:rPr>
              <a:t>Shared libraries </a:t>
            </a:r>
            <a:r>
              <a:rPr lang="en-US" altLang="en-US">
                <a:latin typeface="Times New Roman" panose="02020603050405020304" pitchFamily="18" charset="0"/>
                <a:cs typeface="Times New Roman" panose="02020603050405020304" pitchFamily="18" charset="0"/>
              </a:rPr>
              <a:t>can </a:t>
            </a:r>
            <a:r>
              <a:rPr lang="en-US" altLang="en-US" b="1">
                <a:latin typeface="Times New Roman" panose="02020603050405020304" pitchFamily="18" charset="0"/>
                <a:cs typeface="Times New Roman" panose="02020603050405020304" pitchFamily="18" charset="0"/>
              </a:rPr>
              <a:t>used</a:t>
            </a:r>
            <a:r>
              <a:rPr lang="en-US" altLang="en-US">
                <a:latin typeface="Times New Roman" panose="02020603050405020304" pitchFamily="18" charset="0"/>
                <a:cs typeface="Times New Roman" panose="02020603050405020304" pitchFamily="18" charset="0"/>
              </a:rPr>
              <a:t> this mechanism, if </a:t>
            </a:r>
            <a:r>
              <a:rPr lang="en-US" altLang="en-US" b="1">
                <a:latin typeface="Times New Roman" panose="02020603050405020304" pitchFamily="18" charset="0"/>
                <a:cs typeface="Times New Roman" panose="02020603050405020304" pitchFamily="18" charset="0"/>
              </a:rPr>
              <a:t>memory-mapped file </a:t>
            </a:r>
            <a:r>
              <a:rPr lang="en-US" altLang="en-US">
                <a:latin typeface="Times New Roman" panose="02020603050405020304" pitchFamily="18" charset="0"/>
                <a:cs typeface="Times New Roman" panose="02020603050405020304" pitchFamily="18" charset="0"/>
              </a:rPr>
              <a:t>is available</a:t>
            </a:r>
          </a:p>
        </p:txBody>
      </p:sp>
      <p:sp>
        <p:nvSpPr>
          <p:cNvPr id="25604" name="Rectangle 4"/>
          <p:cNvSpPr>
            <a:spLocks/>
          </p:cNvSpPr>
          <p:nvPr/>
        </p:nvSpPr>
        <p:spPr bwMode="auto">
          <a:xfrm>
            <a:off x="1066800" y="533400"/>
            <a:ext cx="8229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a:r>
              <a:rPr lang="en-US" altLang="en-US" sz="3200">
                <a:latin typeface="Times New Roman" panose="02020603050405020304" pitchFamily="18" charset="0"/>
                <a:cs typeface="Times New Roman" panose="02020603050405020304" pitchFamily="18" charset="0"/>
              </a:rPr>
              <a:t>Memory-Mapped Files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p:cNvSpPr>
          <p:nvPr>
            <p:ph type="title"/>
          </p:nvPr>
        </p:nvSpPr>
        <p:spPr>
          <a:xfrm>
            <a:off x="1524000" y="152400"/>
            <a:ext cx="7924800" cy="9144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Cleaning Policy</a:t>
            </a:r>
          </a:p>
        </p:txBody>
      </p:sp>
      <p:sp>
        <p:nvSpPr>
          <p:cNvPr id="24579" name="Rectangle 3"/>
          <p:cNvSpPr>
            <a:spLocks noGrp="1"/>
          </p:cNvSpPr>
          <p:nvPr>
            <p:ph type="body" idx="1"/>
          </p:nvPr>
        </p:nvSpPr>
        <p:spPr>
          <a:xfrm>
            <a:off x="0" y="1066800"/>
            <a:ext cx="9144000" cy="5791200"/>
          </a:xfrm>
        </p:spPr>
        <p:txBody>
          <a:bodyPr/>
          <a:lstStyle/>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Paging daemon</a:t>
            </a:r>
          </a:p>
          <a:p>
            <a:pPr lvl="1" algn="just">
              <a:lnSpc>
                <a:spcPct val="80000"/>
              </a:lnSpc>
            </a:pPr>
            <a:r>
              <a:rPr lang="en-US" altLang="en-US" sz="2400" dirty="0">
                <a:latin typeface="Times New Roman" panose="02020603050405020304" pitchFamily="18" charset="0"/>
                <a:cs typeface="Times New Roman" panose="02020603050405020304" pitchFamily="18" charset="0"/>
              </a:rPr>
              <a:t>A </a:t>
            </a:r>
            <a:r>
              <a:rPr lang="en-US" altLang="en-US" sz="2400" b="1" dirty="0">
                <a:latin typeface="Times New Roman" panose="02020603050405020304" pitchFamily="18" charset="0"/>
                <a:cs typeface="Times New Roman" panose="02020603050405020304" pitchFamily="18" charset="0"/>
              </a:rPr>
              <a:t>background process sleeps</a:t>
            </a:r>
            <a:r>
              <a:rPr lang="en-US" altLang="en-US" sz="2400" dirty="0">
                <a:latin typeface="Times New Roman" panose="02020603050405020304" pitchFamily="18" charset="0"/>
                <a:cs typeface="Times New Roman" panose="02020603050405020304" pitchFamily="18" charset="0"/>
              </a:rPr>
              <a:t> most of time </a:t>
            </a:r>
            <a:r>
              <a:rPr lang="en-US" altLang="en-US" sz="2400" b="1" dirty="0">
                <a:latin typeface="Times New Roman" panose="02020603050405020304" pitchFamily="18" charset="0"/>
                <a:cs typeface="Times New Roman" panose="02020603050405020304" pitchFamily="18" charset="0"/>
              </a:rPr>
              <a:t>but</a:t>
            </a:r>
            <a:r>
              <a:rPr lang="en-US" altLang="en-US" sz="2400" dirty="0">
                <a:latin typeface="Times New Roman" panose="02020603050405020304" pitchFamily="18" charset="0"/>
                <a:cs typeface="Times New Roman" panose="02020603050405020304" pitchFamily="18" charset="0"/>
              </a:rPr>
              <a:t> is </a:t>
            </a:r>
            <a:r>
              <a:rPr lang="en-US" altLang="en-US" sz="2400" b="1" dirty="0">
                <a:latin typeface="Times New Roman" panose="02020603050405020304" pitchFamily="18" charset="0"/>
                <a:cs typeface="Times New Roman" panose="02020603050405020304" pitchFamily="18" charset="0"/>
              </a:rPr>
              <a:t>awakened</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periodically</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inspect</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state of memory</a:t>
            </a:r>
          </a:p>
          <a:p>
            <a:pPr lvl="1" algn="just">
              <a:lnSpc>
                <a:spcPct val="80000"/>
              </a:lnSpc>
            </a:pPr>
            <a:r>
              <a:rPr lang="en-US" altLang="en-US" sz="2400" b="1" dirty="0">
                <a:latin typeface="Times New Roman" panose="02020603050405020304" pitchFamily="18" charset="0"/>
                <a:cs typeface="Times New Roman" panose="02020603050405020304" pitchFamily="18" charset="0"/>
              </a:rPr>
              <a:t>Ensure</a:t>
            </a:r>
            <a:r>
              <a:rPr lang="en-US" altLang="en-US" sz="2400" dirty="0">
                <a:latin typeface="Times New Roman" panose="02020603050405020304" pitchFamily="18" charset="0"/>
                <a:cs typeface="Times New Roman" panose="02020603050405020304" pitchFamily="18" charset="0"/>
              </a:rPr>
              <a:t> a plentiful of </a:t>
            </a:r>
            <a:r>
              <a:rPr lang="en-US" altLang="en-US" sz="2400" b="1" dirty="0">
                <a:latin typeface="Times New Roman" panose="02020603050405020304" pitchFamily="18" charset="0"/>
                <a:cs typeface="Times New Roman" panose="02020603050405020304" pitchFamily="18" charset="0"/>
              </a:rPr>
              <a:t>free page frame </a:t>
            </a:r>
            <a:r>
              <a:rPr lang="en-US" altLang="en-US" sz="2400" dirty="0">
                <a:latin typeface="Times New Roman" panose="02020603050405020304" pitchFamily="18" charset="0"/>
                <a:cs typeface="Times New Roman" panose="02020603050405020304" pitchFamily="18" charset="0"/>
              </a:rPr>
              <a:t>to paging works best</a:t>
            </a:r>
          </a:p>
          <a:p>
            <a:pPr lvl="1" algn="just">
              <a:lnSpc>
                <a:spcPct val="80000"/>
              </a:lnSpc>
            </a:pPr>
            <a:r>
              <a:rPr lang="en-US" altLang="en-US" sz="2400" dirty="0">
                <a:latin typeface="Times New Roman" panose="02020603050405020304" pitchFamily="18" charset="0"/>
                <a:cs typeface="Times New Roman" panose="02020603050405020304" pitchFamily="18" charset="0"/>
              </a:rPr>
              <a:t>If </a:t>
            </a:r>
            <a:r>
              <a:rPr lang="en-US" altLang="en-US" sz="2400" b="1" dirty="0">
                <a:latin typeface="Times New Roman" panose="02020603050405020304" pitchFamily="18" charset="0"/>
                <a:cs typeface="Times New Roman" panose="02020603050405020304" pitchFamily="18" charset="0"/>
              </a:rPr>
              <a:t>too few page frames </a:t>
            </a:r>
            <a:r>
              <a:rPr lang="en-US" altLang="en-US" sz="2400" dirty="0">
                <a:latin typeface="Times New Roman" panose="02020603050405020304" pitchFamily="18" charset="0"/>
                <a:cs typeface="Times New Roman" panose="02020603050405020304" pitchFamily="18" charset="0"/>
              </a:rPr>
              <a:t>are </a:t>
            </a:r>
            <a:r>
              <a:rPr lang="en-US" altLang="en-US" sz="2400" b="1" dirty="0">
                <a:latin typeface="Times New Roman" panose="02020603050405020304" pitchFamily="18" charset="0"/>
                <a:cs typeface="Times New Roman" panose="02020603050405020304" pitchFamily="18" charset="0"/>
              </a:rPr>
              <a:t>free</a:t>
            </a:r>
            <a:r>
              <a:rPr lang="en-US" altLang="en-US" sz="2400" dirty="0">
                <a:latin typeface="Times New Roman" panose="02020603050405020304" pitchFamily="18" charset="0"/>
                <a:cs typeface="Times New Roman" panose="02020603050405020304" pitchFamily="18" charset="0"/>
              </a:rPr>
              <a:t>, the </a:t>
            </a:r>
            <a:r>
              <a:rPr lang="en-US" altLang="en-US" sz="2400" b="1" dirty="0">
                <a:latin typeface="Times New Roman" panose="02020603050405020304" pitchFamily="18" charset="0"/>
                <a:cs typeface="Times New Roman" panose="02020603050405020304" pitchFamily="18" charset="0"/>
              </a:rPr>
              <a:t>paging daemon begins selecting</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pages</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evict</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using</a:t>
            </a:r>
            <a:r>
              <a:rPr lang="en-US" altLang="en-US" sz="2400" dirty="0">
                <a:latin typeface="Times New Roman" panose="02020603050405020304" pitchFamily="18" charset="0"/>
                <a:cs typeface="Times New Roman" panose="02020603050405020304" pitchFamily="18" charset="0"/>
              </a:rPr>
              <a:t> some </a:t>
            </a:r>
            <a:r>
              <a:rPr lang="en-US" altLang="en-US" sz="2400" b="1" dirty="0">
                <a:latin typeface="Times New Roman" panose="02020603050405020304" pitchFamily="18" charset="0"/>
                <a:cs typeface="Times New Roman" panose="02020603050405020304" pitchFamily="18" charset="0"/>
              </a:rPr>
              <a:t>page replacement algorithm</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then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written</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them</a:t>
            </a:r>
            <a:r>
              <a:rPr lang="en-US" altLang="en-US" sz="2400" dirty="0">
                <a:latin typeface="Times New Roman" panose="02020603050405020304" pitchFamily="18" charset="0"/>
                <a:cs typeface="Times New Roman" panose="02020603050405020304" pitchFamily="18" charset="0"/>
              </a:rPr>
              <a:t> to </a:t>
            </a:r>
            <a:r>
              <a:rPr lang="en-US" altLang="en-US" sz="2400" b="1" dirty="0">
                <a:latin typeface="Times New Roman" panose="02020603050405020304" pitchFamily="18" charset="0"/>
                <a:cs typeface="Times New Roman" panose="02020603050405020304" pitchFamily="18" charset="0"/>
              </a:rPr>
              <a:t>disk</a:t>
            </a:r>
            <a:r>
              <a:rPr lang="en-US" altLang="en-US" sz="2400" dirty="0">
                <a:latin typeface="Times New Roman" panose="02020603050405020304" pitchFamily="18" charset="0"/>
                <a:cs typeface="Times New Roman" panose="02020603050405020304" pitchFamily="18" charset="0"/>
              </a:rPr>
              <a:t> (if it is modified)</a:t>
            </a:r>
          </a:p>
          <a:p>
            <a:pPr lvl="1" algn="just">
              <a:lnSpc>
                <a:spcPct val="80000"/>
              </a:lnSpc>
            </a:pPr>
            <a:r>
              <a:rPr lang="en-US" altLang="en-US" sz="2400" dirty="0">
                <a:latin typeface="Times New Roman" panose="02020603050405020304" pitchFamily="18" charset="0"/>
                <a:cs typeface="Times New Roman" panose="02020603050405020304" pitchFamily="18" charset="0"/>
              </a:rPr>
              <a:t>Requirement</a:t>
            </a:r>
          </a:p>
          <a:p>
            <a:pPr lvl="2" algn="just">
              <a:lnSpc>
                <a:spcPct val="80000"/>
              </a:lnSpc>
            </a:pPr>
            <a:r>
              <a:rPr lang="en-US" altLang="en-US" sz="2000" dirty="0">
                <a:latin typeface="Times New Roman" panose="02020603050405020304" pitchFamily="18" charset="0"/>
                <a:cs typeface="Times New Roman" panose="02020603050405020304" pitchFamily="18" charset="0"/>
              </a:rPr>
              <a:t>The previous contents of page are remembered</a:t>
            </a:r>
          </a:p>
          <a:p>
            <a:pPr lvl="2" algn="just">
              <a:lnSpc>
                <a:spcPct val="80000"/>
              </a:lnSpc>
            </a:pPr>
            <a:r>
              <a:rPr lang="en-US" altLang="en-US" sz="2000" dirty="0">
                <a:latin typeface="Times New Roman" panose="02020603050405020304" pitchFamily="18" charset="0"/>
                <a:cs typeface="Times New Roman" panose="02020603050405020304" pitchFamily="18" charset="0"/>
              </a:rPr>
              <a:t>All the free frames are clean, so the written to disk in a big hurry does not occur	</a:t>
            </a:r>
          </a:p>
          <a:p>
            <a:pPr algn="just">
              <a:lnSpc>
                <a:spcPct val="80000"/>
              </a:lnSpc>
              <a:buClrTx/>
              <a:buSzTx/>
              <a:buFont typeface="Arial" panose="020B0604020202020204" pitchFamily="34" charset="0"/>
              <a:buChar char="•"/>
            </a:pPr>
            <a:r>
              <a:rPr lang="en-US" altLang="en-US" sz="2800" b="1" dirty="0">
                <a:latin typeface="Times New Roman" panose="02020603050405020304" pitchFamily="18" charset="0"/>
                <a:cs typeface="Times New Roman" panose="02020603050405020304" pitchFamily="18" charset="0"/>
              </a:rPr>
              <a:t>Cleaning policy</a:t>
            </a:r>
          </a:p>
          <a:p>
            <a:pPr lvl="1" algn="just">
              <a:lnSpc>
                <a:spcPct val="80000"/>
              </a:lnSpc>
            </a:pPr>
            <a:r>
              <a:rPr lang="en-US" altLang="en-US" sz="2400" b="1" dirty="0">
                <a:latin typeface="Times New Roman" panose="02020603050405020304" pitchFamily="18" charset="0"/>
                <a:cs typeface="Times New Roman" panose="02020603050405020304" pitchFamily="18" charset="0"/>
              </a:rPr>
              <a:t>Using two-handed clock</a:t>
            </a:r>
          </a:p>
          <a:p>
            <a:pPr lvl="2" algn="just">
              <a:lnSpc>
                <a:spcPct val="80000"/>
              </a:lnSpc>
            </a:pPr>
            <a:r>
              <a:rPr lang="en-US" altLang="en-US" sz="2000" b="1" dirty="0">
                <a:latin typeface="Times New Roman" panose="02020603050405020304" pitchFamily="18" charset="0"/>
                <a:cs typeface="Times New Roman" panose="02020603050405020304" pitchFamily="18" charset="0"/>
              </a:rPr>
              <a:t>Front hand is controlled</a:t>
            </a:r>
            <a:r>
              <a:rPr lang="en-US" altLang="en-US" sz="2000" dirty="0">
                <a:latin typeface="Times New Roman" panose="02020603050405020304" pitchFamily="18" charset="0"/>
                <a:cs typeface="Times New Roman" panose="02020603050405020304" pitchFamily="18" charset="0"/>
              </a:rPr>
              <a:t> by the </a:t>
            </a:r>
            <a:r>
              <a:rPr lang="en-US" altLang="en-US" sz="2000" b="1" dirty="0">
                <a:latin typeface="Times New Roman" panose="02020603050405020304" pitchFamily="18" charset="0"/>
                <a:cs typeface="Times New Roman" panose="02020603050405020304" pitchFamily="18" charset="0"/>
              </a:rPr>
              <a:t>paging daemon</a:t>
            </a:r>
            <a:r>
              <a:rPr lang="en-US" altLang="en-US" sz="2000" dirty="0">
                <a:latin typeface="Times New Roman" panose="02020603050405020304" pitchFamily="18" charset="0"/>
                <a:cs typeface="Times New Roman" panose="02020603050405020304" pitchFamily="18" charset="0"/>
              </a:rPr>
              <a:t>. When it points to a dirty page, that page is written back to disk and the front hand is advanced. Otherwise, it is just advanced</a:t>
            </a:r>
          </a:p>
          <a:p>
            <a:pPr lvl="2" algn="just">
              <a:lnSpc>
                <a:spcPct val="80000"/>
              </a:lnSpc>
            </a:pPr>
            <a:r>
              <a:rPr lang="en-US" altLang="en-US" sz="2000" b="1" dirty="0">
                <a:latin typeface="Times New Roman" panose="02020603050405020304" pitchFamily="18" charset="0"/>
                <a:cs typeface="Times New Roman" panose="02020603050405020304" pitchFamily="18" charset="0"/>
              </a:rPr>
              <a:t>Back hand </a:t>
            </a:r>
            <a:r>
              <a:rPr lang="en-US" altLang="en-US" sz="2000" dirty="0">
                <a:latin typeface="Times New Roman" panose="02020603050405020304" pitchFamily="18" charset="0"/>
                <a:cs typeface="Times New Roman" panose="02020603050405020304" pitchFamily="18" charset="0"/>
              </a:rPr>
              <a:t>is </a:t>
            </a:r>
            <a:r>
              <a:rPr lang="en-US" altLang="en-US" sz="2000" b="1" dirty="0">
                <a:latin typeface="Times New Roman" panose="02020603050405020304" pitchFamily="18" charset="0"/>
                <a:cs typeface="Times New Roman" panose="02020603050405020304" pitchFamily="18" charset="0"/>
              </a:rPr>
              <a:t>used</a:t>
            </a:r>
            <a:r>
              <a:rPr lang="en-US" altLang="en-US" sz="2000" dirty="0">
                <a:latin typeface="Times New Roman" panose="02020603050405020304" pitchFamily="18" charset="0"/>
                <a:cs typeface="Times New Roman" panose="02020603050405020304" pitchFamily="18" charset="0"/>
              </a:rPr>
              <a:t> for </a:t>
            </a:r>
            <a:r>
              <a:rPr lang="en-US" altLang="en-US" sz="2000" b="1" dirty="0">
                <a:latin typeface="Times New Roman" panose="02020603050405020304" pitchFamily="18" charset="0"/>
                <a:cs typeface="Times New Roman" panose="02020603050405020304" pitchFamily="18" charset="0"/>
              </a:rPr>
              <a:t>page replacement algorithm </a:t>
            </a:r>
            <a:r>
              <a:rPr lang="en-US" altLang="en-US" sz="2000" dirty="0">
                <a:latin typeface="Times New Roman" panose="02020603050405020304" pitchFamily="18" charset="0"/>
                <a:cs typeface="Times New Roman" panose="02020603050405020304" pitchFamily="18" charset="0"/>
              </a:rPr>
              <a:t>as in the standard </a:t>
            </a:r>
            <a:r>
              <a:rPr lang="en-US" altLang="en-US" sz="2000" b="1" dirty="0">
                <a:latin typeface="Times New Roman" panose="02020603050405020304" pitchFamily="18" charset="0"/>
                <a:cs typeface="Times New Roman" panose="02020603050405020304" pitchFamily="18" charset="0"/>
              </a:rPr>
              <a:t>clock algorithm</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animEffect transition="in" filter="checkerboard(across)">
                                      <p:cBhvr>
                                        <p:cTn id="7" dur="500"/>
                                        <p:tgtEl>
                                          <p:spTgt spid="24579">
                                            <p:txEl>
                                              <p:pRg st="0" end="0"/>
                                            </p:txEl>
                                          </p:spTgt>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24579">
                                            <p:txEl>
                                              <p:pRg st="1" end="1"/>
                                            </p:txEl>
                                          </p:spTgt>
                                        </p:tgtEl>
                                        <p:attrNameLst>
                                          <p:attrName>style.visibility</p:attrName>
                                        </p:attrNameLst>
                                      </p:cBhvr>
                                      <p:to>
                                        <p:strVal val="visible"/>
                                      </p:to>
                                    </p:set>
                                    <p:animEffect transition="in" filter="checkerboard(across)">
                                      <p:cBhvr>
                                        <p:cTn id="10" dur="500"/>
                                        <p:tgtEl>
                                          <p:spTgt spid="24579">
                                            <p:txEl>
                                              <p:pRg st="1" end="1"/>
                                            </p:txEl>
                                          </p:spTgt>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24579">
                                            <p:txEl>
                                              <p:pRg st="2" end="2"/>
                                            </p:txEl>
                                          </p:spTgt>
                                        </p:tgtEl>
                                        <p:attrNameLst>
                                          <p:attrName>style.visibility</p:attrName>
                                        </p:attrNameLst>
                                      </p:cBhvr>
                                      <p:to>
                                        <p:strVal val="visible"/>
                                      </p:to>
                                    </p:set>
                                    <p:animEffect transition="in" filter="checkerboard(across)">
                                      <p:cBhvr>
                                        <p:cTn id="13" dur="500"/>
                                        <p:tgtEl>
                                          <p:spTgt spid="24579">
                                            <p:txEl>
                                              <p:pRg st="2" end="2"/>
                                            </p:txEl>
                                          </p:spTgt>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24579">
                                            <p:txEl>
                                              <p:pRg st="3" end="3"/>
                                            </p:txEl>
                                          </p:spTgt>
                                        </p:tgtEl>
                                        <p:attrNameLst>
                                          <p:attrName>style.visibility</p:attrName>
                                        </p:attrNameLst>
                                      </p:cBhvr>
                                      <p:to>
                                        <p:strVal val="visible"/>
                                      </p:to>
                                    </p:set>
                                    <p:animEffect transition="in" filter="checkerboard(across)">
                                      <p:cBhvr>
                                        <p:cTn id="16" dur="500"/>
                                        <p:tgtEl>
                                          <p:spTgt spid="24579">
                                            <p:txEl>
                                              <p:pRg st="3" end="3"/>
                                            </p:txEl>
                                          </p:spTgt>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4579">
                                            <p:txEl>
                                              <p:pRg st="4" end="4"/>
                                            </p:txEl>
                                          </p:spTgt>
                                        </p:tgtEl>
                                        <p:attrNameLst>
                                          <p:attrName>style.visibility</p:attrName>
                                        </p:attrNameLst>
                                      </p:cBhvr>
                                      <p:to>
                                        <p:strVal val="visible"/>
                                      </p:to>
                                    </p:set>
                                    <p:animEffect transition="in" filter="checkerboard(across)">
                                      <p:cBhvr>
                                        <p:cTn id="19" dur="500"/>
                                        <p:tgtEl>
                                          <p:spTgt spid="24579">
                                            <p:txEl>
                                              <p:pRg st="4" end="4"/>
                                            </p:txEl>
                                          </p:spTgt>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4579">
                                            <p:txEl>
                                              <p:pRg st="5" end="5"/>
                                            </p:txEl>
                                          </p:spTgt>
                                        </p:tgtEl>
                                        <p:attrNameLst>
                                          <p:attrName>style.visibility</p:attrName>
                                        </p:attrNameLst>
                                      </p:cBhvr>
                                      <p:to>
                                        <p:strVal val="visible"/>
                                      </p:to>
                                    </p:set>
                                    <p:animEffect transition="in" filter="checkerboard(across)">
                                      <p:cBhvr>
                                        <p:cTn id="22" dur="500"/>
                                        <p:tgtEl>
                                          <p:spTgt spid="24579">
                                            <p:txEl>
                                              <p:pRg st="5" end="5"/>
                                            </p:txEl>
                                          </p:spTgt>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4579">
                                            <p:txEl>
                                              <p:pRg st="6" end="6"/>
                                            </p:txEl>
                                          </p:spTgt>
                                        </p:tgtEl>
                                        <p:attrNameLst>
                                          <p:attrName>style.visibility</p:attrName>
                                        </p:attrNameLst>
                                      </p:cBhvr>
                                      <p:to>
                                        <p:strVal val="visible"/>
                                      </p:to>
                                    </p:set>
                                    <p:animEffect transition="in" filter="checkerboard(across)">
                                      <p:cBhvr>
                                        <p:cTn id="25" dur="500"/>
                                        <p:tgtEl>
                                          <p:spTgt spid="24579">
                                            <p:txEl>
                                              <p:pRg st="6" end="6"/>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24579">
                                            <p:txEl>
                                              <p:pRg st="7" end="7"/>
                                            </p:txEl>
                                          </p:spTgt>
                                        </p:tgtEl>
                                        <p:attrNameLst>
                                          <p:attrName>style.visibility</p:attrName>
                                        </p:attrNameLst>
                                      </p:cBhvr>
                                      <p:to>
                                        <p:strVal val="visible"/>
                                      </p:to>
                                    </p:set>
                                    <p:animEffect transition="in" filter="checkerboard(across)">
                                      <p:cBhvr>
                                        <p:cTn id="30" dur="500"/>
                                        <p:tgtEl>
                                          <p:spTgt spid="24579">
                                            <p:txEl>
                                              <p:pRg st="7" end="7"/>
                                            </p:txEl>
                                          </p:spTgt>
                                        </p:tgtEl>
                                      </p:cBhvr>
                                    </p:animEffect>
                                  </p:childTnLst>
                                </p:cTn>
                              </p:par>
                              <p:par>
                                <p:cTn id="31" presetID="5" presetClass="entr" presetSubtype="10" fill="hold" grpId="0" nodeType="withEffect">
                                  <p:stCondLst>
                                    <p:cond delay="0"/>
                                  </p:stCondLst>
                                  <p:childTnLst>
                                    <p:set>
                                      <p:cBhvr>
                                        <p:cTn id="32" dur="1" fill="hold">
                                          <p:stCondLst>
                                            <p:cond delay="0"/>
                                          </p:stCondLst>
                                        </p:cTn>
                                        <p:tgtEl>
                                          <p:spTgt spid="24579">
                                            <p:txEl>
                                              <p:pRg st="8" end="8"/>
                                            </p:txEl>
                                          </p:spTgt>
                                        </p:tgtEl>
                                        <p:attrNameLst>
                                          <p:attrName>style.visibility</p:attrName>
                                        </p:attrNameLst>
                                      </p:cBhvr>
                                      <p:to>
                                        <p:strVal val="visible"/>
                                      </p:to>
                                    </p:set>
                                    <p:animEffect transition="in" filter="checkerboard(across)">
                                      <p:cBhvr>
                                        <p:cTn id="33" dur="500"/>
                                        <p:tgtEl>
                                          <p:spTgt spid="24579">
                                            <p:txEl>
                                              <p:pRg st="8" end="8"/>
                                            </p:txEl>
                                          </p:spTgt>
                                        </p:tgtEl>
                                      </p:cBhvr>
                                    </p:animEffect>
                                  </p:childTnLst>
                                </p:cTn>
                              </p:par>
                              <p:par>
                                <p:cTn id="34" presetID="5" presetClass="entr" presetSubtype="10" fill="hold" grpId="0" nodeType="withEffect">
                                  <p:stCondLst>
                                    <p:cond delay="0"/>
                                  </p:stCondLst>
                                  <p:childTnLst>
                                    <p:set>
                                      <p:cBhvr>
                                        <p:cTn id="35" dur="1" fill="hold">
                                          <p:stCondLst>
                                            <p:cond delay="0"/>
                                          </p:stCondLst>
                                        </p:cTn>
                                        <p:tgtEl>
                                          <p:spTgt spid="24579">
                                            <p:txEl>
                                              <p:pRg st="9" end="9"/>
                                            </p:txEl>
                                          </p:spTgt>
                                        </p:tgtEl>
                                        <p:attrNameLst>
                                          <p:attrName>style.visibility</p:attrName>
                                        </p:attrNameLst>
                                      </p:cBhvr>
                                      <p:to>
                                        <p:strVal val="visible"/>
                                      </p:to>
                                    </p:set>
                                    <p:animEffect transition="in" filter="checkerboard(across)">
                                      <p:cBhvr>
                                        <p:cTn id="36" dur="500"/>
                                        <p:tgtEl>
                                          <p:spTgt spid="24579">
                                            <p:txEl>
                                              <p:pRg st="9" end="9"/>
                                            </p:txEl>
                                          </p:spTgt>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24579">
                                            <p:txEl>
                                              <p:pRg st="10" end="10"/>
                                            </p:txEl>
                                          </p:spTgt>
                                        </p:tgtEl>
                                        <p:attrNameLst>
                                          <p:attrName>style.visibility</p:attrName>
                                        </p:attrNameLst>
                                      </p:cBhvr>
                                      <p:to>
                                        <p:strVal val="visible"/>
                                      </p:to>
                                    </p:set>
                                    <p:animEffect transition="in" filter="checkerboard(across)">
                                      <p:cBhvr>
                                        <p:cTn id="39" dur="500"/>
                                        <p:tgtEl>
                                          <p:spTgt spid="24579">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p:cNvSpPr>
          <p:nvPr>
            <p:ph type="title"/>
          </p:nvPr>
        </p:nvSpPr>
        <p:spPr>
          <a:xfrm>
            <a:off x="1676400" y="76200"/>
            <a:ext cx="7620000" cy="1143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Virtual Memory Interface</a:t>
            </a:r>
          </a:p>
        </p:txBody>
      </p:sp>
      <p:sp>
        <p:nvSpPr>
          <p:cNvPr id="25603" name="Rectangle 3"/>
          <p:cNvSpPr>
            <a:spLocks noGrp="1"/>
          </p:cNvSpPr>
          <p:nvPr>
            <p:ph type="body" sz="half" idx="1"/>
          </p:nvPr>
        </p:nvSpPr>
        <p:spPr>
          <a:xfrm>
            <a:off x="0" y="1066800"/>
            <a:ext cx="9144000" cy="5791200"/>
          </a:xfrm>
        </p:spPr>
        <p:txBody>
          <a:bodyPr/>
          <a:lstStyle/>
          <a:p>
            <a:pPr algn="just"/>
            <a:r>
              <a:rPr lang="en-US" altLang="en-US" sz="2800" b="1">
                <a:latin typeface="Times New Roman" panose="02020603050405020304" pitchFamily="18" charset="0"/>
                <a:cs typeface="Times New Roman" panose="02020603050405020304" pitchFamily="18" charset="0"/>
              </a:rPr>
              <a:t>Context</a:t>
            </a:r>
          </a:p>
          <a:p>
            <a:pPr lvl="1" algn="just"/>
            <a:r>
              <a:rPr lang="en-US" altLang="en-US" sz="2400">
                <a:latin typeface="Times New Roman" panose="02020603050405020304" pitchFamily="18" charset="0"/>
                <a:cs typeface="Times New Roman" panose="02020603050405020304" pitchFamily="18" charset="0"/>
              </a:rPr>
              <a:t>The </a:t>
            </a:r>
            <a:r>
              <a:rPr lang="en-US" altLang="en-US" sz="2400" b="1">
                <a:latin typeface="Times New Roman" panose="02020603050405020304" pitchFamily="18" charset="0"/>
                <a:cs typeface="Times New Roman" panose="02020603050405020304" pitchFamily="18" charset="0"/>
              </a:rPr>
              <a:t>large virtual address space </a:t>
            </a:r>
            <a:r>
              <a:rPr lang="en-US" altLang="en-US" sz="2400">
                <a:latin typeface="Times New Roman" panose="02020603050405020304" pitchFamily="18" charset="0"/>
                <a:cs typeface="Times New Roman" panose="02020603050405020304" pitchFamily="18" charset="0"/>
              </a:rPr>
              <a:t>can be </a:t>
            </a:r>
            <a:r>
              <a:rPr lang="en-US" altLang="en-US" sz="2400" b="1">
                <a:latin typeface="Times New Roman" panose="02020603050405020304" pitchFamily="18" charset="0"/>
                <a:cs typeface="Times New Roman" panose="02020603050405020304" pitchFamily="18" charset="0"/>
              </a:rPr>
              <a:t>mapped</a:t>
            </a:r>
            <a:r>
              <a:rPr lang="en-US" altLang="en-US" sz="2400">
                <a:latin typeface="Times New Roman" panose="02020603050405020304" pitchFamily="18" charset="0"/>
                <a:cs typeface="Times New Roman" panose="02020603050405020304" pitchFamily="18" charset="0"/>
              </a:rPr>
              <a:t> with a </a:t>
            </a:r>
            <a:r>
              <a:rPr lang="en-US" altLang="en-US" sz="2400" b="1">
                <a:latin typeface="Times New Roman" panose="02020603050405020304" pitchFamily="18" charset="0"/>
                <a:cs typeface="Times New Roman" panose="02020603050405020304" pitchFamily="18" charset="0"/>
              </a:rPr>
              <a:t>smaller physical memory</a:t>
            </a:r>
          </a:p>
          <a:p>
            <a:pPr lvl="1" algn="just"/>
            <a:r>
              <a:rPr lang="en-US" altLang="en-US" sz="2400">
                <a:latin typeface="Times New Roman" panose="02020603050405020304" pitchFamily="18" charset="0"/>
                <a:cs typeface="Times New Roman" panose="02020603050405020304" pitchFamily="18" charset="0"/>
              </a:rPr>
              <a:t>A </a:t>
            </a:r>
            <a:r>
              <a:rPr lang="en-US" altLang="en-US" sz="2400" b="1">
                <a:latin typeface="Times New Roman" panose="02020603050405020304" pitchFamily="18" charset="0"/>
                <a:cs typeface="Times New Roman" panose="02020603050405020304" pitchFamily="18" charset="0"/>
              </a:rPr>
              <a:t>programmer</a:t>
            </a:r>
            <a:r>
              <a:rPr lang="en-US" altLang="en-US" sz="2400">
                <a:latin typeface="Times New Roman" panose="02020603050405020304" pitchFamily="18" charset="0"/>
                <a:cs typeface="Times New Roman" panose="02020603050405020304" pitchFamily="18" charset="0"/>
              </a:rPr>
              <a:t> can </a:t>
            </a:r>
            <a:r>
              <a:rPr lang="en-US" altLang="en-US" sz="2400" b="1">
                <a:latin typeface="Times New Roman" panose="02020603050405020304" pitchFamily="18" charset="0"/>
                <a:cs typeface="Times New Roman" panose="02020603050405020304" pitchFamily="18" charset="0"/>
              </a:rPr>
              <a:t>controls</a:t>
            </a:r>
            <a:r>
              <a:rPr lang="en-US" altLang="en-US" sz="2400">
                <a:latin typeface="Times New Roman" panose="02020603050405020304" pitchFamily="18" charset="0"/>
                <a:cs typeface="Times New Roman" panose="02020603050405020304" pitchFamily="18" charset="0"/>
              </a:rPr>
              <a:t> over their </a:t>
            </a:r>
            <a:r>
              <a:rPr lang="en-US" altLang="en-US" sz="2400" b="1">
                <a:latin typeface="Times New Roman" panose="02020603050405020304" pitchFamily="18" charset="0"/>
                <a:cs typeface="Times New Roman" panose="02020603050405020304" pitchFamily="18" charset="0"/>
              </a:rPr>
              <a:t>memory map </a:t>
            </a:r>
            <a:r>
              <a:rPr lang="en-US" altLang="en-US" sz="2400">
                <a:latin typeface="Times New Roman" panose="02020603050405020304" pitchFamily="18" charset="0"/>
                <a:cs typeface="Times New Roman" panose="02020603050405020304" pitchFamily="18" charset="0"/>
              </a:rPr>
              <a:t>to </a:t>
            </a:r>
            <a:r>
              <a:rPr lang="en-US" altLang="en-US" sz="2400" b="1">
                <a:latin typeface="Times New Roman" panose="02020603050405020304" pitchFamily="18" charset="0"/>
                <a:cs typeface="Times New Roman" panose="02020603050405020304" pitchFamily="18" charset="0"/>
              </a:rPr>
              <a:t>allow</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many processes to share memory</a:t>
            </a:r>
          </a:p>
          <a:p>
            <a:pPr algn="just"/>
            <a:r>
              <a:rPr lang="en-US" altLang="en-US" sz="2800" b="1">
                <a:latin typeface="Times New Roman" panose="02020603050405020304" pitchFamily="18" charset="0"/>
                <a:cs typeface="Times New Roman" panose="02020603050405020304" pitchFamily="18" charset="0"/>
              </a:rPr>
              <a:t>Share memory</a:t>
            </a:r>
          </a:p>
          <a:p>
            <a:pPr lvl="1" algn="just"/>
            <a:r>
              <a:rPr lang="en-US" altLang="en-US" sz="2400" b="1">
                <a:latin typeface="Times New Roman" panose="02020603050405020304" pitchFamily="18" charset="0"/>
                <a:cs typeface="Times New Roman" panose="02020603050405020304" pitchFamily="18" charset="0"/>
              </a:rPr>
              <a:t>Programmer</a:t>
            </a:r>
            <a:r>
              <a:rPr lang="en-US" altLang="en-US" sz="2400">
                <a:latin typeface="Times New Roman" panose="02020603050405020304" pitchFamily="18" charset="0"/>
                <a:cs typeface="Times New Roman" panose="02020603050405020304" pitchFamily="18" charset="0"/>
              </a:rPr>
              <a:t> can </a:t>
            </a:r>
            <a:r>
              <a:rPr lang="en-US" altLang="en-US" sz="2400" b="1">
                <a:latin typeface="Times New Roman" panose="02020603050405020304" pitchFamily="18" charset="0"/>
                <a:cs typeface="Times New Roman" panose="02020603050405020304" pitchFamily="18" charset="0"/>
              </a:rPr>
              <a:t>name</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regions</a:t>
            </a:r>
            <a:r>
              <a:rPr lang="en-US" altLang="en-US" sz="2400">
                <a:latin typeface="Times New Roman" panose="02020603050405020304" pitchFamily="18" charset="0"/>
                <a:cs typeface="Times New Roman" panose="02020603050405020304" pitchFamily="18" charset="0"/>
              </a:rPr>
              <a:t> of </a:t>
            </a:r>
            <a:r>
              <a:rPr lang="en-US" altLang="en-US" sz="2400" b="1">
                <a:latin typeface="Times New Roman" panose="02020603050405020304" pitchFamily="18" charset="0"/>
                <a:cs typeface="Times New Roman" panose="02020603050405020304" pitchFamily="18" charset="0"/>
              </a:rPr>
              <a:t>their</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memory</a:t>
            </a:r>
          </a:p>
          <a:p>
            <a:pPr lvl="1" algn="just"/>
            <a:r>
              <a:rPr lang="en-US" altLang="en-US" sz="2400" b="1">
                <a:latin typeface="Times New Roman" panose="02020603050405020304" pitchFamily="18" charset="0"/>
                <a:cs typeface="Times New Roman" panose="02020603050405020304" pitchFamily="18" charset="0"/>
              </a:rPr>
              <a:t>Then</a:t>
            </a: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name</a:t>
            </a:r>
            <a:r>
              <a:rPr lang="en-US" altLang="en-US" sz="2400">
                <a:latin typeface="Times New Roman" panose="02020603050405020304" pitchFamily="18" charset="0"/>
                <a:cs typeface="Times New Roman" panose="02020603050405020304" pitchFamily="18" charset="0"/>
              </a:rPr>
              <a:t> of a memory regions can be </a:t>
            </a:r>
            <a:r>
              <a:rPr lang="en-US" altLang="en-US" sz="2400" b="1">
                <a:latin typeface="Times New Roman" panose="02020603050405020304" pitchFamily="18" charset="0"/>
                <a:cs typeface="Times New Roman" panose="02020603050405020304" pitchFamily="18" charset="0"/>
              </a:rPr>
              <a:t>shared</a:t>
            </a:r>
            <a:r>
              <a:rPr lang="en-US" altLang="en-US" sz="2400">
                <a:latin typeface="Times New Roman" panose="02020603050405020304" pitchFamily="18" charset="0"/>
                <a:cs typeface="Times New Roman" panose="02020603050405020304" pitchFamily="18" charset="0"/>
              </a:rPr>
              <a:t> to </a:t>
            </a:r>
            <a:r>
              <a:rPr lang="en-US" altLang="en-US" sz="2400" b="1">
                <a:latin typeface="Times New Roman" panose="02020603050405020304" pitchFamily="18" charset="0"/>
                <a:cs typeface="Times New Roman" panose="02020603050405020304" pitchFamily="18" charset="0"/>
              </a:rPr>
              <a:t>many</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processes</a:t>
            </a:r>
          </a:p>
          <a:p>
            <a:pPr lvl="1"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The </a:t>
            </a:r>
            <a:r>
              <a:rPr lang="en-US" altLang="en-US" sz="2400" b="1">
                <a:latin typeface="Times New Roman" panose="02020603050405020304" pitchFamily="18" charset="0"/>
                <a:cs typeface="Times New Roman" panose="02020603050405020304" pitchFamily="18" charset="0"/>
              </a:rPr>
              <a:t>page</a:t>
            </a:r>
            <a:r>
              <a:rPr lang="en-US" altLang="en-US" sz="2400">
                <a:latin typeface="Times New Roman" panose="02020603050405020304" pitchFamily="18" charset="0"/>
                <a:cs typeface="Times New Roman" panose="02020603050405020304" pitchFamily="18" charset="0"/>
              </a:rPr>
              <a:t> in memory can be </a:t>
            </a:r>
            <a:r>
              <a:rPr lang="en-US" altLang="en-US" sz="2400" b="1">
                <a:latin typeface="Times New Roman" panose="02020603050405020304" pitchFamily="18" charset="0"/>
                <a:cs typeface="Times New Roman" panose="02020603050405020304" pitchFamily="18" charset="0"/>
              </a:rPr>
              <a:t>shared</a:t>
            </a:r>
            <a:r>
              <a:rPr lang="en-US" altLang="en-US" sz="2400">
                <a:latin typeface="Times New Roman" panose="02020603050405020304" pitchFamily="18" charset="0"/>
                <a:cs typeface="Times New Roman" panose="02020603050405020304" pitchFamily="18" charset="0"/>
              </a:rPr>
              <a:t> to </a:t>
            </a:r>
            <a:r>
              <a:rPr lang="en-US" altLang="en-US" sz="2400" b="1">
                <a:latin typeface="Times New Roman" panose="02020603050405020304" pitchFamily="18" charset="0"/>
                <a:cs typeface="Times New Roman" panose="02020603050405020304" pitchFamily="18" charset="0"/>
              </a:rPr>
              <a:t>many processes</a:t>
            </a:r>
          </a:p>
          <a:p>
            <a:pPr lvl="1"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The shared memory region is </a:t>
            </a:r>
            <a:r>
              <a:rPr lang="en-US" altLang="en-US" sz="2400" b="1">
                <a:latin typeface="Times New Roman" panose="02020603050405020304" pitchFamily="18" charset="0"/>
                <a:cs typeface="Times New Roman" panose="02020603050405020304" pitchFamily="18" charset="0"/>
              </a:rPr>
              <a:t>used to write by one process and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read</a:t>
            </a:r>
            <a:r>
              <a:rPr lang="en-US" altLang="en-US" sz="2400">
                <a:latin typeface="Times New Roman" panose="02020603050405020304" pitchFamily="18" charset="0"/>
                <a:cs typeface="Times New Roman" panose="02020603050405020304" pitchFamily="18" charset="0"/>
              </a:rPr>
              <a:t> </a:t>
            </a:r>
            <a:r>
              <a:rPr lang="en-US" altLang="en-US" sz="2400" b="1">
                <a:latin typeface="Times New Roman" panose="02020603050405020304" pitchFamily="18" charset="0"/>
                <a:cs typeface="Times New Roman" panose="02020603050405020304" pitchFamily="18" charset="0"/>
              </a:rPr>
              <a:t>from another process </a:t>
            </a:r>
            <a:r>
              <a:rPr lang="en-US" altLang="en-US" sz="2400">
                <a:latin typeface="Times New Roman" panose="02020603050405020304" pitchFamily="18" charset="0"/>
                <a:cs typeface="Times New Roman" panose="02020603050405020304" pitchFamily="18" charset="0"/>
              </a:rPr>
              <a:t>(pipe mechanism, IPC)</a:t>
            </a:r>
          </a:p>
          <a:p>
            <a:pPr lvl="1"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high bandwidth, enhance the program’s progress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3">
                                            <p:txEl>
                                              <p:pRg st="4" end="4"/>
                                            </p:txEl>
                                          </p:spTgt>
                                        </p:tgtEl>
                                        <p:attrNameLst>
                                          <p:attrName>style.visibility</p:attrName>
                                        </p:attrNameLst>
                                      </p:cBhvr>
                                      <p:to>
                                        <p:strVal val="visible"/>
                                      </p:to>
                                    </p:set>
                                    <p:animEffect transition="in" filter="blinds(horizontal)">
                                      <p:cBhvr>
                                        <p:cTn id="7" dur="500"/>
                                        <p:tgtEl>
                                          <p:spTgt spid="25603">
                                            <p:txEl>
                                              <p:pRg st="4" end="4"/>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25603">
                                            <p:txEl>
                                              <p:pRg st="5" end="5"/>
                                            </p:txEl>
                                          </p:spTgt>
                                        </p:tgtEl>
                                        <p:attrNameLst>
                                          <p:attrName>style.visibility</p:attrName>
                                        </p:attrNameLst>
                                      </p:cBhvr>
                                      <p:to>
                                        <p:strVal val="visible"/>
                                      </p:to>
                                    </p:set>
                                    <p:animEffect transition="in" filter="blinds(horizontal)">
                                      <p:cBhvr>
                                        <p:cTn id="10" dur="500"/>
                                        <p:tgtEl>
                                          <p:spTgt spid="25603">
                                            <p:txEl>
                                              <p:pRg st="5" end="5"/>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25603">
                                            <p:txEl>
                                              <p:pRg st="6" end="6"/>
                                            </p:txEl>
                                          </p:spTgt>
                                        </p:tgtEl>
                                        <p:attrNameLst>
                                          <p:attrName>style.visibility</p:attrName>
                                        </p:attrNameLst>
                                      </p:cBhvr>
                                      <p:to>
                                        <p:strVal val="visible"/>
                                      </p:to>
                                    </p:set>
                                    <p:animEffect transition="in" filter="blinds(horizontal)">
                                      <p:cBhvr>
                                        <p:cTn id="13" dur="500"/>
                                        <p:tgtEl>
                                          <p:spTgt spid="25603">
                                            <p:txEl>
                                              <p:pRg st="6" end="6"/>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25603">
                                            <p:txEl>
                                              <p:pRg st="7" end="7"/>
                                            </p:txEl>
                                          </p:spTgt>
                                        </p:tgtEl>
                                        <p:attrNameLst>
                                          <p:attrName>style.visibility</p:attrName>
                                        </p:attrNameLst>
                                      </p:cBhvr>
                                      <p:to>
                                        <p:strVal val="visible"/>
                                      </p:to>
                                    </p:set>
                                    <p:animEffect transition="in" filter="blinds(horizontal)">
                                      <p:cBhvr>
                                        <p:cTn id="16" dur="500"/>
                                        <p:tgtEl>
                                          <p:spTgt spid="25603">
                                            <p:txEl>
                                              <p:pRg st="7" end="7"/>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25603">
                                            <p:txEl>
                                              <p:pRg st="8" end="8"/>
                                            </p:txEl>
                                          </p:spTgt>
                                        </p:tgtEl>
                                        <p:attrNameLst>
                                          <p:attrName>style.visibility</p:attrName>
                                        </p:attrNameLst>
                                      </p:cBhvr>
                                      <p:to>
                                        <p:strVal val="visible"/>
                                      </p:to>
                                    </p:set>
                                    <p:animEffect transition="in" filter="blinds(horizontal)">
                                      <p:cBhvr>
                                        <p:cTn id="19" dur="500"/>
                                        <p:tgtEl>
                                          <p:spTgt spid="2560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p:cNvSpPr>
          <p:nvPr>
            <p:ph type="title" idx="4294967295"/>
          </p:nvPr>
        </p:nvSpPr>
        <p:spPr>
          <a:xfrm>
            <a:off x="1676400" y="0"/>
            <a:ext cx="7620000" cy="1143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Virtual Memory Interface</a:t>
            </a:r>
          </a:p>
        </p:txBody>
      </p:sp>
      <p:sp>
        <p:nvSpPr>
          <p:cNvPr id="26627" name="Rectangle 3"/>
          <p:cNvSpPr>
            <a:spLocks noGrp="1"/>
          </p:cNvSpPr>
          <p:nvPr>
            <p:ph type="body" sz="half" idx="4294967295"/>
          </p:nvPr>
        </p:nvSpPr>
        <p:spPr>
          <a:xfrm>
            <a:off x="0" y="1066800"/>
            <a:ext cx="9144000" cy="5791200"/>
          </a:xfrm>
        </p:spPr>
        <p:txBody>
          <a:bodyPr/>
          <a:lstStyle/>
          <a:p>
            <a:pPr algn="just"/>
            <a:r>
              <a:rPr lang="en-US" altLang="en-US" sz="2400">
                <a:latin typeface="Times New Roman" panose="02020603050405020304" pitchFamily="18" charset="0"/>
                <a:cs typeface="Times New Roman" panose="02020603050405020304" pitchFamily="18" charset="0"/>
              </a:rPr>
              <a:t>In </a:t>
            </a:r>
            <a:r>
              <a:rPr lang="en-US" altLang="en-US" sz="2400" b="1">
                <a:latin typeface="Times New Roman" panose="02020603050405020304" pitchFamily="18" charset="0"/>
                <a:cs typeface="Times New Roman" panose="02020603050405020304" pitchFamily="18" charset="0"/>
              </a:rPr>
              <a:t>message passing system</a:t>
            </a:r>
            <a:r>
              <a:rPr lang="en-US" altLang="en-US" sz="2400">
                <a:latin typeface="Times New Roman" panose="02020603050405020304" pitchFamily="18" charset="0"/>
                <a:cs typeface="Times New Roman" panose="02020603050405020304" pitchFamily="18" charset="0"/>
              </a:rPr>
              <a:t>, </a:t>
            </a:r>
          </a:p>
          <a:p>
            <a:pPr lvl="1" algn="just"/>
            <a:r>
              <a:rPr lang="en-US" altLang="en-US" sz="2000" b="1">
                <a:latin typeface="Times New Roman" panose="02020603050405020304" pitchFamily="18" charset="0"/>
                <a:cs typeface="Times New Roman" panose="02020603050405020304" pitchFamily="18" charset="0"/>
              </a:rPr>
              <a:t>Problem</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when</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messages</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passed</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data</a:t>
            </a:r>
            <a:r>
              <a:rPr lang="en-US" altLang="en-US" sz="2000">
                <a:latin typeface="Times New Roman" panose="02020603050405020304" pitchFamily="18" charset="0"/>
                <a:cs typeface="Times New Roman" panose="02020603050405020304" pitchFamily="18" charset="0"/>
              </a:rPr>
              <a:t> are </a:t>
            </a:r>
            <a:r>
              <a:rPr lang="en-US" altLang="en-US" sz="2000" b="1">
                <a:latin typeface="Times New Roman" panose="02020603050405020304" pitchFamily="18" charset="0"/>
                <a:cs typeface="Times New Roman" panose="02020603050405020304" pitchFamily="18" charset="0"/>
              </a:rPr>
              <a:t>copied</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from</a:t>
            </a:r>
            <a:r>
              <a:rPr lang="en-US" altLang="en-US" sz="2000">
                <a:latin typeface="Times New Roman" panose="02020603050405020304" pitchFamily="18" charset="0"/>
                <a:cs typeface="Times New Roman" panose="02020603050405020304" pitchFamily="18" charset="0"/>
              </a:rPr>
              <a:t> one </a:t>
            </a:r>
            <a:r>
              <a:rPr lang="en-US" altLang="en-US" sz="2000" b="1">
                <a:latin typeface="Times New Roman" panose="02020603050405020304" pitchFamily="18" charset="0"/>
                <a:cs typeface="Times New Roman" panose="02020603050405020304" pitchFamily="18" charset="0"/>
              </a:rPr>
              <a:t>address</a:t>
            </a:r>
            <a:r>
              <a:rPr lang="en-US" altLang="en-US" sz="2000">
                <a:latin typeface="Times New Roman" panose="02020603050405020304" pitchFamily="18" charset="0"/>
                <a:cs typeface="Times New Roman" panose="02020603050405020304" pitchFamily="18" charset="0"/>
              </a:rPr>
              <a:t> </a:t>
            </a:r>
            <a:r>
              <a:rPr lang="en-US" altLang="en-US" sz="2000" b="1">
                <a:latin typeface="Times New Roman" panose="02020603050405020304" pitchFamily="18" charset="0"/>
                <a:cs typeface="Times New Roman" panose="02020603050405020304" pitchFamily="18" charset="0"/>
              </a:rPr>
              <a:t>space</a:t>
            </a:r>
            <a:r>
              <a:rPr lang="en-US" altLang="en-US" sz="2000">
                <a:latin typeface="Times New Roman" panose="02020603050405020304" pitchFamily="18" charset="0"/>
                <a:cs typeface="Times New Roman" panose="02020603050405020304" pitchFamily="18" charset="0"/>
              </a:rPr>
              <a:t> to </a:t>
            </a:r>
            <a:r>
              <a:rPr lang="en-US" altLang="en-US" sz="2000" b="1">
                <a:latin typeface="Times New Roman" panose="02020603050405020304" pitchFamily="18" charset="0"/>
                <a:cs typeface="Times New Roman" panose="02020603050405020304" pitchFamily="18" charset="0"/>
              </a:rPr>
              <a:t>another</a:t>
            </a:r>
            <a:r>
              <a:rPr lang="en-US" altLang="en-US" sz="2000">
                <a:latin typeface="Times New Roman" panose="02020603050405020304" pitchFamily="18" charset="0"/>
                <a:cs typeface="Times New Roman" panose="02020603050405020304" pitchFamily="18" charset="0"/>
              </a:rPr>
              <a:t> → </a:t>
            </a:r>
            <a:r>
              <a:rPr lang="en-US" altLang="en-US" sz="2000" b="1">
                <a:latin typeface="Times New Roman" panose="02020603050405020304" pitchFamily="18" charset="0"/>
                <a:cs typeface="Times New Roman" panose="02020603050405020304" pitchFamily="18" charset="0"/>
              </a:rPr>
              <a:t>complexity and waste time</a:t>
            </a:r>
          </a:p>
          <a:p>
            <a:pPr algn="just"/>
            <a:r>
              <a:rPr lang="en-US" altLang="en-US" sz="2400" b="1">
                <a:latin typeface="Times New Roman" panose="02020603050405020304" pitchFamily="18" charset="0"/>
                <a:cs typeface="Times New Roman" panose="02020603050405020304" pitchFamily="18" charset="0"/>
              </a:rPr>
              <a:t>Solution</a:t>
            </a:r>
            <a:r>
              <a:rPr lang="en-US" altLang="en-US" sz="2400">
                <a:latin typeface="Times New Roman" panose="02020603050405020304" pitchFamily="18" charset="0"/>
                <a:cs typeface="Times New Roman" panose="02020603050405020304" pitchFamily="18" charset="0"/>
              </a:rPr>
              <a:t>: </a:t>
            </a:r>
          </a:p>
          <a:p>
            <a:pPr lvl="1" algn="just"/>
            <a:r>
              <a:rPr lang="en-US" altLang="en-US" sz="2000" b="1">
                <a:latin typeface="Times New Roman" panose="02020603050405020304" pitchFamily="18" charset="0"/>
                <a:cs typeface="Times New Roman" panose="02020603050405020304" pitchFamily="18" charset="0"/>
              </a:rPr>
              <a:t>Share memory </a:t>
            </a:r>
            <a:r>
              <a:rPr lang="en-US" altLang="en-US" sz="2000">
                <a:latin typeface="Times New Roman" panose="02020603050405020304" pitchFamily="18" charset="0"/>
                <a:cs typeface="Times New Roman" panose="02020603050405020304" pitchFamily="18" charset="0"/>
              </a:rPr>
              <a:t>is </a:t>
            </a:r>
            <a:r>
              <a:rPr lang="en-US" altLang="en-US" sz="2000" b="1">
                <a:latin typeface="Times New Roman" panose="02020603050405020304" pitchFamily="18" charset="0"/>
                <a:cs typeface="Times New Roman" panose="02020603050405020304" pitchFamily="18" charset="0"/>
              </a:rPr>
              <a:t>applied</a:t>
            </a:r>
            <a:r>
              <a:rPr lang="en-US" altLang="en-US" sz="2000">
                <a:latin typeface="Times New Roman" panose="02020603050405020304" pitchFamily="18" charset="0"/>
                <a:cs typeface="Times New Roman" panose="02020603050405020304" pitchFamily="18" charset="0"/>
              </a:rPr>
              <a:t> by </a:t>
            </a:r>
            <a:r>
              <a:rPr lang="en-US" altLang="en-US" sz="2000" b="1">
                <a:latin typeface="Times New Roman" panose="02020603050405020304" pitchFamily="18" charset="0"/>
                <a:cs typeface="Times New Roman" panose="02020603050405020304" pitchFamily="18" charset="0"/>
              </a:rPr>
              <a:t>copying</a:t>
            </a:r>
            <a:r>
              <a:rPr lang="en-US" altLang="en-US" sz="2000">
                <a:latin typeface="Times New Roman" panose="02020603050405020304" pitchFamily="18" charset="0"/>
                <a:cs typeface="Times New Roman" panose="02020603050405020304" pitchFamily="18" charset="0"/>
              </a:rPr>
              <a:t> the </a:t>
            </a:r>
            <a:r>
              <a:rPr lang="en-US" altLang="en-US" sz="2000" b="1">
                <a:latin typeface="Times New Roman" panose="02020603050405020304" pitchFamily="18" charset="0"/>
                <a:cs typeface="Times New Roman" panose="02020603050405020304" pitchFamily="18" charset="0"/>
              </a:rPr>
              <a:t>page names instead</a:t>
            </a:r>
            <a:r>
              <a:rPr lang="en-US" altLang="en-US" sz="2000">
                <a:latin typeface="Times New Roman" panose="02020603050405020304" pitchFamily="18" charset="0"/>
                <a:cs typeface="Times New Roman" panose="02020603050405020304" pitchFamily="18" charset="0"/>
              </a:rPr>
              <a:t> of all the </a:t>
            </a:r>
            <a:r>
              <a:rPr lang="en-US" altLang="en-US" sz="2000" b="1">
                <a:latin typeface="Times New Roman" panose="02020603050405020304" pitchFamily="18" charset="0"/>
                <a:cs typeface="Times New Roman" panose="02020603050405020304" pitchFamily="18" charset="0"/>
              </a:rPr>
              <a:t>data</a:t>
            </a:r>
          </a:p>
          <a:p>
            <a:pPr lvl="2" algn="just"/>
            <a:r>
              <a:rPr lang="en-US" altLang="en-US" sz="1800">
                <a:latin typeface="Times New Roman" panose="02020603050405020304" pitchFamily="18" charset="0"/>
                <a:cs typeface="Times New Roman" panose="02020603050405020304" pitchFamily="18" charset="0"/>
              </a:rPr>
              <a:t>The </a:t>
            </a:r>
            <a:r>
              <a:rPr lang="en-US" altLang="en-US" sz="1800" b="1">
                <a:latin typeface="Times New Roman" panose="02020603050405020304" pitchFamily="18" charset="0"/>
                <a:cs typeface="Times New Roman" panose="02020603050405020304" pitchFamily="18" charset="0"/>
              </a:rPr>
              <a:t>sender</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unmaps</a:t>
            </a:r>
            <a:r>
              <a:rPr lang="en-US" altLang="en-US" sz="1800">
                <a:latin typeface="Times New Roman" panose="02020603050405020304" pitchFamily="18" charset="0"/>
                <a:cs typeface="Times New Roman" panose="02020603050405020304" pitchFamily="18" charset="0"/>
              </a:rPr>
              <a:t> the pages containing the message when the message are passed </a:t>
            </a:r>
          </a:p>
          <a:p>
            <a:pPr lvl="2" algn="just"/>
            <a:r>
              <a:rPr lang="en-US" altLang="en-US" sz="1800">
                <a:latin typeface="Times New Roman" panose="02020603050405020304" pitchFamily="18" charset="0"/>
                <a:cs typeface="Times New Roman" panose="02020603050405020304" pitchFamily="18" charset="0"/>
              </a:rPr>
              <a:t>Then, the </a:t>
            </a:r>
            <a:r>
              <a:rPr lang="en-US" altLang="en-US" sz="1800" b="1">
                <a:latin typeface="Times New Roman" panose="02020603050405020304" pitchFamily="18" charset="0"/>
                <a:cs typeface="Times New Roman" panose="02020603050405020304" pitchFamily="18" charset="0"/>
              </a:rPr>
              <a:t>receiving</a:t>
            </a: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maps</a:t>
            </a:r>
            <a:r>
              <a:rPr lang="en-US" altLang="en-US" sz="1800">
                <a:latin typeface="Times New Roman" panose="02020603050405020304" pitchFamily="18" charset="0"/>
                <a:cs typeface="Times New Roman" panose="02020603050405020304" pitchFamily="18" charset="0"/>
              </a:rPr>
              <a:t> the unmapped pages in (only page names have to be copied)</a:t>
            </a:r>
          </a:p>
          <a:p>
            <a:pPr lvl="2" algn="just">
              <a:buFont typeface="Arial" panose="020B0604020202020204" pitchFamily="34" charset="0"/>
              <a:buNone/>
            </a:pPr>
            <a:r>
              <a:rPr lang="en-US" altLang="en-US" sz="1800">
                <a:latin typeface="Times New Roman" panose="02020603050405020304" pitchFamily="18" charset="0"/>
                <a:cs typeface="Times New Roman" panose="02020603050405020304" pitchFamily="18" charset="0"/>
              </a:rPr>
              <a:t>→ </a:t>
            </a:r>
            <a:r>
              <a:rPr lang="en-US" altLang="en-US" sz="1800" b="1">
                <a:latin typeface="Times New Roman" panose="02020603050405020304" pitchFamily="18" charset="0"/>
                <a:cs typeface="Times New Roman" panose="02020603050405020304" pitchFamily="18" charset="0"/>
              </a:rPr>
              <a:t>high performance</a:t>
            </a:r>
          </a:p>
          <a:p>
            <a:pPr lvl="1" algn="just"/>
            <a:r>
              <a:rPr lang="en-US" altLang="en-US" sz="2000">
                <a:latin typeface="Times New Roman" panose="02020603050405020304" pitchFamily="18" charset="0"/>
                <a:cs typeface="Times New Roman" panose="02020603050405020304" pitchFamily="18" charset="0"/>
              </a:rPr>
              <a:t>In </a:t>
            </a:r>
            <a:r>
              <a:rPr lang="en-US" altLang="en-US" sz="2000" b="1">
                <a:latin typeface="Times New Roman" panose="02020603050405020304" pitchFamily="18" charset="0"/>
                <a:cs typeface="Times New Roman" panose="02020603050405020304" pitchFamily="18" charset="0"/>
              </a:rPr>
              <a:t>distributed application</a:t>
            </a:r>
            <a:r>
              <a:rPr lang="en-US" altLang="en-US" sz="2000">
                <a:latin typeface="Times New Roman" panose="02020603050405020304" pitchFamily="18" charset="0"/>
                <a:cs typeface="Times New Roman" panose="02020603050405020304" pitchFamily="18" charset="0"/>
              </a:rPr>
              <a:t>,</a:t>
            </a:r>
          </a:p>
          <a:p>
            <a:pPr lvl="2" algn="just"/>
            <a:r>
              <a:rPr lang="en-US" altLang="en-US" sz="1600">
                <a:latin typeface="Times New Roman" panose="02020603050405020304" pitchFamily="18" charset="0"/>
                <a:cs typeface="Times New Roman" panose="02020603050405020304" pitchFamily="18" charset="0"/>
              </a:rPr>
              <a:t>When a </a:t>
            </a:r>
            <a:r>
              <a:rPr lang="en-US" altLang="en-US" sz="1600" b="1">
                <a:latin typeface="Times New Roman" panose="02020603050405020304" pitchFamily="18" charset="0"/>
                <a:cs typeface="Times New Roman" panose="02020603050405020304" pitchFamily="18" charset="0"/>
              </a:rPr>
              <a:t>process</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references</a:t>
            </a:r>
            <a:r>
              <a:rPr lang="en-US" altLang="en-US" sz="1600">
                <a:latin typeface="Times New Roman" panose="02020603050405020304" pitchFamily="18" charset="0"/>
                <a:cs typeface="Times New Roman" panose="02020603050405020304" pitchFamily="18" charset="0"/>
              </a:rPr>
              <a:t> a </a:t>
            </a:r>
            <a:r>
              <a:rPr lang="en-US" altLang="en-US" sz="1600" b="1">
                <a:latin typeface="Times New Roman" panose="02020603050405020304" pitchFamily="18" charset="0"/>
                <a:cs typeface="Times New Roman" panose="02020603050405020304" pitchFamily="18" charset="0"/>
              </a:rPr>
              <a:t>page</a:t>
            </a:r>
            <a:r>
              <a:rPr lang="en-US" altLang="en-US" sz="1600">
                <a:latin typeface="Times New Roman" panose="02020603050405020304" pitchFamily="18" charset="0"/>
                <a:cs typeface="Times New Roman" panose="02020603050405020304" pitchFamily="18" charset="0"/>
              </a:rPr>
              <a:t> that is </a:t>
            </a:r>
            <a:r>
              <a:rPr lang="en-US" altLang="en-US" sz="1600" b="1">
                <a:latin typeface="Times New Roman" panose="02020603050405020304" pitchFamily="18" charset="0"/>
                <a:cs typeface="Times New Roman" panose="02020603050405020304" pitchFamily="18" charset="0"/>
              </a:rPr>
              <a:t>not mapped </a:t>
            </a:r>
            <a:r>
              <a:rPr lang="en-US" altLang="en-US" sz="1600">
                <a:latin typeface="Times New Roman" panose="02020603050405020304" pitchFamily="18" charset="0"/>
                <a:cs typeface="Times New Roman" panose="02020603050405020304" pitchFamily="18" charset="0"/>
              </a:rPr>
              <a:t>in, the </a:t>
            </a:r>
            <a:r>
              <a:rPr lang="en-US" altLang="en-US" sz="1600" b="1">
                <a:latin typeface="Times New Roman" panose="02020603050405020304" pitchFamily="18" charset="0"/>
                <a:cs typeface="Times New Roman" panose="02020603050405020304" pitchFamily="18" charset="0"/>
              </a:rPr>
              <a:t>page fault </a:t>
            </a:r>
            <a:r>
              <a:rPr lang="en-US" altLang="en-US" sz="1600">
                <a:latin typeface="Times New Roman" panose="02020603050405020304" pitchFamily="18" charset="0"/>
                <a:cs typeface="Times New Roman" panose="02020603050405020304" pitchFamily="18" charset="0"/>
              </a:rPr>
              <a:t>occurs</a:t>
            </a:r>
          </a:p>
          <a:p>
            <a:pPr lvl="2" algn="just"/>
            <a:r>
              <a:rPr lang="en-US" altLang="en-US" sz="1600">
                <a:latin typeface="Times New Roman" panose="02020603050405020304" pitchFamily="18" charset="0"/>
                <a:cs typeface="Times New Roman" panose="02020603050405020304" pitchFamily="18" charset="0"/>
              </a:rPr>
              <a:t>The </a:t>
            </a:r>
            <a:r>
              <a:rPr lang="en-US" altLang="en-US" sz="1600" b="1">
                <a:latin typeface="Times New Roman" panose="02020603050405020304" pitchFamily="18" charset="0"/>
                <a:cs typeface="Times New Roman" panose="02020603050405020304" pitchFamily="18" charset="0"/>
              </a:rPr>
              <a:t>page fault handler</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locates</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machine</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holding</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page</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and</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sends</a:t>
            </a:r>
            <a:r>
              <a:rPr lang="en-US" altLang="en-US" sz="1600">
                <a:latin typeface="Times New Roman" panose="02020603050405020304" pitchFamily="18" charset="0"/>
                <a:cs typeface="Times New Roman" panose="02020603050405020304" pitchFamily="18" charset="0"/>
              </a:rPr>
              <a:t> it a </a:t>
            </a:r>
            <a:r>
              <a:rPr lang="en-US" altLang="en-US" sz="1600" b="1">
                <a:latin typeface="Times New Roman" panose="02020603050405020304" pitchFamily="18" charset="0"/>
                <a:cs typeface="Times New Roman" panose="02020603050405020304" pitchFamily="18" charset="0"/>
              </a:rPr>
              <a:t>message</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asking</a:t>
            </a:r>
            <a:r>
              <a:rPr lang="en-US" altLang="en-US" sz="1600">
                <a:latin typeface="Times New Roman" panose="02020603050405020304" pitchFamily="18" charset="0"/>
                <a:cs typeface="Times New Roman" panose="02020603050405020304" pitchFamily="18" charset="0"/>
              </a:rPr>
              <a:t> it to </a:t>
            </a:r>
            <a:r>
              <a:rPr lang="en-US" altLang="en-US" sz="1600" b="1">
                <a:latin typeface="Times New Roman" panose="02020603050405020304" pitchFamily="18" charset="0"/>
                <a:cs typeface="Times New Roman" panose="02020603050405020304" pitchFamily="18" charset="0"/>
              </a:rPr>
              <a:t>unmap</a:t>
            </a:r>
            <a:r>
              <a:rPr lang="en-US" altLang="en-US" sz="1600">
                <a:latin typeface="Times New Roman" panose="02020603050405020304" pitchFamily="18" charset="0"/>
                <a:cs typeface="Times New Roman" panose="02020603050405020304" pitchFamily="18" charset="0"/>
              </a:rPr>
              <a:t> the page </a:t>
            </a:r>
            <a:r>
              <a:rPr lang="en-US" altLang="en-US" sz="1600" b="1">
                <a:latin typeface="Times New Roman" panose="02020603050405020304" pitchFamily="18" charset="0"/>
                <a:cs typeface="Times New Roman" panose="02020603050405020304" pitchFamily="18" charset="0"/>
              </a:rPr>
              <a:t>and</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send</a:t>
            </a:r>
            <a:r>
              <a:rPr lang="en-US" altLang="en-US" sz="1600">
                <a:latin typeface="Times New Roman" panose="02020603050405020304" pitchFamily="18" charset="0"/>
                <a:cs typeface="Times New Roman" panose="02020603050405020304" pitchFamily="18" charset="0"/>
              </a:rPr>
              <a:t> it </a:t>
            </a:r>
            <a:r>
              <a:rPr lang="en-US" altLang="en-US" sz="1600" b="1">
                <a:latin typeface="Times New Roman" panose="02020603050405020304" pitchFamily="18" charset="0"/>
                <a:cs typeface="Times New Roman" panose="02020603050405020304" pitchFamily="18" charset="0"/>
              </a:rPr>
              <a:t>over the network</a:t>
            </a:r>
          </a:p>
          <a:p>
            <a:pPr lvl="2" algn="just"/>
            <a:r>
              <a:rPr lang="en-US" altLang="en-US" sz="1600" b="1">
                <a:latin typeface="Times New Roman" panose="02020603050405020304" pitchFamily="18" charset="0"/>
                <a:cs typeface="Times New Roman" panose="02020603050405020304" pitchFamily="18" charset="0"/>
              </a:rPr>
              <a:t>When</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page</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arrives</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it</a:t>
            </a:r>
            <a:r>
              <a:rPr lang="en-US" altLang="en-US" sz="1600">
                <a:latin typeface="Times New Roman" panose="02020603050405020304" pitchFamily="18" charset="0"/>
                <a:cs typeface="Times New Roman" panose="02020603050405020304" pitchFamily="18" charset="0"/>
              </a:rPr>
              <a:t> is </a:t>
            </a:r>
            <a:r>
              <a:rPr lang="en-US" altLang="en-US" sz="1600" b="1">
                <a:latin typeface="Times New Roman" panose="02020603050405020304" pitchFamily="18" charset="0"/>
                <a:cs typeface="Times New Roman" panose="02020603050405020304" pitchFamily="18" charset="0"/>
              </a:rPr>
              <a:t>mapped</a:t>
            </a:r>
            <a:r>
              <a:rPr lang="en-US" altLang="en-US" sz="1600">
                <a:latin typeface="Times New Roman" panose="02020603050405020304" pitchFamily="18" charset="0"/>
                <a:cs typeface="Times New Roman" panose="02020603050405020304" pitchFamily="18" charset="0"/>
              </a:rPr>
              <a:t> in </a:t>
            </a:r>
            <a:r>
              <a:rPr lang="en-US" altLang="en-US" sz="1600" b="1">
                <a:latin typeface="Times New Roman" panose="02020603050405020304" pitchFamily="18" charset="0"/>
                <a:cs typeface="Times New Roman" panose="02020603050405020304" pitchFamily="18" charset="0"/>
              </a:rPr>
              <a:t>and</a:t>
            </a:r>
            <a:r>
              <a:rPr lang="en-US" altLang="en-US" sz="1600">
                <a:latin typeface="Times New Roman" panose="02020603050405020304" pitchFamily="18" charset="0"/>
                <a:cs typeface="Times New Roman" panose="02020603050405020304" pitchFamily="18" charset="0"/>
              </a:rPr>
              <a:t> the </a:t>
            </a:r>
            <a:r>
              <a:rPr lang="en-US" altLang="en-US" sz="1600" b="1">
                <a:latin typeface="Times New Roman" panose="02020603050405020304" pitchFamily="18" charset="0"/>
                <a:cs typeface="Times New Roman" panose="02020603050405020304" pitchFamily="18" charset="0"/>
              </a:rPr>
              <a:t>fault</a:t>
            </a:r>
            <a:r>
              <a:rPr lang="en-US" altLang="en-US" sz="1600">
                <a:latin typeface="Times New Roman" panose="02020603050405020304" pitchFamily="18" charset="0"/>
                <a:cs typeface="Times New Roman" panose="02020603050405020304" pitchFamily="18" charset="0"/>
              </a:rPr>
              <a:t> </a:t>
            </a:r>
            <a:r>
              <a:rPr lang="en-US" altLang="en-US" sz="1600" b="1">
                <a:latin typeface="Times New Roman" panose="02020603050405020304" pitchFamily="18" charset="0"/>
                <a:cs typeface="Times New Roman" panose="02020603050405020304" pitchFamily="18" charset="0"/>
              </a:rPr>
              <a:t>instruction</a:t>
            </a:r>
            <a:r>
              <a:rPr lang="en-US" altLang="en-US" sz="1600">
                <a:latin typeface="Times New Roman" panose="02020603050405020304" pitchFamily="18" charset="0"/>
                <a:cs typeface="Times New Roman" panose="02020603050405020304" pitchFamily="18" charset="0"/>
              </a:rPr>
              <a:t> is </a:t>
            </a:r>
            <a:r>
              <a:rPr lang="en-US" altLang="en-US" sz="1600" b="1">
                <a:latin typeface="Times New Roman" panose="02020603050405020304" pitchFamily="18" charset="0"/>
                <a:cs typeface="Times New Roman" panose="02020603050405020304" pitchFamily="18" charset="0"/>
              </a:rPr>
              <a:t>restarted</a:t>
            </a:r>
          </a:p>
          <a:p>
            <a:pPr lvl="2" algn="just">
              <a:buFont typeface="Arial" panose="020B0604020202020204" pitchFamily="34" charset="0"/>
              <a:buNone/>
            </a:pPr>
            <a:r>
              <a:rPr lang="en-US" altLang="en-US" sz="1600">
                <a:latin typeface="Times New Roman" panose="02020603050405020304" pitchFamily="18" charset="0"/>
                <a:cs typeface="Times New Roman" panose="02020603050405020304" pitchFamily="18" charset="0"/>
              </a:rPr>
              <a:t>→ Allow multiple process over a network to share a set of pages (high performance)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26627">
                                            <p:txEl>
                                              <p:pRg st="2" end="2"/>
                                            </p:txEl>
                                          </p:spTgt>
                                        </p:tgtEl>
                                        <p:attrNameLst>
                                          <p:attrName>style.visibility</p:attrName>
                                        </p:attrNameLst>
                                      </p:cBhvr>
                                      <p:to>
                                        <p:strVal val="visible"/>
                                      </p:to>
                                    </p:set>
                                    <p:animEffect transition="in" filter="checkerboard(across)">
                                      <p:cBhvr>
                                        <p:cTn id="7" dur="500"/>
                                        <p:tgtEl>
                                          <p:spTgt spid="2662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6627">
                                            <p:txEl>
                                              <p:pRg st="3" end="3"/>
                                            </p:txEl>
                                          </p:spTgt>
                                        </p:tgtEl>
                                        <p:attrNameLst>
                                          <p:attrName>style.visibility</p:attrName>
                                        </p:attrNameLst>
                                      </p:cBhvr>
                                      <p:to>
                                        <p:strVal val="visible"/>
                                      </p:to>
                                    </p:set>
                                    <p:animEffect transition="in" filter="checkerboard(across)">
                                      <p:cBhvr>
                                        <p:cTn id="12" dur="500"/>
                                        <p:tgtEl>
                                          <p:spTgt spid="26627">
                                            <p:txEl>
                                              <p:pRg st="3" end="3"/>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26627">
                                            <p:txEl>
                                              <p:pRg st="4" end="4"/>
                                            </p:txEl>
                                          </p:spTgt>
                                        </p:tgtEl>
                                        <p:attrNameLst>
                                          <p:attrName>style.visibility</p:attrName>
                                        </p:attrNameLst>
                                      </p:cBhvr>
                                      <p:to>
                                        <p:strVal val="visible"/>
                                      </p:to>
                                    </p:set>
                                    <p:animEffect transition="in" filter="checkerboard(across)">
                                      <p:cBhvr>
                                        <p:cTn id="15" dur="500"/>
                                        <p:tgtEl>
                                          <p:spTgt spid="26627">
                                            <p:txEl>
                                              <p:pRg st="4" end="4"/>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26627">
                                            <p:txEl>
                                              <p:pRg st="5" end="5"/>
                                            </p:txEl>
                                          </p:spTgt>
                                        </p:tgtEl>
                                        <p:attrNameLst>
                                          <p:attrName>style.visibility</p:attrName>
                                        </p:attrNameLst>
                                      </p:cBhvr>
                                      <p:to>
                                        <p:strVal val="visible"/>
                                      </p:to>
                                    </p:set>
                                    <p:animEffect transition="in" filter="checkerboard(across)">
                                      <p:cBhvr>
                                        <p:cTn id="18" dur="500"/>
                                        <p:tgtEl>
                                          <p:spTgt spid="26627">
                                            <p:txEl>
                                              <p:pRg st="5" end="5"/>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26627">
                                            <p:txEl>
                                              <p:pRg st="6" end="6"/>
                                            </p:txEl>
                                          </p:spTgt>
                                        </p:tgtEl>
                                        <p:attrNameLst>
                                          <p:attrName>style.visibility</p:attrName>
                                        </p:attrNameLst>
                                      </p:cBhvr>
                                      <p:to>
                                        <p:strVal val="visible"/>
                                      </p:to>
                                    </p:set>
                                    <p:animEffect transition="in" filter="checkerboard(across)">
                                      <p:cBhvr>
                                        <p:cTn id="21" dur="500"/>
                                        <p:tgtEl>
                                          <p:spTgt spid="26627">
                                            <p:txEl>
                                              <p:pRg st="6" end="6"/>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5" presetClass="entr" presetSubtype="10" fill="hold" nodeType="clickEffect">
                                  <p:stCondLst>
                                    <p:cond delay="0"/>
                                  </p:stCondLst>
                                  <p:childTnLst>
                                    <p:set>
                                      <p:cBhvr>
                                        <p:cTn id="25" dur="1" fill="hold">
                                          <p:stCondLst>
                                            <p:cond delay="0"/>
                                          </p:stCondLst>
                                        </p:cTn>
                                        <p:tgtEl>
                                          <p:spTgt spid="26627">
                                            <p:txEl>
                                              <p:pRg st="7" end="7"/>
                                            </p:txEl>
                                          </p:spTgt>
                                        </p:tgtEl>
                                        <p:attrNameLst>
                                          <p:attrName>style.visibility</p:attrName>
                                        </p:attrNameLst>
                                      </p:cBhvr>
                                      <p:to>
                                        <p:strVal val="visible"/>
                                      </p:to>
                                    </p:set>
                                    <p:animEffect transition="in" filter="checkerboard(across)">
                                      <p:cBhvr>
                                        <p:cTn id="26" dur="500"/>
                                        <p:tgtEl>
                                          <p:spTgt spid="26627">
                                            <p:txEl>
                                              <p:pRg st="7" end="7"/>
                                            </p:txEl>
                                          </p:spTgt>
                                        </p:tgtEl>
                                      </p:cBhvr>
                                    </p:animEffect>
                                  </p:childTnLst>
                                </p:cTn>
                              </p:par>
                              <p:par>
                                <p:cTn id="27" presetID="5" presetClass="entr" presetSubtype="10" fill="hold" nodeType="withEffect">
                                  <p:stCondLst>
                                    <p:cond delay="0"/>
                                  </p:stCondLst>
                                  <p:childTnLst>
                                    <p:set>
                                      <p:cBhvr>
                                        <p:cTn id="28" dur="1" fill="hold">
                                          <p:stCondLst>
                                            <p:cond delay="0"/>
                                          </p:stCondLst>
                                        </p:cTn>
                                        <p:tgtEl>
                                          <p:spTgt spid="26627">
                                            <p:txEl>
                                              <p:pRg st="8" end="8"/>
                                            </p:txEl>
                                          </p:spTgt>
                                        </p:tgtEl>
                                        <p:attrNameLst>
                                          <p:attrName>style.visibility</p:attrName>
                                        </p:attrNameLst>
                                      </p:cBhvr>
                                      <p:to>
                                        <p:strVal val="visible"/>
                                      </p:to>
                                    </p:set>
                                    <p:animEffect transition="in" filter="checkerboard(across)">
                                      <p:cBhvr>
                                        <p:cTn id="29" dur="500"/>
                                        <p:tgtEl>
                                          <p:spTgt spid="26627">
                                            <p:txEl>
                                              <p:pRg st="8" end="8"/>
                                            </p:txEl>
                                          </p:spTgt>
                                        </p:tgtEl>
                                      </p:cBhvr>
                                    </p:animEffect>
                                  </p:childTnLst>
                                </p:cTn>
                              </p:par>
                              <p:par>
                                <p:cTn id="30" presetID="5" presetClass="entr" presetSubtype="10" fill="hold" nodeType="withEffect">
                                  <p:stCondLst>
                                    <p:cond delay="0"/>
                                  </p:stCondLst>
                                  <p:childTnLst>
                                    <p:set>
                                      <p:cBhvr>
                                        <p:cTn id="31" dur="1" fill="hold">
                                          <p:stCondLst>
                                            <p:cond delay="0"/>
                                          </p:stCondLst>
                                        </p:cTn>
                                        <p:tgtEl>
                                          <p:spTgt spid="26627">
                                            <p:txEl>
                                              <p:pRg st="9" end="9"/>
                                            </p:txEl>
                                          </p:spTgt>
                                        </p:tgtEl>
                                        <p:attrNameLst>
                                          <p:attrName>style.visibility</p:attrName>
                                        </p:attrNameLst>
                                      </p:cBhvr>
                                      <p:to>
                                        <p:strVal val="visible"/>
                                      </p:to>
                                    </p:set>
                                    <p:animEffect transition="in" filter="checkerboard(across)">
                                      <p:cBhvr>
                                        <p:cTn id="32" dur="500"/>
                                        <p:tgtEl>
                                          <p:spTgt spid="26627">
                                            <p:txEl>
                                              <p:pRg st="9" end="9"/>
                                            </p:txEl>
                                          </p:spTgt>
                                        </p:tgtEl>
                                      </p:cBhvr>
                                    </p:animEffect>
                                  </p:childTnLst>
                                </p:cTn>
                              </p:par>
                              <p:par>
                                <p:cTn id="33" presetID="5" presetClass="entr" presetSubtype="10" fill="hold" nodeType="withEffect">
                                  <p:stCondLst>
                                    <p:cond delay="0"/>
                                  </p:stCondLst>
                                  <p:childTnLst>
                                    <p:set>
                                      <p:cBhvr>
                                        <p:cTn id="34" dur="1" fill="hold">
                                          <p:stCondLst>
                                            <p:cond delay="0"/>
                                          </p:stCondLst>
                                        </p:cTn>
                                        <p:tgtEl>
                                          <p:spTgt spid="26627">
                                            <p:txEl>
                                              <p:pRg st="10" end="10"/>
                                            </p:txEl>
                                          </p:spTgt>
                                        </p:tgtEl>
                                        <p:attrNameLst>
                                          <p:attrName>style.visibility</p:attrName>
                                        </p:attrNameLst>
                                      </p:cBhvr>
                                      <p:to>
                                        <p:strVal val="visible"/>
                                      </p:to>
                                    </p:set>
                                    <p:animEffect transition="in" filter="checkerboard(across)">
                                      <p:cBhvr>
                                        <p:cTn id="35" dur="500"/>
                                        <p:tgtEl>
                                          <p:spTgt spid="26627">
                                            <p:txEl>
                                              <p:pRg st="10" end="10"/>
                                            </p:txEl>
                                          </p:spTgt>
                                        </p:tgtEl>
                                      </p:cBhvr>
                                    </p:animEffect>
                                  </p:childTnLst>
                                </p:cTn>
                              </p:par>
                              <p:par>
                                <p:cTn id="36" presetID="5" presetClass="entr" presetSubtype="10" fill="hold" nodeType="withEffect">
                                  <p:stCondLst>
                                    <p:cond delay="0"/>
                                  </p:stCondLst>
                                  <p:childTnLst>
                                    <p:set>
                                      <p:cBhvr>
                                        <p:cTn id="37" dur="1" fill="hold">
                                          <p:stCondLst>
                                            <p:cond delay="0"/>
                                          </p:stCondLst>
                                        </p:cTn>
                                        <p:tgtEl>
                                          <p:spTgt spid="26627">
                                            <p:txEl>
                                              <p:pRg st="11" end="11"/>
                                            </p:txEl>
                                          </p:spTgt>
                                        </p:tgtEl>
                                        <p:attrNameLst>
                                          <p:attrName>style.visibility</p:attrName>
                                        </p:attrNameLst>
                                      </p:cBhvr>
                                      <p:to>
                                        <p:strVal val="visible"/>
                                      </p:to>
                                    </p:set>
                                    <p:animEffect transition="in" filter="checkerboard(across)">
                                      <p:cBhvr>
                                        <p:cTn id="38" dur="500"/>
                                        <p:tgtEl>
                                          <p:spTgt spid="26627">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5208588"/>
            <a:ext cx="4419600" cy="1563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2"/>
          <p:cNvSpPr>
            <a:spLocks noGrp="1"/>
          </p:cNvSpPr>
          <p:nvPr>
            <p:ph type="title" idx="4294967295"/>
          </p:nvPr>
        </p:nvSpPr>
        <p:spPr>
          <a:xfrm>
            <a:off x="1676400" y="0"/>
            <a:ext cx="7620000" cy="1143000"/>
          </a:xfrm>
        </p:spPr>
        <p:txBody>
          <a:bodyPr/>
          <a:lstStyle/>
          <a:p>
            <a:r>
              <a:rPr lang="en-US" altLang="en-US" sz="4000" b="1">
                <a:latin typeface="Times New Roman" panose="02020603050405020304" pitchFamily="18" charset="0"/>
                <a:cs typeface="Times New Roman" panose="02020603050405020304" pitchFamily="18" charset="0"/>
              </a:rPr>
              <a:t>Design Issues for Paging System </a:t>
            </a:r>
            <a:br>
              <a:rPr lang="en-US" altLang="en-US" sz="4000" b="1">
                <a:latin typeface="Times New Roman" panose="02020603050405020304" pitchFamily="18" charset="0"/>
                <a:cs typeface="Times New Roman" panose="02020603050405020304" pitchFamily="18" charset="0"/>
              </a:rPr>
            </a:br>
            <a:r>
              <a:rPr lang="en-US" altLang="en-US" sz="4000" b="1">
                <a:latin typeface="Times New Roman" panose="02020603050405020304" pitchFamily="18" charset="0"/>
                <a:cs typeface="Times New Roman" panose="02020603050405020304" pitchFamily="18" charset="0"/>
              </a:rPr>
              <a:t> </a:t>
            </a:r>
            <a:r>
              <a:rPr lang="en-US" altLang="en-US" sz="3200">
                <a:latin typeface="Times New Roman" panose="02020603050405020304" pitchFamily="18" charset="0"/>
                <a:cs typeface="Times New Roman" panose="02020603050405020304" pitchFamily="18" charset="0"/>
              </a:rPr>
              <a:t>Virtual Memory Interface</a:t>
            </a:r>
          </a:p>
        </p:txBody>
      </p:sp>
      <p:pic>
        <p:nvPicPr>
          <p:cNvPr id="2970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1066800"/>
            <a:ext cx="541020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3657600"/>
            <a:ext cx="4953000" cy="167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Summary</a:t>
            </a:r>
          </a:p>
        </p:txBody>
      </p:sp>
      <p:sp>
        <p:nvSpPr>
          <p:cNvPr id="30723"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Design Issues for Paging Systems</a:t>
            </a:r>
          </a:p>
        </p:txBody>
      </p:sp>
      <p:sp>
        <p:nvSpPr>
          <p:cNvPr id="30724" name="Text Box 4"/>
          <p:cNvSpPr txBox="1">
            <a:spLocks noChangeArrowheads="1"/>
          </p:cNvSpPr>
          <p:nvPr/>
        </p:nvSpPr>
        <p:spPr bwMode="auto">
          <a:xfrm>
            <a:off x="1295400" y="4800600"/>
            <a:ext cx="6629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en-US" sz="4000">
                <a:latin typeface="Times New Roman" panose="02020603050405020304" pitchFamily="18" charset="0"/>
                <a:cs typeface="Times New Roman" panose="02020603050405020304" pitchFamily="18" charset="0"/>
              </a:rPr>
              <a:t>Q&amp;A</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p:cNvSpPr>
          <p:nvPr>
            <p:ph type="title"/>
          </p:nvPr>
        </p:nvSpPr>
        <p:spPr/>
        <p:txBody>
          <a:bodyPr/>
          <a:lstStyle/>
          <a:p>
            <a:r>
              <a:rPr lang="en-US" altLang="en-US">
                <a:latin typeface="Times New Roman" panose="02020603050405020304" pitchFamily="18" charset="0"/>
                <a:cs typeface="Times New Roman" panose="02020603050405020304" pitchFamily="18" charset="0"/>
              </a:rPr>
              <a:t>Next Lecture</a:t>
            </a:r>
          </a:p>
        </p:txBody>
      </p:sp>
      <p:sp>
        <p:nvSpPr>
          <p:cNvPr id="31747" name="Rectangle 3"/>
          <p:cNvSpPr>
            <a:spLocks noGrp="1"/>
          </p:cNvSpPr>
          <p:nvPr>
            <p:ph type="body" idx="1"/>
          </p:nvPr>
        </p:nvSpPr>
        <p:spPr>
          <a:xfrm>
            <a:off x="457200" y="1600200"/>
            <a:ext cx="8229600" cy="2514600"/>
          </a:xfrm>
        </p:spPr>
        <p:txBody>
          <a:bodyPr/>
          <a:lstStyle/>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Implementation the Paging Systems Issues</a:t>
            </a:r>
          </a:p>
          <a:p>
            <a:pPr>
              <a:buClrTx/>
              <a:buSzTx/>
              <a:buFont typeface="Arial" panose="020B0604020202020204" pitchFamily="34" charset="0"/>
              <a:buChar char="•"/>
            </a:pPr>
            <a:r>
              <a:rPr lang="en-US" altLang="en-US" b="1">
                <a:latin typeface="Times New Roman" panose="02020603050405020304" pitchFamily="18" charset="0"/>
                <a:cs typeface="Times New Roman" panose="02020603050405020304" pitchFamily="18" charset="0"/>
              </a:rPr>
              <a:t>Segmentation</a:t>
            </a:r>
          </a:p>
          <a:p>
            <a:pPr lvl="1">
              <a:buFont typeface="Arial" panose="020B0604020202020204" pitchFamily="34" charset="0"/>
              <a:buChar char="•"/>
            </a:pPr>
            <a:r>
              <a:rPr lang="en-US" altLang="en-US">
                <a:latin typeface="Times New Roman" panose="02020603050405020304" pitchFamily="18" charset="0"/>
                <a:cs typeface="Times New Roman" panose="02020603050405020304" pitchFamily="18" charset="0"/>
              </a:rPr>
              <a:t>Combine the paging with managing memory</a:t>
            </a:r>
          </a:p>
          <a:p>
            <a:pPr lvl="1">
              <a:buFont typeface="Arial" panose="020B0604020202020204" pitchFamily="34" charset="0"/>
              <a:buChar char="•"/>
            </a:pPr>
            <a:r>
              <a:rPr lang="en-US" altLang="en-US" i="1">
                <a:latin typeface="Times New Roman" panose="02020603050405020304" pitchFamily="18" charset="0"/>
                <a:cs typeface="Times New Roman" panose="02020603050405020304" pitchFamily="18" charset="0"/>
              </a:rPr>
              <a:t>Case Studies</a:t>
            </a:r>
            <a:r>
              <a:rPr lang="en-US" altLang="en-US">
                <a:latin typeface="Times New Roman" panose="02020603050405020304" pitchFamily="18" charset="0"/>
                <a:cs typeface="Times New Roman" panose="02020603050405020304" pitchFamily="18" charset="0"/>
              </a:rPr>
              <a:t>: Intel and MUTICS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12927</TotalTime>
  <Words>3262</Words>
  <Application>Microsoft Office PowerPoint</Application>
  <PresentationFormat>On-screen Show (4:3)</PresentationFormat>
  <Paragraphs>330</Paragraphs>
  <Slides>30</Slides>
  <Notes>27</Notes>
  <HiddenSlides>1</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6" baseType="lpstr">
      <vt:lpstr>Arial</vt:lpstr>
      <vt:lpstr>Calibri</vt:lpstr>
      <vt:lpstr>Times New Roman</vt:lpstr>
      <vt:lpstr>Wingdings</vt:lpstr>
      <vt:lpstr>Office Theme</vt:lpstr>
      <vt:lpstr>Equation</vt:lpstr>
      <vt:lpstr>Memory Management   Design Issues for Paging Systems</vt:lpstr>
      <vt:lpstr>Review</vt:lpstr>
      <vt:lpstr>Review</vt:lpstr>
      <vt:lpstr>Review</vt:lpstr>
      <vt:lpstr>Review</vt:lpstr>
      <vt:lpstr>Review</vt:lpstr>
      <vt:lpstr>Objectives</vt:lpstr>
      <vt:lpstr>Local vs. Global Allocation Policies</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vt:lpstr>
      <vt:lpstr>Design Issues for Paging System   Shared Libraries</vt:lpstr>
      <vt:lpstr>Design Issues for Paging System</vt:lpstr>
      <vt:lpstr>Design Issues for Paging System</vt:lpstr>
      <vt:lpstr>Design Issues for Paging System   Cleaning Policy</vt:lpstr>
      <vt:lpstr>Design Issues for Paging System   Virtual Memory Interface</vt:lpstr>
      <vt:lpstr>Design Issues for Paging System   Virtual Memory Interface</vt:lpstr>
      <vt:lpstr>Design Issues for Paging System   Virtual Memory Interface</vt:lpstr>
      <vt:lpstr>Summary</vt:lpstr>
      <vt:lpstr>Next Lecture</vt:lpstr>
    </vt:vector>
  </TitlesOfParts>
  <Company>FPT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PFC: Module A - Introduction</dc:title>
  <dc:creator>Phan Truong Lam</dc:creator>
  <cp:lastModifiedBy>Tong Phuoc Quan (FE FPTU HCM)</cp:lastModifiedBy>
  <cp:revision>1938</cp:revision>
  <dcterms:created xsi:type="dcterms:W3CDTF">2007-08-21T04:43:22Z</dcterms:created>
  <dcterms:modified xsi:type="dcterms:W3CDTF">2022-04-19T12:35:51Z</dcterms:modified>
</cp:coreProperties>
</file>