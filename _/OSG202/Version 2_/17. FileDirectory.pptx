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1"/>
  </p:notesMasterIdLst>
  <p:sldIdLst>
    <p:sldId id="256" r:id="rId2"/>
    <p:sldId id="477" r:id="rId3"/>
    <p:sldId id="478" r:id="rId4"/>
    <p:sldId id="479" r:id="rId5"/>
    <p:sldId id="480" r:id="rId6"/>
    <p:sldId id="481" r:id="rId7"/>
    <p:sldId id="482" r:id="rId8"/>
    <p:sldId id="483" r:id="rId9"/>
    <p:sldId id="476" r:id="rId10"/>
    <p:sldId id="359" r:id="rId11"/>
    <p:sldId id="361" r:id="rId12"/>
    <p:sldId id="362" r:id="rId13"/>
    <p:sldId id="400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26" r:id="rId22"/>
    <p:sldId id="374" r:id="rId23"/>
    <p:sldId id="413" r:id="rId24"/>
    <p:sldId id="401" r:id="rId25"/>
    <p:sldId id="375" r:id="rId26"/>
    <p:sldId id="376" r:id="rId27"/>
    <p:sldId id="415" r:id="rId28"/>
    <p:sldId id="394" r:id="rId29"/>
    <p:sldId id="464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00" autoAdjust="0"/>
    <p:restoredTop sz="94674" autoAdjust="0"/>
  </p:normalViewPr>
  <p:slideViewPr>
    <p:cSldViewPr>
      <p:cViewPr varScale="1">
        <p:scale>
          <a:sx n="74" d="100"/>
          <a:sy n="74" d="100"/>
        </p:scale>
        <p:origin x="160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2607EA6-BA6A-4100-9D8C-C4CD9F7D1A1A}" type="datetimeFigureOut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323C02-DE31-4531-9A52-2478F2F08F3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723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287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8584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8168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698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1674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7199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vi-V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D1409E-BF9E-47B0-AE9B-41BF12528827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Adequate: </a:t>
            </a:r>
            <a:r>
              <a:rPr lang="en-US" altLang="en-US" dirty="0" err="1"/>
              <a:t>đầy</a:t>
            </a:r>
            <a:r>
              <a:rPr lang="en-US" altLang="en-US" dirty="0"/>
              <a:t> </a:t>
            </a:r>
            <a:r>
              <a:rPr lang="en-US" altLang="en-US" dirty="0" err="1"/>
              <a:t>đủ</a:t>
            </a:r>
            <a:endParaRPr lang="en-US" altLang="en-US" dirty="0"/>
          </a:p>
          <a:p>
            <a:r>
              <a:rPr lang="en-US" altLang="en-US" dirty="0"/>
              <a:t>Dedicated application : </a:t>
            </a:r>
            <a:r>
              <a:rPr lang="en-US" altLang="en-US" dirty="0" err="1"/>
              <a:t>ứng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chuyên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Arbitrary: </a:t>
            </a:r>
            <a:r>
              <a:rPr lang="en-US" altLang="en-US" dirty="0" err="1"/>
              <a:t>bất</a:t>
            </a:r>
            <a:r>
              <a:rPr lang="en-US" altLang="en-US" dirty="0"/>
              <a:t> </a:t>
            </a:r>
            <a:r>
              <a:rPr lang="en-US" altLang="en-US" dirty="0" err="1"/>
              <a:t>kỳ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31F11-30E8-4A3E-A940-8D448C13924E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40D265-77A0-4A3D-A6B6-4102DE55F4A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15772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9E97A-8943-41D0-B549-69C2AEC36EBE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7B23E9-2F0D-4B02-8661-3464E6D3EF2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57394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E758F-36B7-4AAA-A9F2-8CDF7C03250B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4D50A0-4358-4BB4-9B2A-188FBB6D755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50818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704A2-8BF6-46B7-A4AC-84F1FA5651F8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2FDF9-EEB2-4944-9CD1-893367696C3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72345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7EEF5-86F7-4A76-9288-B514E8BC56D0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50A1C-28D7-46BC-85B4-1E1288E00E5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43732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0FB30-7AC9-4B44-8CF2-9CFACE43501E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867463-8CF9-433C-B132-CA5CD37C7AF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0609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E4A5D-8F5E-42F7-BD7A-A4B0697B27F7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F0921-74F1-4FF4-B24F-FC7ED300664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20242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F26C8-11B4-415D-8412-EB6101307645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050E51-4A55-4917-A745-BB702B85D45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33550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E4442-4D34-4D83-9A29-6E14CFA34B28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F5BF63-575C-45B9-80B8-A4F9758C6EC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64431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56252-A198-4175-BBC0-21F274587B44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850AE1-E18E-4BB5-A949-4F235B8239F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526651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C6B9B-D525-4D06-995B-DD5279043621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318E2-3FE6-47AB-9D76-DED4C2D949E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10154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A5873-7EEA-45B3-80C9-46549D0FBF08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5E514-75F4-497F-AE68-F40CB06C846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550096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4D2EC-DB53-4D36-B31B-50B71050658A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81A4D1-C541-44FA-BB97-6D1DB536BC2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62271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E9695A8A-548A-4845-8136-06E20A513037}" type="datetime1">
              <a:rPr lang="en-US"/>
              <a:pPr>
                <a:defRPr/>
              </a:pPr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DDAAB50-B9E2-4A70-897C-69BD2AE4630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0" y="22098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the different types of memory are used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memory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areas of main memory to processes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swapping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main memory and disk 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program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OS, only one 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register is used to protection between OS and 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slow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program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OS, many processes locate in memory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fixed size block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programs both reference absolute physical memory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static relocation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83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locate in memory (both primary and secondary)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and Limit Registers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locate in memory and protection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address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process in memory,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process, the process owns private address space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 (Defragment)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Swapping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processes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in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locate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HDD – swap file area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out/ in operator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can not grow in memory and the swap area on the disk is full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data segment upward, stack  segment downward</a:t>
            </a:r>
          </a:p>
        </p:txBody>
      </p:sp>
    </p:spTree>
    <p:extLst>
      <p:ext uri="{BB962C8B-B14F-4D97-AF65-F5344CB8AC3E}">
        <p14:creationId xmlns:p14="http://schemas.microsoft.com/office/powerpoint/2010/main" val="115014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Bitmaps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memory divides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units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with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same size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that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bit corresponding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bit in the bitmap (0: free, 1: occupied)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Slow when searching the bitmap to find a run of k consecutive 0 bits in the map (small)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External fragment (large size)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Linked Lists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(P)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memory (H)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Allocating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algorithms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First, Next, Best, Worst, Quick Fit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Software/ Process sizes larger than memory</a:t>
            </a:r>
            <a:endParaRPr lang="de-DE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Developer splits program to many overlays 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developer‘s knowledge is important</a:t>
            </a:r>
          </a:p>
        </p:txBody>
      </p:sp>
    </p:spTree>
    <p:extLst>
      <p:ext uri="{BB962C8B-B14F-4D97-AF65-F5344CB8AC3E}">
        <p14:creationId xmlns:p14="http://schemas.microsoft.com/office/powerpoint/2010/main" val="62824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endParaRPr lang="de-DE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 is broken up into pages 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Physical memory is divided up into page frames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 vs. Physical address, manage address space with bit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MMU transfers Virtual address 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p, d; then it looks up page table following the index to get the page frame;  the page frame combines with d to determine the physical address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Page fault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part of its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that 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not in physical memory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Page table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collection </a:t>
            </a: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load to </a:t>
            </a: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base register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using </a:t>
            </a: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TLB</a:t>
            </a:r>
          </a:p>
          <a:p>
            <a:pPr lvl="4" algn="just" eaLnBrk="1" hangingPunct="1"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Excessive large page table: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multilevel page, inverted page table, inverted page table with hash or TLB</a:t>
            </a:r>
          </a:p>
          <a:p>
            <a:pPr lvl="4" algn="just" eaLnBrk="1" hangingPunct="1"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Caching disabled, Referenced, Modified, Protection, Present/absent, page frame number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4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3810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 algorithms</a:t>
            </a: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Optimal:  the page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will be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one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 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NRU: the page has </a:t>
            </a: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lowest class 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that combines R and M bit</a:t>
            </a: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FIFO: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page at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de-DE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Second Chance: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old page has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not been not referenced in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previous clock interval (R = 0).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of page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equals 1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to 0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tail of the queue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Clock 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(circular queue) </a:t>
            </a: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being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pointed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to by the hand is inspected. If R = 0, page is evicted. Otherwise, R is reset to 0, the pointer points next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LRU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end of the list is replaced,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must be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reference 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NFU, Aging (using bit):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lowest counter 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Working set model, working set clock (circular queue): Third Chance with Second Chance using age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l-GR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with bit R</a:t>
            </a:r>
            <a:endParaRPr lang="de-DE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Thrashing, Locality of Reference, Demand paging, prepaging, working set, page fault rate</a:t>
            </a:r>
          </a:p>
        </p:txBody>
      </p:sp>
    </p:spTree>
    <p:extLst>
      <p:ext uri="{BB962C8B-B14F-4D97-AF65-F5344CB8AC3E}">
        <p14:creationId xmlns:p14="http://schemas.microsoft.com/office/powerpoint/2010/main" val="418203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85800"/>
            <a:ext cx="9144000" cy="5943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Issues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Local vs Global Policies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Local: page frames 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static allocated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among current processes (thrashing or waste memory)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page frames 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among runnable processes (thrashing to others process)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lvl="4" algn="just" eaLnBrk="1" hangingPunct="1"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Monitor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size of working set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of all processes using aging bit</a:t>
            </a:r>
          </a:p>
          <a:p>
            <a:pPr lvl="4" algn="just" eaLnBrk="1" hangingPunct="1"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allocation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updated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dynamically using PFF algorithms with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periodically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determine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number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of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running processes</a:t>
            </a: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Giving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each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process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minimum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number of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frames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Load Control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Swapping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and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Considering not only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size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paging rate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but also its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 Size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Optimizing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size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of the page and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location of page table</a:t>
            </a:r>
          </a:p>
        </p:txBody>
      </p:sp>
    </p:spTree>
    <p:extLst>
      <p:ext uri="{BB962C8B-B14F-4D97-AF65-F5344CB8AC3E}">
        <p14:creationId xmlns:p14="http://schemas.microsoft.com/office/powerpoint/2010/main" val="63722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457200"/>
            <a:ext cx="9144000" cy="5867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Issues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Separate Instruction and Data Spaces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Sharing code, library, read only memory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Copy on write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Mapped File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the file as process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Policy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two-handed clock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hand is controlled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daemon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hand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 the standard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algorithm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Issues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Backup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internal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each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register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auto-incremented or auto-decremented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instruction is restarted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unambiguously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 all the effects of it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3" algn="just" eaLnBrk="1" hangingPunct="1">
              <a:lnSpc>
                <a:spcPct val="90000"/>
              </a:lnSpc>
            </a:pP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88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762000"/>
            <a:ext cx="9144000" cy="5867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Issues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Locking Pages in Memory</a:t>
            </a:r>
            <a:endParaRPr lang="de-DE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Lock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engaged in I/O in memory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 that they will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be removed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all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to kernel buffers &amp; copy the data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pages later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Backing Store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each process is the disk address of its swap area, that is where on the swap partition its image is kept (that also kept in process table)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Paging to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static swap area vs.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Backing up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pages dynamically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a logical entity and Consists of a linear sequence addresses, from 0 to some maximum that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grow and shrink independently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effecting each other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specify an address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the segmented memory,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&lt;segment-number, offset&gt; is used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Segment table 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with Paging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5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686800" cy="60960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Naming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Types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Access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Attributes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Operations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Program using File System Calls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Single-Level Directories Systems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Directory Systems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Path Names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Directory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While a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its own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restricted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space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lost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terminates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It is frequently necessary for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(parts of) the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 essential requirements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long-term information storage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It must be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 a very large amount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must be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survive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termination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using it</a:t>
            </a:r>
          </a:p>
          <a:p>
            <a:pPr lvl="1" algn="just"/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must be able to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the information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concurrently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its 2 operation (read, write) are used to solve the long-term storage problem</a:t>
            </a:r>
          </a:p>
        </p:txBody>
      </p:sp>
      <p:sp>
        <p:nvSpPr>
          <p:cNvPr id="13315" name="Rectangle 4"/>
          <p:cNvSpPr>
            <a:spLocks/>
          </p:cNvSpPr>
          <p:nvPr/>
        </p:nvSpPr>
        <p:spPr bwMode="auto">
          <a:xfrm>
            <a:off x="685800" y="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altLang="en-US" sz="36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60198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Are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objects and </a:t>
            </a: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), that models in a </a:t>
            </a: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convenient way the information stored and read it back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on hardware devices and are managed by OS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Are logical units of information (created by processes)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Processes can read existing files&amp;create new ones if need be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stored in files must be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not be affected by process creation and termination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OS’s component that manages the information stored on the storage devices and provides the users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that information in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 convenient way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Hides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storage hardware devices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the users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uniform logical view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the information stored on these devices,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concept of file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files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 devices</a:t>
            </a:r>
          </a:p>
        </p:txBody>
      </p:sp>
      <p:sp>
        <p:nvSpPr>
          <p:cNvPr id="14340" name="Rectangle 4"/>
          <p:cNvSpPr>
            <a:spLocks/>
          </p:cNvSpPr>
          <p:nvPr/>
        </p:nvSpPr>
        <p:spPr bwMode="auto">
          <a:xfrm>
            <a:off x="533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533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>
          <a:xfrm>
            <a:off x="228600" y="914400"/>
            <a:ext cx="8915400" cy="59436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creates a file, it gives the file a name.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terminates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continues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process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File name =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string of characters 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exact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for file naming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vary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somewhat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system to system</a:t>
            </a:r>
          </a:p>
          <a:p>
            <a:pPr lvl="1" algn="just" eaLnBrk="1" hangingPunct="1"/>
            <a:r>
              <a:rPr lang="en-US" altLang="en-US" sz="2400"/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Distinction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upper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lower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name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Extension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(optional)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some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file’s content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specify for each program owns that extension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hello.c; hello.bat, hello.txt</a:t>
            </a:r>
          </a:p>
        </p:txBody>
      </p:sp>
      <p:sp>
        <p:nvSpPr>
          <p:cNvPr id="15364" name="Rectangle 4"/>
          <p:cNvSpPr>
            <a:spLocks/>
          </p:cNvSpPr>
          <p:nvPr/>
        </p:nvSpPr>
        <p:spPr bwMode="auto">
          <a:xfrm>
            <a:off x="9144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Naming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208899" name="Rectangle 3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 common way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possibilities 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sequence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bytes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Byte sequences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(maximum flexibility)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any thing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they want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name file any way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Record sequence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file is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fixed length record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with some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internal structure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read, write, and append operation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file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tree of records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necessarily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length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field in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fixed position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the record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tree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field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rapid searching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for a particular key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get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specifies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decides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new record’s position</a:t>
            </a:r>
          </a:p>
        </p:txBody>
      </p:sp>
      <p:sp>
        <p:nvSpPr>
          <p:cNvPr id="16388" name="Rectangle 4"/>
          <p:cNvSpPr>
            <a:spLocks/>
          </p:cNvSpPr>
          <p:nvPr/>
        </p:nvSpPr>
        <p:spPr bwMode="auto">
          <a:xfrm>
            <a:off x="9144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08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0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088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17411" name="Rectangle 4"/>
          <p:cNvSpPr>
            <a:spLocks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pic>
        <p:nvPicPr>
          <p:cNvPr id="17412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680450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505200" y="55626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4-2.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5C3DEE-22F1-4451-9659-C4C46F30D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5613400"/>
            <a:ext cx="5486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212995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OS supports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several types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 files</a:t>
            </a:r>
          </a:p>
          <a:p>
            <a:pPr lvl="1" algn="just" eaLnBrk="1" hangingPunct="1"/>
            <a:r>
              <a:rPr lang="en-US" altLang="en-US"/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Regular files</a:t>
            </a:r>
          </a:p>
          <a:p>
            <a:pPr lvl="2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(ASCII or binary)</a:t>
            </a:r>
          </a:p>
          <a:p>
            <a:pPr lvl="1" algn="just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</a:p>
          <a:p>
            <a:pPr lvl="2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 files for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</a:p>
          <a:p>
            <a:pPr lvl="1" algn="just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 Special files</a:t>
            </a:r>
          </a:p>
          <a:p>
            <a:pPr lvl="2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ad used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serial I/O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</a:p>
          <a:p>
            <a:pPr lvl="2" algn="just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terminals, printer, networks</a:t>
            </a:r>
          </a:p>
          <a:p>
            <a:pPr lvl="1" algn="just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Special files  </a:t>
            </a:r>
          </a:p>
          <a:p>
            <a:pPr lvl="2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Disks Model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Rectangle 4"/>
          <p:cNvSpPr>
            <a:spLocks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12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215043" name="Rectangle 3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915400" cy="5867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access</a:t>
            </a:r>
          </a:p>
          <a:p>
            <a:pPr lvl="1" algn="just"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bytes or records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 order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beginning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could not skip around and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them out of order</a:t>
            </a:r>
          </a:p>
          <a:p>
            <a:pPr lvl="1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Could be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rewound</a:t>
            </a:r>
          </a:p>
          <a:p>
            <a:pPr lvl="1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Specific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magnetic tapes</a:t>
            </a:r>
          </a:p>
          <a:p>
            <a:pPr lvl="1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Operation: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access</a:t>
            </a:r>
          </a:p>
          <a:p>
            <a:pPr lvl="1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Reads the bytes or records out of order, or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records by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rather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</a:p>
          <a:p>
            <a:pPr lvl="1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Specific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disks</a:t>
            </a:r>
          </a:p>
          <a:p>
            <a:pPr lvl="1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Operation: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</a:p>
        </p:txBody>
      </p:sp>
      <p:sp>
        <p:nvSpPr>
          <p:cNvPr id="19460" name="Rectangle 4"/>
          <p:cNvSpPr>
            <a:spLocks/>
          </p:cNvSpPr>
          <p:nvPr/>
        </p:nvSpPr>
        <p:spPr bwMode="auto">
          <a:xfrm>
            <a:off x="914400" y="4572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217091" name="Rectangle 3"/>
          <p:cNvSpPr>
            <a:spLocks noGrp="1"/>
          </p:cNvSpPr>
          <p:nvPr>
            <p:ph type="body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extra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by OS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also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Time stamps</a:t>
            </a:r>
          </a:p>
          <a:p>
            <a:pPr lvl="2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creation time, time of last access, time of last modification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Access rights</a:t>
            </a:r>
          </a:p>
          <a:p>
            <a:pPr lvl="2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read (view), write (modify), execute, delete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flags</a:t>
            </a:r>
          </a:p>
          <a:p>
            <a:pPr lvl="2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hidden, system, locked etc.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</a:p>
        </p:txBody>
      </p:sp>
      <p:sp>
        <p:nvSpPr>
          <p:cNvPr id="20484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1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1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17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915400" cy="5867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 attributes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Set attributes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Rename</a:t>
            </a:r>
          </a:p>
        </p:txBody>
      </p:sp>
      <p:sp>
        <p:nvSpPr>
          <p:cNvPr id="21508" name="Rectangle 4"/>
          <p:cNvSpPr>
            <a:spLocks/>
          </p:cNvSpPr>
          <p:nvPr/>
        </p:nvSpPr>
        <p:spPr bwMode="auto">
          <a:xfrm>
            <a:off x="9144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22531" name="Rectangle 4"/>
          <p:cNvSpPr>
            <a:spLocks/>
          </p:cNvSpPr>
          <p:nvPr/>
        </p:nvSpPr>
        <p:spPr bwMode="auto">
          <a:xfrm>
            <a:off x="9144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Program Using System Calls</a:t>
            </a:r>
          </a:p>
        </p:txBody>
      </p:sp>
      <p:pic>
        <p:nvPicPr>
          <p:cNvPr id="22532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7630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581400" y="64008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1028" name="Rectangle 4"/>
          <p:cNvSpPr>
            <a:spLocks/>
          </p:cNvSpPr>
          <p:nvPr/>
        </p:nvSpPr>
        <p:spPr bwMode="auto">
          <a:xfrm>
            <a:off x="9144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Program Using System Calls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581400" y="55626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4-5.</a:t>
            </a: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762000" y="1524000"/>
          <a:ext cx="7924800" cy="360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Image" r:id="rId4" imgW="19959995" imgH="9072920" progId="Photoshop.Image.9">
                  <p:embed/>
                </p:oleObj>
              </mc:Choice>
              <mc:Fallback>
                <p:oleObj name="Image" r:id="rId4" imgW="19959995" imgH="9072920" progId="Photoshop.Image.9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24000"/>
                        <a:ext cx="7924800" cy="360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066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A way of 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organizing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Impose a 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hierarchy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of files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 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files and subdirectories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viewed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special file 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managed by the 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Directories/ Folders</a:t>
            </a:r>
          </a:p>
        </p:txBody>
      </p:sp>
      <p:sp>
        <p:nvSpPr>
          <p:cNvPr id="223235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having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directory containing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files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(root directory) 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only one or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adequate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dedicated applications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locate file quickly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file name can be duplicated in one/ many users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Single-Level Directory Systems</a:t>
            </a:r>
          </a:p>
        </p:txBody>
      </p:sp>
      <p:pic>
        <p:nvPicPr>
          <p:cNvPr id="18437" name="Picture 6" descr="04-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029200"/>
            <a:ext cx="37338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096000" y="56388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2192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Directories/ Folders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Directory Systems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0" y="1143000"/>
            <a:ext cx="4724400" cy="57150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Single-Level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would be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impossible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anything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all files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were in a single directory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related files together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as many directories as are needed group the files in natural ways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share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server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as is the case many computer networks, each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private root directory for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his or her own hierarchy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arbitrary number of subdirectories provides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po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werful structuring tool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for users to organize their work</a:t>
            </a:r>
          </a:p>
        </p:txBody>
      </p:sp>
      <p:pic>
        <p:nvPicPr>
          <p:cNvPr id="25604" name="Picture 7" descr="04-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286000"/>
            <a:ext cx="4419600" cy="243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324600" y="51816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4-7.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Directories/ Folders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Path Names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8686800" cy="5791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path name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directory to the file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/home/students/john/program.c (in Linux)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C:\Program Files\Application\run.exe (in Windows)</a:t>
            </a:r>
          </a:p>
          <a:p>
            <a:pPr algn="just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path name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owned to users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own working directory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john/program.c (in Linux)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application\run.exe (in Windows)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Special directories in relative paths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directory: .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directory: 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Directories/ Folders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Path Names</a:t>
            </a:r>
          </a:p>
        </p:txBody>
      </p:sp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6477000" y="41910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4-8.</a:t>
            </a:r>
          </a:p>
        </p:txBody>
      </p:sp>
      <p:pic>
        <p:nvPicPr>
          <p:cNvPr id="27652" name="Picture 8" descr="04-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5715000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Directories/ Folders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</p:txBody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8839200" cy="57150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Opendir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Closedir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Readdir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Rename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Link: Allow a file to appear in more than one directory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Unlink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5499</TotalTime>
  <Words>2113</Words>
  <Application>Microsoft Office PowerPoint</Application>
  <PresentationFormat>On-screen Show (4:3)</PresentationFormat>
  <Paragraphs>298</Paragraphs>
  <Slides>29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Image</vt:lpstr>
      <vt:lpstr>File System   Files Directories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Objectives</vt:lpstr>
      <vt:lpstr>PowerPoint Presentation</vt:lpstr>
      <vt:lpstr>Files</vt:lpstr>
      <vt:lpstr>Files</vt:lpstr>
      <vt:lpstr>Files</vt:lpstr>
      <vt:lpstr>Files</vt:lpstr>
      <vt:lpstr>Files</vt:lpstr>
      <vt:lpstr>Files</vt:lpstr>
      <vt:lpstr>Files</vt:lpstr>
      <vt:lpstr>Files</vt:lpstr>
      <vt:lpstr>Files</vt:lpstr>
      <vt:lpstr>Files</vt:lpstr>
      <vt:lpstr>Directories Definition </vt:lpstr>
      <vt:lpstr>Directories/ Folders</vt:lpstr>
      <vt:lpstr>Directories/ Folders  Hierarchical Directory Systems </vt:lpstr>
      <vt:lpstr>Directories/ Folders  Path Names</vt:lpstr>
      <vt:lpstr>Directories/ Folders  Path Names</vt:lpstr>
      <vt:lpstr>Directories/ Folders  Operations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1966</cp:revision>
  <dcterms:created xsi:type="dcterms:W3CDTF">2007-08-21T04:43:22Z</dcterms:created>
  <dcterms:modified xsi:type="dcterms:W3CDTF">2021-10-14T14:16:37Z</dcterms:modified>
</cp:coreProperties>
</file>