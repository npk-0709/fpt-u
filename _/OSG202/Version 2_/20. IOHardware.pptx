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23"/>
  </p:notesMasterIdLst>
  <p:sldIdLst>
    <p:sldId id="256" r:id="rId2"/>
    <p:sldId id="479" r:id="rId3"/>
    <p:sldId id="480" r:id="rId4"/>
    <p:sldId id="359" r:id="rId5"/>
    <p:sldId id="362" r:id="rId6"/>
    <p:sldId id="400" r:id="rId7"/>
    <p:sldId id="406" r:id="rId8"/>
    <p:sldId id="464" r:id="rId9"/>
    <p:sldId id="408" r:id="rId10"/>
    <p:sldId id="409" r:id="rId11"/>
    <p:sldId id="465" r:id="rId12"/>
    <p:sldId id="410" r:id="rId13"/>
    <p:sldId id="466" r:id="rId14"/>
    <p:sldId id="412" r:id="rId15"/>
    <p:sldId id="411" r:id="rId16"/>
    <p:sldId id="374" r:id="rId17"/>
    <p:sldId id="426" r:id="rId18"/>
    <p:sldId id="413" r:id="rId19"/>
    <p:sldId id="467" r:id="rId20"/>
    <p:sldId id="394" r:id="rId21"/>
    <p:sldId id="478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FFFF"/>
    <a:srgbClr val="FFFF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06" autoAdjust="0"/>
    <p:restoredTop sz="92062" autoAdjust="0"/>
  </p:normalViewPr>
  <p:slideViewPr>
    <p:cSldViewPr>
      <p:cViewPr varScale="1">
        <p:scale>
          <a:sx n="84" d="100"/>
          <a:sy n="84" d="100"/>
        </p:scale>
        <p:origin x="595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02AE03E-5A3F-41DC-9CE7-E6EDBDF6E56D}" type="datetimeFigureOut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C1A91C3-6789-4ABC-BC4D-BB7EC66F991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Kernel_trap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en.wikipedia.org/wiki/Interrupt" TargetMode="External"/><Relationship Id="rId4" Type="http://schemas.openxmlformats.org/officeDocument/2006/relationships/hyperlink" Target="http://en.wikipedia.org/wiki/System_call" TargetMode="Externa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uting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Buffer_(computer_science)" TargetMode="External"/><Relationship Id="rId5" Type="http://schemas.openxmlformats.org/officeDocument/2006/relationships/hyperlink" Target="https://en.wikipedia.org/wiki/Data" TargetMode="External"/><Relationship Id="rId4" Type="http://schemas.openxmlformats.org/officeDocument/2006/relationships/hyperlink" Target="https://en.wikipedia.org/wiki/Pipeline_(computing)#cite_note-1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Ambiguity: </a:t>
            </a:r>
            <a:r>
              <a:rPr lang="en-US" altLang="en-US" dirty="0" err="1"/>
              <a:t>mơ</a:t>
            </a:r>
            <a:r>
              <a:rPr lang="en-US" altLang="en-US" dirty="0"/>
              <a:t> </a:t>
            </a:r>
            <a:r>
              <a:rPr lang="en-US" altLang="en-US" dirty="0" err="1"/>
              <a:t>hồ</a:t>
            </a:r>
            <a:r>
              <a:rPr lang="en-US" altLang="en-US" dirty="0"/>
              <a:t>, </a:t>
            </a:r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rõ</a:t>
            </a:r>
            <a:r>
              <a:rPr lang="en-US" altLang="en-US" dirty="0"/>
              <a:t> </a:t>
            </a:r>
            <a:r>
              <a:rPr lang="en-US" altLang="en-US" dirty="0" err="1"/>
              <a:t>ràng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228600" indent="-228600"/>
            <a:r>
              <a:rPr lang="en-US" altLang="en-US" dirty="0"/>
              <a:t>Disastrous: tai </a:t>
            </a:r>
            <a:r>
              <a:rPr lang="en-US" altLang="en-US" dirty="0" err="1"/>
              <a:t>hại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228600" indent="-228600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information about the number of bytes which are to be transferred using DMA are contained in the Counter Registers, which is decremented by 1 for every byte in the DMA data transfer. When the Counter Register becomes 0, the last DMA data transfer results in activating the terminal count (TC) output by 8257.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228600" indent="-228600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Sneak: </a:t>
            </a:r>
            <a:r>
              <a:rPr lang="en-US" altLang="en-US" dirty="0" err="1"/>
              <a:t>đánh</a:t>
            </a:r>
            <a:r>
              <a:rPr lang="en-US" altLang="en-US" dirty="0"/>
              <a:t> </a:t>
            </a:r>
            <a:r>
              <a:rPr lang="en-US" altLang="en-US" dirty="0" err="1"/>
              <a:t>lén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-"/>
            </a:pPr>
            <a:r>
              <a:rPr lang="en-US" altLang="en-US" dirty="0"/>
              <a:t>Intended: </a:t>
            </a:r>
            <a:r>
              <a:rPr lang="en-US" altLang="en-US" dirty="0" err="1"/>
              <a:t>chủ</a:t>
            </a:r>
            <a:r>
              <a:rPr lang="en-US" altLang="en-US" dirty="0"/>
              <a:t> </a:t>
            </a:r>
            <a:r>
              <a:rPr lang="en-US" altLang="en-US" dirty="0" err="1"/>
              <a:t>tâm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trap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an exception in a user process. It's caused by division by zero or invalid memory access. It's also the usual way to invoke a kernel routine (a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system call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because those run with a higher priority than user code. Handling is synchronous (so the user code is suspended and continues afterwards). In a sense they are "active" - most of the time, the code expects the trap to happen and relies on this fact.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interrupt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something generated by the hardware (devices like the hard disk, graphics card, I/O ports,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These are asynchronous (i.e. they don't happen at predictable places in the user code) or "passive" since the interrupt handler has to wait for them to happen eventually.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also see a trap as a kind of CPU-internal interrupt since the handler for trap handler looks like an interrupt handler (registers and stack pointers are saved, there is a context switch, execution can resume in some cases where it left off).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Prohibition: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cấm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buFontTx/>
              <a:buChar char="-"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Computing"/>
              </a:rPr>
              <a:t>computing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also known as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pipeline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[1]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set of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Data"/>
              </a:rPr>
              <a:t>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processing elements connected in series, where the output of one element is the input of the next one. The elements of a pipeline are often executed in parallel or in time-sliced fashion. Some amount of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Buffer (computer science)"/>
              </a:rPr>
              <a:t>buffer 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often inserted between elements.</a:t>
            </a:r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5F0A1-7BB2-4458-88C8-228108ADEE60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630165-4686-4122-912F-92398C870DE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824875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F3E52-C582-40D8-B406-6C30A723B99B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1AA995-2323-4AA4-8B1D-0239EC05B7DE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374827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5EE4D-7D6E-4EAA-8D75-BD88001E43B2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1B01E9-C772-403B-84E9-B821303736C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143327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D1203-AE9B-4B7A-BDB8-94CD6C959E83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0CB59E-93E3-4A68-87DD-F505050B9620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600115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B9EC1-7AA7-47AE-999E-C0D47CAB6CFD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1BA5C8-6A83-4A0D-B62A-65F1C3CA2B29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744236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57790-7C26-441A-9CCB-34FA1CCB5894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BC996-A69E-485F-9549-49E0B906E7E6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652460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5568A-6D98-4BB5-8C19-876E7312D70A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060C5B-61BA-471E-9397-1EAD1F8D7D7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18643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AE262-3AF7-4679-8C59-569987B22F52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71B2DB-683E-4BE5-8D3B-6335DBC1CA1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322700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5804B-9334-41E7-8684-AB0841440E2A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851AF-D41D-4D08-A6B0-72659499AB51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029650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6AF12-937A-42F6-A2A9-1CF5ECD7680A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5A82DA-52EA-43F9-B144-C2B2A028E469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78117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3E736E-DF20-4640-B0C1-97ABF03F45B4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1B160E-BB1C-464F-92CB-C095E1871B2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470377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9F7E1C-D9AC-40C1-8427-B4DEF628FFCC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4C7AD0-A9AB-4EF7-BC48-8BDF9BF2F49B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006360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69BB9-70CE-4F62-B1E9-7829A620CB55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C223EC-ABDF-451A-9B6A-4E18989E460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65450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F369A073-167E-49AE-B4A0-6B9906C93F2B}" type="datetime1">
              <a:rPr lang="en-US"/>
              <a:pPr>
                <a:defRPr/>
              </a:pPr>
              <a:t>10/22/2021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F273721-9903-440E-B91C-6CDE857FDEC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22098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I/O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39267" name="Rectangle 3"/>
          <p:cNvSpPr>
            <a:spLocks noGrp="1"/>
          </p:cNvSpPr>
          <p:nvPr>
            <p:ph type="body" idx="1"/>
          </p:nvPr>
        </p:nvSpPr>
        <p:spPr>
          <a:xfrm>
            <a:off x="0" y="762000"/>
            <a:ext cx="9144000" cy="60960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information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stored and hides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complexity on the storage devices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users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 information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a convenient way and a uniform logical view 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stored on disks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Contiguous, Linked List, Linked List using a Table in Memory (FAT),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i-nodes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(same as multi-level paging)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Fixed size entries, one per file containing file name &amp; attributes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Name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fixed size, part of block, stored in heap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Utilities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3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LFS (write data to end the log and using cleaner thread)</a:t>
            </a:r>
          </a:p>
          <a:p>
            <a:pPr lvl="3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JFS (store log file and using atomic transaction)</a:t>
            </a:r>
          </a:p>
          <a:p>
            <a:pPr lvl="3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VFS (uniform logical view for file system)</a:t>
            </a:r>
          </a:p>
          <a:p>
            <a:pPr lvl="3" algn="just">
              <a:lnSpc>
                <a:spcPct val="8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 </a:t>
            </a:r>
          </a:p>
          <a:p>
            <a:pPr lvl="4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Manage free block – linked list and bitmap</a:t>
            </a:r>
          </a:p>
          <a:p>
            <a:pPr lvl="4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Disk quota: two tables contain open file and user quotas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139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139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139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139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39267" name="Rectangle 3"/>
          <p:cNvSpPr>
            <a:spLocks noGrp="1"/>
          </p:cNvSpPr>
          <p:nvPr>
            <p:ph type="body" idx="1"/>
          </p:nvPr>
        </p:nvSpPr>
        <p:spPr>
          <a:xfrm>
            <a:off x="0" y="609600"/>
            <a:ext cx="9144000" cy="60960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Utilities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3" algn="just">
              <a:lnSpc>
                <a:spcPct val="8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 </a:t>
            </a:r>
          </a:p>
          <a:p>
            <a:pPr lvl="4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File consistency: two array, one for block in use, other for free block</a:t>
            </a:r>
          </a:p>
          <a:p>
            <a:pPr lvl="4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Directory consistency: counter file and traversal i-node</a:t>
            </a:r>
          </a:p>
          <a:p>
            <a:pPr lvl="4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Backups, performance – caching</a:t>
            </a:r>
          </a:p>
          <a:p>
            <a:pPr lvl="4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Block read ahead: load block k + 1 to memory when the block k is accessed</a:t>
            </a:r>
          </a:p>
          <a:p>
            <a:pPr lvl="4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 disk arm motion, defragmentation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Abstraction, Object and Mechanism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Name, Path (absolute vs. relative), Structure, Type, Access, Attributes, Operations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Directory (Single level vs. Hierarchy)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/hard linking (using one i-node)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Symbolic linking (using larger than one i-node that references to path of file)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139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39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139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39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1392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686800" cy="60960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I/O Devices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Device Controllers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Memory-Mapped I/O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Direct Memory Access (DMA)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Interrupts Revisited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139267" name="Rectangle 3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 categories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devices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devices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devices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Store information in fixed-size blocks, each one with its own address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Common block sizes range from 512 bytes to 32.768 bytes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All transfers are in units of one or more entire (consecutive) blocks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essential property of block device is that it is possible to read or write each block independently of all the others ones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Hard disks, CD-ROMs, and USB sticks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devices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Deliver or accept a stream of characters, without regard to any block structure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not addressable and does not have any seek operation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Printers, mice …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model of block and character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devices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enough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that they can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as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making some OS software dealing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device independent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devices cover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huge range in speeds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which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considerable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pressure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well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over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magnitude in data rates</a:t>
            </a:r>
          </a:p>
        </p:txBody>
      </p:sp>
      <p:sp>
        <p:nvSpPr>
          <p:cNvPr id="6148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I/O Devices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9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9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533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190467" name="Rectangle 3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in I/O units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Often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takes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form of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chip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board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or a printed circuit card that can be inserted into a expansion slot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card usually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connector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where the cables can be plugged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2,4,6 or 8 identical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standard interface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(ANSI, IEEE, ISO), then companies can make controllers or devices that fit that interface (ex: IDE, SATA, SCSI, USB, IEEE 1934)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controller and the device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often a very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low level interface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controller’s job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convert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serial bit stream into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bytes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any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correction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necessary</a:t>
            </a:r>
          </a:p>
        </p:txBody>
      </p:sp>
      <p:sp>
        <p:nvSpPr>
          <p:cNvPr id="7172" name="Rectangle 4"/>
          <p:cNvSpPr>
            <a:spLocks/>
          </p:cNvSpPr>
          <p:nvPr/>
        </p:nvSpPr>
        <p:spPr bwMode="auto">
          <a:xfrm>
            <a:off x="914400" y="381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Device Controllers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208899" name="Rectangle 3"/>
          <p:cNvSpPr>
            <a:spLocks noGrp="1"/>
          </p:cNvSpPr>
          <p:nvPr>
            <p:ph type="body" idx="1"/>
          </p:nvPr>
        </p:nvSpPr>
        <p:spPr>
          <a:xfrm>
            <a:off x="0" y="990600"/>
            <a:ext cx="5791200" cy="5867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few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buffer allow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→How the CPU communicates with control registers &amp; device data buffers?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approach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assigned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port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number, 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8/16 bit integer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all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ports form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port space and is protected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PORT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PORT</a:t>
            </a:r>
          </a:p>
          <a:p>
            <a:pPr lvl="1" algn="just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</a:p>
        </p:txBody>
      </p:sp>
      <p:sp>
        <p:nvSpPr>
          <p:cNvPr id="8196" name="Rectangle 4"/>
          <p:cNvSpPr>
            <a:spLocks/>
          </p:cNvSpPr>
          <p:nvPr/>
        </p:nvSpPr>
        <p:spPr bwMode="auto">
          <a:xfrm>
            <a:off x="914400" y="4572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Memory-Mapped I/O</a:t>
            </a:r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143250"/>
            <a:ext cx="3352800" cy="292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6553200" y="62484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8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08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08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208899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6324600" cy="5867400"/>
          </a:xfrm>
        </p:spPr>
        <p:txBody>
          <a:bodyPr/>
          <a:lstStyle/>
          <a:p>
            <a:pPr algn="just" eaLnBrk="1" hangingPunct="1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approach 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control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space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control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assigned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particular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address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Usually, the assigned addresses are at the top of the address space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buFont typeface="Arial" panose="020B0604020202020204" pitchFamily="34" charset="0"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memory-mapped I/O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with one address space</a:t>
            </a:r>
          </a:p>
          <a:p>
            <a:pPr algn="just" eaLnBrk="1" hangingPunct="1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Combination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approach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schema, with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memory-mapped I/O data buffers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ports for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 registers</a:t>
            </a:r>
          </a:p>
        </p:txBody>
      </p:sp>
      <p:sp>
        <p:nvSpPr>
          <p:cNvPr id="9220" name="Rectangle 4"/>
          <p:cNvSpPr>
            <a:spLocks/>
          </p:cNvSpPr>
          <p:nvPr/>
        </p:nvSpPr>
        <p:spPr bwMode="auto">
          <a:xfrm>
            <a:off x="914400" y="4572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Memory-Mapped I/O</a:t>
            </a:r>
          </a:p>
        </p:txBody>
      </p:sp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6705600" y="37338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5-2.</a:t>
            </a:r>
          </a:p>
        </p:txBody>
      </p:sp>
      <p:pic>
        <p:nvPicPr>
          <p:cNvPr id="922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914400"/>
            <a:ext cx="167957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493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114800"/>
            <a:ext cx="216058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212995" name="Rectangle 3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915400" cy="5867400"/>
          </a:xfrm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do they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wants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either from memory or from an I/O port,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address lines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asserts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on a bus' control line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line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tell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whether I/O space or memory space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needed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it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space,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responds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the request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it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space,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device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responds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the request.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there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space, every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every I/O device compares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lines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</a:p>
          <a:p>
            <a:pPr lvl="1"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falls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 its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it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responds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the request. Since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address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ever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assigned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both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an I/O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there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ambiguity and no conflict</a:t>
            </a:r>
          </a:p>
        </p:txBody>
      </p:sp>
      <p:sp>
        <p:nvSpPr>
          <p:cNvPr id="10244" name="Rectangle 4"/>
          <p:cNvSpPr>
            <a:spLocks/>
          </p:cNvSpPr>
          <p:nvPr/>
        </p:nvSpPr>
        <p:spPr bwMode="auto">
          <a:xfrm>
            <a:off x="914400" y="5334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Memory-Mapped I/O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215043" name="Rectangle 3"/>
          <p:cNvSpPr>
            <a:spLocks noGrp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I/O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entire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 C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using complexity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assembly code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special protection mechanism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needed to keep user processes from performing I/O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Every instruction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can reference memory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 registers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(using one instruction instead of two)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Caching a device control register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would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disastrous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(reference from cache instead of devices →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disable cache is a solution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devices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way of seeing memory addresses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 they go by on the memory bus,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they have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way of responding to them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need of figuring out at boot time which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addresses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really memory addresses</a:t>
            </a:r>
          </a:p>
        </p:txBody>
      </p:sp>
      <p:sp>
        <p:nvSpPr>
          <p:cNvPr id="11268" name="Rectangle 4"/>
          <p:cNvSpPr>
            <a:spLocks/>
          </p:cNvSpPr>
          <p:nvPr/>
        </p:nvSpPr>
        <p:spPr bwMode="auto">
          <a:xfrm>
            <a:off x="914400" y="4572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Memory-Mapped I/O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217091" name="Rectangle 3"/>
          <p:cNvSpPr>
            <a:spLocks noGrp="1"/>
          </p:cNvSpPr>
          <p:nvPr>
            <p:ph type="body" idx="4294967295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 serially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bit by bit,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block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controller’s internal buffer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checksum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no read errors have occurred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interrupts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know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those tasks are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block from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controller’s buffer a byte or a word at a time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executing a loop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each iteration reading on byte or word from controller device register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it in main memory</a:t>
            </a:r>
          </a:p>
          <a:p>
            <a:pPr lvl="1" algn="just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the CPU’s time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DMA</a:t>
            </a:r>
          </a:p>
        </p:txBody>
      </p:sp>
      <p:sp>
        <p:nvSpPr>
          <p:cNvPr id="12292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Direct Memory Access – DMA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13315" name="Rectangle 3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is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device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DMA controller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access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bus independent of the CPU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DMA controller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regulates transfers to multiple devices, often concurrently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DMA channel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serviced device. 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DMA controller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several registers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 count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or more control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registers: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port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use,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(read/write from/to I/O device),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unit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(byte/word at a time), and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bytes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burst</a:t>
            </a:r>
          </a:p>
        </p:txBody>
      </p:sp>
      <p:sp>
        <p:nvSpPr>
          <p:cNvPr id="13316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Direct Memory Access – DMA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217091" name="Rectangle 3"/>
          <p:cNvSpPr>
            <a:spLocks noGrp="1"/>
          </p:cNvSpPr>
          <p:nvPr>
            <p:ph type="body" idx="4294967295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registers so DMA knows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transfer where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how many transfer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controller read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internal buffer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checksum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initiates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issuing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request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bus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controller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controller transfer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word/ byte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internal buffers to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memory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address that is described in the DMA’s memory address register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controller sends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write is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to service next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 RR or priority scheme)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addresses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decrements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 count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greater than 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through 4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reaches 0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let it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ansfer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now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</a:p>
        </p:txBody>
      </p:sp>
      <p:sp>
        <p:nvSpPr>
          <p:cNvPr id="14340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Direct Memory Access – DMA – Mechanism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17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17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17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170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15363" name="Rectangle 4"/>
          <p:cNvSpPr>
            <a:spLocks/>
          </p:cNvSpPr>
          <p:nvPr/>
        </p:nvSpPr>
        <p:spPr bwMode="auto">
          <a:xfrm>
            <a:off x="914400" y="5334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Direct Memory Access – DMA</a:t>
            </a:r>
          </a:p>
        </p:txBody>
      </p:sp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3733800" y="55626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5-4.</a:t>
            </a:r>
          </a:p>
        </p:txBody>
      </p:sp>
      <p:pic>
        <p:nvPicPr>
          <p:cNvPr id="1536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8286750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219139" name="Rectangle 3"/>
          <p:cNvSpPr>
            <a:spLocks noGrp="1"/>
          </p:cNvSpPr>
          <p:nvPr>
            <p:ph type="body" idx="1"/>
          </p:nvPr>
        </p:nvSpPr>
        <p:spPr>
          <a:xfrm>
            <a:off x="0" y="914400"/>
            <a:ext cx="9144000" cy="60198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DMA can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three mode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Word-at-a-time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gets one word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Cycle stealing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has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 controller sneaks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steals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occasional bus cycle from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Burst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mode: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tells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acquire the bus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series of transfer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(efficiently because transfer multiple words)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It can be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 devices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with long burst is being transfer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Fly-by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tells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device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directly 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have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controller, 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extra bus cycle is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per word transfer</a:t>
            </a:r>
          </a:p>
          <a:p>
            <a:pPr lvl="2" algn="just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performing device to device copies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even memory-to-memory copies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(first, read to memory, then write to a memory at a different address)</a:t>
            </a:r>
          </a:p>
        </p:txBody>
      </p:sp>
      <p:sp>
        <p:nvSpPr>
          <p:cNvPr id="16388" name="Rectangle 4"/>
          <p:cNvSpPr>
            <a:spLocks/>
          </p:cNvSpPr>
          <p:nvPr/>
        </p:nvSpPr>
        <p:spPr bwMode="auto">
          <a:xfrm>
            <a:off x="914400" y="4572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Direct Memory Access – DMA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9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19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19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066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Direct Memory Access – DMA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memory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convert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 the intended memory buffer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physical address 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physical address into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controller’s address register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addresses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MMU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have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virtual-to-physical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translation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does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an internal buffer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checksum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(Ensuring that the errors do not occur before transferring)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 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ata in transfer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were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busy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(then using DMA transfer because the DMA is not time critical)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or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faster?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job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much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limiting factor is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I/O device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18435" name="Rectangle 4"/>
          <p:cNvSpPr>
            <a:spLocks/>
          </p:cNvSpPr>
          <p:nvPr/>
        </p:nvSpPr>
        <p:spPr bwMode="auto">
          <a:xfrm>
            <a:off x="914400" y="5334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Interrupts Revisited</a:t>
            </a:r>
          </a:p>
        </p:txBody>
      </p:sp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3581400" y="55626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5-5.</a:t>
            </a:r>
          </a:p>
        </p:txBody>
      </p:sp>
      <p:pic>
        <p:nvPicPr>
          <p:cNvPr id="1843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839200" cy="354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223235" name="Rectangle 3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5715000" cy="5791200"/>
          </a:xfrm>
        </p:spPr>
        <p:txBody>
          <a:bodyPr/>
          <a:lstStyle/>
          <a:p>
            <a:pPr marL="176213" indent="-176213"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Leave the machine in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state</a:t>
            </a:r>
          </a:p>
          <a:p>
            <a:pPr marL="176213" indent="-176213"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 properties</a:t>
            </a:r>
          </a:p>
          <a:p>
            <a:pPr marL="530225" lvl="1" indent="-174625" algn="just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saved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known place.</a:t>
            </a:r>
          </a:p>
          <a:p>
            <a:pPr marL="530225" lvl="1" indent="-174625" algn="just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All instructions before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one pointed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by the PC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have fully executed.</a:t>
            </a:r>
          </a:p>
          <a:p>
            <a:pPr marL="530225" lvl="1" indent="-174625" algn="just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 instruction beyond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one pointed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by the PC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has been executed.</a:t>
            </a:r>
          </a:p>
          <a:p>
            <a:pPr marL="530225" lvl="1" indent="-174625" algn="just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Execution state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of the instruction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pointed to by the PC is known</a:t>
            </a:r>
          </a:p>
          <a:p>
            <a:pPr marL="176213" indent="-176213"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prohibition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beyond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one pointed to by the PC from starting. </a:t>
            </a:r>
          </a:p>
          <a:p>
            <a:pPr marL="176213" indent="-176213"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Any changes make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must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 undone before the interrupt happens</a:t>
            </a:r>
          </a:p>
          <a:p>
            <a:pPr marL="176213" indent="-176213"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chip is complexity in design</a:t>
            </a:r>
          </a:p>
        </p:txBody>
      </p:sp>
      <p:sp>
        <p:nvSpPr>
          <p:cNvPr id="19460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Precise Interrupts</a:t>
            </a:r>
          </a:p>
        </p:txBody>
      </p:sp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362200"/>
            <a:ext cx="3505200" cy="303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6934200" y="56388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5-6.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23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build="p"/>
      <p:bldP spid="15360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223235" name="Rectangle 3"/>
          <p:cNvSpPr>
            <a:spLocks noGrp="1"/>
          </p:cNvSpPr>
          <p:nvPr>
            <p:ph type="body" idx="4294967295"/>
          </p:nvPr>
        </p:nvSpPr>
        <p:spPr>
          <a:xfrm>
            <a:off x="228600" y="1066800"/>
            <a:ext cx="5486400" cy="5791200"/>
          </a:xfrm>
        </p:spPr>
        <p:txBody>
          <a:bodyPr/>
          <a:lstStyle/>
          <a:p>
            <a:pPr marL="176213" indent="-176213" algn="just" eaLnBrk="1" hangingPunct="1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meet all requirements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as precise</a:t>
            </a:r>
          </a:p>
          <a:p>
            <a:pPr marL="176213" indent="-176213" algn="just" eaLnBrk="1" hangingPunct="1">
              <a:lnSpc>
                <a:spcPct val="8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 instructions near PC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 different stages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completions</a:t>
            </a:r>
          </a:p>
          <a:p>
            <a:pPr marL="176213" indent="-176213" algn="just" eaLnBrk="1" hangingPunct="1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Machines with imprecise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usually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vomit a large amount of internal state onto the stack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give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possibility of figuring out what was going on. </a:t>
            </a:r>
          </a:p>
          <a:p>
            <a:pPr marL="530225" lvl="1" indent="-174625" algn="just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→The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code necessary to restart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machine is typically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extremely complicated</a:t>
            </a:r>
          </a:p>
          <a:p>
            <a:pPr marL="530225" lvl="1" indent="-174625" algn="just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Saving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large mount of information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memory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 very interrupts make interrupts slow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recovery even worse</a:t>
            </a:r>
          </a:p>
        </p:txBody>
      </p:sp>
      <p:sp>
        <p:nvSpPr>
          <p:cNvPr id="20484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Imprecise Interrupts</a:t>
            </a:r>
          </a:p>
        </p:txBody>
      </p:sp>
      <p:pic>
        <p:nvPicPr>
          <p:cNvPr id="131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981200"/>
            <a:ext cx="3276600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6" name="Text Box 4"/>
          <p:cNvSpPr txBox="1">
            <a:spLocks noChangeArrowheads="1"/>
          </p:cNvSpPr>
          <p:nvPr/>
        </p:nvSpPr>
        <p:spPr bwMode="auto">
          <a:xfrm>
            <a:off x="7086600" y="5105400"/>
            <a:ext cx="1806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5-6.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build="p"/>
      <p:bldP spid="15360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Hardware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 </a:t>
            </a:r>
          </a:p>
        </p:txBody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I/O Software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 Layers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12829</TotalTime>
  <Words>2479</Words>
  <Application>Microsoft Office PowerPoint</Application>
  <PresentationFormat>On-screen Show (4:3)</PresentationFormat>
  <Paragraphs>206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I/O   Principles of I/O Hardware</vt:lpstr>
      <vt:lpstr>Review</vt:lpstr>
      <vt:lpstr>Review</vt:lpstr>
      <vt:lpstr>Objectives</vt:lpstr>
      <vt:lpstr>Principles of I/O Hardware</vt:lpstr>
      <vt:lpstr>Principles of I/O Hardware</vt:lpstr>
      <vt:lpstr>Principles of I/O Hardware</vt:lpstr>
      <vt:lpstr>Principles of I/O Hardware</vt:lpstr>
      <vt:lpstr>Principles of I/O Hardware</vt:lpstr>
      <vt:lpstr>Principles of I/O Hardware</vt:lpstr>
      <vt:lpstr>Principles of I/O Hardware</vt:lpstr>
      <vt:lpstr>Principles of I/O Hardware</vt:lpstr>
      <vt:lpstr>Principles of I/O Hardware</vt:lpstr>
      <vt:lpstr>Principles of I/O Hardware</vt:lpstr>
      <vt:lpstr>Principles of I/O Hardware</vt:lpstr>
      <vt:lpstr>Principles of I/O Hardware   Direct Memory Access – DMA </vt:lpstr>
      <vt:lpstr>Principles of I/O Hardware</vt:lpstr>
      <vt:lpstr>Principles of I/O Hardware</vt:lpstr>
      <vt:lpstr>Principles of I/O Hardware</vt:lpstr>
      <vt:lpstr>Summary</vt:lpstr>
      <vt:lpstr>Next Lecture 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PFC: Module A - Introduction</dc:title>
  <dc:creator>Phan Truong Lam</dc:creator>
  <cp:lastModifiedBy>Tong Phuoc Quan (FE FPTU HCM)</cp:lastModifiedBy>
  <cp:revision>2660</cp:revision>
  <dcterms:created xsi:type="dcterms:W3CDTF">2007-08-21T04:43:22Z</dcterms:created>
  <dcterms:modified xsi:type="dcterms:W3CDTF">2021-10-24T12:22:32Z</dcterms:modified>
</cp:coreProperties>
</file>