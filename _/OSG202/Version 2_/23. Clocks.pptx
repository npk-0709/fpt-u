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34"/>
  </p:notesMasterIdLst>
  <p:sldIdLst>
    <p:sldId id="256" r:id="rId2"/>
    <p:sldId id="466" r:id="rId3"/>
    <p:sldId id="471" r:id="rId4"/>
    <p:sldId id="465" r:id="rId5"/>
    <p:sldId id="468" r:id="rId6"/>
    <p:sldId id="469" r:id="rId7"/>
    <p:sldId id="359" r:id="rId8"/>
    <p:sldId id="362" r:id="rId9"/>
    <p:sldId id="400" r:id="rId10"/>
    <p:sldId id="407" r:id="rId11"/>
    <p:sldId id="406" r:id="rId12"/>
    <p:sldId id="462" r:id="rId13"/>
    <p:sldId id="412" r:id="rId14"/>
    <p:sldId id="463" r:id="rId15"/>
    <p:sldId id="408" r:id="rId16"/>
    <p:sldId id="409" r:id="rId17"/>
    <p:sldId id="410" r:id="rId18"/>
    <p:sldId id="472" r:id="rId19"/>
    <p:sldId id="411" r:id="rId20"/>
    <p:sldId id="374" r:id="rId21"/>
    <p:sldId id="413" r:id="rId22"/>
    <p:sldId id="401" r:id="rId23"/>
    <p:sldId id="415" r:id="rId24"/>
    <p:sldId id="426" r:id="rId25"/>
    <p:sldId id="416" r:id="rId26"/>
    <p:sldId id="376" r:id="rId27"/>
    <p:sldId id="427" r:id="rId28"/>
    <p:sldId id="375" r:id="rId29"/>
    <p:sldId id="417" r:id="rId30"/>
    <p:sldId id="421" r:id="rId31"/>
    <p:sldId id="394" r:id="rId32"/>
    <p:sldId id="464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FFFF"/>
    <a:srgbClr val="FF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57" autoAdjust="0"/>
    <p:restoredTop sz="95371" autoAdjust="0"/>
  </p:normalViewPr>
  <p:slideViewPr>
    <p:cSldViewPr>
      <p:cViewPr varScale="1">
        <p:scale>
          <a:sx n="88" d="100"/>
          <a:sy n="88" d="100"/>
        </p:scale>
        <p:origin x="643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E765572F-F168-4084-B045-05263D2588D7}" type="datetimeFigureOut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9E2A951-5189-4409-A593-5F27D45A17C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z="1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26743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z="10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z="1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z="10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Monopolizing: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Tension : </a:t>
            </a:r>
            <a:r>
              <a:rPr lang="en-US" altLang="en-US" dirty="0" err="1"/>
              <a:t>sức</a:t>
            </a:r>
            <a:r>
              <a:rPr lang="en-US" altLang="en-US" dirty="0"/>
              <a:t> </a:t>
            </a:r>
            <a:r>
              <a:rPr lang="en-US" altLang="en-US" dirty="0" err="1"/>
              <a:t>ép</a:t>
            </a:r>
            <a:r>
              <a:rPr lang="en-US" altLang="en-US" dirty="0"/>
              <a:t>, </a:t>
            </a:r>
            <a:r>
              <a:rPr lang="en-US" altLang="en-US" dirty="0" err="1"/>
              <a:t>sự</a:t>
            </a:r>
            <a:r>
              <a:rPr lang="en-US" altLang="en-US" dirty="0"/>
              <a:t> </a:t>
            </a:r>
            <a:r>
              <a:rPr lang="en-US" altLang="en-US" dirty="0" err="1"/>
              <a:t>kéo</a:t>
            </a:r>
            <a:r>
              <a:rPr lang="en-US" altLang="en-US" dirty="0"/>
              <a:t>, chu </a:t>
            </a:r>
            <a:r>
              <a:rPr lang="en-US" altLang="en-US" dirty="0" err="1"/>
              <a:t>kỳ</a:t>
            </a:r>
            <a:r>
              <a:rPr lang="en-US" altLang="en-US" dirty="0"/>
              <a:t>,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kỳ</a:t>
            </a:r>
            <a:endParaRPr lang="en-US" altLang="en-US" dirty="0"/>
          </a:p>
          <a:p>
            <a:r>
              <a:rPr lang="en-US" altLang="en-US" dirty="0"/>
              <a:t>Tied: </a:t>
            </a:r>
            <a:r>
              <a:rPr lang="en-US" altLang="en-US" dirty="0" err="1"/>
              <a:t>trói</a:t>
            </a:r>
            <a:r>
              <a:rPr lang="en-US" altLang="en-US" dirty="0"/>
              <a:t> ,</a:t>
            </a:r>
            <a:r>
              <a:rPr lang="en-US" altLang="en-US" dirty="0" err="1"/>
              <a:t>buộc</a:t>
            </a:r>
            <a:endParaRPr lang="en-US" altLang="en-US" dirty="0"/>
          </a:p>
          <a:p>
            <a:r>
              <a:rPr lang="en-US" altLang="en-US" dirty="0"/>
              <a:t>Oscillator: </a:t>
            </a:r>
            <a:r>
              <a:rPr lang="en-US" altLang="en-US" dirty="0" err="1"/>
              <a:t>dao</a:t>
            </a:r>
            <a:r>
              <a:rPr lang="en-US" altLang="en-US" dirty="0"/>
              <a:t> </a:t>
            </a:r>
            <a:r>
              <a:rPr lang="en-US" altLang="en-US" dirty="0" err="1"/>
              <a:t>động</a:t>
            </a:r>
            <a:r>
              <a:rPr lang="en-US" altLang="en-US" dirty="0"/>
              <a:t> </a:t>
            </a:r>
            <a:r>
              <a:rPr lang="en-US" altLang="en-US" dirty="0" err="1"/>
              <a:t>thạch</a:t>
            </a:r>
            <a:r>
              <a:rPr lang="en-US" altLang="en-US" dirty="0"/>
              <a:t> </a:t>
            </a:r>
            <a:r>
              <a:rPr lang="en-US" altLang="en-US" dirty="0" err="1"/>
              <a:t>anh</a:t>
            </a:r>
            <a:endParaRPr lang="en-US" altLang="en-US" dirty="0"/>
          </a:p>
          <a:p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quartz crystal  :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thạch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anh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Pulse : </a:t>
            </a:r>
            <a:r>
              <a:rPr lang="en-US" altLang="en-US" dirty="0" err="1"/>
              <a:t>mạch</a:t>
            </a:r>
            <a:r>
              <a:rPr lang="en-US" altLang="en-US" dirty="0"/>
              <a:t>, rung </a:t>
            </a:r>
            <a:r>
              <a:rPr lang="en-US" altLang="en-US" dirty="0" err="1"/>
              <a:t>động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dirty="0"/>
              <a:t>Accumulated: </a:t>
            </a:r>
            <a:r>
              <a:rPr lang="en-US" altLang="en-US" dirty="0" err="1"/>
              <a:t>tích</a:t>
            </a:r>
            <a:r>
              <a:rPr lang="en-US" altLang="en-US" dirty="0"/>
              <a:t> </a:t>
            </a:r>
            <a:r>
              <a:rPr lang="en-US" altLang="en-US" dirty="0" err="1"/>
              <a:t>lũy</a:t>
            </a:r>
            <a:endParaRPr lang="en-US" altLang="en-US" dirty="0"/>
          </a:p>
          <a:p>
            <a:r>
              <a:rPr lang="en-US" altLang="en-US" dirty="0"/>
              <a:t>Interval : </a:t>
            </a:r>
            <a:r>
              <a:rPr lang="en-US" altLang="en-US" dirty="0" err="1"/>
              <a:t>khoảng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endParaRPr lang="en-US" altLang="en-US" dirty="0"/>
          </a:p>
          <a:p>
            <a:r>
              <a:rPr lang="en-US" altLang="en-US" dirty="0"/>
              <a:t>Subsidiary : </a:t>
            </a:r>
            <a:r>
              <a:rPr lang="en-US" altLang="en-US" dirty="0" err="1"/>
              <a:t>phụ</a:t>
            </a:r>
            <a:r>
              <a:rPr lang="en-US" altLang="en-US" dirty="0"/>
              <a:t> </a:t>
            </a:r>
            <a:r>
              <a:rPr lang="en-US" altLang="en-US" dirty="0" err="1"/>
              <a:t>trợ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Profiling : </a:t>
            </a:r>
            <a:r>
              <a:rPr lang="en-US" altLang="en-US" dirty="0" err="1"/>
              <a:t>lập</a:t>
            </a:r>
            <a:r>
              <a:rPr lang="en-US" altLang="en-US" dirty="0"/>
              <a:t> </a:t>
            </a:r>
            <a:r>
              <a:rPr lang="en-US" altLang="en-US" dirty="0" err="1"/>
              <a:t>hồ</a:t>
            </a:r>
            <a:r>
              <a:rPr lang="en-US" altLang="en-US" dirty="0"/>
              <a:t> </a:t>
            </a:r>
            <a:r>
              <a:rPr lang="en-US" altLang="en-US" dirty="0" err="1"/>
              <a:t>sơ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difference between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interrupt and polling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that in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interrupt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device notifies the CPU that it requires attention while, in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CPU continuously checks the status of the devices to find whether they require attention. In brief, an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interrupt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asynchronous whereas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synchronous.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/>
            <a:r>
              <a:rPr lang="en-US" altLang="en-US" dirty="0"/>
              <a:t>Burden : </a:t>
            </a:r>
            <a:r>
              <a:rPr lang="en-US" altLang="en-US" dirty="0" err="1"/>
              <a:t>chịu</a:t>
            </a:r>
            <a:r>
              <a:rPr lang="en-US" altLang="en-US" dirty="0"/>
              <a:t> </a:t>
            </a:r>
            <a:r>
              <a:rPr lang="en-US" altLang="en-US" dirty="0" err="1"/>
              <a:t>trách</a:t>
            </a:r>
            <a:r>
              <a:rPr lang="en-US" altLang="en-US" dirty="0"/>
              <a:t> </a:t>
            </a:r>
            <a:r>
              <a:rPr lang="en-US" altLang="en-US" dirty="0" err="1"/>
              <a:t>nhiệm</a:t>
            </a:r>
            <a:endParaRPr lang="en-US" altLang="en-US" dirty="0"/>
          </a:p>
          <a:p>
            <a:pPr marL="228600" indent="-228600"/>
            <a:r>
              <a:rPr lang="en-US" altLang="en-US" dirty="0"/>
              <a:t>Philosophies : </a:t>
            </a:r>
            <a:r>
              <a:rPr lang="en-US" altLang="en-US" dirty="0" err="1"/>
              <a:t>triết</a:t>
            </a:r>
            <a:r>
              <a:rPr lang="en-US" altLang="en-US" dirty="0"/>
              <a:t> </a:t>
            </a:r>
            <a:r>
              <a:rPr lang="en-US" altLang="en-US" dirty="0" err="1"/>
              <a:t>lý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/>
            <a:r>
              <a:rPr lang="en-US" altLang="en-US" dirty="0"/>
              <a:t>Burden : </a:t>
            </a:r>
            <a:r>
              <a:rPr lang="en-US" altLang="en-US" dirty="0" err="1"/>
              <a:t>chịu</a:t>
            </a:r>
            <a:r>
              <a:rPr lang="en-US" altLang="en-US" dirty="0"/>
              <a:t> </a:t>
            </a:r>
            <a:r>
              <a:rPr lang="en-US" altLang="en-US" dirty="0" err="1"/>
              <a:t>trách</a:t>
            </a:r>
            <a:r>
              <a:rPr lang="en-US" altLang="en-US" dirty="0"/>
              <a:t> </a:t>
            </a:r>
            <a:r>
              <a:rPr lang="en-US" altLang="en-US" dirty="0" err="1"/>
              <a:t>nhiệm</a:t>
            </a:r>
            <a:endParaRPr lang="en-US" altLang="en-US" dirty="0"/>
          </a:p>
          <a:p>
            <a:pPr marL="228600" indent="-228600"/>
            <a:r>
              <a:rPr lang="en-US" altLang="en-US" dirty="0"/>
              <a:t>Philosophies : </a:t>
            </a:r>
            <a:r>
              <a:rPr lang="en-US" altLang="en-US" dirty="0" err="1"/>
              <a:t>triết</a:t>
            </a:r>
            <a:r>
              <a:rPr lang="en-US" altLang="en-US" dirty="0"/>
              <a:t> </a:t>
            </a:r>
            <a:r>
              <a:rPr lang="en-US" altLang="en-US" dirty="0" err="1"/>
              <a:t>lý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89924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Accustom : </a:t>
            </a:r>
            <a:r>
              <a:rPr lang="en-US" altLang="en-US" dirty="0" err="1"/>
              <a:t>quen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9C9C6-C03A-44C3-8E59-6E2C8A68C2C7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23D4B1-9FD0-4AF6-BF14-E6AEC1990F8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47701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A82AA-2E25-4314-AED4-5BDB0B9A5583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049764-71D3-4817-8792-DBF7DBA5B66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794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83B95-D264-4A4B-9E8D-9678F5B0FE07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2286FC-99B1-40F1-A238-76926D05710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984934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4C2B6-F1DA-4FB1-8610-9177592C3EB0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9B61C-9EE5-44B7-8815-795FBF2CDAC8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89240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0D485F-C9F7-42D8-9242-23FE5F83F15D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13719-CBAE-4DE3-9F30-76D3722C45E8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87592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1790B-728A-44B2-AA34-69CB78A60A77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C729A-ACC7-435C-A7CC-78B0B33DEEFE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92808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7E456-72F5-4A59-9EEB-C4A168727369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A50623-F044-40A7-BACA-3D1894F82732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68938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F51E69-6B93-4B66-91A9-50DC77B92063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478E20-7CA8-4E6C-A2CE-689D585DA508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189587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F0969-0BB4-4F82-81B4-640491514B10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58A6F1-1BE8-478C-82E0-D8507B1C144C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58088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DA04C-3A70-467E-A92F-801DED1C5672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ABDE25-556C-4CC5-A782-3F870A7F868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59230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2F69C-9A57-4CBB-AE8A-E6FDF85F13E5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2B4E8D-886B-4A28-95A5-EB5208375DB1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813633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A5059D-B546-4938-B74C-7612BFA808CF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3AEA72-0BAE-457D-BA3D-978A3F427AC1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777790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0F65D-64A8-4DF5-9246-FCF25DB8BF4E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EAB97-E830-49CA-90F2-7ACF60591070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655513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020C53B3-EC06-4EE9-AD47-8B184735B582}" type="datetime1">
              <a:rPr lang="en-US"/>
              <a:pPr>
                <a:defRPr/>
              </a:pPr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4574EA41-4765-4B84-A1BB-FC53B75FAEF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22098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I/O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Clocks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1722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Map all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 registers into the memory space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Each control register is assigned a particular and unique memory address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memory address register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byte count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One or more control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registers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3 modes: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Word-at-a-time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Fly-by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Precise vs. Imprecise Interrupt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Precise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Leave the machine in a well-defined state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saved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known place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All instructions before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one pointed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 by the PC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have fully executed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No instruction beyond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one pointed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 by the PC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has been executed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 state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of the instruction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pointed to by the PC is known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Imprecise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Does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meet all requirements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as precise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4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0" y="762000"/>
            <a:ext cx="9144000" cy="60960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</a:t>
            </a:r>
          </a:p>
          <a:p>
            <a:pPr lvl="1" algn="just" eaLnBrk="1" hangingPunct="1"/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pPr lvl="2" algn="just"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Independent, Error handling, Synchronous vs.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Buffering, Dedicated device allocation</a:t>
            </a:r>
          </a:p>
          <a:p>
            <a:pPr lvl="1" algn="just" eaLnBrk="1" hangingPunct="1"/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with DMA</a:t>
            </a: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level I/O software: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pooling with daemon scheduling (Asynchronous)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independent </a:t>
            </a:r>
          </a:p>
          <a:p>
            <a:pPr lvl="3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naming, Uniform interface, Independent block size</a:t>
            </a:r>
          </a:p>
          <a:p>
            <a:pPr lvl="3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Buffering</a:t>
            </a:r>
          </a:p>
          <a:p>
            <a:pPr lvl="3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handling, Dedicated device allocation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Drivers: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OS control specified devices depending on standard interface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Handlers: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interrupt to determine what the system should do</a:t>
            </a:r>
          </a:p>
        </p:txBody>
      </p:sp>
    </p:spTree>
    <p:extLst>
      <p:ext uri="{BB962C8B-B14F-4D97-AF65-F5344CB8AC3E}">
        <p14:creationId xmlns:p14="http://schemas.microsoft.com/office/powerpoint/2010/main" val="411105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0" y="304800"/>
            <a:ext cx="9144000" cy="61722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arm scheduling</a:t>
            </a: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 time </a:t>
            </a:r>
          </a:p>
          <a:p>
            <a:pPr lvl="2" algn="just"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sequentially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SSF: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movement of the disk arm from its current head position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Elevator</a:t>
            </a:r>
          </a:p>
          <a:p>
            <a:pPr lvl="3" algn="just" eaLnBrk="1" hangingPunct="1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Arm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direction only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satisfying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outstanding requests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reaches the last track in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direction</a:t>
            </a:r>
          </a:p>
          <a:p>
            <a:pPr lvl="3" algn="just" eaLnBrk="1" hangingPunct="1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When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numbered cylinder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request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been services,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goes to lowest number cylinder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pending request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continues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upward direction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Rotational delay</a:t>
            </a:r>
          </a:p>
          <a:p>
            <a:pPr lvl="2" algn="just"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cylinder are pending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for the sector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will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under the head next</a:t>
            </a:r>
          </a:p>
          <a:p>
            <a:pPr lvl="2" algn="just"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request table for each drive,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cylinder where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will be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 next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data transfer time (SATA)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1722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 arm scheduling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Bad sector</a:t>
            </a:r>
          </a:p>
          <a:p>
            <a:pPr lvl="3"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Sectors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do not correctly read back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just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written to them</a:t>
            </a:r>
          </a:p>
          <a:p>
            <a:pPr lvl="3" algn="just" eaLnBrk="1" hangingPunct="1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Controllers remap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bad sector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spare and/or Shift all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sectors up one</a:t>
            </a:r>
          </a:p>
          <a:p>
            <a:pPr lvl="3" algn="just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OS must first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acquire a list of bad sectors, then it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build remapping tables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Seek errors</a:t>
            </a:r>
          </a:p>
          <a:p>
            <a:pPr lvl="3" algn="just" eaLnBrk="1" hangingPunct="1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Move the arm as far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 as it will go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and reset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controller’s internal idea of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 cylinder to 0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1722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 arm scheduling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Disk Consistency</a:t>
            </a:r>
          </a:p>
          <a:p>
            <a:pPr lvl="2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Stable write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block on drive 1,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it back to verify.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driver 2 is written and reread until it succeeds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Stable read: First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block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on drive 1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 times.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all of these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give bad ECCs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reading on drive 2</a:t>
            </a:r>
          </a:p>
          <a:p>
            <a:pPr lvl="2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Crash recovery: scans both disks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comparing corresponding blocks.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Bad block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overwritten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 the good blocks or block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 driver 1 is written onto drive 2</a:t>
            </a:r>
          </a:p>
          <a:p>
            <a:pPr lvl="2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Optimizing: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using Nonvolatile/ Volatile RAM to replace in using driver 2</a:t>
            </a:r>
          </a:p>
          <a:p>
            <a:pPr lvl="1" algn="just"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686800" cy="60960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Clocks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Clock Hardware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Clock Software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Soft Timers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Input Software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Output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Clocks</a:t>
            </a:r>
          </a:p>
        </p:txBody>
      </p:sp>
      <p:sp>
        <p:nvSpPr>
          <p:cNvPr id="9219" name="Rectangle 3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also call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essential to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any multi-programmed system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of day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one process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monopolizing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among other things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software take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form of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neither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</a:t>
            </a:r>
          </a:p>
        </p:txBody>
      </p:sp>
      <p:sp>
        <p:nvSpPr>
          <p:cNvPr id="9220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533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Clocks</a:t>
            </a:r>
          </a:p>
        </p:txBody>
      </p:sp>
      <p:sp>
        <p:nvSpPr>
          <p:cNvPr id="190467" name="Rectangle 3"/>
          <p:cNvSpPr>
            <a:spLocks noGrp="1"/>
          </p:cNvSpPr>
          <p:nvPr>
            <p:ph type="body"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clocks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110-120 volt power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every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cycle at 50-60Hz </a:t>
            </a:r>
          </a:p>
          <a:p>
            <a:pPr lvl="1" algn="just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 of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components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 oscillator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holding register</a:t>
            </a:r>
          </a:p>
          <a:p>
            <a:pPr lvl="2" algn="just"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piece of quartz crystal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properly cut and mounted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can be made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periodic signal of very great accuracy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typically in the range of several hundreds MHz</a:t>
            </a:r>
          </a:p>
          <a:p>
            <a:pPr lvl="2" algn="just" eaLnBrk="1" hangingPunct="1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electronics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signal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 small integer to get frequencies up to 1000MHz or even more</a:t>
            </a:r>
          </a:p>
          <a:p>
            <a:pPr lvl="2" algn="just"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one such circuit is usually found in any computer, providing a synchronizing signal to the computer’s various circuits. </a:t>
            </a:r>
          </a:p>
          <a:p>
            <a:pPr lvl="2" algn="just"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signal is fed into the counter to make it count down to zero. When the counter gets to zero, it causes a CPU interrupt</a:t>
            </a:r>
          </a:p>
        </p:txBody>
      </p:sp>
      <p:sp>
        <p:nvSpPr>
          <p:cNvPr id="10244" name="Rectangle 4"/>
          <p:cNvSpPr>
            <a:spLocks/>
          </p:cNvSpPr>
          <p:nvPr/>
        </p:nvSpPr>
        <p:spPr bwMode="auto">
          <a:xfrm>
            <a:off x="9144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Clock Hardware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Clocks</a:t>
            </a:r>
          </a:p>
        </p:txBody>
      </p:sp>
      <p:sp>
        <p:nvSpPr>
          <p:cNvPr id="11267" name="Rectangle 4"/>
          <p:cNvSpPr>
            <a:spLocks/>
          </p:cNvSpPr>
          <p:nvPr/>
        </p:nvSpPr>
        <p:spPr bwMode="auto">
          <a:xfrm>
            <a:off x="914400" y="5334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Clock Hardware</a:t>
            </a:r>
          </a:p>
        </p:txBody>
      </p:sp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3505200" y="55626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5-32.</a:t>
            </a:r>
          </a:p>
        </p:txBody>
      </p:sp>
      <p:pic>
        <p:nvPicPr>
          <p:cNvPr id="1126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1692275"/>
            <a:ext cx="8782050" cy="309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Clocks</a:t>
            </a:r>
          </a:p>
        </p:txBody>
      </p:sp>
      <p:sp>
        <p:nvSpPr>
          <p:cNvPr id="208899" name="Rectangle 3"/>
          <p:cNvSpPr>
            <a:spLocks noGrp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clocks typically have </a:t>
            </a:r>
            <a:r>
              <a:rPr lang="en-US" alt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several modes of operation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One-shot mode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it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copies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holding register into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decrements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at each pulse from the crystal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 gets to zero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it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cause an interrupt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stops until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explicitly started again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by the software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Square-wave mode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getting to zero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causing the interrupt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holding register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copied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whole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repeated again indefinitely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periodic interrupts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called clock ticks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interrupt frequency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controlled by software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If a 500MHz crystal is used, then the counter is pulse every 2nsec. With unsigned 32 bit registers, interrupts can be programmed to occur at intervals from 2 – 8.6 nsec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Contain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two or three independently programmable clocks</a:t>
            </a:r>
          </a:p>
        </p:txBody>
      </p:sp>
      <p:sp>
        <p:nvSpPr>
          <p:cNvPr id="12292" name="Rectangle 4"/>
          <p:cNvSpPr>
            <a:spLocks/>
          </p:cNvSpPr>
          <p:nvPr/>
        </p:nvSpPr>
        <p:spPr bwMode="auto">
          <a:xfrm>
            <a:off x="914400" y="4572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Clock Hardware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08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08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</a:p>
        </p:txBody>
      </p:sp>
      <p:sp>
        <p:nvSpPr>
          <p:cNvPr id="212995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marL="274638" indent="-274638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 hardware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does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interrupts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at known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intervals</a:t>
            </a:r>
          </a:p>
          <a:p>
            <a:pPr marL="274638" indent="-274638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else involving time must be done by the software,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clock driver</a:t>
            </a:r>
          </a:p>
          <a:p>
            <a:pPr marL="274638" indent="-274638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Typical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duties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a clock driver</a:t>
            </a:r>
          </a:p>
          <a:p>
            <a:pPr marL="715963" lvl="1" indent="-261938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the time of day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 time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1158875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Just requires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incrementing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 clock ticks</a:t>
            </a:r>
          </a:p>
          <a:p>
            <a:pPr marL="1158875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With a clock rate of 60Hz, a 32 bit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will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just over 2 years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→ the system cannot store the real time as the number of tick since 1th, Jan, 1970</a:t>
            </a:r>
          </a:p>
          <a:p>
            <a:pPr marL="1158875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1620838" lvl="3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Approach: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using 64 bit count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→ maintaining the counter more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since it has to be done many time in seconds</a:t>
            </a:r>
          </a:p>
          <a:p>
            <a:pPr marL="1620838" lvl="3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Approach: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the time of days in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seconds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in tick,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subsidiary counter to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ticks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 whole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 has accumulated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→ 136 years (2</a:t>
            </a:r>
            <a:r>
              <a:rPr lang="en-US" altLang="en-US" sz="16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seconds)</a:t>
            </a:r>
          </a:p>
          <a:p>
            <a:pPr marL="1620838" lvl="3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Approach: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ticks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to do that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relative to the time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booted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rather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to a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fixed external moment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boot time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 time of day value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Later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when the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 of day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requested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time of day is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to get the current time of day</a:t>
            </a:r>
          </a:p>
        </p:txBody>
      </p:sp>
      <p:sp>
        <p:nvSpPr>
          <p:cNvPr id="13316" name="Rectangle 4"/>
          <p:cNvSpPr>
            <a:spLocks/>
          </p:cNvSpPr>
          <p:nvPr/>
        </p:nvSpPr>
        <p:spPr bwMode="auto">
          <a:xfrm>
            <a:off x="914400" y="5334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Clock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12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Clocks</a:t>
            </a:r>
          </a:p>
        </p:txBody>
      </p:sp>
      <p:sp>
        <p:nvSpPr>
          <p:cNvPr id="14339" name="Rectangle 4"/>
          <p:cNvSpPr>
            <a:spLocks/>
          </p:cNvSpPr>
          <p:nvPr/>
        </p:nvSpPr>
        <p:spPr bwMode="auto">
          <a:xfrm>
            <a:off x="914400" y="5334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Clock Hardware</a:t>
            </a:r>
          </a:p>
        </p:txBody>
      </p:sp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3733800" y="55626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5-33.</a:t>
            </a:r>
          </a:p>
        </p:txBody>
      </p:sp>
      <p:pic>
        <p:nvPicPr>
          <p:cNvPr id="1434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2033588"/>
            <a:ext cx="8655050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</a:p>
        </p:txBody>
      </p:sp>
      <p:sp>
        <p:nvSpPr>
          <p:cNvPr id="212995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marL="274638" indent="-274638"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Typical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duties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a clock driver (cont)</a:t>
            </a:r>
          </a:p>
          <a:p>
            <a:pPr marL="715963" lvl="1" indent="-261938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processes from running longer than they are allowed to.</a:t>
            </a:r>
          </a:p>
          <a:p>
            <a:pPr marL="1155700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initializes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value of that process’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quantum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 clock ticks</a:t>
            </a:r>
          </a:p>
          <a:p>
            <a:pPr marL="1155700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 interrupt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clock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decrements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quantum counter by 1. </a:t>
            </a:r>
          </a:p>
          <a:p>
            <a:pPr marL="1155700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 it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gets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 driver call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up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another process</a:t>
            </a:r>
          </a:p>
          <a:p>
            <a:pPr marL="715963" lvl="1" indent="-261938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Accounting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CPU usage.</a:t>
            </a:r>
          </a:p>
          <a:p>
            <a:pPr marL="1155700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Approach: Using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 timer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(distinct with system timer)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how long the process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is started to be stopped</a:t>
            </a:r>
          </a:p>
          <a:p>
            <a:pPr marL="1155700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Approach (too expensive and rarely done)</a:t>
            </a:r>
          </a:p>
          <a:p>
            <a:pPr marL="1563688" lvl="3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less accurate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simpler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way to do accounting is to m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aintain a pointer to the process table entr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y for currently running process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 a global variable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. At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every clock tick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 process’ entry is incremented</a:t>
            </a:r>
          </a:p>
          <a:p>
            <a:pPr marL="1563688" lvl="3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if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many interrupts occur during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process’ run, it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still charged for a full tic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k, even though it did not get much work done</a:t>
            </a:r>
          </a:p>
        </p:txBody>
      </p:sp>
      <p:sp>
        <p:nvSpPr>
          <p:cNvPr id="15364" name="Rectangle 4"/>
          <p:cNvSpPr>
            <a:spLocks/>
          </p:cNvSpPr>
          <p:nvPr/>
        </p:nvSpPr>
        <p:spPr bwMode="auto">
          <a:xfrm>
            <a:off x="914400" y="5334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Clock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12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</a:p>
        </p:txBody>
      </p:sp>
      <p:sp>
        <p:nvSpPr>
          <p:cNvPr id="212995" name="Rectangle 3"/>
          <p:cNvSpPr>
            <a:spLocks noGrp="1"/>
          </p:cNvSpPr>
          <p:nvPr>
            <p:ph type="body" idx="1"/>
          </p:nvPr>
        </p:nvSpPr>
        <p:spPr>
          <a:xfrm>
            <a:off x="0" y="838200"/>
            <a:ext cx="9144000" cy="5867400"/>
          </a:xfrm>
        </p:spPr>
        <p:txBody>
          <a:bodyPr/>
          <a:lstStyle/>
          <a:p>
            <a:pPr marL="274638" indent="-274638"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Typical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duties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a clock driver (cont)</a:t>
            </a:r>
          </a:p>
          <a:p>
            <a:pPr marL="715963" lvl="1" indent="-261938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Handling alarm system call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made by user processes.</a:t>
            </a:r>
          </a:p>
          <a:p>
            <a:pPr marL="1158875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process can request that the OS give it warning after a certain interval, using a signal, interrupt, message, etc … (e.g acknowledged signal)</a:t>
            </a:r>
          </a:p>
          <a:p>
            <a:pPr marL="1158875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implement,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kept the pending timers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maintained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as well as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giving the time of the next times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Whenever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 of day is updated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checks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closest signal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occurred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If it has,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searched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next timer to occur</a:t>
            </a:r>
          </a:p>
          <a:p>
            <a:pPr marL="715963" lvl="1" indent="-261938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Providing watchdog timers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for parts of the system itself.</a:t>
            </a:r>
          </a:p>
          <a:p>
            <a:pPr marL="1158875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OS also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set timer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cause an interrupt after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sufficiently long time interval</a:t>
            </a:r>
          </a:p>
          <a:p>
            <a:pPr marL="715963" lvl="1" indent="-261938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Doing profiling, monitoring, statistics gathering</a:t>
            </a:r>
          </a:p>
          <a:p>
            <a:pPr marL="1158875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by which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build up a histogram of its program counter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so it can see where it is spends its time</a:t>
            </a:r>
          </a:p>
          <a:p>
            <a:pPr marL="1158875" lvl="2" indent="-26035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profiling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possibility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at every stick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checks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see if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 process is being profiled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and if so, the bin number corresponding to the current PC. It then increments that bin by one </a:t>
            </a:r>
          </a:p>
        </p:txBody>
      </p:sp>
      <p:sp>
        <p:nvSpPr>
          <p:cNvPr id="16388" name="Rectangle 4"/>
          <p:cNvSpPr>
            <a:spLocks/>
          </p:cNvSpPr>
          <p:nvPr/>
        </p:nvSpPr>
        <p:spPr bwMode="auto">
          <a:xfrm>
            <a:off x="914400" y="5334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Clock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2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 bldLvl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</a:p>
        </p:txBody>
      </p:sp>
      <p:sp>
        <p:nvSpPr>
          <p:cNvPr id="215043" name="Rectangle 3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915400" cy="58674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Avoid interrupts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 OS facility that allows efficient scheduling of software events at microsecond granularity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Whenever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running for some other reason, just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mode it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checks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 time clock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see if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 timer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expired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timer is expired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scheduled event is performed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 need to switch into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mode since the system is already there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As in the case when the system is already context-switched to the kernel… why not see if other work can be done “while you’re in there?”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 timers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go off again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 that has to be done is copy the current clock value to the timer and add the timeout interval to it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Soft timers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stand or fall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rate at which kernel entries are made for other reasons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TLB misses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Page faults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I/O interrupts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CPU going idle</a:t>
            </a:r>
          </a:p>
        </p:txBody>
      </p:sp>
      <p:sp>
        <p:nvSpPr>
          <p:cNvPr id="17412" name="Rectangle 4"/>
          <p:cNvSpPr>
            <a:spLocks/>
          </p:cNvSpPr>
          <p:nvPr/>
        </p:nvSpPr>
        <p:spPr bwMode="auto">
          <a:xfrm>
            <a:off x="914400" y="4572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Soft Timers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15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215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sp>
        <p:nvSpPr>
          <p:cNvPr id="217091" name="Rectangle 3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 Software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code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number in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port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7 bits (8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 is used to represent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press – 0 or release – 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any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struck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code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register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up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whether it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case, upper case, or the combination.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key board interfaces puts the full burden on the software, it is extremely flexible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possible philosophies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adopted for the driver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mode/ character oriented/ noncanonical mode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just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input and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upward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unmodified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Cooked mode/ line oriented/ canonical mode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the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intraline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just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user programs</a:t>
            </a:r>
          </a:p>
        </p:txBody>
      </p:sp>
      <p:sp>
        <p:nvSpPr>
          <p:cNvPr id="18436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Input Software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sp>
        <p:nvSpPr>
          <p:cNvPr id="18436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Input Software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B003BE-DF24-4D2A-B26C-F4D9ED33F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2209801"/>
            <a:ext cx="8229600" cy="3242654"/>
          </a:xfrm>
        </p:spPr>
      </p:pic>
    </p:spTree>
    <p:extLst>
      <p:ext uri="{BB962C8B-B14F-4D97-AF65-F5344CB8AC3E}">
        <p14:creationId xmlns:p14="http://schemas.microsoft.com/office/powerpoint/2010/main" val="1347960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sp>
        <p:nvSpPr>
          <p:cNvPr id="219139" name="Rectangle 3"/>
          <p:cNvSpPr>
            <a:spLocks noGrp="1"/>
          </p:cNvSpPr>
          <p:nvPr>
            <p:ph type="body" idx="1"/>
          </p:nvPr>
        </p:nvSpPr>
        <p:spPr>
          <a:xfrm>
            <a:off x="0" y="762000"/>
            <a:ext cx="9144000" cy="62484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Keyboard software</a:t>
            </a:r>
          </a:p>
          <a:p>
            <a:pPr lvl="1" algn="just">
              <a:lnSpc>
                <a:spcPct val="9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Echoing</a:t>
            </a:r>
          </a:p>
          <a:p>
            <a:pPr lvl="2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Many users have grown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accustomed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seeing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they have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just typed appear on the screen</a:t>
            </a:r>
          </a:p>
          <a:p>
            <a:pPr lvl="2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 complicated because at the very least, the keyboard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has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figure out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where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new input without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it being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overwritten by program output</a:t>
            </a:r>
          </a:p>
          <a:p>
            <a:pPr lvl="2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Get complicated when more than 80 characters have to be displayed in a window with 80 character lines (wrapping around or throwing away)</a:t>
            </a:r>
          </a:p>
          <a:p>
            <a:pPr lvl="1" algn="just">
              <a:lnSpc>
                <a:spcPct val="9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Tab handling</a:t>
            </a:r>
          </a:p>
          <a:p>
            <a:pPr lvl="2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where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cursor is currently located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taking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account both output from programs and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output from echoing, </a:t>
            </a:r>
          </a:p>
          <a:p>
            <a:pPr lvl="2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proper number of spaces to be echoed</a:t>
            </a:r>
          </a:p>
        </p:txBody>
      </p:sp>
      <p:sp>
        <p:nvSpPr>
          <p:cNvPr id="19460" name="Rectangle 4"/>
          <p:cNvSpPr>
            <a:spLocks/>
          </p:cNvSpPr>
          <p:nvPr/>
        </p:nvSpPr>
        <p:spPr bwMode="auto">
          <a:xfrm>
            <a:off x="914400" y="4572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Input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914400" y="76200"/>
            <a:ext cx="8229600" cy="8382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Input Software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Keyboard Software</a:t>
            </a:r>
          </a:p>
          <a:p>
            <a:pPr lvl="1" algn="just">
              <a:lnSpc>
                <a:spcPct val="9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 equivalence</a:t>
            </a:r>
          </a:p>
          <a:p>
            <a:pPr lvl="2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Logically, at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end of a line of text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one wants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carriage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to move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cursor back to column 1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linefeed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advance to the next line</a:t>
            </a:r>
          </a:p>
          <a:p>
            <a:pPr lvl="2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standard form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 just to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linefeed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carriage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should be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turned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into linefeeds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(UNIX)</a:t>
            </a:r>
          </a:p>
          <a:p>
            <a:pPr lvl="2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internal format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store both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should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linefeed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gets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carriage return and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carriage return when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gets a linefeed</a:t>
            </a:r>
          </a:p>
          <a:p>
            <a:pPr lvl="2" algn="just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 matter what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internal convention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may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 both a linefeed and a carriage return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be echoed in order to get the screen updated properly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sp>
        <p:nvSpPr>
          <p:cNvPr id="223235" name="Rectangle 3"/>
          <p:cNvSpPr>
            <a:spLocks noGrp="1"/>
          </p:cNvSpPr>
          <p:nvPr>
            <p:ph type="body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marL="176213" indent="-176213"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Whenever a mouse has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moved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certain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minimum distance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 either direction or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depressed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released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sent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(picking up and put down is not)</a:t>
            </a:r>
          </a:p>
          <a:p>
            <a:pPr marL="176213" indent="-176213"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 usually occupies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 bytes containing 3 items</a:t>
            </a:r>
          </a:p>
          <a:p>
            <a:pPr marL="530225" lvl="1" indent="-174625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the change in x position since the last message</a:t>
            </a:r>
          </a:p>
          <a:p>
            <a:pPr marL="530225" lvl="1" indent="-174625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the change in y position since the last message</a:t>
            </a:r>
          </a:p>
          <a:p>
            <a:pPr marL="530225" lvl="1" indent="-174625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Buttons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the status of button</a:t>
            </a:r>
          </a:p>
          <a:p>
            <a:pPr marL="176213" indent="-176213"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Mickey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is the unit representing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minimum distance about 0.1mm</a:t>
            </a:r>
          </a:p>
          <a:p>
            <a:pPr marL="176213" indent="-176213"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Most mice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back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maximum of 40 times/sec</a:t>
            </a:r>
          </a:p>
          <a:p>
            <a:pPr marL="176213" indent="-176213"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Mouse only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indicates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changes in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absolute position itself</a:t>
            </a:r>
          </a:p>
          <a:p>
            <a:pPr marL="176213" indent="-176213"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single or double click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distinguished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setting</a:t>
            </a:r>
          </a:p>
        </p:txBody>
      </p:sp>
      <p:sp>
        <p:nvSpPr>
          <p:cNvPr id="21508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Mouse Software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23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90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Output Software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>
          <a:xfrm>
            <a:off x="0" y="914400"/>
            <a:ext cx="9144000" cy="57150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 Windows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sends characters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the characters to current windows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they are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there. Usually, a block a character is written in one system call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Screen editors and many other sophisticated programs need to be able to update the screen in complex ways such as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replacing one line in the middle of the screen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(driver must support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escape sequences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move the cursor, insert and delete character …)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Termcap (Berkeley UNIX) defines a number of basic actions that uses a generic escape sequence, the converted to the actual escape sequences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How might the escape sequences be used by a text editor?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After the user types command, the editor might send the escape sequence over the serial line to the terminal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execution is done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Output Software</a:t>
            </a:r>
          </a:p>
        </p:txBody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X Window System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user interface is used all UNIX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very portable and run entirely in user space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Was intended for connecting a large number of remote user terminals with a central compute server, so it is logically split into client and host software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not a complete GUI (must be more supported)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X server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(local PC, just does what the X Client told)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collects input from keyboard and mouse and writes output to the screen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user’s computer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bits on the screen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X clients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(remote machine)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Running programs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Tells the server to do things, like display text or geometric figures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sp>
        <p:nvSpPr>
          <p:cNvPr id="24579" name="Rectangle 4"/>
          <p:cNvSpPr>
            <a:spLocks/>
          </p:cNvSpPr>
          <p:nvPr/>
        </p:nvSpPr>
        <p:spPr bwMode="auto">
          <a:xfrm>
            <a:off x="914400" y="5334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Output Software</a:t>
            </a:r>
          </a:p>
        </p:txBody>
      </p:sp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3505200" y="6172200"/>
            <a:ext cx="1939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5-537</a:t>
            </a:r>
          </a:p>
        </p:txBody>
      </p:sp>
      <p:pic>
        <p:nvPicPr>
          <p:cNvPr id="2458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524875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Output Software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xfrm>
            <a:off x="304800" y="990600"/>
            <a:ext cx="8839200" cy="58674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Graphic Users Interface – GUI </a:t>
            </a:r>
          </a:p>
          <a:p>
            <a:pPr lvl="1" algn="just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Has four essential elements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WIMP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(Windows, Icons, Menus, and Pointing device)</a:t>
            </a:r>
          </a:p>
          <a:p>
            <a:pPr lvl="1" algn="just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GUI software can be implemented in either user-level code (UNIX) or in the OS itself (Windows)</a:t>
            </a:r>
          </a:p>
          <a:p>
            <a:pPr lvl="1" algn="just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Windows programs are message oriented</a:t>
            </a:r>
          </a:p>
          <a:p>
            <a:pPr lvl="1" algn="just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Output almost always goes to a special hardware – </a:t>
            </a: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graphics adapter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Containing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video RAM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that holds the image appear on the screen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some number of screen sizes</a:t>
            </a:r>
          </a:p>
          <a:p>
            <a:pPr lvl="1" algn="just"/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Window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basic item on the screen is a rectangular area (that can be resized, scrolled)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Its position and size are uniquely determined by giving the coordinates (in pixel) of two diagonally opposite corners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Its coordinate system puts the origin in the upper left-hand corner and has y increase downward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Output Software</a:t>
            </a:r>
          </a:p>
        </p:txBody>
      </p:sp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4267200" y="63246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5-39.</a:t>
            </a:r>
          </a:p>
        </p:txBody>
      </p:sp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143000"/>
            <a:ext cx="6110288" cy="497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Output Software</a:t>
            </a:r>
          </a:p>
        </p:txBody>
      </p:sp>
      <p:sp>
        <p:nvSpPr>
          <p:cNvPr id="22531" name="Rectangle 3"/>
          <p:cNvSpPr>
            <a:spLocks noGrp="1"/>
          </p:cNvSpPr>
          <p:nvPr>
            <p:ph type="body" idx="4294967295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 marL="609600" indent="-609600" algn="just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Bitmaps</a:t>
            </a:r>
          </a:p>
          <a:p>
            <a:pPr marL="990600" lvl="1" indent="-533400" algn="just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average red, green, and blue values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each grid square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are then sampled and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saved as the value of one pixel</a:t>
            </a:r>
          </a:p>
          <a:p>
            <a:pPr marL="990600" lvl="1" indent="-533400" algn="just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for text </a:t>
            </a:r>
          </a:p>
          <a:p>
            <a:pPr marL="1371600" lvl="2" indent="-457200" algn="just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Represent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particular character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some font is as a small bitmap </a:t>
            </a:r>
          </a:p>
          <a:p>
            <a:pPr marL="1371600" lvl="2" indent="-457200" algn="just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Adding text to the screen then becomes a matter of moving bitmaps</a:t>
            </a:r>
          </a:p>
          <a:p>
            <a:pPr marL="990600" lvl="1" indent="-533400" algn="just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Problems</a:t>
            </a:r>
          </a:p>
          <a:p>
            <a:pPr marL="1371600" lvl="2" indent="-457200" algn="just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do not scale</a:t>
            </a:r>
          </a:p>
          <a:p>
            <a:pPr marL="1371600" lvl="2" indent="-457200" algn="just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Copying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between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devices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with different color properties or between monochrome and color does not work well</a:t>
            </a:r>
          </a:p>
          <a:p>
            <a:pPr marL="990600" lvl="1" indent="-533400" algn="just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Solutions</a:t>
            </a:r>
          </a:p>
          <a:p>
            <a:pPr marL="1390650" lvl="2" indent="-533400" algn="just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Windows supports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DIB (Device Independent Bitmap)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structure on file .bmp. Those files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have file and information headers and color table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before the pixels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/>
              </a:rPr>
              <a:t>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/>
              </a:rPr>
              <a:t>the information make easier to move bitmaps between dissimilar devices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Output Software</a:t>
            </a:r>
          </a:p>
        </p:txBody>
      </p:sp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3048000" y="6553200"/>
            <a:ext cx="2457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5-41 &amp; 5-42.</a:t>
            </a:r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143000"/>
            <a:ext cx="3276600" cy="286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86200"/>
            <a:ext cx="5988050" cy="25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Output Software</a:t>
            </a:r>
          </a:p>
        </p:txBody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Fonts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Characters were represented as bitmaps and copied onto the screen or printer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 just saw, is that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bitmap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makes sense on the screen is too small for the printer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 bitmap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each character in each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TrueType fonts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introduction which are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bitmaps but outlines the character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Each TrueType character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by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sequence of points around its perimeter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All the points are relative to the (0, 0) origin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easy to scale the characters up or down with any point size (even fraction)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 that has to be done is to multiply each coordinate by the same scale factor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Output Software</a:t>
            </a:r>
          </a:p>
        </p:txBody>
      </p:sp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35052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5-12.</a:t>
            </a:r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8001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pPr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Clocks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</a:p>
        </p:txBody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pPr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Thin Clients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Power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13836</TotalTime>
  <Words>3070</Words>
  <Application>Microsoft Office PowerPoint</Application>
  <PresentationFormat>On-screen Show (4:3)</PresentationFormat>
  <Paragraphs>276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Times New Roman</vt:lpstr>
      <vt:lpstr>Wingdings</vt:lpstr>
      <vt:lpstr>Office Theme</vt:lpstr>
      <vt:lpstr>I/O   Clocks User Interfaces</vt:lpstr>
      <vt:lpstr>Review</vt:lpstr>
      <vt:lpstr>Review</vt:lpstr>
      <vt:lpstr>Review</vt:lpstr>
      <vt:lpstr>Review</vt:lpstr>
      <vt:lpstr>Review</vt:lpstr>
      <vt:lpstr>Objectives</vt:lpstr>
      <vt:lpstr>Clocks</vt:lpstr>
      <vt:lpstr>Clocks</vt:lpstr>
      <vt:lpstr>Clocks</vt:lpstr>
      <vt:lpstr>Clocks</vt:lpstr>
      <vt:lpstr>Clock</vt:lpstr>
      <vt:lpstr>Clocks</vt:lpstr>
      <vt:lpstr>Clock</vt:lpstr>
      <vt:lpstr>Clock</vt:lpstr>
      <vt:lpstr>Clock</vt:lpstr>
      <vt:lpstr>User Interfaces</vt:lpstr>
      <vt:lpstr>User Interfaces</vt:lpstr>
      <vt:lpstr>User Interfaces</vt:lpstr>
      <vt:lpstr>User Interfaces   Input Software </vt:lpstr>
      <vt:lpstr>User Interfaces</vt:lpstr>
      <vt:lpstr>User Interfaces  Output Software </vt:lpstr>
      <vt:lpstr>User Interfaces  Output Software</vt:lpstr>
      <vt:lpstr>User Interfaces</vt:lpstr>
      <vt:lpstr>User Interfaces  Output Software</vt:lpstr>
      <vt:lpstr>User Interfaces  Output Software</vt:lpstr>
      <vt:lpstr>User Interfaces  Output Software</vt:lpstr>
      <vt:lpstr>User Interfaces  Output Software</vt:lpstr>
      <vt:lpstr>User Interfaces  Output Software</vt:lpstr>
      <vt:lpstr>User Interfaces  Output Software</vt:lpstr>
      <vt:lpstr>Summary</vt:lpstr>
      <vt:lpstr>Next Lecture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PFC: Module A - Introduction</dc:title>
  <dc:creator>Phan Truong Lam</dc:creator>
  <cp:lastModifiedBy>Tong Phuoc Quan (FE FPTU HCM)</cp:lastModifiedBy>
  <cp:revision>2646</cp:revision>
  <dcterms:created xsi:type="dcterms:W3CDTF">2007-08-21T04:43:22Z</dcterms:created>
  <dcterms:modified xsi:type="dcterms:W3CDTF">2021-10-31T12:22:08Z</dcterms:modified>
</cp:coreProperties>
</file>