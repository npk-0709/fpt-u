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6"/>
  </p:notesMasterIdLst>
  <p:sldIdLst>
    <p:sldId id="256" r:id="rId2"/>
    <p:sldId id="486" r:id="rId3"/>
    <p:sldId id="487" r:id="rId4"/>
    <p:sldId id="462" r:id="rId5"/>
    <p:sldId id="379" r:id="rId6"/>
    <p:sldId id="466" r:id="rId7"/>
    <p:sldId id="402" r:id="rId8"/>
    <p:sldId id="467" r:id="rId9"/>
    <p:sldId id="468" r:id="rId10"/>
    <p:sldId id="403" r:id="rId11"/>
    <p:sldId id="420" r:id="rId12"/>
    <p:sldId id="469" r:id="rId13"/>
    <p:sldId id="405" r:id="rId14"/>
    <p:sldId id="470" r:id="rId15"/>
    <p:sldId id="471" r:id="rId16"/>
    <p:sldId id="472" r:id="rId17"/>
    <p:sldId id="482" r:id="rId18"/>
    <p:sldId id="483" r:id="rId19"/>
    <p:sldId id="485" r:id="rId20"/>
    <p:sldId id="428" r:id="rId21"/>
    <p:sldId id="429" r:id="rId22"/>
    <p:sldId id="432" r:id="rId23"/>
    <p:sldId id="433" r:id="rId24"/>
    <p:sldId id="473" r:id="rId25"/>
    <p:sldId id="474" r:id="rId26"/>
    <p:sldId id="475" r:id="rId27"/>
    <p:sldId id="476" r:id="rId28"/>
    <p:sldId id="477" r:id="rId29"/>
    <p:sldId id="481" r:id="rId30"/>
    <p:sldId id="488" r:id="rId31"/>
    <p:sldId id="478" r:id="rId32"/>
    <p:sldId id="480" r:id="rId33"/>
    <p:sldId id="394" r:id="rId34"/>
    <p:sldId id="484"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59" autoAdjust="0"/>
    <p:restoredTop sz="95326" autoAdjust="0"/>
  </p:normalViewPr>
  <p:slideViewPr>
    <p:cSldViewPr>
      <p:cViewPr varScale="1">
        <p:scale>
          <a:sx n="87" d="100"/>
          <a:sy n="87" d="100"/>
        </p:scale>
        <p:origin x="470" y="82"/>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B3EC62C6-A231-4527-820C-CF37A9EEAE78}" type="datetimeFigureOut">
              <a:rPr lang="en-US"/>
              <a:pPr>
                <a:defRPr/>
              </a:pPr>
              <a:t>11/2/2021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1F3498-2F22-4F32-A3A1-16E16519256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200" dirty="0">
                <a:latin typeface="Times New Roman" panose="02020603050405020304" pitchFamily="18" charset="0"/>
                <a:cs typeface="Times New Roman" panose="02020603050405020304" pitchFamily="18" charset="0"/>
              </a:rPr>
              <a:t>Trajectories : </a:t>
            </a:r>
            <a:r>
              <a:rPr lang="en-US" altLang="en-US" sz="1200" dirty="0" err="1">
                <a:latin typeface="Times New Roman" panose="02020603050405020304" pitchFamily="18" charset="0"/>
                <a:cs typeface="Times New Roman" panose="02020603050405020304" pitchFamily="18" charset="0"/>
              </a:rPr>
              <a:t>quy</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đạo</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Loan: </a:t>
            </a:r>
            <a:r>
              <a:rPr lang="en-US" altLang="en-US" dirty="0" err="1"/>
              <a:t>cho</a:t>
            </a:r>
            <a:r>
              <a:rPr lang="en-US" altLang="en-US" dirty="0"/>
              <a:t> </a:t>
            </a:r>
            <a:r>
              <a:rPr lang="en-US" altLang="en-US" dirty="0" err="1"/>
              <a:t>vay</a:t>
            </a:r>
            <a:r>
              <a:rPr lang="en-US" altLang="en-US" dirty="0"/>
              <a:t>, </a:t>
            </a:r>
            <a:r>
              <a:rPr lang="en-US" altLang="en-US" dirty="0" err="1"/>
              <a:t>cho</a:t>
            </a:r>
            <a:r>
              <a:rPr lang="en-US" altLang="en-US" dirty="0"/>
              <a:t> </a:t>
            </a:r>
            <a:r>
              <a:rPr lang="en-US" altLang="en-US" dirty="0" err="1"/>
              <a:t>mượn</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r>
              <a:rPr lang="en-US" altLang="en-US" dirty="0"/>
              <a:t>E: existing</a:t>
            </a:r>
          </a:p>
          <a:p>
            <a:pPr>
              <a:buFontTx/>
              <a:buChar char="-"/>
            </a:pPr>
            <a:r>
              <a:rPr lang="en-US" altLang="en-US" dirty="0"/>
              <a:t>P :possess : </a:t>
            </a:r>
            <a:r>
              <a:rPr lang="en-US" altLang="en-US" dirty="0" err="1"/>
              <a:t>chiếm</a:t>
            </a:r>
            <a:r>
              <a:rPr lang="en-US" altLang="en-US" dirty="0"/>
              <a:t> </a:t>
            </a:r>
            <a:r>
              <a:rPr lang="en-US" altLang="en-US" dirty="0" err="1"/>
              <a:t>hưu</a:t>
            </a:r>
            <a:endParaRPr lang="en-US" altLang="en-US" dirty="0"/>
          </a:p>
          <a:p>
            <a:pPr>
              <a:buFontTx/>
              <a:buChar char="-"/>
            </a:pPr>
            <a:r>
              <a:rPr lang="en-US" altLang="en-US" dirty="0"/>
              <a:t>A : available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base"/>
            <a:r>
              <a:rPr lang="en-US" sz="1200" b="0" i="0" kern="1200" dirty="0">
                <a:solidFill>
                  <a:schemeClr val="tx1"/>
                </a:solidFill>
                <a:effectLst/>
                <a:latin typeface="+mn-lt"/>
                <a:ea typeface="+mn-ea"/>
                <a:cs typeface="+mn-cs"/>
              </a:rPr>
              <a:t>SPOOL is an acronym for </a:t>
            </a:r>
            <a:r>
              <a:rPr lang="en-US" sz="1200" b="1" i="0" kern="1200" dirty="0">
                <a:solidFill>
                  <a:schemeClr val="tx1"/>
                </a:solidFill>
                <a:effectLst/>
                <a:latin typeface="+mn-lt"/>
                <a:ea typeface="+mn-ea"/>
                <a:cs typeface="+mn-cs"/>
              </a:rPr>
              <a:t>simultaneous peripheral operations on-line</a:t>
            </a:r>
            <a:r>
              <a:rPr lang="en-US" sz="1200" b="0" i="0" kern="1200" dirty="0">
                <a:solidFill>
                  <a:schemeClr val="tx1"/>
                </a:solidFill>
                <a:effectLst/>
                <a:latin typeface="+mn-lt"/>
                <a:ea typeface="+mn-ea"/>
                <a:cs typeface="+mn-cs"/>
              </a:rPr>
              <a:t>.  It is a kind of buffering mechanism or a process in which data is temporarily held to be used and executed by a device, program or the system. Data is sent to and stored in memory or other volatile storage until the program or computer requests it for execution.</a:t>
            </a:r>
          </a:p>
          <a:p>
            <a:pPr fontAlgn="base"/>
            <a:r>
              <a:rPr lang="en-US" sz="1200" b="0" i="0" kern="1200" dirty="0">
                <a:solidFill>
                  <a:schemeClr val="tx1"/>
                </a:solidFill>
                <a:effectLst/>
                <a:latin typeface="+mn-lt"/>
                <a:ea typeface="+mn-ea"/>
                <a:cs typeface="+mn-cs"/>
              </a:rPr>
              <a:t>In a computer system peripheral </a:t>
            </a:r>
            <a:r>
              <a:rPr lang="en-US" sz="1200" b="0" i="0" kern="1200" dirty="0" err="1">
                <a:solidFill>
                  <a:schemeClr val="tx1"/>
                </a:solidFill>
                <a:effectLst/>
                <a:latin typeface="+mn-lt"/>
                <a:ea typeface="+mn-ea"/>
                <a:cs typeface="+mn-cs"/>
              </a:rPr>
              <a:t>equipments</a:t>
            </a:r>
            <a:r>
              <a:rPr lang="en-US" sz="1200" b="0" i="0" kern="1200" dirty="0">
                <a:solidFill>
                  <a:schemeClr val="tx1"/>
                </a:solidFill>
                <a:effectLst/>
                <a:latin typeface="+mn-lt"/>
                <a:ea typeface="+mn-ea"/>
                <a:cs typeface="+mn-cs"/>
              </a:rPr>
              <a:t>, such as printers and punch card readers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(batch processing), are very slow relative to the performance of the rest of the system. Getting input and output from the system was quickly seen to be a bottleneck. Here comes the need for spool.</a:t>
            </a:r>
          </a:p>
          <a:p>
            <a:pPr fontAlgn="base"/>
            <a:r>
              <a:rPr lang="en-US" sz="1200" b="0" i="0" kern="1200" dirty="0">
                <a:solidFill>
                  <a:schemeClr val="tx1"/>
                </a:solidFill>
                <a:effectLst/>
                <a:latin typeface="+mn-lt"/>
                <a:ea typeface="+mn-ea"/>
                <a:cs typeface="+mn-cs"/>
              </a:rPr>
              <a:t>Spooling works like a typical request queue where data, instructions and processes from multiple sources are accumulated for execution later on. Generally, it is maintained on computer’s physical memory, buffers or the I/O device-specific interrupts. The spool is processed in FIFO manner i.e. whatever first instruction is there in the queue will be popped and executed.</a:t>
            </a:r>
          </a:p>
          <a:p>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Variation: </a:t>
            </a:r>
            <a:r>
              <a:rPr lang="en-US" altLang="en-US" dirty="0" err="1"/>
              <a:t>biến</a:t>
            </a:r>
            <a:r>
              <a:rPr lang="en-US" altLang="en-US" dirty="0"/>
              <a:t> </a:t>
            </a:r>
            <a:r>
              <a:rPr lang="en-US" altLang="en-US" dirty="0" err="1"/>
              <a:t>thể</a:t>
            </a:r>
            <a:endParaRPr lang="en-US" altLang="en-US" dirty="0"/>
          </a:p>
          <a:p>
            <a:r>
              <a:rPr lang="en-US" altLang="en-US" dirty="0"/>
              <a:t>Minor : </a:t>
            </a:r>
            <a:r>
              <a:rPr lang="en-US" altLang="en-US" dirty="0" err="1"/>
              <a:t>thiểu</a:t>
            </a:r>
            <a:r>
              <a:rPr lang="en-US" altLang="en-US" dirty="0"/>
              <a:t> </a:t>
            </a:r>
            <a:r>
              <a:rPr lang="en-US" altLang="en-US" dirty="0" err="1"/>
              <a:t>số</a:t>
            </a:r>
            <a:endParaRPr lang="en-US" altLang="en-US" dirty="0"/>
          </a:p>
          <a:p>
            <a:r>
              <a:rPr lang="en-US" altLang="en-US" dirty="0" err="1"/>
              <a:t>Nghiêm</a:t>
            </a:r>
            <a:r>
              <a:rPr lang="en-US" altLang="en-US" dirty="0"/>
              <a:t> </a:t>
            </a:r>
            <a:r>
              <a:rPr lang="en-US" altLang="en-US" dirty="0" err="1"/>
              <a:t>ngặt</a:t>
            </a:r>
            <a:endParaRPr lang="en-US" altLang="en-US" dirty="0"/>
          </a:p>
          <a:p>
            <a:r>
              <a:rPr lang="en-US" altLang="en-US" sz="1200" dirty="0">
                <a:latin typeface="Times New Roman" panose="02020603050405020304" pitchFamily="18" charset="0"/>
                <a:cs typeface="Times New Roman" panose="02020603050405020304" pitchFamily="18" charset="0"/>
              </a:rPr>
              <a:t>merely insist : </a:t>
            </a:r>
            <a:r>
              <a:rPr lang="en-US" altLang="en-US" sz="1200" dirty="0" err="1">
                <a:latin typeface="Times New Roman" panose="02020603050405020304" pitchFamily="18" charset="0"/>
                <a:cs typeface="Times New Roman" panose="02020603050405020304" pitchFamily="18" charset="0"/>
              </a:rPr>
              <a:t>đon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thuần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nhấn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mạnh</a:t>
            </a:r>
            <a:endParaRPr lang="en-US" altLang="en-US" sz="1200" dirty="0">
              <a:latin typeface="Times New Roman" panose="02020603050405020304" pitchFamily="18" charset="0"/>
              <a:cs typeface="Times New Roman" panose="02020603050405020304" pitchFamily="18" charset="0"/>
            </a:endParaRPr>
          </a:p>
          <a:p>
            <a:r>
              <a:rPr lang="en-US" altLang="en-US" sz="1200" dirty="0">
                <a:latin typeface="Times New Roman" panose="02020603050405020304" pitchFamily="18" charset="0"/>
                <a:cs typeface="Times New Roman" panose="02020603050405020304" pitchFamily="18" charset="0"/>
              </a:rPr>
              <a:t>Acquire: </a:t>
            </a:r>
            <a:r>
              <a:rPr lang="en-US" altLang="en-US" sz="1200" dirty="0" err="1">
                <a:latin typeface="Times New Roman" panose="02020603050405020304" pitchFamily="18" charset="0"/>
                <a:cs typeface="Times New Roman" panose="02020603050405020304" pitchFamily="18" charset="0"/>
              </a:rPr>
              <a:t>có</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được</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thu</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được</a:t>
            </a:r>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r>
              <a:rPr lang="en-US" sz="1200" b="0" i="0" kern="1200" dirty="0">
                <a:solidFill>
                  <a:schemeClr val="tx1"/>
                </a:solidFill>
                <a:effectLst/>
                <a:latin typeface="+mn-lt"/>
                <a:ea typeface="+mn-ea"/>
                <a:cs typeface="+mn-cs"/>
              </a:rPr>
              <a:t>To store a data document in a queue, where it awaits its turn to be printed. See also print </a:t>
            </a:r>
            <a:r>
              <a:rPr lang="en-US" sz="1200" b="1" i="0" kern="1200" dirty="0">
                <a:solidFill>
                  <a:schemeClr val="tx1"/>
                </a:solidFill>
                <a:effectLst/>
                <a:latin typeface="+mn-lt"/>
                <a:ea typeface="+mn-ea"/>
                <a:cs typeface="+mn-cs"/>
              </a:rPr>
              <a:t>spooler</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Strategy : </a:t>
            </a:r>
            <a:r>
              <a:rPr lang="en-US" altLang="en-US" dirty="0" err="1"/>
              <a:t>chiến</a:t>
            </a:r>
            <a:r>
              <a:rPr lang="en-US" altLang="en-US" dirty="0"/>
              <a:t> </a:t>
            </a:r>
            <a:r>
              <a:rPr lang="en-US" altLang="en-US" dirty="0" err="1"/>
              <a:t>lược</a:t>
            </a:r>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Prevented: </a:t>
            </a:r>
            <a:r>
              <a:rPr lang="en-US" altLang="en-US" dirty="0" err="1"/>
              <a:t>ngăn</a:t>
            </a:r>
            <a:r>
              <a:rPr lang="en-US" altLang="en-US" dirty="0"/>
              <a:t> </a:t>
            </a:r>
            <a:r>
              <a:rPr lang="en-US" altLang="en-US" dirty="0" err="1"/>
              <a:t>cản</a:t>
            </a:r>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Starvation: </a:t>
            </a:r>
            <a:r>
              <a:rPr lang="en-US" altLang="en-US" dirty="0" err="1"/>
              <a:t>chết</a:t>
            </a:r>
            <a:r>
              <a:rPr lang="en-US" altLang="en-US" dirty="0"/>
              <a:t> </a:t>
            </a:r>
            <a:r>
              <a:rPr lang="en-US" altLang="en-US" dirty="0" err="1"/>
              <a:t>đói</a:t>
            </a:r>
            <a:r>
              <a:rPr lang="en-US" altLang="en-US" dirty="0"/>
              <a:t>, </a:t>
            </a:r>
            <a:r>
              <a:rPr lang="en-US" altLang="en-US" dirty="0" err="1"/>
              <a:t>sự</a:t>
            </a:r>
            <a:r>
              <a:rPr lang="en-US" altLang="en-US" dirty="0"/>
              <a:t> </a:t>
            </a:r>
            <a:r>
              <a:rPr lang="en-US" altLang="en-US" dirty="0" err="1"/>
              <a:t>thiếu</a:t>
            </a:r>
            <a:r>
              <a:rPr lang="en-US" altLang="en-US" dirty="0"/>
              <a:t> </a:t>
            </a:r>
            <a:r>
              <a:rPr lang="en-US" altLang="en-US" dirty="0" err="1"/>
              <a:t>ăn</a:t>
            </a:r>
            <a:endParaRPr lang="en-US" altLang="en-US" dirty="0"/>
          </a:p>
        </p:txBody>
      </p:sp>
    </p:spTree>
    <p:extLst>
      <p:ext uri="{BB962C8B-B14F-4D97-AF65-F5344CB8AC3E}">
        <p14:creationId xmlns:p14="http://schemas.microsoft.com/office/powerpoint/2010/main" val="1376089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Finite: </a:t>
            </a:r>
            <a:r>
              <a:rPr lang="en-US" altLang="en-US" dirty="0" err="1"/>
              <a:t>có</a:t>
            </a:r>
            <a:r>
              <a:rPr lang="en-US" altLang="en-US" dirty="0"/>
              <a:t> </a:t>
            </a:r>
            <a:r>
              <a:rPr lang="en-US" altLang="en-US" dirty="0" err="1"/>
              <a:t>hạn</a:t>
            </a:r>
            <a:endParaRPr lang="en-US" altLang="en-US" dirty="0"/>
          </a:p>
          <a:p>
            <a:r>
              <a:rPr lang="en-US" altLang="en-US" dirty="0"/>
              <a:t>Abolish: </a:t>
            </a:r>
            <a:r>
              <a:rPr lang="en-US" altLang="en-US" dirty="0" err="1"/>
              <a:t>bỏ</a:t>
            </a:r>
            <a:endParaRPr lang="en-US" altLang="en-US" dirty="0"/>
          </a:p>
          <a:p>
            <a:r>
              <a:rPr lang="en-US" altLang="en-US" dirty="0"/>
              <a:t>Claim : </a:t>
            </a:r>
            <a:r>
              <a:rPr lang="en-US" altLang="en-US" dirty="0" err="1"/>
              <a:t>yêu</a:t>
            </a:r>
            <a:r>
              <a:rPr lang="en-US" altLang="en-US" dirty="0"/>
              <a:t> </a:t>
            </a:r>
            <a:r>
              <a:rPr lang="en-US" altLang="en-US" dirty="0" err="1"/>
              <a:t>cầu</a:t>
            </a:r>
            <a:endParaRPr lang="en-US" altLang="en-US" dirty="0"/>
          </a:p>
          <a:p>
            <a:r>
              <a:rPr lang="en-US" altLang="en-US" dirty="0"/>
              <a:t>Trade off: </a:t>
            </a:r>
            <a:r>
              <a:rPr lang="en-US" altLang="en-US" dirty="0" err="1"/>
              <a:t>đánh</a:t>
            </a:r>
            <a:r>
              <a:rPr lang="en-US" altLang="en-US" dirty="0"/>
              <a:t> </a:t>
            </a:r>
            <a:r>
              <a:rPr lang="en-US" altLang="en-US" dirty="0" err="1"/>
              <a:t>đổi</a:t>
            </a:r>
            <a:endParaRPr lang="en-US" altLang="en-US" dirty="0"/>
          </a:p>
          <a:p>
            <a:r>
              <a:rPr lang="en-US" altLang="en-US" dirty="0"/>
              <a:t>Correctness: </a:t>
            </a:r>
            <a:r>
              <a:rPr lang="en-US" altLang="en-US" dirty="0" err="1"/>
              <a:t>sự</a:t>
            </a:r>
            <a:r>
              <a:rPr lang="en-US" altLang="en-US" dirty="0"/>
              <a:t> </a:t>
            </a:r>
            <a:r>
              <a:rPr lang="en-US" altLang="en-US" dirty="0" err="1"/>
              <a:t>đúng</a:t>
            </a:r>
            <a:r>
              <a:rPr lang="en-US" altLang="en-US" dirty="0"/>
              <a:t> </a:t>
            </a:r>
            <a:r>
              <a:rPr lang="en-US" altLang="en-US" dirty="0" err="1"/>
              <a:t>đắn</a:t>
            </a:r>
            <a:endParaRPr lang="en-US" altLang="en-US" dirty="0"/>
          </a:p>
          <a:p>
            <a:r>
              <a:rPr lang="en-US" altLang="en-US" dirty="0"/>
              <a:t>Assumption : </a:t>
            </a:r>
            <a:r>
              <a:rPr lang="en-US" altLang="en-US" dirty="0" err="1"/>
              <a:t>giả</a:t>
            </a:r>
            <a:r>
              <a:rPr lang="en-US" altLang="en-US" dirty="0"/>
              <a:t> </a:t>
            </a:r>
            <a:r>
              <a:rPr lang="en-US" altLang="en-US" dirty="0" err="1"/>
              <a:t>thuyết</a:t>
            </a:r>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039222B-03F3-4351-BDAA-63A2F48A6ECA}"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FAD32645-0BEA-4B13-AD46-808CECA3D50B}" type="slidenum">
              <a:rPr lang="en-US" altLang="en-US"/>
              <a:pPr/>
              <a:t>‹#›</a:t>
            </a:fld>
            <a:r>
              <a:rPr lang="en-US" altLang="en-US"/>
              <a:t>/40</a:t>
            </a:r>
          </a:p>
        </p:txBody>
      </p:sp>
    </p:spTree>
    <p:extLst>
      <p:ext uri="{BB962C8B-B14F-4D97-AF65-F5344CB8AC3E}">
        <p14:creationId xmlns:p14="http://schemas.microsoft.com/office/powerpoint/2010/main" val="3907896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7B8CBF-C30B-474B-BB16-92DDC8EDB8B6}"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A08FC6B-C757-46C2-A740-2554C0551046}" type="slidenum">
              <a:rPr lang="en-US" altLang="en-US"/>
              <a:pPr/>
              <a:t>‹#›</a:t>
            </a:fld>
            <a:r>
              <a:rPr lang="en-US" altLang="en-US"/>
              <a:t>/40</a:t>
            </a:r>
          </a:p>
        </p:txBody>
      </p:sp>
    </p:spTree>
    <p:extLst>
      <p:ext uri="{BB962C8B-B14F-4D97-AF65-F5344CB8AC3E}">
        <p14:creationId xmlns:p14="http://schemas.microsoft.com/office/powerpoint/2010/main" val="231747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8105685-333A-4728-A440-79F8DC0F5F4F}"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DE5A8E20-4C5E-4BAF-8661-28D1C44B2D01}" type="slidenum">
              <a:rPr lang="en-US" altLang="en-US"/>
              <a:pPr/>
              <a:t>‹#›</a:t>
            </a:fld>
            <a:r>
              <a:rPr lang="en-US" altLang="en-US"/>
              <a:t>/40</a:t>
            </a:r>
          </a:p>
        </p:txBody>
      </p:sp>
    </p:spTree>
    <p:extLst>
      <p:ext uri="{BB962C8B-B14F-4D97-AF65-F5344CB8AC3E}">
        <p14:creationId xmlns:p14="http://schemas.microsoft.com/office/powerpoint/2010/main" val="623199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B01C4B0-6782-437F-8CEE-77292DB69B7B}"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130A112-0728-4CCA-835D-341B2D79B83C}" type="slidenum">
              <a:rPr lang="en-US" altLang="en-US"/>
              <a:pPr/>
              <a:t>‹#›</a:t>
            </a:fld>
            <a:r>
              <a:rPr lang="en-US" altLang="en-US"/>
              <a:t>/40</a:t>
            </a:r>
          </a:p>
        </p:txBody>
      </p:sp>
    </p:spTree>
    <p:extLst>
      <p:ext uri="{BB962C8B-B14F-4D97-AF65-F5344CB8AC3E}">
        <p14:creationId xmlns:p14="http://schemas.microsoft.com/office/powerpoint/2010/main" val="1780711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797C9AD-585C-4660-A4A8-2BC787D5C028}" type="datetime1">
              <a:rPr lang="en-US"/>
              <a:pPr>
                <a:defRPr/>
              </a:pPr>
              <a:t>11/2/2021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F6301353-5759-4EE4-8756-21F9719961D0}" type="slidenum">
              <a:rPr lang="en-US" altLang="en-US"/>
              <a:pPr/>
              <a:t>‹#›</a:t>
            </a:fld>
            <a:r>
              <a:rPr lang="en-US" altLang="en-US"/>
              <a:t>/40</a:t>
            </a:r>
          </a:p>
        </p:txBody>
      </p:sp>
    </p:spTree>
    <p:extLst>
      <p:ext uri="{BB962C8B-B14F-4D97-AF65-F5344CB8AC3E}">
        <p14:creationId xmlns:p14="http://schemas.microsoft.com/office/powerpoint/2010/main" val="284306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C7502D0-2643-4903-BBC3-895AD72EB4DE}" type="datetime1">
              <a:rPr lang="en-US"/>
              <a:pPr>
                <a:defRPr/>
              </a:pPr>
              <a:t>11/2/2021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790955AF-1050-435E-95B8-2148D2EF7C99}" type="slidenum">
              <a:rPr lang="en-US" altLang="en-US"/>
              <a:pPr/>
              <a:t>‹#›</a:t>
            </a:fld>
            <a:r>
              <a:rPr lang="en-US" altLang="en-US"/>
              <a:t>/40</a:t>
            </a:r>
          </a:p>
        </p:txBody>
      </p:sp>
    </p:spTree>
    <p:extLst>
      <p:ext uri="{BB962C8B-B14F-4D97-AF65-F5344CB8AC3E}">
        <p14:creationId xmlns:p14="http://schemas.microsoft.com/office/powerpoint/2010/main" val="91929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C21F5A6-6D04-40B3-BF96-919A6B51912F}" type="datetime1">
              <a:rPr lang="en-US"/>
              <a:pPr>
                <a:defRPr/>
              </a:pPr>
              <a:t>11/2/2021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1ADEBFD5-DD05-406E-B3B3-DD7606FD053D}" type="slidenum">
              <a:rPr lang="en-US" altLang="en-US"/>
              <a:pPr/>
              <a:t>‹#›</a:t>
            </a:fld>
            <a:r>
              <a:rPr lang="en-US" altLang="en-US"/>
              <a:t>/40</a:t>
            </a:r>
          </a:p>
        </p:txBody>
      </p:sp>
    </p:spTree>
    <p:extLst>
      <p:ext uri="{BB962C8B-B14F-4D97-AF65-F5344CB8AC3E}">
        <p14:creationId xmlns:p14="http://schemas.microsoft.com/office/powerpoint/2010/main" val="2952296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C48EDB9-F92A-4394-9AE9-D53EF91C61E1}"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ECC1C2B1-E1CC-483C-A7EB-EBB08542EC9D}" type="slidenum">
              <a:rPr lang="en-US" altLang="en-US"/>
              <a:pPr/>
              <a:t>‹#›</a:t>
            </a:fld>
            <a:r>
              <a:rPr lang="en-US" altLang="en-US"/>
              <a:t>/40</a:t>
            </a:r>
          </a:p>
        </p:txBody>
      </p:sp>
    </p:spTree>
    <p:extLst>
      <p:ext uri="{BB962C8B-B14F-4D97-AF65-F5344CB8AC3E}">
        <p14:creationId xmlns:p14="http://schemas.microsoft.com/office/powerpoint/2010/main" val="3924676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9932276-5525-4E21-A396-8BFD8374706C}"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AF37E49A-E781-4B43-BAF5-A841A15E696D}" type="slidenum">
              <a:rPr lang="en-US" altLang="en-US"/>
              <a:pPr/>
              <a:t>‹#›</a:t>
            </a:fld>
            <a:r>
              <a:rPr lang="en-US" altLang="en-US"/>
              <a:t>/40</a:t>
            </a:r>
          </a:p>
        </p:txBody>
      </p:sp>
    </p:spTree>
    <p:extLst>
      <p:ext uri="{BB962C8B-B14F-4D97-AF65-F5344CB8AC3E}">
        <p14:creationId xmlns:p14="http://schemas.microsoft.com/office/powerpoint/2010/main" val="3450110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353FF8E-6645-4C62-A375-1BDC90B4297E}"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848C0CAC-1BF3-43C1-9D6B-C22D288E4E64}" type="slidenum">
              <a:rPr lang="en-US" altLang="en-US"/>
              <a:pPr/>
              <a:t>‹#›</a:t>
            </a:fld>
            <a:r>
              <a:rPr lang="en-US" altLang="en-US"/>
              <a:t>/40</a:t>
            </a:r>
          </a:p>
        </p:txBody>
      </p:sp>
    </p:spTree>
    <p:extLst>
      <p:ext uri="{BB962C8B-B14F-4D97-AF65-F5344CB8AC3E}">
        <p14:creationId xmlns:p14="http://schemas.microsoft.com/office/powerpoint/2010/main" val="366980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C81665B-1A0A-4AEC-B0AE-06F066D9FC66}" type="datetime1">
              <a:rPr lang="en-US"/>
              <a:pPr>
                <a:defRPr/>
              </a:pPr>
              <a:t>11/2/2021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6FE1CDCB-78E9-413B-BA32-70426E6E1F79}" type="slidenum">
              <a:rPr lang="en-US" altLang="en-US"/>
              <a:pPr/>
              <a:t>‹#›</a:t>
            </a:fld>
            <a:r>
              <a:rPr lang="en-US" altLang="en-US"/>
              <a:t>/40</a:t>
            </a:r>
          </a:p>
        </p:txBody>
      </p:sp>
    </p:spTree>
    <p:extLst>
      <p:ext uri="{BB962C8B-B14F-4D97-AF65-F5344CB8AC3E}">
        <p14:creationId xmlns:p14="http://schemas.microsoft.com/office/powerpoint/2010/main" val="1306017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2FFE3B96-5DF9-4BA1-A68C-D275D9008E79}" type="datetime1">
              <a:rPr lang="en-US"/>
              <a:pPr>
                <a:defRPr/>
              </a:pPr>
              <a:t>11/2/2021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BE5FD3E1-CBE2-488A-8823-DEA8AA66A4F5}" type="slidenum">
              <a:rPr lang="en-US" altLang="en-US"/>
              <a:pPr/>
              <a:t>‹#›</a:t>
            </a:fld>
            <a:r>
              <a:rPr lang="en-US" altLang="en-US"/>
              <a:t>/40</a:t>
            </a:r>
          </a:p>
        </p:txBody>
      </p:sp>
    </p:spTree>
    <p:extLst>
      <p:ext uri="{BB962C8B-B14F-4D97-AF65-F5344CB8AC3E}">
        <p14:creationId xmlns:p14="http://schemas.microsoft.com/office/powerpoint/2010/main" val="871727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FBE3757-1D1C-4FCA-A1EB-6BF8ECDD284F}" type="datetime1">
              <a:rPr lang="en-US"/>
              <a:pPr>
                <a:defRPr/>
              </a:pPr>
              <a:t>11/2/2021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E0DA42BF-2BFF-482D-9ECA-914E2758E493}" type="slidenum">
              <a:rPr lang="en-US" altLang="en-US"/>
              <a:pPr/>
              <a:t>‹#›</a:t>
            </a:fld>
            <a:r>
              <a:rPr lang="en-US" altLang="en-US"/>
              <a:t>/40</a:t>
            </a:r>
          </a:p>
        </p:txBody>
      </p:sp>
    </p:spTree>
    <p:extLst>
      <p:ext uri="{BB962C8B-B14F-4D97-AF65-F5344CB8AC3E}">
        <p14:creationId xmlns:p14="http://schemas.microsoft.com/office/powerpoint/2010/main" val="2481017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01038EE5-90D3-4DFE-8F70-EBB36D64DE7B}" type="datetime1">
              <a:rPr lang="en-US"/>
              <a:pPr>
                <a:defRPr/>
              </a:pPr>
              <a:t>11/2/2021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4F871EF4-6393-47C9-8AEF-5E92A9975E3F}"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Document"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22098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DEADLOCKS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Deadlock Avoidance</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Deadlock Prevention</a:t>
            </a:r>
            <a:br>
              <a:rPr lang="en-US" altLang="en-US" sz="4000" b="1">
                <a:solidFill>
                  <a:srgbClr val="FF3300"/>
                </a:solidFill>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Other Issues</a:t>
            </a:r>
            <a:r>
              <a:rPr lang="en-US" altLang="en-US" sz="400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Deadlock</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set of blocked processes </a:t>
            </a:r>
            <a:r>
              <a:rPr lang="en-US" altLang="en-US" sz="2400">
                <a:latin typeface="Times New Roman" panose="02020603050405020304" pitchFamily="18" charset="0"/>
                <a:cs typeface="Times New Roman" panose="02020603050405020304" pitchFamily="18" charset="0"/>
              </a:rPr>
              <a:t>each </a:t>
            </a:r>
            <a:r>
              <a:rPr lang="en-US" altLang="en-US" sz="2400" b="1">
                <a:latin typeface="Times New Roman" panose="02020603050405020304" pitchFamily="18" charset="0"/>
                <a:cs typeface="Times New Roman" panose="02020603050405020304" pitchFamily="18" charset="0"/>
              </a:rPr>
              <a:t>holding</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resource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waiting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to</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acquire a resource held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by</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another</a:t>
            </a:r>
            <a:r>
              <a:rPr lang="en-US" altLang="en-US" sz="2400">
                <a:latin typeface="Times New Roman" panose="02020603050405020304" pitchFamily="18" charset="0"/>
                <a:cs typeface="Times New Roman" panose="02020603050405020304" pitchFamily="18" charset="0"/>
              </a:rPr>
              <a:t> process </a:t>
            </a:r>
            <a:r>
              <a:rPr lang="en-US" altLang="en-US" sz="2400" b="1">
                <a:latin typeface="Times New Roman" panose="02020603050405020304" pitchFamily="18" charset="0"/>
                <a:cs typeface="Times New Roman" panose="02020603050405020304" pitchFamily="18" charset="0"/>
              </a:rPr>
              <a:t>in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set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thus</a:t>
            </a:r>
            <a:r>
              <a:rPr lang="en-US" altLang="en-US" sz="2400">
                <a:latin typeface="Times New Roman" panose="02020603050405020304" pitchFamily="18" charset="0"/>
                <a:cs typeface="Times New Roman" panose="02020603050405020304" pitchFamily="18" charset="0"/>
              </a:rPr>
              <a:t> they will </a:t>
            </a:r>
            <a:r>
              <a:rPr lang="en-US" altLang="en-US" sz="2400" b="1">
                <a:latin typeface="Times New Roman" panose="02020603050405020304" pitchFamily="18" charset="0"/>
                <a:cs typeface="Times New Roman" panose="02020603050405020304" pitchFamily="18" charset="0"/>
              </a:rPr>
              <a:t>remain so forever </a:t>
            </a:r>
            <a:r>
              <a:rPr lang="en-US" altLang="en-US" sz="2400">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deadlocks</a:t>
            </a:r>
            <a:r>
              <a:rPr lang="en-US" altLang="en-US" sz="2400">
                <a:latin typeface="Times New Roman" panose="02020603050405020304" pitchFamily="18" charset="0"/>
                <a:cs typeface="Times New Roman" panose="02020603050405020304" pitchFamily="18" charset="0"/>
              </a:rPr>
              <a:t>)</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Resources </a:t>
            </a: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Refer the </a:t>
            </a:r>
            <a:r>
              <a:rPr lang="en-US" altLang="en-US" b="1">
                <a:latin typeface="Times New Roman" panose="02020603050405020304" pitchFamily="18" charset="0"/>
                <a:cs typeface="Times New Roman" panose="02020603050405020304" pitchFamily="18" charset="0"/>
              </a:rPr>
              <a:t>objects</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as hardware devices, data records, files, etc</a:t>
            </a:r>
            <a:r>
              <a:rPr lang="en-US" altLang="en-US">
                <a:latin typeface="Times New Roman" panose="02020603050405020304" pitchFamily="18" charset="0"/>
                <a:cs typeface="Times New Roman" panose="02020603050405020304" pitchFamily="18" charset="0"/>
              </a:rPr>
              <a:t> .. that </a:t>
            </a:r>
            <a:r>
              <a:rPr lang="en-US" altLang="en-US" b="1">
                <a:latin typeface="Times New Roman" panose="02020603050405020304" pitchFamily="18" charset="0"/>
                <a:cs typeface="Times New Roman" panose="02020603050405020304" pitchFamily="18" charset="0"/>
              </a:rPr>
              <a:t>must</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be granted, acquired, used and released</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02 types: </a:t>
            </a:r>
            <a:r>
              <a:rPr lang="en-US" altLang="en-US">
                <a:latin typeface="Times New Roman" panose="02020603050405020304" pitchFamily="18" charset="0"/>
                <a:cs typeface="Times New Roman" panose="02020603050405020304" pitchFamily="18" charset="0"/>
              </a:rPr>
              <a:t>Preemptable, Nonpreemptable</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4 conditions</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Mutual exclusion condition</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Hold and wait condition</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No preemption condition</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Circular wait condition</a:t>
            </a:r>
          </a:p>
          <a:p>
            <a:pPr lvl="2" algn="just" eaLnBrk="1" hangingPunct="1">
              <a:lnSpc>
                <a:spcPct val="90000"/>
              </a:lnSpc>
            </a:pPr>
            <a:r>
              <a:rPr lang="en-US" altLang="en-US">
                <a:latin typeface="Times New Roman" panose="02020603050405020304" pitchFamily="18" charset="0"/>
                <a:cs typeface="Times New Roman" panose="02020603050405020304" pitchFamily="18" charset="0"/>
              </a:rPr>
              <a:t>Four conditions for resource deadlocks can be </a:t>
            </a:r>
            <a:r>
              <a:rPr lang="en-US" altLang="en-US" b="1">
                <a:latin typeface="Times New Roman" panose="02020603050405020304" pitchFamily="18" charset="0"/>
                <a:cs typeface="Times New Roman" panose="02020603050405020304" pitchFamily="18" charset="0"/>
              </a:rPr>
              <a:t>modeled using directed graphs that help carrying out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requests and releases step by step</a:t>
            </a:r>
            <a:r>
              <a:rPr lang="en-US" altLang="en-US">
                <a:latin typeface="Times New Roman" panose="02020603050405020304" pitchFamily="18" charset="0"/>
                <a:cs typeface="Times New Roman" panose="02020603050405020304" pitchFamily="18" charset="0"/>
              </a:rPr>
              <a:t>, and </a:t>
            </a:r>
            <a:r>
              <a:rPr lang="en-US" altLang="en-US" b="1">
                <a:latin typeface="Times New Roman" panose="02020603050405020304" pitchFamily="18" charset="0"/>
                <a:cs typeface="Times New Roman" panose="02020603050405020304" pitchFamily="18" charset="0"/>
              </a:rPr>
              <a:t>after</a:t>
            </a:r>
            <a:r>
              <a:rPr lang="en-US" altLang="en-US">
                <a:latin typeface="Times New Roman" panose="02020603050405020304" pitchFamily="18" charset="0"/>
                <a:cs typeface="Times New Roman" panose="02020603050405020304" pitchFamily="18" charset="0"/>
              </a:rPr>
              <a:t> every </a:t>
            </a:r>
            <a:r>
              <a:rPr lang="en-US" altLang="en-US" b="1">
                <a:latin typeface="Times New Roman" panose="02020603050405020304" pitchFamily="18" charset="0"/>
                <a:cs typeface="Times New Roman" panose="02020603050405020304" pitchFamily="18" charset="0"/>
              </a:rPr>
              <a:t>step</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check the graph to </a:t>
            </a:r>
            <a:r>
              <a:rPr lang="en-US" altLang="en-US">
                <a:latin typeface="Times New Roman" panose="02020603050405020304" pitchFamily="18" charset="0"/>
                <a:cs typeface="Times New Roman" panose="02020603050405020304" pitchFamily="18" charset="0"/>
              </a:rPr>
              <a:t>see if it contains any cycles to </a:t>
            </a:r>
            <a:r>
              <a:rPr lang="en-US" altLang="en-US" b="1">
                <a:latin typeface="Times New Roman" panose="02020603050405020304" pitchFamily="18" charset="0"/>
                <a:cs typeface="Times New Roman" panose="02020603050405020304" pitchFamily="18" charset="0"/>
              </a:rPr>
              <a:t>check deadlock or not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checkerboard(across)">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checkerboard(across)">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checkerboard(across)">
                                      <p:cBhvr>
                                        <p:cTn id="17" dur="500"/>
                                        <p:tgtEl>
                                          <p:spTgt spid="4099">
                                            <p:txEl>
                                              <p:pRg st="2" end="2"/>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0" dur="500"/>
                                        <p:tgtEl>
                                          <p:spTgt spid="4099">
                                            <p:txEl>
                                              <p:pRg st="3" end="3"/>
                                            </p:txEl>
                                          </p:spTgt>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3" dur="500"/>
                                        <p:tgtEl>
                                          <p:spTgt spid="4099">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28" dur="500"/>
                                        <p:tgtEl>
                                          <p:spTgt spid="4099">
                                            <p:txEl>
                                              <p:pRg st="5" end="5"/>
                                            </p:txEl>
                                          </p:spTgt>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animEffect transition="in" filter="checkerboard(across)">
                                      <p:cBhvr>
                                        <p:cTn id="31" dur="500"/>
                                        <p:tgtEl>
                                          <p:spTgt spid="4099">
                                            <p:txEl>
                                              <p:pRg st="6" end="6"/>
                                            </p:txEl>
                                          </p:spTgt>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4099">
                                            <p:txEl>
                                              <p:pRg st="7" end="7"/>
                                            </p:txEl>
                                          </p:spTgt>
                                        </p:tgtEl>
                                        <p:attrNameLst>
                                          <p:attrName>style.visibility</p:attrName>
                                        </p:attrNameLst>
                                      </p:cBhvr>
                                      <p:to>
                                        <p:strVal val="visible"/>
                                      </p:to>
                                    </p:set>
                                    <p:animEffect transition="in" filter="checkerboard(across)">
                                      <p:cBhvr>
                                        <p:cTn id="34" dur="500"/>
                                        <p:tgtEl>
                                          <p:spTgt spid="4099">
                                            <p:txEl>
                                              <p:pRg st="7" end="7"/>
                                            </p:txEl>
                                          </p:spTgt>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animEffect transition="in" filter="checkerboard(across)">
                                      <p:cBhvr>
                                        <p:cTn id="37" dur="500"/>
                                        <p:tgtEl>
                                          <p:spTgt spid="4099">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4099">
                                            <p:txEl>
                                              <p:pRg st="9" end="9"/>
                                            </p:txEl>
                                          </p:spTgt>
                                        </p:tgtEl>
                                        <p:attrNameLst>
                                          <p:attrName>style.visibility</p:attrName>
                                        </p:attrNameLst>
                                      </p:cBhvr>
                                      <p:to>
                                        <p:strVal val="visible"/>
                                      </p:to>
                                    </p:set>
                                    <p:animEffect transition="in" filter="checkerboard(across)">
                                      <p:cBhvr>
                                        <p:cTn id="40" dur="500"/>
                                        <p:tgtEl>
                                          <p:spTgt spid="4099">
                                            <p:txEl>
                                              <p:pRg st="9" end="9"/>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4099">
                                            <p:txEl>
                                              <p:pRg st="10" end="10"/>
                                            </p:txEl>
                                          </p:spTgt>
                                        </p:tgtEl>
                                        <p:attrNameLst>
                                          <p:attrName>style.visibility</p:attrName>
                                        </p:attrNameLst>
                                      </p:cBhvr>
                                      <p:to>
                                        <p:strVal val="visible"/>
                                      </p:to>
                                    </p:set>
                                    <p:animEffect transition="in" filter="checkerboard(across)">
                                      <p:cBhvr>
                                        <p:cTn id="45" dur="500"/>
                                        <p:tgtEl>
                                          <p:spTgt spid="40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bldLvl="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Deadlock</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Strategies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The Ostrich Algorithms</a:t>
            </a:r>
            <a:r>
              <a:rPr lang="en-US" altLang="en-US" sz="2000">
                <a:latin typeface="Times New Roman" panose="02020603050405020304" pitchFamily="18" charset="0"/>
                <a:cs typeface="Times New Roman" panose="02020603050405020304" pitchFamily="18" charset="0"/>
              </a:rPr>
              <a:t> </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Just ignore the problem</a:t>
            </a: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The device driver decide blocking or returning an error code</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Detection</a:t>
            </a:r>
            <a:endParaRPr lang="en-US" altLang="en-US" sz="2000">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Deadlock Detection with One Resource of Each Type</a:t>
            </a:r>
            <a:r>
              <a:rPr lang="en-US" altLang="en-US">
                <a:latin typeface="Times New Roman" panose="02020603050405020304" pitchFamily="18" charset="0"/>
                <a:cs typeface="Times New Roman" panose="02020603050405020304" pitchFamily="18" charset="0"/>
              </a:rPr>
              <a:t>: using algorithm to traverse the directed graph using Deadlock modeling</a:t>
            </a:r>
            <a:endParaRPr lang="en-US" altLang="en-US" b="1">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Deadlock Detection with Multiple Resource of Each Type</a:t>
            </a:r>
            <a:r>
              <a:rPr lang="en-US" altLang="en-US">
                <a:latin typeface="Times New Roman" panose="02020603050405020304" pitchFamily="18" charset="0"/>
                <a:cs typeface="Times New Roman" panose="02020603050405020304" pitchFamily="18" charset="0"/>
              </a:rPr>
              <a:t>: using </a:t>
            </a:r>
            <a:r>
              <a:rPr lang="en-US" altLang="en-US" b="1">
                <a:latin typeface="Times New Roman" panose="02020603050405020304" pitchFamily="18" charset="0"/>
                <a:cs typeface="Times New Roman" panose="02020603050405020304" pitchFamily="18" charset="0"/>
              </a:rPr>
              <a:t>existing resource vector</a:t>
            </a:r>
            <a:r>
              <a:rPr lang="en-US" altLang="en-US">
                <a:latin typeface="Times New Roman" panose="02020603050405020304" pitchFamily="18" charset="0"/>
                <a:cs typeface="Times New Roman" panose="02020603050405020304" pitchFamily="18" charset="0"/>
              </a:rPr>
              <a:t> (E), </a:t>
            </a:r>
            <a:r>
              <a:rPr lang="en-US" altLang="en-US" b="1">
                <a:latin typeface="Times New Roman" panose="02020603050405020304" pitchFamily="18" charset="0"/>
                <a:cs typeface="Times New Roman" panose="02020603050405020304" pitchFamily="18" charset="0"/>
              </a:rPr>
              <a:t>available resource vector (A), current allocation matrix (C), request matrix (R)</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Recovery</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Recovery through Preemption: take a resource away from a process</a:t>
            </a:r>
            <a:r>
              <a:rPr lang="en-US" altLang="en-US">
                <a:latin typeface="Times New Roman" panose="02020603050405020304" pitchFamily="18" charset="0"/>
                <a:cs typeface="Times New Roman" panose="02020603050405020304" pitchFamily="18" charset="0"/>
              </a:rPr>
              <a:t>, have </a:t>
            </a:r>
            <a:r>
              <a:rPr lang="en-US" altLang="en-US" b="1">
                <a:latin typeface="Times New Roman" panose="02020603050405020304" pitchFamily="18" charset="0"/>
                <a:cs typeface="Times New Roman" panose="02020603050405020304" pitchFamily="18" charset="0"/>
              </a:rPr>
              <a:t>another</a:t>
            </a:r>
            <a:r>
              <a:rPr lang="en-US" altLang="en-US">
                <a:latin typeface="Times New Roman" panose="02020603050405020304" pitchFamily="18" charset="0"/>
                <a:cs typeface="Times New Roman" panose="02020603050405020304" pitchFamily="18" charset="0"/>
              </a:rPr>
              <a:t> process </a:t>
            </a:r>
            <a:r>
              <a:rPr lang="en-US" altLang="en-US" b="1">
                <a:latin typeface="Times New Roman" panose="02020603050405020304" pitchFamily="18" charset="0"/>
                <a:cs typeface="Times New Roman" panose="02020603050405020304" pitchFamily="18" charset="0"/>
              </a:rPr>
              <a:t>use</a:t>
            </a:r>
            <a:r>
              <a:rPr lang="en-US" altLang="en-US">
                <a:latin typeface="Times New Roman" panose="02020603050405020304" pitchFamily="18" charset="0"/>
                <a:cs typeface="Times New Roman" panose="02020603050405020304" pitchFamily="18" charset="0"/>
              </a:rPr>
              <a:t> it, and </a:t>
            </a:r>
            <a:r>
              <a:rPr lang="en-US" altLang="en-US" b="1">
                <a:latin typeface="Times New Roman" panose="02020603050405020304" pitchFamily="18" charset="0"/>
                <a:cs typeface="Times New Roman" panose="02020603050405020304" pitchFamily="18" charset="0"/>
              </a:rPr>
              <a:t>then</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give</a:t>
            </a:r>
            <a:r>
              <a:rPr lang="en-US" altLang="en-US">
                <a:latin typeface="Times New Roman" panose="02020603050405020304" pitchFamily="18" charset="0"/>
                <a:cs typeface="Times New Roman" panose="02020603050405020304" pitchFamily="18" charset="0"/>
              </a:rPr>
              <a:t> it </a:t>
            </a:r>
            <a:r>
              <a:rPr lang="en-US" altLang="en-US" b="1">
                <a:latin typeface="Times New Roman" panose="02020603050405020304" pitchFamily="18" charset="0"/>
                <a:cs typeface="Times New Roman" panose="02020603050405020304" pitchFamily="18" charset="0"/>
              </a:rPr>
              <a:t>back</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without</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process noticing </a:t>
            </a:r>
            <a:r>
              <a:rPr lang="en-US" altLang="en-US">
                <a:latin typeface="Times New Roman" panose="02020603050405020304" pitchFamily="18" charset="0"/>
                <a:cs typeface="Times New Roman" panose="02020603050405020304" pitchFamily="18" charset="0"/>
              </a:rPr>
              <a:t>it is highly dependent on the nature of the resource</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Recovery through Rollback</a:t>
            </a:r>
            <a:r>
              <a:rPr lang="en-US" altLang="en-US">
                <a:latin typeface="Times New Roman" panose="02020603050405020304" pitchFamily="18" charset="0"/>
                <a:cs typeface="Times New Roman" panose="02020603050405020304" pitchFamily="18" charset="0"/>
              </a:rPr>
              <a:t>: checkpoint is used to store the process state that is used to reset when the deadlock occurs</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Recovery through Killing Processes</a:t>
            </a:r>
            <a:r>
              <a:rPr lang="en-US" altLang="en-US">
                <a:latin typeface="Times New Roman" panose="02020603050405020304" pitchFamily="18" charset="0"/>
                <a:cs typeface="Times New Roman" panose="02020603050405020304" pitchFamily="18" charset="0"/>
              </a:rPr>
              <a:t>: break the cycle with internal and external resources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diamond(in)">
                                      <p:cBhvr>
                                        <p:cTn id="7" dur="20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diamond(in)">
                                      <p:cBhvr>
                                        <p:cTn id="12" dur="20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diamond(in)">
                                      <p:cBhvr>
                                        <p:cTn id="17" dur="2000"/>
                                        <p:tgtEl>
                                          <p:spTgt spid="4099">
                                            <p:txEl>
                                              <p:pRg st="2" end="2"/>
                                            </p:txEl>
                                          </p:spTgt>
                                        </p:tgtEl>
                                      </p:cBhvr>
                                    </p:animEffect>
                                  </p:childTnLst>
                                </p:cTn>
                              </p:par>
                              <p:par>
                                <p:cTn id="18" presetID="8" presetClass="entr" presetSubtype="16" fill="hold" grpId="0" nodeType="with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diamond(in)">
                                      <p:cBhvr>
                                        <p:cTn id="20" dur="2000"/>
                                        <p:tgtEl>
                                          <p:spTgt spid="4099">
                                            <p:txEl>
                                              <p:pRg st="3" end="3"/>
                                            </p:txEl>
                                          </p:spTgt>
                                        </p:tgtEl>
                                      </p:cBhvr>
                                    </p:animEffect>
                                  </p:childTnLst>
                                </p:cTn>
                              </p:par>
                              <p:par>
                                <p:cTn id="21" presetID="8" presetClass="entr" presetSubtype="16" fill="hold" grpId="0"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diamond(in)">
                                      <p:cBhvr>
                                        <p:cTn id="23" dur="2000"/>
                                        <p:tgtEl>
                                          <p:spTgt spid="4099">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4099">
                                            <p:txEl>
                                              <p:pRg st="5" end="5"/>
                                            </p:txEl>
                                          </p:spTgt>
                                        </p:tgtEl>
                                        <p:attrNameLst>
                                          <p:attrName>style.visibility</p:attrName>
                                        </p:attrNameLst>
                                      </p:cBhvr>
                                      <p:to>
                                        <p:strVal val="visible"/>
                                      </p:to>
                                    </p:set>
                                    <p:animEffect transition="in" filter="diamond(in)">
                                      <p:cBhvr>
                                        <p:cTn id="28" dur="2000"/>
                                        <p:tgtEl>
                                          <p:spTgt spid="4099">
                                            <p:txEl>
                                              <p:pRg st="5" end="5"/>
                                            </p:txEl>
                                          </p:spTgt>
                                        </p:tgtEl>
                                      </p:cBhvr>
                                    </p:animEffect>
                                  </p:childTnLst>
                                </p:cTn>
                              </p:par>
                              <p:par>
                                <p:cTn id="29" presetID="8" presetClass="entr" presetSubtype="16" fill="hold" grpId="0" nodeType="with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animEffect transition="in" filter="diamond(in)">
                                      <p:cBhvr>
                                        <p:cTn id="31" dur="2000"/>
                                        <p:tgtEl>
                                          <p:spTgt spid="4099">
                                            <p:txEl>
                                              <p:pRg st="6" end="6"/>
                                            </p:txEl>
                                          </p:spTgt>
                                        </p:tgtEl>
                                      </p:cBhvr>
                                    </p:animEffect>
                                  </p:childTnLst>
                                </p:cTn>
                              </p:par>
                              <p:par>
                                <p:cTn id="32" presetID="8" presetClass="entr" presetSubtype="16" fill="hold" grpId="0" nodeType="withEffect">
                                  <p:stCondLst>
                                    <p:cond delay="0"/>
                                  </p:stCondLst>
                                  <p:childTnLst>
                                    <p:set>
                                      <p:cBhvr>
                                        <p:cTn id="33" dur="1" fill="hold">
                                          <p:stCondLst>
                                            <p:cond delay="0"/>
                                          </p:stCondLst>
                                        </p:cTn>
                                        <p:tgtEl>
                                          <p:spTgt spid="4099">
                                            <p:txEl>
                                              <p:pRg st="7" end="7"/>
                                            </p:txEl>
                                          </p:spTgt>
                                        </p:tgtEl>
                                        <p:attrNameLst>
                                          <p:attrName>style.visibility</p:attrName>
                                        </p:attrNameLst>
                                      </p:cBhvr>
                                      <p:to>
                                        <p:strVal val="visible"/>
                                      </p:to>
                                    </p:set>
                                    <p:animEffect transition="in" filter="diamond(in)">
                                      <p:cBhvr>
                                        <p:cTn id="34" dur="2000"/>
                                        <p:tgtEl>
                                          <p:spTgt spid="4099">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8" presetClass="entr" presetSubtype="16" fill="hold" grpId="0" nodeType="clickEffect">
                                  <p:stCondLst>
                                    <p:cond delay="0"/>
                                  </p:stCondLst>
                                  <p:childTnLst>
                                    <p:set>
                                      <p:cBhvr>
                                        <p:cTn id="38" dur="1" fill="hold">
                                          <p:stCondLst>
                                            <p:cond delay="0"/>
                                          </p:stCondLst>
                                        </p:cTn>
                                        <p:tgtEl>
                                          <p:spTgt spid="4099">
                                            <p:txEl>
                                              <p:pRg st="8" end="8"/>
                                            </p:txEl>
                                          </p:spTgt>
                                        </p:tgtEl>
                                        <p:attrNameLst>
                                          <p:attrName>style.visibility</p:attrName>
                                        </p:attrNameLst>
                                      </p:cBhvr>
                                      <p:to>
                                        <p:strVal val="visible"/>
                                      </p:to>
                                    </p:set>
                                    <p:animEffect transition="in" filter="diamond(in)">
                                      <p:cBhvr>
                                        <p:cTn id="39" dur="2000"/>
                                        <p:tgtEl>
                                          <p:spTgt spid="4099">
                                            <p:txEl>
                                              <p:pRg st="8" end="8"/>
                                            </p:txEl>
                                          </p:spTgt>
                                        </p:tgtEl>
                                      </p:cBhvr>
                                    </p:animEffect>
                                  </p:childTnLst>
                                </p:cTn>
                              </p:par>
                              <p:par>
                                <p:cTn id="40" presetID="8" presetClass="entr" presetSubtype="16" fill="hold" grpId="0" nodeType="withEffect">
                                  <p:stCondLst>
                                    <p:cond delay="0"/>
                                  </p:stCondLst>
                                  <p:childTnLst>
                                    <p:set>
                                      <p:cBhvr>
                                        <p:cTn id="41" dur="1" fill="hold">
                                          <p:stCondLst>
                                            <p:cond delay="0"/>
                                          </p:stCondLst>
                                        </p:cTn>
                                        <p:tgtEl>
                                          <p:spTgt spid="4099">
                                            <p:txEl>
                                              <p:pRg st="9" end="9"/>
                                            </p:txEl>
                                          </p:spTgt>
                                        </p:tgtEl>
                                        <p:attrNameLst>
                                          <p:attrName>style.visibility</p:attrName>
                                        </p:attrNameLst>
                                      </p:cBhvr>
                                      <p:to>
                                        <p:strVal val="visible"/>
                                      </p:to>
                                    </p:set>
                                    <p:animEffect transition="in" filter="diamond(in)">
                                      <p:cBhvr>
                                        <p:cTn id="42" dur="2000"/>
                                        <p:tgtEl>
                                          <p:spTgt spid="4099">
                                            <p:txEl>
                                              <p:pRg st="9" end="9"/>
                                            </p:txEl>
                                          </p:spTgt>
                                        </p:tgtEl>
                                      </p:cBhvr>
                                    </p:animEffect>
                                  </p:childTnLst>
                                </p:cTn>
                              </p:par>
                              <p:par>
                                <p:cTn id="43" presetID="8" presetClass="entr" presetSubtype="16" fill="hold" grpId="0" nodeType="withEffect">
                                  <p:stCondLst>
                                    <p:cond delay="0"/>
                                  </p:stCondLst>
                                  <p:childTnLst>
                                    <p:set>
                                      <p:cBhvr>
                                        <p:cTn id="44" dur="1" fill="hold">
                                          <p:stCondLst>
                                            <p:cond delay="0"/>
                                          </p:stCondLst>
                                        </p:cTn>
                                        <p:tgtEl>
                                          <p:spTgt spid="4099">
                                            <p:txEl>
                                              <p:pRg st="10" end="10"/>
                                            </p:txEl>
                                          </p:spTgt>
                                        </p:tgtEl>
                                        <p:attrNameLst>
                                          <p:attrName>style.visibility</p:attrName>
                                        </p:attrNameLst>
                                      </p:cBhvr>
                                      <p:to>
                                        <p:strVal val="visible"/>
                                      </p:to>
                                    </p:set>
                                    <p:animEffect transition="in" filter="diamond(in)">
                                      <p:cBhvr>
                                        <p:cTn id="45" dur="2000"/>
                                        <p:tgtEl>
                                          <p:spTgt spid="4099">
                                            <p:txEl>
                                              <p:pRg st="10" end="10"/>
                                            </p:txEl>
                                          </p:spTgt>
                                        </p:tgtEl>
                                      </p:cBhvr>
                                    </p:animEffect>
                                  </p:childTnLst>
                                </p:cTn>
                              </p:par>
                              <p:par>
                                <p:cTn id="46" presetID="8" presetClass="entr" presetSubtype="16" fill="hold" grpId="0" nodeType="withEffect">
                                  <p:stCondLst>
                                    <p:cond delay="0"/>
                                  </p:stCondLst>
                                  <p:childTnLst>
                                    <p:set>
                                      <p:cBhvr>
                                        <p:cTn id="47" dur="1" fill="hold">
                                          <p:stCondLst>
                                            <p:cond delay="0"/>
                                          </p:stCondLst>
                                        </p:cTn>
                                        <p:tgtEl>
                                          <p:spTgt spid="4099">
                                            <p:txEl>
                                              <p:pRg st="11" end="11"/>
                                            </p:txEl>
                                          </p:spTgt>
                                        </p:tgtEl>
                                        <p:attrNameLst>
                                          <p:attrName>style.visibility</p:attrName>
                                        </p:attrNameLst>
                                      </p:cBhvr>
                                      <p:to>
                                        <p:strVal val="visible"/>
                                      </p:to>
                                    </p:set>
                                    <p:animEffect transition="in" filter="diamond(in)">
                                      <p:cBhvr>
                                        <p:cTn id="48" dur="2000"/>
                                        <p:tgtEl>
                                          <p:spTgt spid="40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idx="4294967295"/>
          </p:nvPr>
        </p:nvSpPr>
        <p:spPr>
          <a:xfrm>
            <a:off x="4572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 …</a:t>
            </a:r>
          </a:p>
        </p:txBody>
      </p:sp>
      <p:sp>
        <p:nvSpPr>
          <p:cNvPr id="5123" name="Rectangle 3"/>
          <p:cNvSpPr>
            <a:spLocks noGrp="1"/>
          </p:cNvSpPr>
          <p:nvPr>
            <p:ph type="body" idx="4294967295"/>
          </p:nvPr>
        </p:nvSpPr>
        <p:spPr>
          <a:xfrm>
            <a:off x="0" y="609600"/>
            <a:ext cx="9144000" cy="6248400"/>
          </a:xfrm>
        </p:spPr>
        <p:txBody>
          <a:bodyPr/>
          <a:lstStyle/>
          <a:p>
            <a:pPr>
              <a:lnSpc>
                <a:spcPct val="90000"/>
              </a:lnSpc>
            </a:pPr>
            <a:r>
              <a:rPr lang="en-US" altLang="en-US" sz="2800" b="1" dirty="0">
                <a:latin typeface="Times New Roman" panose="02020603050405020304" pitchFamily="18" charset="0"/>
                <a:cs typeface="Times New Roman" panose="02020603050405020304" pitchFamily="18" charset="0"/>
              </a:rPr>
              <a:t>Deadlock avoidance</a:t>
            </a:r>
          </a:p>
          <a:p>
            <a:pPr lvl="1">
              <a:lnSpc>
                <a:spcPct val="90000"/>
              </a:lnSpc>
            </a:pPr>
            <a:r>
              <a:rPr lang="en-US" altLang="en-US" sz="2400" dirty="0">
                <a:latin typeface="Times New Roman" panose="02020603050405020304" pitchFamily="18" charset="0"/>
                <a:cs typeface="Times New Roman" panose="02020603050405020304" pitchFamily="18" charset="0"/>
              </a:rPr>
              <a:t>Resource Trajectories</a:t>
            </a:r>
          </a:p>
          <a:p>
            <a:pPr lvl="1">
              <a:lnSpc>
                <a:spcPct val="90000"/>
              </a:lnSpc>
            </a:pPr>
            <a:r>
              <a:rPr lang="en-US" altLang="en-US" sz="2400" dirty="0">
                <a:latin typeface="Times New Roman" panose="02020603050405020304" pitchFamily="18" charset="0"/>
                <a:cs typeface="Times New Roman" panose="02020603050405020304" pitchFamily="18" charset="0"/>
              </a:rPr>
              <a:t>Safe and Unsafe States</a:t>
            </a:r>
          </a:p>
          <a:p>
            <a:pPr lvl="1">
              <a:lnSpc>
                <a:spcPct val="90000"/>
              </a:lnSpc>
            </a:pPr>
            <a:r>
              <a:rPr lang="en-US" altLang="en-US" sz="2400" dirty="0">
                <a:latin typeface="Times New Roman" panose="02020603050405020304" pitchFamily="18" charset="0"/>
                <a:cs typeface="Times New Roman" panose="02020603050405020304" pitchFamily="18" charset="0"/>
              </a:rPr>
              <a:t>The Banker’s Algorithms for a Single Resource</a:t>
            </a:r>
          </a:p>
          <a:p>
            <a:pPr lvl="1">
              <a:lnSpc>
                <a:spcPct val="90000"/>
              </a:lnSpc>
            </a:pPr>
            <a:r>
              <a:rPr lang="en-US" altLang="en-US" sz="2400" dirty="0">
                <a:latin typeface="Times New Roman" panose="02020603050405020304" pitchFamily="18" charset="0"/>
                <a:cs typeface="Times New Roman" panose="02020603050405020304" pitchFamily="18" charset="0"/>
              </a:rPr>
              <a:t>The Banker’s Algorithms for a Multiple Resource</a:t>
            </a:r>
          </a:p>
          <a:p>
            <a:pPr>
              <a:lnSpc>
                <a:spcPct val="90000"/>
              </a:lnSpc>
            </a:pPr>
            <a:r>
              <a:rPr lang="en-US" altLang="en-US" sz="2800" b="1" dirty="0">
                <a:latin typeface="Times New Roman" panose="02020603050405020304" pitchFamily="18" charset="0"/>
                <a:cs typeface="Times New Roman" panose="02020603050405020304" pitchFamily="18" charset="0"/>
              </a:rPr>
              <a:t>Deadlock Prevention</a:t>
            </a:r>
          </a:p>
          <a:p>
            <a:pPr lvl="1">
              <a:lnSpc>
                <a:spcPct val="90000"/>
              </a:lnSpc>
            </a:pPr>
            <a:r>
              <a:rPr lang="en-US" altLang="en-US" sz="2400" dirty="0">
                <a:latin typeface="Times New Roman" panose="02020603050405020304" pitchFamily="18" charset="0"/>
                <a:cs typeface="Times New Roman" panose="02020603050405020304" pitchFamily="18" charset="0"/>
              </a:rPr>
              <a:t>Attacking the Mutual Exclusion Condition</a:t>
            </a:r>
          </a:p>
          <a:p>
            <a:pPr lvl="1">
              <a:lnSpc>
                <a:spcPct val="90000"/>
              </a:lnSpc>
            </a:pPr>
            <a:r>
              <a:rPr lang="en-US" altLang="en-US" sz="2400" dirty="0">
                <a:latin typeface="Times New Roman" panose="02020603050405020304" pitchFamily="18" charset="0"/>
                <a:cs typeface="Times New Roman" panose="02020603050405020304" pitchFamily="18" charset="0"/>
              </a:rPr>
              <a:t>Attacking the Hole and Wait Condition</a:t>
            </a:r>
          </a:p>
          <a:p>
            <a:pPr lvl="1">
              <a:lnSpc>
                <a:spcPct val="90000"/>
              </a:lnSpc>
            </a:pPr>
            <a:r>
              <a:rPr lang="en-US" altLang="en-US" sz="2400" dirty="0">
                <a:latin typeface="Times New Roman" panose="02020603050405020304" pitchFamily="18" charset="0"/>
                <a:cs typeface="Times New Roman" panose="02020603050405020304" pitchFamily="18" charset="0"/>
              </a:rPr>
              <a:t>Attacking the No Preemption Condition</a:t>
            </a:r>
          </a:p>
          <a:p>
            <a:pPr lvl="1">
              <a:lnSpc>
                <a:spcPct val="90000"/>
              </a:lnSpc>
            </a:pPr>
            <a:r>
              <a:rPr lang="en-US" altLang="en-US" sz="2400" dirty="0">
                <a:latin typeface="Times New Roman" panose="02020603050405020304" pitchFamily="18" charset="0"/>
                <a:cs typeface="Times New Roman" panose="02020603050405020304" pitchFamily="18" charset="0"/>
              </a:rPr>
              <a:t>Attacking the Circular Wait Condition</a:t>
            </a:r>
          </a:p>
          <a:p>
            <a:pPr>
              <a:lnSpc>
                <a:spcPct val="90000"/>
              </a:lnSpc>
            </a:pPr>
            <a:r>
              <a:rPr lang="en-US" altLang="en-US" sz="2800" b="1" dirty="0">
                <a:latin typeface="Times New Roman" panose="02020603050405020304" pitchFamily="18" charset="0"/>
                <a:cs typeface="Times New Roman" panose="02020603050405020304" pitchFamily="18" charset="0"/>
              </a:rPr>
              <a:t>Other Issues</a:t>
            </a:r>
          </a:p>
          <a:p>
            <a:pPr lvl="1">
              <a:lnSpc>
                <a:spcPct val="90000"/>
              </a:lnSpc>
            </a:pPr>
            <a:r>
              <a:rPr lang="en-US" altLang="en-US" sz="2400" dirty="0">
                <a:latin typeface="Times New Roman" panose="02020603050405020304" pitchFamily="18" charset="0"/>
                <a:cs typeface="Times New Roman" panose="02020603050405020304" pitchFamily="18" charset="0"/>
              </a:rPr>
              <a:t>Two-Phase Locking</a:t>
            </a:r>
          </a:p>
          <a:p>
            <a:pPr lvl="1">
              <a:lnSpc>
                <a:spcPct val="90000"/>
              </a:lnSpc>
            </a:pPr>
            <a:r>
              <a:rPr lang="en-US" altLang="en-US" sz="2400" dirty="0">
                <a:latin typeface="Times New Roman" panose="02020603050405020304" pitchFamily="18" charset="0"/>
                <a:cs typeface="Times New Roman" panose="02020603050405020304" pitchFamily="18" charset="0"/>
              </a:rPr>
              <a:t>Communication Deadlocks</a:t>
            </a:r>
          </a:p>
          <a:p>
            <a:pPr lvl="1">
              <a:lnSpc>
                <a:spcPct val="90000"/>
              </a:lnSpc>
            </a:pPr>
            <a:r>
              <a:rPr lang="en-US" altLang="en-US" sz="2400" dirty="0">
                <a:latin typeface="Times New Roman" panose="02020603050405020304" pitchFamily="18" charset="0"/>
                <a:cs typeface="Times New Roman" panose="02020603050405020304" pitchFamily="18" charset="0"/>
              </a:rPr>
              <a:t>Live Lock</a:t>
            </a:r>
          </a:p>
          <a:p>
            <a:pPr lvl="1">
              <a:lnSpc>
                <a:spcPct val="90000"/>
              </a:lnSpc>
            </a:pPr>
            <a:r>
              <a:rPr lang="en-US" altLang="en-US" sz="2400" dirty="0">
                <a:latin typeface="Times New Roman" panose="02020603050405020304" pitchFamily="18" charset="0"/>
                <a:cs typeface="Times New Roman" panose="02020603050405020304" pitchFamily="18" charset="0"/>
              </a:rPr>
              <a:t>Starvation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Context</a:t>
            </a:r>
          </a:p>
        </p:txBody>
      </p:sp>
      <p:sp>
        <p:nvSpPr>
          <p:cNvPr id="6147" name="Rectangle 3"/>
          <p:cNvSpPr>
            <a:spLocks noGrp="1"/>
          </p:cNvSpPr>
          <p:nvPr>
            <p:ph type="body" sz="half" idx="1"/>
          </p:nvPr>
        </p:nvSpPr>
        <p:spPr>
          <a:xfrm>
            <a:off x="228600" y="990600"/>
            <a:ext cx="8915400" cy="5867400"/>
          </a:xfrm>
        </p:spPr>
        <p:txBody>
          <a:bodyPr/>
          <a:lstStyle/>
          <a:p>
            <a:pPr algn="just"/>
            <a:r>
              <a:rPr lang="en-US" altLang="en-US" sz="2800" dirty="0">
                <a:latin typeface="Times New Roman" panose="02020603050405020304" pitchFamily="18" charset="0"/>
                <a:cs typeface="Times New Roman" panose="02020603050405020304" pitchFamily="18" charset="0"/>
              </a:rPr>
              <a:t>In most system, </a:t>
            </a:r>
            <a:r>
              <a:rPr lang="en-US" altLang="en-US" sz="2800" b="1" dirty="0">
                <a:latin typeface="Times New Roman" panose="02020603050405020304" pitchFamily="18" charset="0"/>
                <a:cs typeface="Times New Roman" panose="02020603050405020304" pitchFamily="18" charset="0"/>
              </a:rPr>
              <a:t>resources</a:t>
            </a:r>
            <a:r>
              <a:rPr lang="en-US" altLang="en-US" sz="2800" dirty="0">
                <a:latin typeface="Times New Roman" panose="02020603050405020304" pitchFamily="18" charset="0"/>
                <a:cs typeface="Times New Roman" panose="02020603050405020304" pitchFamily="18" charset="0"/>
              </a:rPr>
              <a:t> are </a:t>
            </a:r>
            <a:r>
              <a:rPr lang="en-US" altLang="en-US" sz="2800" b="1" dirty="0">
                <a:latin typeface="Times New Roman" panose="02020603050405020304" pitchFamily="18" charset="0"/>
                <a:cs typeface="Times New Roman" panose="02020603050405020304" pitchFamily="18" charset="0"/>
              </a:rPr>
              <a:t>requested</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one</a:t>
            </a:r>
            <a:r>
              <a:rPr lang="en-US" altLang="en-US" sz="2800" dirty="0">
                <a:latin typeface="Times New Roman" panose="02020603050405020304" pitchFamily="18" charset="0"/>
                <a:cs typeface="Times New Roman" panose="02020603050405020304" pitchFamily="18" charset="0"/>
              </a:rPr>
              <a:t> at a time (does not ask resources all at one)</a:t>
            </a:r>
          </a:p>
          <a:p>
            <a:pPr algn="just"/>
            <a:r>
              <a:rPr lang="en-US" altLang="en-US" sz="2800" dirty="0">
                <a:latin typeface="Times New Roman" panose="02020603050405020304" pitchFamily="18" charset="0"/>
                <a:cs typeface="Times New Roman" panose="02020603050405020304" pitchFamily="18" charset="0"/>
              </a:rPr>
              <a:t>The </a:t>
            </a:r>
            <a:r>
              <a:rPr lang="en-US" altLang="en-US" sz="2800" b="1" dirty="0">
                <a:latin typeface="Times New Roman" panose="02020603050405020304" pitchFamily="18" charset="0"/>
                <a:cs typeface="Times New Roman" panose="02020603050405020304" pitchFamily="18" charset="0"/>
              </a:rPr>
              <a:t>system</a:t>
            </a:r>
            <a:r>
              <a:rPr lang="en-US" altLang="en-US" sz="2800" dirty="0">
                <a:latin typeface="Times New Roman" panose="02020603050405020304" pitchFamily="18" charset="0"/>
                <a:cs typeface="Times New Roman" panose="02020603050405020304" pitchFamily="18" charset="0"/>
              </a:rPr>
              <a:t> must be able to </a:t>
            </a:r>
            <a:r>
              <a:rPr lang="en-US" altLang="en-US" sz="2800" b="1" dirty="0">
                <a:latin typeface="Times New Roman" panose="02020603050405020304" pitchFamily="18" charset="0"/>
                <a:cs typeface="Times New Roman" panose="02020603050405020304" pitchFamily="18" charset="0"/>
              </a:rPr>
              <a:t>decide</a:t>
            </a:r>
            <a:r>
              <a:rPr lang="en-US" altLang="en-US" sz="2800" dirty="0">
                <a:latin typeface="Times New Roman" panose="02020603050405020304" pitchFamily="18" charset="0"/>
                <a:cs typeface="Times New Roman" panose="02020603050405020304" pitchFamily="18" charset="0"/>
              </a:rPr>
              <a:t> whether </a:t>
            </a:r>
            <a:r>
              <a:rPr lang="en-US" altLang="en-US" sz="2800" b="1" dirty="0">
                <a:latin typeface="Times New Roman" panose="02020603050405020304" pitchFamily="18" charset="0"/>
                <a:cs typeface="Times New Roman" panose="02020603050405020304" pitchFamily="18" charset="0"/>
              </a:rPr>
              <a:t>granting</a:t>
            </a:r>
            <a:r>
              <a:rPr lang="en-US" altLang="en-US" sz="2800" dirty="0">
                <a:latin typeface="Times New Roman" panose="02020603050405020304" pitchFamily="18" charset="0"/>
                <a:cs typeface="Times New Roman" panose="02020603050405020304" pitchFamily="18" charset="0"/>
              </a:rPr>
              <a:t> a </a:t>
            </a:r>
            <a:r>
              <a:rPr lang="en-US" altLang="en-US" sz="2800" b="1" dirty="0">
                <a:latin typeface="Times New Roman" panose="02020603050405020304" pitchFamily="18" charset="0"/>
                <a:cs typeface="Times New Roman" panose="02020603050405020304" pitchFamily="18" charset="0"/>
              </a:rPr>
              <a:t>resource is safe </a:t>
            </a:r>
            <a:r>
              <a:rPr lang="en-US" altLang="en-US" sz="2800" dirty="0">
                <a:latin typeface="Times New Roman" panose="02020603050405020304" pitchFamily="18" charset="0"/>
                <a:cs typeface="Times New Roman" panose="02020603050405020304" pitchFamily="18" charset="0"/>
              </a:rPr>
              <a:t>or not and only make the allocation when it is safe</a:t>
            </a:r>
          </a:p>
          <a:p>
            <a:pPr algn="just"/>
            <a:r>
              <a:rPr lang="en-US" altLang="en-US" sz="2800" dirty="0">
                <a:latin typeface="Times New Roman" panose="02020603050405020304" pitchFamily="18" charset="0"/>
                <a:cs typeface="Times New Roman" panose="02020603050405020304" pitchFamily="18" charset="0"/>
              </a:rPr>
              <a:t>Is there an algorithm that can always avoid deadlock by making the right choice all the time?</a:t>
            </a:r>
          </a:p>
          <a:p>
            <a:pPr lvl="1" algn="just"/>
            <a:r>
              <a:rPr lang="en-US" altLang="en-US" sz="2400" dirty="0">
                <a:latin typeface="Times New Roman" panose="02020603050405020304" pitchFamily="18" charset="0"/>
                <a:cs typeface="Times New Roman" panose="02020603050405020304" pitchFamily="18" charset="0"/>
              </a:rPr>
              <a:t>Yes, the </a:t>
            </a:r>
            <a:r>
              <a:rPr lang="en-US" altLang="en-US" sz="2400" b="1" dirty="0">
                <a:latin typeface="Times New Roman" panose="02020603050405020304" pitchFamily="18" charset="0"/>
                <a:cs typeface="Times New Roman" panose="02020603050405020304" pitchFamily="18" charset="0"/>
              </a:rPr>
              <a:t>deadlock can be avoided</a:t>
            </a:r>
            <a:r>
              <a:rPr lang="en-US" altLang="en-US" sz="2400" dirty="0">
                <a:latin typeface="Times New Roman" panose="02020603050405020304" pitchFamily="18" charset="0"/>
                <a:cs typeface="Times New Roman" panose="02020603050405020304" pitchFamily="18" charset="0"/>
              </a:rPr>
              <a:t>, but only if certain information is available in advance</a:t>
            </a:r>
          </a:p>
          <a:p>
            <a:pPr lvl="1" algn="just">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a:t>
            </a:r>
            <a:r>
              <a:rPr lang="en-US" altLang="en-US" sz="2400" b="1" dirty="0">
                <a:latin typeface="Times New Roman" panose="02020603050405020304" pitchFamily="18" charset="0"/>
                <a:cs typeface="Times New Roman" panose="02020603050405020304" pitchFamily="18" charset="0"/>
              </a:rPr>
              <a:t>carefully resource allocation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idx="4294967295"/>
          </p:nvPr>
        </p:nvSpPr>
        <p:spPr>
          <a:xfrm>
            <a:off x="0" y="76200"/>
            <a:ext cx="9144000" cy="762000"/>
          </a:xfrm>
        </p:spPr>
        <p:txBody>
          <a:bodyPr/>
          <a:lstStyle/>
          <a:p>
            <a:r>
              <a:rPr lang="en-US" altLang="en-US"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Resource Trajectories</a:t>
            </a:r>
          </a:p>
        </p:txBody>
      </p:sp>
      <p:sp>
        <p:nvSpPr>
          <p:cNvPr id="160370" name="Text Box 4"/>
          <p:cNvSpPr txBox="1">
            <a:spLocks noChangeArrowheads="1"/>
          </p:cNvSpPr>
          <p:nvPr/>
        </p:nvSpPr>
        <p:spPr bwMode="auto">
          <a:xfrm>
            <a:off x="3429000" y="62484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6-8.</a:t>
            </a:r>
          </a:p>
        </p:txBody>
      </p:sp>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8610600" cy="517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Safe and Unsafe States</a:t>
            </a:r>
          </a:p>
        </p:txBody>
      </p:sp>
      <p:sp>
        <p:nvSpPr>
          <p:cNvPr id="8195" name="Rectangle 3"/>
          <p:cNvSpPr>
            <a:spLocks noGrp="1"/>
          </p:cNvSpPr>
          <p:nvPr>
            <p:ph type="body" sz="half" idx="1"/>
          </p:nvPr>
        </p:nvSpPr>
        <p:spPr>
          <a:xfrm>
            <a:off x="0" y="1219200"/>
            <a:ext cx="9144000" cy="56388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A state is said to be </a:t>
            </a:r>
            <a:r>
              <a:rPr lang="en-US" altLang="en-US" sz="2800" b="1">
                <a:latin typeface="Times New Roman" panose="02020603050405020304" pitchFamily="18" charset="0"/>
                <a:cs typeface="Times New Roman" panose="02020603050405020304" pitchFamily="18" charset="0"/>
              </a:rPr>
              <a:t>safe</a:t>
            </a:r>
            <a:r>
              <a:rPr lang="en-US" altLang="en-US" sz="2800">
                <a:latin typeface="Times New Roman" panose="02020603050405020304" pitchFamily="18" charset="0"/>
                <a:cs typeface="Times New Roman" panose="02020603050405020304" pitchFamily="18" charset="0"/>
              </a:rPr>
              <a:t> if there is some scheduling order in which </a:t>
            </a:r>
            <a:r>
              <a:rPr lang="en-US" altLang="en-US" sz="2800" b="1">
                <a:latin typeface="Times New Roman" panose="02020603050405020304" pitchFamily="18" charset="0"/>
                <a:cs typeface="Times New Roman" panose="02020603050405020304" pitchFamily="18" charset="0"/>
              </a:rPr>
              <a:t>every process can run to completion even</a:t>
            </a:r>
            <a:r>
              <a:rPr lang="en-US" altLang="en-US" sz="2800">
                <a:latin typeface="Times New Roman" panose="02020603050405020304" pitchFamily="18" charset="0"/>
                <a:cs typeface="Times New Roman" panose="02020603050405020304" pitchFamily="18" charset="0"/>
              </a:rPr>
              <a:t> if </a:t>
            </a:r>
            <a:r>
              <a:rPr lang="en-US" altLang="en-US" sz="2800" b="1">
                <a:latin typeface="Times New Roman" panose="02020603050405020304" pitchFamily="18" charset="0"/>
                <a:cs typeface="Times New Roman" panose="02020603050405020304" pitchFamily="18" charset="0"/>
              </a:rPr>
              <a:t>all</a:t>
            </a:r>
            <a:r>
              <a:rPr lang="en-US" altLang="en-US" sz="2800">
                <a:latin typeface="Times New Roman" panose="02020603050405020304" pitchFamily="18" charset="0"/>
                <a:cs typeface="Times New Roman" panose="02020603050405020304" pitchFamily="18" charset="0"/>
              </a:rPr>
              <a:t> of them </a:t>
            </a:r>
            <a:r>
              <a:rPr lang="en-US" altLang="en-US" sz="2800" b="1">
                <a:latin typeface="Times New Roman" panose="02020603050405020304" pitchFamily="18" charset="0"/>
                <a:cs typeface="Times New Roman" panose="02020603050405020304" pitchFamily="18" charset="0"/>
              </a:rPr>
              <a:t>suddenly request their maximum number of resources immediately</a:t>
            </a:r>
          </a:p>
          <a:p>
            <a:pPr algn="just">
              <a:lnSpc>
                <a:spcPct val="90000"/>
              </a:lnSpc>
            </a:pPr>
            <a:r>
              <a:rPr lang="en-US" altLang="en-US" sz="2800">
                <a:latin typeface="Times New Roman" panose="02020603050405020304" pitchFamily="18" charset="0"/>
                <a:cs typeface="Times New Roman" panose="02020603050405020304" pitchFamily="18" charset="0"/>
              </a:rPr>
              <a:t>A system is in a </a:t>
            </a:r>
            <a:r>
              <a:rPr lang="en-US" altLang="en-US" sz="2800" b="1">
                <a:latin typeface="Times New Roman" panose="02020603050405020304" pitchFamily="18" charset="0"/>
                <a:cs typeface="Times New Roman" panose="02020603050405020304" pitchFamily="18" charset="0"/>
              </a:rPr>
              <a:t>safe state only if </a:t>
            </a:r>
            <a:r>
              <a:rPr lang="en-US" altLang="en-US" sz="2800">
                <a:latin typeface="Times New Roman" panose="02020603050405020304" pitchFamily="18" charset="0"/>
                <a:cs typeface="Times New Roman" panose="02020603050405020304" pitchFamily="18" charset="0"/>
              </a:rPr>
              <a:t>there </a:t>
            </a:r>
            <a:r>
              <a:rPr lang="en-US" altLang="en-US" sz="2800" b="1">
                <a:latin typeface="Times New Roman" panose="02020603050405020304" pitchFamily="18" charset="0"/>
                <a:cs typeface="Times New Roman" panose="02020603050405020304" pitchFamily="18" charset="0"/>
              </a:rPr>
              <a:t>exists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 safe sequence</a:t>
            </a:r>
          </a:p>
          <a:p>
            <a:pPr lvl="1" algn="just">
              <a:lnSpc>
                <a:spcPct val="90000"/>
              </a:lnSpc>
            </a:pPr>
            <a:r>
              <a:rPr lang="en-US" altLang="en-US" sz="2400">
                <a:latin typeface="Times New Roman" panose="02020603050405020304" pitchFamily="18" charset="0"/>
                <a:cs typeface="Times New Roman" panose="02020603050405020304" pitchFamily="18" charset="0"/>
              </a:rPr>
              <a:t>Let n process in order P</a:t>
            </a:r>
            <a:r>
              <a:rPr lang="en-US" altLang="en-US" sz="2400" baseline="-25000">
                <a:latin typeface="Times New Roman" panose="02020603050405020304" pitchFamily="18" charset="0"/>
                <a:cs typeface="Times New Roman" panose="02020603050405020304" pitchFamily="18" charset="0"/>
              </a:rPr>
              <a:t>1</a:t>
            </a:r>
            <a:r>
              <a:rPr lang="en-US" altLang="en-US" sz="2400">
                <a:latin typeface="Times New Roman" panose="02020603050405020304" pitchFamily="18" charset="0"/>
                <a:cs typeface="Times New Roman" panose="02020603050405020304" pitchFamily="18" charset="0"/>
              </a:rPr>
              <a:t> … P</a:t>
            </a:r>
            <a:r>
              <a:rPr lang="en-US" altLang="en-US" sz="2400" baseline="-25000">
                <a:latin typeface="Times New Roman" panose="02020603050405020304" pitchFamily="18" charset="0"/>
                <a:cs typeface="Times New Roman" panose="02020603050405020304" pitchFamily="18" charset="0"/>
              </a:rPr>
              <a:t>n</a:t>
            </a:r>
            <a:r>
              <a:rPr lang="en-US" altLang="en-US" sz="2400">
                <a:latin typeface="Times New Roman" panose="02020603050405020304" pitchFamily="18" charset="0"/>
                <a:cs typeface="Times New Roman" panose="02020603050405020304" pitchFamily="18" charset="0"/>
              </a:rPr>
              <a:t>. Each process is a safe sequence for current allocation state if</a:t>
            </a:r>
          </a:p>
          <a:p>
            <a:pPr lvl="2" algn="just">
              <a:lnSpc>
                <a:spcPct val="90000"/>
              </a:lnSpc>
            </a:pPr>
            <a:r>
              <a:rPr lang="en-US" altLang="en-US" sz="2000">
                <a:latin typeface="Times New Roman" panose="02020603050405020304" pitchFamily="18" charset="0"/>
                <a:cs typeface="Times New Roman" panose="02020603050405020304" pitchFamily="18" charset="0"/>
              </a:rPr>
              <a:t>For each P</a:t>
            </a:r>
            <a:r>
              <a:rPr lang="en-US" altLang="en-US" sz="2000" baseline="-25000">
                <a:latin typeface="Times New Roman" panose="02020603050405020304" pitchFamily="18" charset="0"/>
                <a:cs typeface="Times New Roman" panose="02020603050405020304" pitchFamily="18" charset="0"/>
              </a:rPr>
              <a:t>i</a:t>
            </a:r>
            <a:r>
              <a:rPr lang="en-US" altLang="en-US" sz="2000">
                <a:latin typeface="Times New Roman" panose="02020603050405020304" pitchFamily="18" charset="0"/>
                <a:cs typeface="Times New Roman" panose="02020603050405020304" pitchFamily="18" charset="0"/>
              </a:rPr>
              <a:t>, the resources that P</a:t>
            </a:r>
            <a:r>
              <a:rPr lang="en-US" altLang="en-US" sz="2000" baseline="-25000">
                <a:latin typeface="Times New Roman" panose="02020603050405020304" pitchFamily="18" charset="0"/>
                <a:cs typeface="Times New Roman" panose="02020603050405020304" pitchFamily="18" charset="0"/>
              </a:rPr>
              <a:t>i</a:t>
            </a:r>
            <a:r>
              <a:rPr lang="en-US" altLang="en-US" sz="2000">
                <a:latin typeface="Times New Roman" panose="02020603050405020304" pitchFamily="18" charset="0"/>
                <a:cs typeface="Times New Roman" panose="02020603050405020304" pitchFamily="18" charset="0"/>
              </a:rPr>
              <a:t> still request can be satisfied by the currently available resources plus the resources held by all the P</a:t>
            </a:r>
            <a:r>
              <a:rPr lang="en-US" altLang="en-US" sz="2000" baseline="-25000">
                <a:latin typeface="Times New Roman" panose="02020603050405020304" pitchFamily="18" charset="0"/>
                <a:cs typeface="Times New Roman" panose="02020603050405020304" pitchFamily="18" charset="0"/>
              </a:rPr>
              <a:t>j</a:t>
            </a:r>
            <a:r>
              <a:rPr lang="en-US" altLang="en-US" sz="2000">
                <a:latin typeface="Times New Roman" panose="02020603050405020304" pitchFamily="18" charset="0"/>
                <a:cs typeface="Times New Roman" panose="02020603050405020304" pitchFamily="18" charset="0"/>
              </a:rPr>
              <a:t>, with j&lt;i</a:t>
            </a:r>
          </a:p>
          <a:p>
            <a:pPr lvl="2" algn="just">
              <a:lnSpc>
                <a:spcPct val="90000"/>
              </a:lnSpc>
            </a:pPr>
            <a:r>
              <a:rPr lang="en-US" altLang="en-US" sz="2000">
                <a:latin typeface="Times New Roman" panose="02020603050405020304" pitchFamily="18" charset="0"/>
                <a:cs typeface="Times New Roman" panose="02020603050405020304" pitchFamily="18" charset="0"/>
              </a:rPr>
              <a:t>If the resource that P</a:t>
            </a:r>
            <a:r>
              <a:rPr lang="en-US" altLang="en-US" sz="2000" baseline="-25000">
                <a:latin typeface="Times New Roman" panose="02020603050405020304" pitchFamily="18" charset="0"/>
                <a:cs typeface="Times New Roman" panose="02020603050405020304" pitchFamily="18" charset="0"/>
              </a:rPr>
              <a:t>i</a:t>
            </a:r>
            <a:r>
              <a:rPr lang="en-US" altLang="en-US" sz="2000">
                <a:latin typeface="Times New Roman" panose="02020603050405020304" pitchFamily="18" charset="0"/>
                <a:cs typeface="Times New Roman" panose="02020603050405020304" pitchFamily="18" charset="0"/>
              </a:rPr>
              <a:t> needs are not immediately available, the P</a:t>
            </a:r>
            <a:r>
              <a:rPr lang="en-US" altLang="en-US" sz="2000" baseline="-25000">
                <a:latin typeface="Times New Roman" panose="02020603050405020304" pitchFamily="18" charset="0"/>
                <a:cs typeface="Times New Roman" panose="02020603050405020304" pitchFamily="18" charset="0"/>
              </a:rPr>
              <a:t>i</a:t>
            </a:r>
            <a:r>
              <a:rPr lang="en-US" altLang="en-US" sz="2000">
                <a:latin typeface="Times New Roman" panose="02020603050405020304" pitchFamily="18" charset="0"/>
                <a:cs typeface="Times New Roman" panose="02020603050405020304" pitchFamily="18" charset="0"/>
              </a:rPr>
              <a:t> can wait until all P</a:t>
            </a:r>
            <a:r>
              <a:rPr lang="en-US" altLang="en-US" sz="2000" baseline="-25000">
                <a:latin typeface="Times New Roman" panose="02020603050405020304" pitchFamily="18" charset="0"/>
                <a:cs typeface="Times New Roman" panose="02020603050405020304" pitchFamily="18" charset="0"/>
              </a:rPr>
              <a:t>j</a:t>
            </a:r>
            <a:r>
              <a:rPr lang="en-US" altLang="en-US" sz="2000">
                <a:latin typeface="Times New Roman" panose="02020603050405020304" pitchFamily="18" charset="0"/>
                <a:cs typeface="Times New Roman" panose="02020603050405020304" pitchFamily="18" charset="0"/>
              </a:rPr>
              <a:t> have finished</a:t>
            </a:r>
          </a:p>
          <a:p>
            <a:pPr lvl="2" algn="just">
              <a:lnSpc>
                <a:spcPct val="90000"/>
              </a:lnSpc>
            </a:pPr>
            <a:r>
              <a:rPr lang="en-US" altLang="en-US" sz="2000">
                <a:latin typeface="Times New Roman" panose="02020603050405020304" pitchFamily="18" charset="0"/>
                <a:cs typeface="Times New Roman" panose="02020603050405020304" pitchFamily="18" charset="0"/>
              </a:rPr>
              <a:t>When P</a:t>
            </a:r>
            <a:r>
              <a:rPr lang="en-US" altLang="en-US" sz="2000" baseline="-25000">
                <a:latin typeface="Times New Roman" panose="02020603050405020304" pitchFamily="18" charset="0"/>
                <a:cs typeface="Times New Roman" panose="02020603050405020304" pitchFamily="18" charset="0"/>
              </a:rPr>
              <a:t>i</a:t>
            </a:r>
            <a:r>
              <a:rPr lang="en-US" altLang="en-US" sz="2000">
                <a:latin typeface="Times New Roman" panose="02020603050405020304" pitchFamily="18" charset="0"/>
                <a:cs typeface="Times New Roman" panose="02020603050405020304" pitchFamily="18" charset="0"/>
              </a:rPr>
              <a:t> terminates, the P</a:t>
            </a:r>
            <a:r>
              <a:rPr lang="en-US" altLang="en-US" sz="2000" baseline="-25000">
                <a:latin typeface="Times New Roman" panose="02020603050405020304" pitchFamily="18" charset="0"/>
                <a:cs typeface="Times New Roman" panose="02020603050405020304" pitchFamily="18" charset="0"/>
              </a:rPr>
              <a:t>i+1</a:t>
            </a:r>
            <a:r>
              <a:rPr lang="en-US" altLang="en-US" sz="2000">
                <a:latin typeface="Times New Roman" panose="02020603050405020304" pitchFamily="18" charset="0"/>
                <a:cs typeface="Times New Roman" panose="02020603050405020304" pitchFamily="18" charset="0"/>
              </a:rPr>
              <a:t> can obtain its needed resource</a:t>
            </a:r>
          </a:p>
          <a:p>
            <a:pPr algn="just">
              <a:lnSpc>
                <a:spcPct val="90000"/>
              </a:lnSpc>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The system state is unsafe when the above condition does not exist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0" y="76200"/>
            <a:ext cx="9144000" cy="762000"/>
          </a:xfrm>
        </p:spPr>
        <p:txBody>
          <a:bodyPr/>
          <a:lstStyle/>
          <a:p>
            <a:r>
              <a:rPr lang="en-US" altLang="en-US" sz="48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Safe and Unsafe States</a:t>
            </a:r>
          </a:p>
        </p:txBody>
      </p:sp>
      <p:pic>
        <p:nvPicPr>
          <p:cNvPr id="9219" name="Picture 2"/>
          <p:cNvPicPr>
            <a:picLocks noChangeAspect="1" noChangeArrowheads="1"/>
          </p:cNvPicPr>
          <p:nvPr/>
        </p:nvPicPr>
        <p:blipFill>
          <a:blip r:embed="rId3">
            <a:extLst>
              <a:ext uri="{28A0092B-C50C-407E-A947-70E740481C1C}">
                <a14:useLocalDpi xmlns:a14="http://schemas.microsoft.com/office/drawing/2010/main" val="0"/>
              </a:ext>
            </a:extLst>
          </a:blip>
          <a:srcRect l="58864"/>
          <a:stretch>
            <a:fillRect/>
          </a:stretch>
        </p:blipFill>
        <p:spPr bwMode="auto">
          <a:xfrm>
            <a:off x="3352800" y="4067175"/>
            <a:ext cx="44958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2"/>
          <p:cNvPicPr>
            <a:picLocks noChangeAspect="1" noChangeArrowheads="1"/>
          </p:cNvPicPr>
          <p:nvPr/>
        </p:nvPicPr>
        <p:blipFill>
          <a:blip r:embed="rId3">
            <a:extLst>
              <a:ext uri="{28A0092B-C50C-407E-A947-70E740481C1C}">
                <a14:useLocalDpi xmlns:a14="http://schemas.microsoft.com/office/drawing/2010/main" val="0"/>
              </a:ext>
            </a:extLst>
          </a:blip>
          <a:srcRect r="40437"/>
          <a:stretch>
            <a:fillRect/>
          </a:stretch>
        </p:blipFill>
        <p:spPr bwMode="auto">
          <a:xfrm>
            <a:off x="1066800" y="990600"/>
            <a:ext cx="6477000"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370" name="Text Box 4"/>
          <p:cNvSpPr txBox="1">
            <a:spLocks noChangeArrowheads="1"/>
          </p:cNvSpPr>
          <p:nvPr/>
        </p:nvSpPr>
        <p:spPr bwMode="auto">
          <a:xfrm>
            <a:off x="3505200" y="36576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6-9.</a:t>
            </a:r>
          </a:p>
        </p:txBody>
      </p:sp>
      <p:sp>
        <p:nvSpPr>
          <p:cNvPr id="2" name="Text Box 4"/>
          <p:cNvSpPr txBox="1">
            <a:spLocks noChangeArrowheads="1"/>
          </p:cNvSpPr>
          <p:nvPr/>
        </p:nvSpPr>
        <p:spPr bwMode="auto">
          <a:xfrm>
            <a:off x="533400" y="4724400"/>
            <a:ext cx="213836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rPr>
              <a:t>3 processes</a:t>
            </a:r>
          </a:p>
          <a:p>
            <a:pPr eaLnBrk="1" hangingPunct="1"/>
            <a:r>
              <a:rPr lang="en-US" altLang="en-US" sz="2400">
                <a:latin typeface="Times New Roman" panose="02020603050405020304" pitchFamily="18" charset="0"/>
              </a:rPr>
              <a:t>1 resource with </a:t>
            </a:r>
          </a:p>
          <a:p>
            <a:pPr eaLnBrk="1" hangingPunct="1"/>
            <a:r>
              <a:rPr lang="en-US" altLang="en-US" sz="2400">
                <a:latin typeface="Times New Roman" panose="02020603050405020304" pitchFamily="18" charset="0"/>
              </a:rPr>
              <a:t>10 instance</a:t>
            </a:r>
          </a:p>
        </p:txBody>
      </p:sp>
      <p:sp>
        <p:nvSpPr>
          <p:cNvPr id="7" name="Rectangle 6"/>
          <p:cNvSpPr/>
          <p:nvPr/>
        </p:nvSpPr>
        <p:spPr>
          <a:xfrm>
            <a:off x="5715000" y="3657600"/>
            <a:ext cx="3276600" cy="609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rgbClr val="FF0000"/>
                </a:solidFill>
                <a:latin typeface="Times New Roman" pitchFamily="18" charset="0"/>
                <a:cs typeface="Times New Roman" pitchFamily="18" charset="0"/>
              </a:rPr>
              <a:t>Safe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heckerboard(across)">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P spid="2" grpId="0"/>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idx="4294967295"/>
          </p:nvPr>
        </p:nvSpPr>
        <p:spPr>
          <a:xfrm>
            <a:off x="1447800" y="76200"/>
            <a:ext cx="7696200" cy="762000"/>
          </a:xfrm>
        </p:spPr>
        <p:txBody>
          <a:bodyPr/>
          <a:lstStyle/>
          <a:p>
            <a:r>
              <a:rPr lang="en-US" altLang="en-US" sz="54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Safe and Unsafe States</a:t>
            </a:r>
          </a:p>
        </p:txBody>
      </p:sp>
      <p:sp>
        <p:nvSpPr>
          <p:cNvPr id="160370" name="Text Box 4"/>
          <p:cNvSpPr txBox="1">
            <a:spLocks noChangeArrowheads="1"/>
          </p:cNvSpPr>
          <p:nvPr/>
        </p:nvSpPr>
        <p:spPr bwMode="auto">
          <a:xfrm>
            <a:off x="3810000" y="57912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6-9.</a:t>
            </a:r>
          </a:p>
        </p:txBody>
      </p:sp>
      <p:sp>
        <p:nvSpPr>
          <p:cNvPr id="2" name="Text Box 4"/>
          <p:cNvSpPr txBox="1">
            <a:spLocks noChangeArrowheads="1"/>
          </p:cNvSpPr>
          <p:nvPr/>
        </p:nvSpPr>
        <p:spPr bwMode="auto">
          <a:xfrm>
            <a:off x="3962400" y="3962400"/>
            <a:ext cx="213836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rPr>
              <a:t>3 processes</a:t>
            </a:r>
          </a:p>
          <a:p>
            <a:pPr eaLnBrk="1" hangingPunct="1"/>
            <a:r>
              <a:rPr lang="en-US" altLang="en-US" sz="2400">
                <a:latin typeface="Times New Roman" panose="02020603050405020304" pitchFamily="18" charset="0"/>
              </a:rPr>
              <a:t>1 resource with </a:t>
            </a:r>
          </a:p>
          <a:p>
            <a:pPr eaLnBrk="1" hangingPunct="1"/>
            <a:r>
              <a:rPr lang="en-US" altLang="en-US" sz="2400">
                <a:latin typeface="Times New Roman" panose="02020603050405020304" pitchFamily="18" charset="0"/>
              </a:rPr>
              <a:t>10 instance</a:t>
            </a:r>
          </a:p>
        </p:txBody>
      </p:sp>
      <p:pic>
        <p:nvPicPr>
          <p:cNvPr id="1024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 y="1524000"/>
            <a:ext cx="8953500"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5867400" y="3657600"/>
            <a:ext cx="3276600" cy="609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a:solidFill>
                  <a:srgbClr val="FF0000"/>
                </a:solidFill>
                <a:latin typeface="Times New Roman" pitchFamily="18" charset="0"/>
                <a:cs typeface="Times New Roman" pitchFamily="18" charset="0"/>
              </a:rPr>
              <a:t>UnSafe</a:t>
            </a:r>
            <a:endParaRPr lang="en-US" sz="3200" b="1"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heckerboard(across)">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P spid="2"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Safe and Unsafe States</a:t>
            </a:r>
          </a:p>
        </p:txBody>
      </p:sp>
      <p:sp>
        <p:nvSpPr>
          <p:cNvPr id="11267" name="Rectangle 3"/>
          <p:cNvSpPr>
            <a:spLocks noGrp="1"/>
          </p:cNvSpPr>
          <p:nvPr>
            <p:ph type="body" sz="half" idx="1"/>
          </p:nvPr>
        </p:nvSpPr>
        <p:spPr>
          <a:xfrm>
            <a:off x="228600" y="1066800"/>
            <a:ext cx="8915400" cy="5791200"/>
          </a:xfrm>
        </p:spPr>
        <p:txBody>
          <a:bodyPr/>
          <a:lstStyle/>
          <a:p>
            <a:pPr algn="just"/>
            <a:r>
              <a:rPr lang="en-US" altLang="en-US" sz="2800" b="1">
                <a:latin typeface="Times New Roman" panose="02020603050405020304" pitchFamily="18" charset="0"/>
                <a:cs typeface="Times New Roman" panose="02020603050405020304" pitchFamily="18" charset="0"/>
              </a:rPr>
              <a:t>Basic fact</a:t>
            </a:r>
          </a:p>
          <a:p>
            <a:pPr lvl="1" algn="just"/>
            <a:r>
              <a:rPr lang="en-US" altLang="en-US" sz="2400">
                <a:latin typeface="Times New Roman" panose="02020603050405020304" pitchFamily="18" charset="0"/>
                <a:cs typeface="Times New Roman" panose="02020603050405020304" pitchFamily="18" charset="0"/>
              </a:rPr>
              <a:t>If a system is in </a:t>
            </a:r>
            <a:r>
              <a:rPr lang="en-US" altLang="en-US" sz="2400" b="1">
                <a:latin typeface="Times New Roman" panose="02020603050405020304" pitchFamily="18" charset="0"/>
                <a:cs typeface="Times New Roman" panose="02020603050405020304" pitchFamily="18" charset="0"/>
              </a:rPr>
              <a:t>safe state </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no deadlocks</a:t>
            </a:r>
          </a:p>
          <a:p>
            <a:pPr lvl="1" algn="just"/>
            <a:r>
              <a:rPr lang="en-US" altLang="en-US" sz="2400">
                <a:latin typeface="Times New Roman" panose="02020603050405020304" pitchFamily="18" charset="0"/>
                <a:cs typeface="Times New Roman" panose="02020603050405020304" pitchFamily="18" charset="0"/>
              </a:rPr>
              <a:t>If a system is in </a:t>
            </a:r>
            <a:r>
              <a:rPr lang="en-US" altLang="en-US" sz="2400" b="1">
                <a:latin typeface="Times New Roman" panose="02020603050405020304" pitchFamily="18" charset="0"/>
                <a:cs typeface="Times New Roman" panose="02020603050405020304" pitchFamily="18" charset="0"/>
              </a:rPr>
              <a:t>unsafe state </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possibility</a:t>
            </a:r>
            <a:r>
              <a:rPr lang="en-US" altLang="en-US" sz="2400">
                <a:latin typeface="Times New Roman" panose="02020603050405020304" pitchFamily="18" charset="0"/>
                <a:cs typeface="Times New Roman" panose="02020603050405020304" pitchFamily="18" charset="0"/>
              </a:rPr>
              <a:t> of deadlock</a:t>
            </a:r>
          </a:p>
          <a:p>
            <a:pPr lvl="1" algn="just"/>
            <a:r>
              <a:rPr lang="en-US" altLang="en-US" sz="2400">
                <a:latin typeface="Times New Roman" panose="02020603050405020304" pitchFamily="18" charset="0"/>
                <a:cs typeface="Times New Roman" panose="02020603050405020304" pitchFamily="18" charset="0"/>
              </a:rPr>
              <a:t>To </a:t>
            </a:r>
            <a:r>
              <a:rPr lang="en-US" altLang="en-US" sz="2400" b="1">
                <a:latin typeface="Times New Roman" panose="02020603050405020304" pitchFamily="18" charset="0"/>
                <a:cs typeface="Times New Roman" panose="02020603050405020304" pitchFamily="18" charset="0"/>
              </a:rPr>
              <a:t>avoidance deadlocks </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ensure</a:t>
            </a:r>
            <a:r>
              <a:rPr lang="en-US" altLang="en-US" sz="2400">
                <a:latin typeface="Times New Roman" panose="02020603050405020304" pitchFamily="18" charset="0"/>
                <a:cs typeface="Times New Roman" panose="02020603050405020304" pitchFamily="18" charset="0"/>
              </a:rPr>
              <a:t> that a </a:t>
            </a:r>
            <a:r>
              <a:rPr lang="en-US" altLang="en-US" sz="2400" b="1">
                <a:latin typeface="Times New Roman" panose="02020603050405020304" pitchFamily="18" charset="0"/>
                <a:cs typeface="Times New Roman" panose="02020603050405020304" pitchFamily="18" charset="0"/>
              </a:rPr>
              <a:t>system will never enter an unsafe state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914400" y="76200"/>
            <a:ext cx="8229600" cy="762000"/>
          </a:xfrm>
        </p:spPr>
        <p:txBody>
          <a:bodyPr/>
          <a:lstStyle/>
          <a:p>
            <a:pPr>
              <a:lnSpc>
                <a:spcPct val="80000"/>
              </a:lnSpc>
            </a:pPr>
            <a:r>
              <a:rPr lang="en-US" altLang="en-US" sz="4000" b="1" dirty="0">
                <a:latin typeface="Times New Roman" panose="02020603050405020304" pitchFamily="18" charset="0"/>
                <a:cs typeface="Times New Roman" panose="02020603050405020304" pitchFamily="18" charset="0"/>
              </a:rPr>
              <a:t>Deadlock Avoidance </a:t>
            </a:r>
            <a:br>
              <a:rPr lang="en-US" altLang="en-US" sz="40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The Banker’s Algorithm for a Single Resource</a:t>
            </a:r>
          </a:p>
        </p:txBody>
      </p:sp>
      <p:sp>
        <p:nvSpPr>
          <p:cNvPr id="12291" name="Rectangle 3"/>
          <p:cNvSpPr>
            <a:spLocks noGrp="1"/>
          </p:cNvSpPr>
          <p:nvPr>
            <p:ph type="body" sz="half" idx="1"/>
          </p:nvPr>
        </p:nvSpPr>
        <p:spPr>
          <a:xfrm>
            <a:off x="0" y="762000"/>
            <a:ext cx="9144000" cy="62484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Is used to </a:t>
            </a:r>
            <a:r>
              <a:rPr lang="en-US" altLang="en-US" sz="2800" b="1">
                <a:latin typeface="Times New Roman" panose="02020603050405020304" pitchFamily="18" charset="0"/>
                <a:cs typeface="Times New Roman" panose="02020603050405020304" pitchFamily="18" charset="0"/>
              </a:rPr>
              <a:t>avoid and detect deadlock</a:t>
            </a:r>
          </a:p>
          <a:p>
            <a:pPr algn="just">
              <a:lnSpc>
                <a:spcPct val="90000"/>
              </a:lnSpc>
            </a:pPr>
            <a:r>
              <a:rPr lang="en-US" altLang="en-US" sz="2800" b="1">
                <a:latin typeface="Times New Roman" panose="02020603050405020304" pitchFamily="18" charset="0"/>
                <a:cs typeface="Times New Roman" panose="02020603050405020304" pitchFamily="18" charset="0"/>
              </a:rPr>
              <a:t>Ideas</a:t>
            </a:r>
          </a:p>
          <a:p>
            <a:pPr lvl="1" algn="just">
              <a:lnSpc>
                <a:spcPct val="90000"/>
              </a:lnSpc>
            </a:pPr>
            <a:r>
              <a:rPr lang="en-US" altLang="en-US" sz="2400">
                <a:latin typeface="Times New Roman" panose="02020603050405020304" pitchFamily="18" charset="0"/>
                <a:cs typeface="Times New Roman" panose="02020603050405020304" pitchFamily="18" charset="0"/>
              </a:rPr>
              <a:t>A small-town banker might deal with a group of customers to whom he has granted lines of credit (to making loan requests time to time)</a:t>
            </a:r>
          </a:p>
          <a:p>
            <a:pPr algn="just">
              <a:lnSpc>
                <a:spcPct val="90000"/>
              </a:lnSpc>
            </a:pPr>
            <a:r>
              <a:rPr lang="en-US" altLang="en-US" sz="2800" b="1">
                <a:latin typeface="Times New Roman" panose="02020603050405020304" pitchFamily="18" charset="0"/>
                <a:cs typeface="Times New Roman" panose="02020603050405020304" pitchFamily="18" charset="0"/>
              </a:rPr>
              <a:t>Algorithm</a:t>
            </a:r>
          </a:p>
          <a:p>
            <a:pPr lvl="1" algn="just">
              <a:lnSpc>
                <a:spcPct val="90000"/>
              </a:lnSpc>
            </a:pPr>
            <a:r>
              <a:rPr lang="en-US" altLang="en-US" sz="2400">
                <a:latin typeface="Times New Roman" panose="02020603050405020304" pitchFamily="18" charset="0"/>
                <a:cs typeface="Times New Roman" panose="02020603050405020304" pitchFamily="18" charset="0"/>
              </a:rPr>
              <a:t>Considers each request as it occurs, and sees if granting it leads to a safe state</a:t>
            </a:r>
          </a:p>
          <a:p>
            <a:pPr lvl="1" algn="just">
              <a:lnSpc>
                <a:spcPct val="90000"/>
              </a:lnSpc>
            </a:pPr>
            <a:r>
              <a:rPr lang="en-US" altLang="en-US" sz="2400">
                <a:latin typeface="Times New Roman" panose="02020603050405020304" pitchFamily="18" charset="0"/>
                <a:cs typeface="Times New Roman" panose="02020603050405020304" pitchFamily="18" charset="0"/>
              </a:rPr>
              <a:t>If it does, the request is granted; otherwise, it is postponed until later</a:t>
            </a:r>
          </a:p>
          <a:p>
            <a:pPr lvl="1" algn="just">
              <a:lnSpc>
                <a:spcPct val="90000"/>
              </a:lnSpc>
            </a:pPr>
            <a:r>
              <a:rPr lang="en-US" altLang="en-US" sz="2400">
                <a:latin typeface="Times New Roman" panose="02020603050405020304" pitchFamily="18" charset="0"/>
                <a:cs typeface="Times New Roman" panose="02020603050405020304" pitchFamily="18" charset="0"/>
              </a:rPr>
              <a:t>To see if a state is safe, the banker checks to see if he has enough resources to satisfy some customer</a:t>
            </a:r>
          </a:p>
          <a:p>
            <a:pPr lvl="1" algn="just">
              <a:lnSpc>
                <a:spcPct val="90000"/>
              </a:lnSpc>
            </a:pPr>
            <a:r>
              <a:rPr lang="en-US" altLang="en-US" sz="2400">
                <a:latin typeface="Times New Roman" panose="02020603050405020304" pitchFamily="18" charset="0"/>
                <a:cs typeface="Times New Roman" panose="02020603050405020304" pitchFamily="18" charset="0"/>
              </a:rPr>
              <a:t>If so, those loans are assumed to be repaid, and customer now closest to the limit is checked</a:t>
            </a:r>
          </a:p>
          <a:p>
            <a:pPr lvl="1" algn="just">
              <a:lnSpc>
                <a:spcPct val="90000"/>
              </a:lnSpc>
            </a:pPr>
            <a:r>
              <a:rPr lang="en-US" altLang="en-US" sz="2400">
                <a:latin typeface="Times New Roman" panose="02020603050405020304" pitchFamily="18" charset="0"/>
                <a:cs typeface="Times New Roman" panose="02020603050405020304" pitchFamily="18" charset="0"/>
              </a:rPr>
              <a:t>If all loans can eventually be repaid, the state is safe and the initial request can be requested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idx="4294967295"/>
          </p:nvPr>
        </p:nvSpPr>
        <p:spPr>
          <a:xfrm>
            <a:off x="0" y="76200"/>
            <a:ext cx="9144000" cy="762000"/>
          </a:xfrm>
        </p:spPr>
        <p:txBody>
          <a:bodyPr/>
          <a:lstStyle/>
          <a:p>
            <a:r>
              <a:rPr lang="en-US" altLang="en-US" sz="54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Single Resource</a:t>
            </a:r>
          </a:p>
        </p:txBody>
      </p:sp>
      <p:sp>
        <p:nvSpPr>
          <p:cNvPr id="160370" name="Text Box 4"/>
          <p:cNvSpPr txBox="1">
            <a:spLocks noChangeArrowheads="1"/>
          </p:cNvSpPr>
          <p:nvPr/>
        </p:nvSpPr>
        <p:spPr bwMode="auto">
          <a:xfrm>
            <a:off x="3810000" y="5791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6-11.</a:t>
            </a:r>
          </a:p>
        </p:txBody>
      </p:sp>
      <p:pic>
        <p:nvPicPr>
          <p:cNvPr id="133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25" y="1801813"/>
            <a:ext cx="8259763"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 Box 7"/>
          <p:cNvSpPr txBox="1">
            <a:spLocks noChangeArrowheads="1"/>
          </p:cNvSpPr>
          <p:nvPr/>
        </p:nvSpPr>
        <p:spPr bwMode="auto">
          <a:xfrm>
            <a:off x="609600" y="48006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a:latin typeface="Times New Roman" panose="02020603050405020304" pitchFamily="18" charset="0"/>
                <a:cs typeface="Times New Roman" panose="02020603050405020304" pitchFamily="18" charset="0"/>
              </a:rPr>
              <a:t>        Safe			Safe			Unsafe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sp>
        <p:nvSpPr>
          <p:cNvPr id="14339" name="Rectangle 3"/>
          <p:cNvSpPr>
            <a:spLocks noGrp="1"/>
          </p:cNvSpPr>
          <p:nvPr>
            <p:ph type="body" sz="half" idx="1"/>
          </p:nvPr>
        </p:nvSpPr>
        <p:spPr>
          <a:xfrm>
            <a:off x="0" y="1066800"/>
            <a:ext cx="9144000" cy="5791200"/>
          </a:xfrm>
        </p:spPr>
        <p:txBody>
          <a:bodyPr/>
          <a:lstStyle/>
          <a:p>
            <a:pPr marL="274638" indent="-274638" algn="just" eaLnBrk="1" hangingPunct="1">
              <a:lnSpc>
                <a:spcPct val="80000"/>
              </a:lnSpc>
            </a:pPr>
            <a:r>
              <a:rPr lang="en-US" altLang="en-US" sz="2800">
                <a:latin typeface="Times New Roman" panose="02020603050405020304" pitchFamily="18" charset="0"/>
                <a:cs typeface="Times New Roman" panose="02020603050405020304" pitchFamily="18" charset="0"/>
              </a:rPr>
              <a:t>Algorithm for checking to see if a state is safe:</a:t>
            </a:r>
          </a:p>
          <a:p>
            <a:pPr marL="925513" lvl="1" indent="-381000" algn="just" eaLnBrk="1" hangingPunct="1">
              <a:lnSpc>
                <a:spcPct val="80000"/>
              </a:lnSpc>
            </a:pPr>
            <a:r>
              <a:rPr lang="en-US" altLang="en-US" sz="2400" b="1">
                <a:latin typeface="Times New Roman" panose="02020603050405020304" pitchFamily="18" charset="0"/>
                <a:cs typeface="Times New Roman" panose="02020603050405020304" pitchFamily="18" charset="0"/>
              </a:rPr>
              <a:t>Look</a:t>
            </a:r>
            <a:r>
              <a:rPr lang="en-US" altLang="en-US" sz="2400">
                <a:latin typeface="Times New Roman" panose="02020603050405020304" pitchFamily="18" charset="0"/>
                <a:cs typeface="Times New Roman" panose="02020603050405020304" pitchFamily="18" charset="0"/>
              </a:rPr>
              <a:t> for </a:t>
            </a:r>
            <a:r>
              <a:rPr lang="en-US" altLang="en-US" sz="2400" b="1">
                <a:latin typeface="Times New Roman" panose="02020603050405020304" pitchFamily="18" charset="0"/>
                <a:cs typeface="Times New Roman" panose="02020603050405020304" pitchFamily="18" charset="0"/>
              </a:rPr>
              <a:t>row</a:t>
            </a:r>
            <a:r>
              <a:rPr lang="en-US" altLang="en-US" sz="2400">
                <a:latin typeface="Times New Roman" panose="02020603050405020304" pitchFamily="18" charset="0"/>
                <a:cs typeface="Times New Roman" panose="02020603050405020304" pitchFamily="18" charset="0"/>
              </a:rPr>
              <a:t>, R, whose </a:t>
            </a:r>
            <a:r>
              <a:rPr lang="en-US" altLang="en-US" sz="2400" b="1">
                <a:latin typeface="Times New Roman" panose="02020603050405020304" pitchFamily="18" charset="0"/>
                <a:cs typeface="Times New Roman" panose="02020603050405020304" pitchFamily="18" charset="0"/>
              </a:rPr>
              <a:t>unmet resource needs all </a:t>
            </a:r>
            <a:br>
              <a:rPr lang="en-US" altLang="en-US" sz="2400" b="1">
                <a:latin typeface="Times New Roman" panose="02020603050405020304" pitchFamily="18" charset="0"/>
                <a:cs typeface="Times New Roman" panose="02020603050405020304" pitchFamily="18" charset="0"/>
              </a:rPr>
            </a:br>
            <a:r>
              <a:rPr lang="en-US" altLang="en-US" sz="2400" b="1">
                <a:latin typeface="Times New Roman" panose="02020603050405020304" pitchFamily="18" charset="0"/>
                <a:cs typeface="Times New Roman" panose="02020603050405020304" pitchFamily="18" charset="0"/>
              </a:rPr>
              <a:t>≤ A.  </a:t>
            </a:r>
            <a:r>
              <a:rPr lang="en-US" altLang="en-US" sz="2400">
                <a:latin typeface="Times New Roman" panose="02020603050405020304" pitchFamily="18" charset="0"/>
                <a:cs typeface="Times New Roman" panose="02020603050405020304" pitchFamily="18" charset="0"/>
              </a:rPr>
              <a:t>If </a:t>
            </a:r>
            <a:r>
              <a:rPr lang="en-US" altLang="en-US" sz="2400" b="1">
                <a:latin typeface="Times New Roman" panose="02020603050405020304" pitchFamily="18" charset="0"/>
                <a:cs typeface="Times New Roman" panose="02020603050405020304" pitchFamily="18" charset="0"/>
              </a:rPr>
              <a:t>no such row exists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system</a:t>
            </a:r>
            <a:r>
              <a:rPr lang="en-US" altLang="en-US" sz="2400">
                <a:latin typeface="Times New Roman" panose="02020603050405020304" pitchFamily="18" charset="0"/>
                <a:cs typeface="Times New Roman" panose="02020603050405020304" pitchFamily="18" charset="0"/>
              </a:rPr>
              <a:t> will </a:t>
            </a:r>
            <a:r>
              <a:rPr lang="en-US" altLang="en-US" sz="2400" b="1">
                <a:latin typeface="Times New Roman" panose="02020603050405020304" pitchFamily="18" charset="0"/>
                <a:cs typeface="Times New Roman" panose="02020603050405020304" pitchFamily="18" charset="0"/>
              </a:rPr>
              <a:t>eventually deadlock </a:t>
            </a:r>
            <a:r>
              <a:rPr lang="en-US" altLang="en-US" sz="2400">
                <a:latin typeface="Times New Roman" panose="02020603050405020304" pitchFamily="18" charset="0"/>
                <a:cs typeface="Times New Roman" panose="02020603050405020304" pitchFamily="18" charset="0"/>
              </a:rPr>
              <a:t>since no process can run to completion</a:t>
            </a:r>
          </a:p>
          <a:p>
            <a:pPr marL="925513" lvl="1" indent="-381000" algn="just" eaLnBrk="1" hangingPunct="1">
              <a:lnSpc>
                <a:spcPct val="80000"/>
              </a:lnSpc>
            </a:pPr>
            <a:r>
              <a:rPr lang="en-US" altLang="en-US" sz="2400" b="1">
                <a:latin typeface="Times New Roman" panose="02020603050405020304" pitchFamily="18" charset="0"/>
                <a:cs typeface="Times New Roman" panose="02020603050405020304" pitchFamily="18" charset="0"/>
              </a:rPr>
              <a:t>Assume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of row </a:t>
            </a:r>
            <a:r>
              <a:rPr lang="en-US" altLang="en-US" sz="2400" b="1">
                <a:latin typeface="Times New Roman" panose="02020603050405020304" pitchFamily="18" charset="0"/>
                <a:cs typeface="Times New Roman" panose="02020603050405020304" pitchFamily="18" charset="0"/>
              </a:rPr>
              <a:t>chosen requests all resources it needs and finishes. </a:t>
            </a:r>
          </a:p>
          <a:p>
            <a:pPr marL="1447800" lvl="2" indent="-342900" algn="just" eaLnBrk="1" hangingPunct="1">
              <a:lnSpc>
                <a:spcPct val="80000"/>
              </a:lnSpc>
            </a:pPr>
            <a:r>
              <a:rPr lang="en-US" altLang="en-US" sz="2000" b="1">
                <a:latin typeface="Times New Roman" panose="02020603050405020304" pitchFamily="18" charset="0"/>
                <a:cs typeface="Times New Roman" panose="02020603050405020304" pitchFamily="18" charset="0"/>
              </a:rPr>
              <a:t>Mark</a:t>
            </a:r>
            <a:r>
              <a:rPr lang="en-US" altLang="en-US" sz="2000">
                <a:latin typeface="Times New Roman" panose="02020603050405020304" pitchFamily="18" charset="0"/>
                <a:cs typeface="Times New Roman" panose="02020603050405020304" pitchFamily="18" charset="0"/>
              </a:rPr>
              <a:t> process as </a:t>
            </a:r>
            <a:r>
              <a:rPr lang="en-US" altLang="en-US" sz="2000" b="1">
                <a:latin typeface="Times New Roman" panose="02020603050405020304" pitchFamily="18" charset="0"/>
                <a:cs typeface="Times New Roman" panose="02020603050405020304" pitchFamily="18" charset="0"/>
              </a:rPr>
              <a:t>terminated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add</a:t>
            </a:r>
            <a:r>
              <a:rPr lang="en-US" altLang="en-US" sz="2000">
                <a:latin typeface="Times New Roman" panose="02020603050405020304" pitchFamily="18" charset="0"/>
                <a:cs typeface="Times New Roman" panose="02020603050405020304" pitchFamily="18" charset="0"/>
              </a:rPr>
              <a:t> all its </a:t>
            </a:r>
            <a:r>
              <a:rPr lang="en-US" altLang="en-US" sz="2000" b="1">
                <a:latin typeface="Times New Roman" panose="02020603050405020304" pitchFamily="18" charset="0"/>
                <a:cs typeface="Times New Roman" panose="02020603050405020304" pitchFamily="18" charset="0"/>
              </a:rPr>
              <a:t>resources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to</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A vector.</a:t>
            </a:r>
          </a:p>
          <a:p>
            <a:pPr marL="925513" lvl="1" indent="-381000" algn="just" eaLnBrk="1" hangingPunct="1">
              <a:lnSpc>
                <a:spcPct val="80000"/>
              </a:lnSpc>
            </a:pPr>
            <a:r>
              <a:rPr lang="en-US" altLang="en-US" sz="2400" b="1">
                <a:latin typeface="Times New Roman" panose="02020603050405020304" pitchFamily="18" charset="0"/>
                <a:cs typeface="Times New Roman" panose="02020603050405020304" pitchFamily="18" charset="0"/>
              </a:rPr>
              <a:t>Repeat steps 1 and 2 until</a:t>
            </a:r>
            <a:r>
              <a:rPr lang="en-US" altLang="en-US" sz="2400">
                <a:latin typeface="Times New Roman" panose="02020603050405020304" pitchFamily="18" charset="0"/>
                <a:cs typeface="Times New Roman" panose="02020603050405020304" pitchFamily="18" charset="0"/>
              </a:rPr>
              <a:t> either </a:t>
            </a:r>
            <a:r>
              <a:rPr lang="en-US" altLang="en-US" sz="2400" b="1">
                <a:latin typeface="Times New Roman" panose="02020603050405020304" pitchFamily="18" charset="0"/>
                <a:cs typeface="Times New Roman" panose="02020603050405020304" pitchFamily="18" charset="0"/>
              </a:rPr>
              <a:t>all processes marked terminated</a:t>
            </a:r>
            <a:r>
              <a:rPr lang="en-US" altLang="en-US" sz="2400">
                <a:latin typeface="Times New Roman" panose="02020603050405020304" pitchFamily="18" charset="0"/>
                <a:cs typeface="Times New Roman" panose="02020603050405020304" pitchFamily="18" charset="0"/>
              </a:rPr>
              <a:t> (initial state was </a:t>
            </a:r>
            <a:r>
              <a:rPr lang="en-US" altLang="en-US" sz="2400" b="1">
                <a:latin typeface="Times New Roman" panose="02020603050405020304" pitchFamily="18" charset="0"/>
                <a:cs typeface="Times New Roman" panose="02020603050405020304" pitchFamily="18" charset="0"/>
              </a:rPr>
              <a:t>safe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no process left </a:t>
            </a:r>
            <a:r>
              <a:rPr lang="en-US" altLang="en-US" sz="2400">
                <a:latin typeface="Times New Roman" panose="02020603050405020304" pitchFamily="18" charset="0"/>
                <a:cs typeface="Times New Roman" panose="02020603050405020304" pitchFamily="18" charset="0"/>
              </a:rPr>
              <a:t>whose </a:t>
            </a:r>
            <a:r>
              <a:rPr lang="en-US" altLang="en-US" sz="2400" b="1">
                <a:latin typeface="Times New Roman" panose="02020603050405020304" pitchFamily="18" charset="0"/>
                <a:cs typeface="Times New Roman" panose="02020603050405020304" pitchFamily="18" charset="0"/>
              </a:rPr>
              <a:t>resource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needs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can be met </a:t>
            </a:r>
            <a:r>
              <a:rPr lang="en-US" altLang="en-US" sz="2400">
                <a:latin typeface="Times New Roman" panose="02020603050405020304" pitchFamily="18" charset="0"/>
                <a:cs typeface="Times New Roman" panose="02020603050405020304" pitchFamily="18" charset="0"/>
              </a:rPr>
              <a:t>(there is a </a:t>
            </a:r>
            <a:r>
              <a:rPr lang="en-US" altLang="en-US" sz="2400" b="1">
                <a:latin typeface="Times New Roman" panose="02020603050405020304" pitchFamily="18" charset="0"/>
                <a:cs typeface="Times New Roman" panose="02020603050405020304" pitchFamily="18" charset="0"/>
              </a:rPr>
              <a:t>deadlock</a:t>
            </a:r>
            <a:r>
              <a:rPr lang="en-US" altLang="en-US" sz="2400">
                <a:latin typeface="Times New Roman" panose="02020603050405020304" pitchFamily="18" charset="0"/>
                <a:cs typeface="Times New Roman" panose="02020603050405020304" pitchFamily="18" charset="0"/>
              </a:rPr>
              <a:t>).</a:t>
            </a:r>
          </a:p>
          <a:p>
            <a:pPr marL="274638" indent="-274638" algn="just" eaLnBrk="1" hangingPunct="1">
              <a:lnSpc>
                <a:spcPct val="80000"/>
              </a:lnSpc>
            </a:pPr>
            <a:r>
              <a:rPr lang="en-US" altLang="en-US" sz="2800" b="1">
                <a:latin typeface="Times New Roman" panose="02020603050405020304" pitchFamily="18" charset="0"/>
                <a:cs typeface="Times New Roman" panose="02020603050405020304" pitchFamily="18" charset="0"/>
              </a:rPr>
              <a:t>Disadvantages</a:t>
            </a:r>
            <a:r>
              <a:rPr lang="en-US" altLang="en-US" sz="2800">
                <a:latin typeface="Times New Roman" panose="02020603050405020304" pitchFamily="18" charset="0"/>
                <a:cs typeface="Times New Roman" panose="02020603050405020304" pitchFamily="18" charset="0"/>
              </a:rPr>
              <a:t>:</a:t>
            </a:r>
          </a:p>
          <a:p>
            <a:pPr marL="925513" lvl="1" indent="-381000" algn="just" eaLnBrk="1" hangingPunct="1">
              <a:lnSpc>
                <a:spcPct val="80000"/>
              </a:lnSpc>
            </a:pPr>
            <a:r>
              <a:rPr lang="en-US" altLang="en-US" sz="2400">
                <a:latin typeface="Times New Roman" panose="02020603050405020304" pitchFamily="18" charset="0"/>
                <a:cs typeface="Times New Roman" panose="02020603050405020304" pitchFamily="18" charset="0"/>
              </a:rPr>
              <a:t>It is </a:t>
            </a:r>
            <a:r>
              <a:rPr lang="en-US" altLang="en-US" sz="2400" b="1">
                <a:latin typeface="Times New Roman" panose="02020603050405020304" pitchFamily="18" charset="0"/>
                <a:cs typeface="Times New Roman" panose="02020603050405020304" pitchFamily="18" charset="0"/>
              </a:rPr>
              <a:t>essentially useless because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process rarely know in advance </a:t>
            </a:r>
            <a:r>
              <a:rPr lang="en-US" altLang="en-US" sz="2400">
                <a:latin typeface="Times New Roman" panose="02020603050405020304" pitchFamily="18" charset="0"/>
                <a:cs typeface="Times New Roman" panose="02020603050405020304" pitchFamily="18" charset="0"/>
              </a:rPr>
              <a:t>what their maximum resource needs will be</a:t>
            </a:r>
          </a:p>
          <a:p>
            <a:pPr marL="925513" lvl="1" indent="-381000" algn="just" eaLnBrk="1" hangingPunct="1">
              <a:lnSpc>
                <a:spcPct val="80000"/>
              </a:lnSpc>
            </a:pP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addition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number of processes is not fixed</a:t>
            </a:r>
            <a:r>
              <a:rPr lang="en-US" altLang="en-US" sz="2400">
                <a:latin typeface="Times New Roman" panose="02020603050405020304" pitchFamily="18" charset="0"/>
                <a:cs typeface="Times New Roman" panose="02020603050405020304" pitchFamily="18" charset="0"/>
              </a:rPr>
              <a:t>, but </a:t>
            </a:r>
            <a:r>
              <a:rPr lang="en-US" altLang="en-US" sz="2400" b="1">
                <a:latin typeface="Times New Roman" panose="02020603050405020304" pitchFamily="18" charset="0"/>
                <a:cs typeface="Times New Roman" panose="02020603050405020304" pitchFamily="18" charset="0"/>
              </a:rPr>
              <a:t>dynamically</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varying</a:t>
            </a:r>
            <a:r>
              <a:rPr lang="en-US" altLang="en-US" sz="2400">
                <a:latin typeface="Times New Roman" panose="02020603050405020304" pitchFamily="18" charset="0"/>
                <a:cs typeface="Times New Roman" panose="02020603050405020304" pitchFamily="18" charset="0"/>
              </a:rPr>
              <a:t> as new users log in and out</a:t>
            </a:r>
          </a:p>
          <a:p>
            <a:pPr marL="925513" lvl="1" indent="-381000" algn="just" eaLnBrk="1" hangingPunct="1">
              <a:lnSpc>
                <a:spcPct val="80000"/>
              </a:lnSpc>
            </a:pPr>
            <a:r>
              <a:rPr lang="en-US" altLang="en-US" sz="2400" b="1">
                <a:latin typeface="Times New Roman" panose="02020603050405020304" pitchFamily="18" charset="0"/>
                <a:cs typeface="Times New Roman" panose="02020603050405020304" pitchFamily="18" charset="0"/>
              </a:rPr>
              <a:t>Furthermore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resources</a:t>
            </a:r>
            <a:r>
              <a:rPr lang="en-US" altLang="en-US" sz="2400">
                <a:latin typeface="Times New Roman" panose="02020603050405020304" pitchFamily="18" charset="0"/>
                <a:cs typeface="Times New Roman" panose="02020603050405020304" pitchFamily="18" charset="0"/>
              </a:rPr>
              <a:t> that were </a:t>
            </a:r>
            <a:r>
              <a:rPr lang="en-US" altLang="en-US" sz="2400" b="1">
                <a:latin typeface="Times New Roman" panose="02020603050405020304" pitchFamily="18" charset="0"/>
                <a:cs typeface="Times New Roman" panose="02020603050405020304" pitchFamily="18" charset="0"/>
              </a:rPr>
              <a:t>thought to be available can suddenly vanish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idx="4294967295"/>
          </p:nvPr>
        </p:nvSpPr>
        <p:spPr>
          <a:xfrm>
            <a:off x="0" y="76200"/>
            <a:ext cx="9144000" cy="762000"/>
          </a:xfrm>
        </p:spPr>
        <p:txBody>
          <a:bodyPr/>
          <a:lstStyle/>
          <a:p>
            <a:r>
              <a:rPr lang="en-US" altLang="en-US" sz="60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sp>
        <p:nvSpPr>
          <p:cNvPr id="160370" name="Text Box 4"/>
          <p:cNvSpPr txBox="1">
            <a:spLocks noChangeArrowheads="1"/>
          </p:cNvSpPr>
          <p:nvPr/>
        </p:nvSpPr>
        <p:spPr bwMode="auto">
          <a:xfrm>
            <a:off x="3657600" y="6324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6-11.</a:t>
            </a:r>
          </a:p>
        </p:txBody>
      </p:sp>
      <p:pic>
        <p:nvPicPr>
          <p:cNvPr id="153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19200"/>
            <a:ext cx="8610600"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p:cNvSpPr txBox="1">
            <a:spLocks noChangeArrowheads="1"/>
          </p:cNvSpPr>
          <p:nvPr/>
        </p:nvSpPr>
        <p:spPr bwMode="auto">
          <a:xfrm>
            <a:off x="2743200" y="57150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Progress: D, E, A, B, 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idx="4294967295"/>
          </p:nvPr>
        </p:nvSpPr>
        <p:spPr>
          <a:xfrm>
            <a:off x="0" y="76200"/>
            <a:ext cx="9144000" cy="762000"/>
          </a:xfrm>
        </p:spPr>
        <p:txBody>
          <a:bodyPr/>
          <a:lstStyle/>
          <a:p>
            <a:r>
              <a:rPr lang="en-US" altLang="en-US" sz="66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pic>
        <p:nvPicPr>
          <p:cNvPr id="1638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95400"/>
            <a:ext cx="1906588"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3263" y="1295400"/>
            <a:ext cx="1938337"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3886200"/>
            <a:ext cx="22161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6" name="Text Box 10"/>
          <p:cNvSpPr txBox="1">
            <a:spLocks noChangeArrowheads="1"/>
          </p:cNvSpPr>
          <p:nvPr/>
        </p:nvSpPr>
        <p:spPr bwMode="auto">
          <a:xfrm>
            <a:off x="5181600" y="4724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No Process deadlock</a:t>
            </a:r>
          </a:p>
        </p:txBody>
      </p:sp>
      <p:pic>
        <p:nvPicPr>
          <p:cNvPr id="4301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2286000"/>
            <a:ext cx="228600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1704975"/>
            <a:ext cx="2362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017"/>
                                        </p:tgtEl>
                                        <p:attrNameLst>
                                          <p:attrName>style.visibility</p:attrName>
                                        </p:attrNameLst>
                                      </p:cBhvr>
                                      <p:to>
                                        <p:strVal val="visible"/>
                                      </p:to>
                                    </p:set>
                                    <p:animEffect transition="in" filter="box(in)">
                                      <p:cBhvr>
                                        <p:cTn id="7" dur="500"/>
                                        <p:tgtEl>
                                          <p:spTgt spid="430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6505"/>
                                        </p:tgtEl>
                                        <p:attrNameLst>
                                          <p:attrName>style.visibility</p:attrName>
                                        </p:attrNameLst>
                                      </p:cBhvr>
                                      <p:to>
                                        <p:strVal val="visible"/>
                                      </p:to>
                                    </p:set>
                                    <p:animEffect transition="in" filter="box(in)">
                                      <p:cBhvr>
                                        <p:cTn id="12" dur="500"/>
                                        <p:tgtEl>
                                          <p:spTgt spid="1065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6506"/>
                                        </p:tgtEl>
                                        <p:attrNameLst>
                                          <p:attrName>style.visibility</p:attrName>
                                        </p:attrNameLst>
                                      </p:cBhvr>
                                      <p:to>
                                        <p:strVal val="visible"/>
                                      </p:to>
                                    </p:set>
                                    <p:animEffect transition="in" filter="box(in)">
                                      <p:cBhvr>
                                        <p:cTn id="17" dur="500"/>
                                        <p:tgtEl>
                                          <p:spTgt spid="106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idx="4294967295"/>
          </p:nvPr>
        </p:nvSpPr>
        <p:spPr>
          <a:xfrm>
            <a:off x="0" y="76200"/>
            <a:ext cx="9144000" cy="762000"/>
          </a:xfrm>
        </p:spPr>
        <p:txBody>
          <a:bodyPr/>
          <a:lstStyle/>
          <a:p>
            <a:r>
              <a:rPr lang="en-US" altLang="en-US" sz="66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pic>
        <p:nvPicPr>
          <p:cNvPr id="174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263" y="1295400"/>
            <a:ext cx="1938337"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1" name="Text Box 7"/>
          <p:cNvSpPr txBox="1">
            <a:spLocks noChangeArrowheads="1"/>
          </p:cNvSpPr>
          <p:nvPr/>
        </p:nvSpPr>
        <p:spPr bwMode="auto">
          <a:xfrm>
            <a:off x="4648200" y="47244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All Process are deadlocked</a:t>
            </a:r>
          </a:p>
        </p:txBody>
      </p:sp>
      <p:pic>
        <p:nvPicPr>
          <p:cNvPr id="1741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295400"/>
            <a:ext cx="18732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8"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3810000"/>
            <a:ext cx="227965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2438400"/>
            <a:ext cx="2362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1825625"/>
            <a:ext cx="2209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041"/>
                                        </p:tgtEl>
                                        <p:attrNameLst>
                                          <p:attrName>style.visibility</p:attrName>
                                        </p:attrNameLst>
                                      </p:cBhvr>
                                      <p:to>
                                        <p:strVal val="visible"/>
                                      </p:to>
                                    </p:set>
                                    <p:animEffect transition="in" filter="box(in)">
                                      <p:cBhvr>
                                        <p:cTn id="7" dur="500"/>
                                        <p:tgtEl>
                                          <p:spTgt spid="440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8558"/>
                                        </p:tgtEl>
                                        <p:attrNameLst>
                                          <p:attrName>style.visibility</p:attrName>
                                        </p:attrNameLst>
                                      </p:cBhvr>
                                      <p:to>
                                        <p:strVal val="visible"/>
                                      </p:to>
                                    </p:set>
                                    <p:animEffect transition="in" filter="checkerboard(across)">
                                      <p:cBhvr>
                                        <p:cTn id="12" dur="500"/>
                                        <p:tgtEl>
                                          <p:spTgt spid="1085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8551"/>
                                        </p:tgtEl>
                                        <p:attrNameLst>
                                          <p:attrName>style.visibility</p:attrName>
                                        </p:attrNameLst>
                                      </p:cBhvr>
                                      <p:to>
                                        <p:strVal val="visible"/>
                                      </p:to>
                                    </p:set>
                                    <p:animEffect transition="in" filter="box(in)">
                                      <p:cBhvr>
                                        <p:cTn id="17" dur="500"/>
                                        <p:tgtEl>
                                          <p:spTgt spid="108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0" y="76200"/>
            <a:ext cx="9144000" cy="762000"/>
          </a:xfrm>
        </p:spPr>
        <p:txBody>
          <a:bodyPr/>
          <a:lstStyle/>
          <a:p>
            <a:r>
              <a:rPr lang="en-US" altLang="en-US" sz="66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19200"/>
            <a:ext cx="2989263"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7"/>
          <p:cNvSpPr txBox="1">
            <a:spLocks noChangeArrowheads="1"/>
          </p:cNvSpPr>
          <p:nvPr/>
        </p:nvSpPr>
        <p:spPr bwMode="auto">
          <a:xfrm>
            <a:off x="838200" y="4572000"/>
            <a:ext cx="8001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latin typeface="Times New Roman" panose="02020603050405020304" pitchFamily="18" charset="0"/>
                <a:cs typeface="Times New Roman" panose="02020603050405020304" pitchFamily="18" charset="0"/>
              </a:rPr>
              <a:t>What is the smallest value of x for which this is a safe state? And which progress of processes?</a:t>
            </a:r>
          </a:p>
        </p:txBody>
      </p:sp>
      <p:pic>
        <p:nvPicPr>
          <p:cNvPr id="1843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1752600"/>
            <a:ext cx="21574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6"/>
          <p:cNvGraphicFramePr>
            <a:graphicFrameLocks noGrp="1"/>
          </p:cNvGraphicFramePr>
          <p:nvPr/>
        </p:nvGraphicFramePr>
        <p:xfrm>
          <a:off x="3505200" y="1219200"/>
          <a:ext cx="3276600" cy="3114674"/>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457293">
                <a:tc>
                  <a:txBody>
                    <a:bodyPr/>
                    <a:lstStyle/>
                    <a:p>
                      <a:endParaRPr lang="en-US" sz="2400" dirty="0">
                        <a:solidFill>
                          <a:schemeClr val="tx1"/>
                        </a:solidFill>
                        <a:latin typeface="Times New Roman" pitchFamily="18" charset="0"/>
                        <a:cs typeface="Times New Roman" pitchFamily="18" charset="0"/>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A</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B</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C</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D</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E</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7293">
                <a:tc>
                  <a:txBody>
                    <a:bodyPr/>
                    <a:lstStyle/>
                    <a:p>
                      <a:r>
                        <a:rPr lang="en-US" sz="2400" b="1" dirty="0">
                          <a:solidFill>
                            <a:schemeClr val="tx1"/>
                          </a:solidFill>
                          <a:latin typeface="Times New Roman" pitchFamily="18" charset="0"/>
                          <a:cs typeface="Times New Roman" pitchFamily="18" charset="0"/>
                        </a:rPr>
                        <a:t>P1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57293">
                <a:tc>
                  <a:txBody>
                    <a:bodyPr/>
                    <a:lstStyle/>
                    <a:p>
                      <a:r>
                        <a:rPr lang="en-US" sz="2400" b="1" dirty="0">
                          <a:solidFill>
                            <a:schemeClr val="tx1"/>
                          </a:solidFill>
                          <a:latin typeface="Times New Roman" pitchFamily="18" charset="0"/>
                          <a:cs typeface="Times New Roman" pitchFamily="18" charset="0"/>
                        </a:rPr>
                        <a:t>P2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57293">
                <a:tc>
                  <a:txBody>
                    <a:bodyPr/>
                    <a:lstStyle/>
                    <a:p>
                      <a:r>
                        <a:rPr lang="en-US" sz="2400" b="1" dirty="0">
                          <a:solidFill>
                            <a:schemeClr val="tx1"/>
                          </a:solidFill>
                          <a:latin typeface="Times New Roman" pitchFamily="18" charset="0"/>
                          <a:cs typeface="Times New Roman" pitchFamily="18" charset="0"/>
                        </a:rPr>
                        <a:t>P3</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3</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57293">
                <a:tc>
                  <a:txBody>
                    <a:bodyPr/>
                    <a:lstStyle/>
                    <a:p>
                      <a:r>
                        <a:rPr lang="en-US" sz="2400" b="1" dirty="0">
                          <a:solidFill>
                            <a:schemeClr val="tx1"/>
                          </a:solidFill>
                          <a:latin typeface="Times New Roman" pitchFamily="18" charset="0"/>
                          <a:cs typeface="Times New Roman" pitchFamily="18" charset="0"/>
                        </a:rPr>
                        <a:t>P4</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57293">
                <a:tc>
                  <a:txBody>
                    <a:bodyPr/>
                    <a:lstStyle/>
                    <a:p>
                      <a:r>
                        <a:rPr lang="en-US" sz="2400" b="1" dirty="0">
                          <a:solidFill>
                            <a:schemeClr val="tx1"/>
                          </a:solidFill>
                          <a:latin typeface="Times New Roman" pitchFamily="18" charset="0"/>
                          <a:cs typeface="Times New Roman" pitchFamily="18" charset="0"/>
                        </a:rPr>
                        <a:t>P5</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70916">
                <a:tc gridSpan="6">
                  <a:txBody>
                    <a:bodyPr/>
                    <a:lstStyle/>
                    <a:p>
                      <a:pPr algn="ctr"/>
                      <a:r>
                        <a:rPr lang="en-US" sz="1800" dirty="0">
                          <a:solidFill>
                            <a:schemeClr val="tx1"/>
                          </a:solidFill>
                          <a:latin typeface="Times New Roman" pitchFamily="18" charset="0"/>
                          <a:cs typeface="Times New Roman" pitchFamily="18" charset="0"/>
                        </a:rPr>
                        <a:t>Maximum Resources requested</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idx="4294967295"/>
          </p:nvPr>
        </p:nvSpPr>
        <p:spPr>
          <a:xfrm>
            <a:off x="0" y="76200"/>
            <a:ext cx="9144000" cy="762000"/>
          </a:xfrm>
        </p:spPr>
        <p:txBody>
          <a:bodyPr/>
          <a:lstStyle/>
          <a:p>
            <a:r>
              <a:rPr lang="en-US" altLang="en-US" sz="66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pic>
        <p:nvPicPr>
          <p:cNvPr id="1945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676400"/>
            <a:ext cx="21574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7"/>
          <p:cNvSpPr txBox="1">
            <a:spLocks noChangeArrowheads="1"/>
          </p:cNvSpPr>
          <p:nvPr/>
        </p:nvSpPr>
        <p:spPr bwMode="auto">
          <a:xfrm>
            <a:off x="533400" y="5105400"/>
            <a:ext cx="8077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 The smallest value of x is 1</a:t>
            </a:r>
          </a:p>
          <a:p>
            <a:pPr eaLnBrk="1" hangingPunct="1">
              <a:spcBef>
                <a:spcPct val="50000"/>
              </a:spcBef>
            </a:pPr>
            <a:r>
              <a:rPr lang="en-US" altLang="en-US" sz="2400" b="1">
                <a:solidFill>
                  <a:srgbClr val="FF3300"/>
                </a:solidFill>
                <a:latin typeface="Times New Roman" panose="02020603050405020304" pitchFamily="18" charset="0"/>
                <a:cs typeface="Times New Roman" panose="02020603050405020304" pitchFamily="18" charset="0"/>
              </a:rPr>
              <a:t>- The progress is P4, P5, P1, P2, P3</a:t>
            </a:r>
          </a:p>
        </p:txBody>
      </p:sp>
      <p:graphicFrame>
        <p:nvGraphicFramePr>
          <p:cNvPr id="8" name="Table 7"/>
          <p:cNvGraphicFramePr>
            <a:graphicFrameLocks noGrp="1"/>
          </p:cNvGraphicFramePr>
          <p:nvPr/>
        </p:nvGraphicFramePr>
        <p:xfrm>
          <a:off x="1524000" y="1447800"/>
          <a:ext cx="3276600" cy="320040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370840">
                <a:tc>
                  <a:txBody>
                    <a:bodyPr/>
                    <a:lstStyle/>
                    <a:p>
                      <a:endParaRPr lang="en-US" sz="240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r>
                        <a:rPr lang="en-US" sz="2400" b="1" dirty="0">
                          <a:solidFill>
                            <a:schemeClr val="tx1"/>
                          </a:solidFill>
                          <a:latin typeface="Times New Roman" pitchFamily="18" charset="0"/>
                          <a:cs typeface="Times New Roman" pitchFamily="18" charset="0"/>
                        </a:rPr>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r>
                        <a:rPr lang="en-US" sz="2400" b="1" dirty="0">
                          <a:solidFill>
                            <a:schemeClr val="tx1"/>
                          </a:solidFill>
                          <a:latin typeface="Times New Roman" pitchFamily="18" charset="0"/>
                          <a:cs typeface="Times New Roman" pitchFamily="18" charset="0"/>
                        </a:rPr>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r>
                        <a:rPr lang="en-US" sz="2400" b="1" dirty="0">
                          <a:solidFill>
                            <a:schemeClr val="tx1"/>
                          </a:solidFill>
                          <a:latin typeface="Times New Roman" pitchFamily="18" charset="0"/>
                          <a:cs typeface="Times New Roman" pitchFamily="18" charset="0"/>
                        </a:rPr>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0840">
                <a:tc>
                  <a:txBody>
                    <a:bodyPr/>
                    <a:lstStyle/>
                    <a:p>
                      <a:r>
                        <a:rPr lang="en-US" sz="2400" b="1" dirty="0">
                          <a:solidFill>
                            <a:schemeClr val="tx1"/>
                          </a:solidFill>
                          <a:latin typeface="Times New Roman" pitchFamily="18" charset="0"/>
                          <a:cs typeface="Times New Roman" pitchFamily="18" charset="0"/>
                        </a:rPr>
                        <a:t>P4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70840">
                <a:tc>
                  <a:txBody>
                    <a:bodyPr/>
                    <a:lstStyle/>
                    <a:p>
                      <a:r>
                        <a:rPr lang="en-US" sz="2400" b="1" dirty="0">
                          <a:solidFill>
                            <a:schemeClr val="tx1"/>
                          </a:solidFill>
                          <a:latin typeface="Times New Roman" pitchFamily="18" charset="0"/>
                          <a:cs typeface="Times New Roman" pitchFamily="18" charset="0"/>
                        </a:rPr>
                        <a:t>P5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solidFill>
                            <a:schemeClr val="tx1"/>
                          </a:solidFill>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70840">
                <a:tc gridSpan="6">
                  <a:txBody>
                    <a:bodyPr/>
                    <a:lstStyle/>
                    <a:p>
                      <a:pPr algn="ctr"/>
                      <a:r>
                        <a:rPr lang="en-US" sz="2400" dirty="0">
                          <a:solidFill>
                            <a:schemeClr val="tx1"/>
                          </a:solidFill>
                          <a:latin typeface="Times New Roman" pitchFamily="18" charset="0"/>
                          <a:cs typeface="Times New Roman" pitchFamily="18" charset="0"/>
                        </a:rPr>
                        <a:t>Resources</a:t>
                      </a:r>
                      <a:r>
                        <a:rPr lang="en-US" sz="2400" baseline="0" dirty="0">
                          <a:solidFill>
                            <a:schemeClr val="tx1"/>
                          </a:solidFill>
                          <a:latin typeface="Times New Roman" pitchFamily="18" charset="0"/>
                          <a:cs typeface="Times New Roman" pitchFamily="18" charset="0"/>
                        </a:rPr>
                        <a:t> still needed</a:t>
                      </a:r>
                      <a:endParaRPr lang="en-US" sz="240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9" name="Rectangle 8"/>
          <p:cNvSpPr/>
          <p:nvPr/>
        </p:nvSpPr>
        <p:spPr>
          <a:xfrm>
            <a:off x="7467600" y="2057400"/>
            <a:ext cx="8382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3657600" y="3276600"/>
            <a:ext cx="1143000" cy="914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3124200" y="3276600"/>
            <a:ext cx="533400" cy="9144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checkerboard(across)">
                                      <p:cBhvr>
                                        <p:cTn id="11" dur="500"/>
                                        <p:tgtEl>
                                          <p:spTgt spid="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checkerboard(across)">
                                      <p:cBhvr>
                                        <p:cTn id="16" dur="500"/>
                                        <p:tgtEl>
                                          <p:spTgt spid="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ox(in)">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9"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0" y="76200"/>
            <a:ext cx="9144000" cy="762000"/>
          </a:xfrm>
        </p:spPr>
        <p:txBody>
          <a:bodyPr/>
          <a:lstStyle/>
          <a:p>
            <a:r>
              <a:rPr lang="en-US" altLang="en-US" sz="66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Avoidance</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The Banker’s Algorithm for a Multiple Resource</a:t>
            </a:r>
          </a:p>
        </p:txBody>
      </p:sp>
      <p:sp>
        <p:nvSpPr>
          <p:cNvPr id="13" name="Text Box 7"/>
          <p:cNvSpPr txBox="1">
            <a:spLocks noChangeArrowheads="1"/>
          </p:cNvSpPr>
          <p:nvPr/>
        </p:nvSpPr>
        <p:spPr bwMode="auto">
          <a:xfrm>
            <a:off x="533400" y="5105400"/>
            <a:ext cx="8077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b="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What do the processes progress in sequence?</a:t>
            </a:r>
            <a:endParaRPr lang="en-US" altLang="en-US" sz="2400" b="1">
              <a:latin typeface="Times New Roman" panose="02020603050405020304" pitchFamily="18" charset="0"/>
              <a:cs typeface="Times New Roman" panose="02020603050405020304" pitchFamily="18" charset="0"/>
            </a:endParaRPr>
          </a:p>
          <a:p>
            <a:pPr eaLnBrk="1" hangingPunct="1">
              <a:spcBef>
                <a:spcPct val="50000"/>
              </a:spcBef>
            </a:pPr>
            <a:r>
              <a:rPr lang="en-US" altLang="en-US" sz="2400" b="1">
                <a:latin typeface="Times New Roman" panose="02020603050405020304" pitchFamily="18" charset="0"/>
                <a:cs typeface="Times New Roman" panose="02020603050405020304" pitchFamily="18" charset="0"/>
              </a:rPr>
              <a:t>- The progress is A, D, C, E, B</a:t>
            </a:r>
          </a:p>
        </p:txBody>
      </p:sp>
      <p:sp>
        <p:nvSpPr>
          <p:cNvPr id="20484" name="Rectangle 9"/>
          <p:cNvSpPr>
            <a:spLocks noChangeArrowheads="1"/>
          </p:cNvSpPr>
          <p:nvPr/>
        </p:nvSpPr>
        <p:spPr bwMode="auto">
          <a:xfrm>
            <a:off x="304800" y="1295400"/>
            <a:ext cx="8763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2400">
                <a:latin typeface="Times New Roman" panose="02020603050405020304" pitchFamily="18" charset="0"/>
                <a:cs typeface="Times New Roman" panose="02020603050405020304" pitchFamily="18" charset="0"/>
              </a:rPr>
              <a:t>A system has five processes and three allocated resources. The current allocation and request needs are as follows:</a:t>
            </a:r>
          </a:p>
        </p:txBody>
      </p:sp>
      <p:graphicFrame>
        <p:nvGraphicFramePr>
          <p:cNvPr id="11" name="Table 10"/>
          <p:cNvGraphicFramePr>
            <a:graphicFrameLocks noGrp="1"/>
          </p:cNvGraphicFramePr>
          <p:nvPr>
            <p:extLst>
              <p:ext uri="{D42A27DB-BD31-4B8C-83A1-F6EECF244321}">
                <p14:modId xmlns:p14="http://schemas.microsoft.com/office/powerpoint/2010/main" val="2488693786"/>
              </p:ext>
            </p:extLst>
          </p:nvPr>
        </p:nvGraphicFramePr>
        <p:xfrm>
          <a:off x="381000" y="2438400"/>
          <a:ext cx="8458200" cy="2378076"/>
        </p:xfrm>
        <a:graphic>
          <a:graphicData uri="http://schemas.openxmlformats.org/drawingml/2006/table">
            <a:tbl>
              <a:tblPr firstRow="1" bandRow="1">
                <a:tableStyleId>{073A0DAA-6AF3-43AB-8588-CEC1D06C72B9}</a:tableStyleId>
              </a:tblPr>
              <a:tblGrid>
                <a:gridCol w="2114550">
                  <a:extLst>
                    <a:ext uri="{9D8B030D-6E8A-4147-A177-3AD203B41FA5}">
                      <a16:colId xmlns:a16="http://schemas.microsoft.com/office/drawing/2014/main" val="20000"/>
                    </a:ext>
                  </a:extLst>
                </a:gridCol>
                <a:gridCol w="184785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396346">
                <a:tc>
                  <a:txBody>
                    <a:bodyPr/>
                    <a:lstStyle/>
                    <a:p>
                      <a:pPr algn="ctr"/>
                      <a:r>
                        <a:rPr lang="en-US" sz="2000" dirty="0">
                          <a:solidFill>
                            <a:schemeClr val="tx1"/>
                          </a:solidFill>
                          <a:latin typeface="Times New Roman" pitchFamily="18" charset="0"/>
                          <a:cs typeface="Times New Roman" pitchFamily="18" charset="0"/>
                        </a:rPr>
                        <a:t>Process</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Allocated</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Currently Request</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Available</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96346">
                <a:tc>
                  <a:txBody>
                    <a:bodyPr/>
                    <a:lstStyle/>
                    <a:p>
                      <a:pPr algn="ctr"/>
                      <a:r>
                        <a:rPr lang="en-US" sz="2000" dirty="0">
                          <a:solidFill>
                            <a:schemeClr val="tx1"/>
                          </a:solidFill>
                          <a:latin typeface="Times New Roman" pitchFamily="18" charset="0"/>
                          <a:cs typeface="Times New Roman" pitchFamily="18" charset="0"/>
                        </a:rPr>
                        <a:t>A</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010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000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100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96346">
                <a:tc>
                  <a:txBody>
                    <a:bodyPr/>
                    <a:lstStyle/>
                    <a:p>
                      <a:pPr algn="ctr"/>
                      <a:r>
                        <a:rPr lang="en-US" sz="2000" dirty="0">
                          <a:solidFill>
                            <a:schemeClr val="tx1"/>
                          </a:solidFill>
                          <a:latin typeface="Times New Roman" pitchFamily="18" charset="0"/>
                          <a:cs typeface="Times New Roman" pitchFamily="18" charset="0"/>
                        </a:rPr>
                        <a:t>B</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200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202</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646</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96346">
                <a:tc>
                  <a:txBody>
                    <a:bodyPr/>
                    <a:lstStyle/>
                    <a:p>
                      <a:pPr algn="ctr"/>
                      <a:r>
                        <a:rPr lang="en-US" sz="2000" dirty="0">
                          <a:solidFill>
                            <a:schemeClr val="tx1"/>
                          </a:solidFill>
                          <a:latin typeface="Times New Roman" pitchFamily="18" charset="0"/>
                          <a:cs typeface="Times New Roman" pitchFamily="18" charset="0"/>
                        </a:rPr>
                        <a:t>C</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303</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001</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321</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96346">
                <a:tc>
                  <a:txBody>
                    <a:bodyPr/>
                    <a:lstStyle/>
                    <a:p>
                      <a:pPr algn="ctr"/>
                      <a:r>
                        <a:rPr lang="en-US" sz="2000" dirty="0">
                          <a:solidFill>
                            <a:schemeClr val="tx1"/>
                          </a:solidFill>
                          <a:latin typeface="Times New Roman" pitchFamily="18" charset="0"/>
                          <a:cs typeface="Times New Roman" pitchFamily="18" charset="0"/>
                        </a:rPr>
                        <a:t>D</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211</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100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110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96346">
                <a:tc>
                  <a:txBody>
                    <a:bodyPr/>
                    <a:lstStyle/>
                    <a:p>
                      <a:pPr algn="ctr"/>
                      <a:r>
                        <a:rPr lang="en-US" sz="2000" dirty="0">
                          <a:solidFill>
                            <a:schemeClr val="tx1"/>
                          </a:solidFill>
                          <a:latin typeface="Times New Roman" pitchFamily="18" charset="0"/>
                          <a:cs typeface="Times New Roman" pitchFamily="18" charset="0"/>
                        </a:rPr>
                        <a:t>E</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022</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002</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chemeClr val="tx1"/>
                          </a:solidFill>
                          <a:latin typeface="Times New Roman" pitchFamily="18" charset="0"/>
                          <a:cs typeface="Times New Roman" pitchFamily="18" charset="0"/>
                        </a:rPr>
                        <a:t>624</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ox(in)">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ox(in)">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Deadlock Prevention </a:t>
            </a:r>
            <a:br>
              <a:rPr lang="en-US" altLang="en-US"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Attacking the Mutual Exclusion Condition</a:t>
            </a:r>
          </a:p>
        </p:txBody>
      </p:sp>
      <p:sp>
        <p:nvSpPr>
          <p:cNvPr id="48131" name="Rectangle 3"/>
          <p:cNvSpPr>
            <a:spLocks noGrp="1"/>
          </p:cNvSpPr>
          <p:nvPr>
            <p:ph type="body" sz="half" idx="4294967295"/>
          </p:nvPr>
        </p:nvSpPr>
        <p:spPr>
          <a:xfrm>
            <a:off x="228600" y="1066800"/>
            <a:ext cx="8915400" cy="5791200"/>
          </a:xfrm>
        </p:spPr>
        <p:txBody>
          <a:bodyPr/>
          <a:lstStyle/>
          <a:p>
            <a:pPr algn="just"/>
            <a:r>
              <a:rPr lang="en-US" altLang="en-US" sz="2800" b="1" dirty="0">
                <a:latin typeface="Times New Roman" panose="02020603050405020304" pitchFamily="18" charset="0"/>
                <a:cs typeface="Times New Roman" panose="02020603050405020304" pitchFamily="18" charset="0"/>
              </a:rPr>
              <a:t>Avoiding</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assigning</a:t>
            </a:r>
            <a:r>
              <a:rPr lang="en-US" altLang="en-US" sz="2800" dirty="0">
                <a:latin typeface="Times New Roman" panose="02020603050405020304" pitchFamily="18" charset="0"/>
                <a:cs typeface="Times New Roman" panose="02020603050405020304" pitchFamily="18" charset="0"/>
              </a:rPr>
              <a:t> a </a:t>
            </a:r>
            <a:r>
              <a:rPr lang="en-US" altLang="en-US" sz="2800" b="1" dirty="0">
                <a:latin typeface="Times New Roman" panose="02020603050405020304" pitchFamily="18" charset="0"/>
                <a:cs typeface="Times New Roman" panose="02020603050405020304" pitchFamily="18" charset="0"/>
              </a:rPr>
              <a:t>resource</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when</a:t>
            </a:r>
            <a:r>
              <a:rPr lang="en-US" altLang="en-US" sz="2800" dirty="0">
                <a:latin typeface="Times New Roman" panose="02020603050405020304" pitchFamily="18" charset="0"/>
                <a:cs typeface="Times New Roman" panose="02020603050405020304" pitchFamily="18" charset="0"/>
              </a:rPr>
              <a:t> that is </a:t>
            </a:r>
            <a:r>
              <a:rPr lang="en-US" altLang="en-US" sz="2800" b="1" dirty="0">
                <a:latin typeface="Times New Roman" panose="02020603050405020304" pitchFamily="18" charset="0"/>
                <a:cs typeface="Times New Roman" panose="02020603050405020304" pitchFamily="18" charset="0"/>
              </a:rPr>
              <a:t>not absolutely necessary</a:t>
            </a:r>
            <a:r>
              <a:rPr lang="en-US" altLang="en-US" sz="2800" dirty="0">
                <a:latin typeface="Times New Roman" panose="02020603050405020304" pitchFamily="18" charset="0"/>
                <a:cs typeface="Times New Roman" panose="02020603050405020304" pitchFamily="18" charset="0"/>
              </a:rPr>
              <a:t>, and</a:t>
            </a:r>
          </a:p>
          <a:p>
            <a:pPr algn="just"/>
            <a:r>
              <a:rPr lang="en-US" altLang="en-US" sz="2800" dirty="0">
                <a:latin typeface="Times New Roman" panose="02020603050405020304" pitchFamily="18" charset="0"/>
                <a:cs typeface="Times New Roman" panose="02020603050405020304" pitchFamily="18" charset="0"/>
              </a:rPr>
              <a:t>Try to </a:t>
            </a:r>
            <a:r>
              <a:rPr lang="en-US" altLang="en-US" sz="2800" b="1" dirty="0">
                <a:latin typeface="Times New Roman" panose="02020603050405020304" pitchFamily="18" charset="0"/>
                <a:cs typeface="Times New Roman" panose="02020603050405020304" pitchFamily="18" charset="0"/>
              </a:rPr>
              <a:t>make sure </a:t>
            </a:r>
            <a:r>
              <a:rPr lang="en-US" altLang="en-US" sz="2800" dirty="0">
                <a:latin typeface="Times New Roman" panose="02020603050405020304" pitchFamily="18" charset="0"/>
                <a:cs typeface="Times New Roman" panose="02020603050405020304" pitchFamily="18" charset="0"/>
              </a:rPr>
              <a:t>that as few processes as possible may actually claim the resource</a:t>
            </a:r>
          </a:p>
          <a:p>
            <a:pPr algn="just"/>
            <a:r>
              <a:rPr lang="en-US" altLang="en-US" sz="2800" b="1" dirty="0">
                <a:latin typeface="Times New Roman" panose="02020603050405020304" pitchFamily="18" charset="0"/>
                <a:cs typeface="Times New Roman" panose="02020603050405020304" pitchFamily="18" charset="0"/>
              </a:rPr>
              <a:t>Ex</a:t>
            </a:r>
          </a:p>
          <a:p>
            <a:pPr lvl="1" algn="just"/>
            <a:r>
              <a:rPr lang="en-US" altLang="en-US" sz="2400" dirty="0">
                <a:latin typeface="Times New Roman" panose="02020603050405020304" pitchFamily="18" charset="0"/>
                <a:cs typeface="Times New Roman" panose="02020603050405020304" pitchFamily="18" charset="0"/>
              </a:rPr>
              <a:t>spooling and daemon in printer (</a:t>
            </a:r>
            <a:r>
              <a:rPr lang="en-US" altLang="en-US" sz="2400" b="1" dirty="0">
                <a:latin typeface="Times New Roman" panose="02020603050405020304" pitchFamily="18" charset="0"/>
                <a:cs typeface="Times New Roman" panose="02020603050405020304" pitchFamily="18" charset="0"/>
              </a:rPr>
              <a:t>user software layer</a:t>
            </a:r>
            <a:r>
              <a:rPr lang="en-US" altLang="en-US" sz="2400" dirty="0">
                <a:latin typeface="Times New Roman" panose="02020603050405020304" pitchFamily="18" charset="0"/>
                <a:cs typeface="Times New Roman" panose="02020603050405020304" pitchFamily="18" charset="0"/>
              </a:rPr>
              <a:t>)</a:t>
            </a:r>
          </a:p>
          <a:p>
            <a:pPr marL="457200" lvl="1" indent="0" algn="just">
              <a:buNone/>
            </a:pPr>
            <a:r>
              <a:rPr lang="en-US" sz="1800" dirty="0"/>
              <a:t>Spooling works like a typical request queue where data, instructions and processes from multiple sources are accumulated for execution later on. Generally, it is maintained on computer’s physical memory, buffers or the I/O device-specific interrupts. The spool is processed in FIFO manner i.e. whatever first instruction is there in the queue will be popped and executed.</a:t>
            </a:r>
          </a:p>
          <a:p>
            <a:pPr marL="457200" lvl="1" indent="0" algn="just">
              <a:buNone/>
            </a:pPr>
            <a:r>
              <a:rPr lang="en-US" sz="1600" dirty="0"/>
              <a:t>Nowadays, the most common use of spooling is printing: </a:t>
            </a:r>
            <a:r>
              <a:rPr lang="en-US" sz="1600" dirty="0">
                <a:hlinkClick r:id="rId3" tooltip="Document"/>
              </a:rPr>
              <a:t>documents</a:t>
            </a:r>
            <a:r>
              <a:rPr lang="en-US" sz="1600" dirty="0"/>
              <a:t> formatted for printing are stored in a queue at the speed of the computer, then retrieved and printed at the speed of the printer. Multiple processes can write documents to the spool without waiting, and can then perform other tasks, while the "spooler" process operates the printer.</a:t>
            </a:r>
          </a:p>
          <a:p>
            <a:pPr lvl="1" algn="just"/>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animEffect transition="in" filter="box(in)">
                                      <p:cBhvr>
                                        <p:cTn id="7" dur="500"/>
                                        <p:tgtEl>
                                          <p:spTgt spid="4813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8131">
                                            <p:txEl>
                                              <p:pRg st="3" end="3"/>
                                            </p:txEl>
                                          </p:spTgt>
                                        </p:tgtEl>
                                        <p:attrNameLst>
                                          <p:attrName>style.visibility</p:attrName>
                                        </p:attrNameLst>
                                      </p:cBhvr>
                                      <p:to>
                                        <p:strVal val="visible"/>
                                      </p:to>
                                    </p:set>
                                    <p:animEffect transition="in" filter="box(in)">
                                      <p:cBhvr>
                                        <p:cTn id="12" dur="500"/>
                                        <p:tgtEl>
                                          <p:spTgt spid="4813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8131">
                                            <p:txEl>
                                              <p:pRg st="4" end="4"/>
                                            </p:txEl>
                                          </p:spTgt>
                                        </p:tgtEl>
                                        <p:attrNameLst>
                                          <p:attrName>style.visibility</p:attrName>
                                        </p:attrNameLst>
                                      </p:cBhvr>
                                      <p:to>
                                        <p:strVal val="visible"/>
                                      </p:to>
                                    </p:set>
                                    <p:animEffect transition="in" filter="box(in)">
                                      <p:cBhvr>
                                        <p:cTn id="17" dur="500"/>
                                        <p:tgtEl>
                                          <p:spTgt spid="4813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8131">
                                            <p:txEl>
                                              <p:pRg st="5" end="5"/>
                                            </p:txEl>
                                          </p:spTgt>
                                        </p:tgtEl>
                                        <p:attrNameLst>
                                          <p:attrName>style.visibility</p:attrName>
                                        </p:attrNameLst>
                                      </p:cBhvr>
                                      <p:to>
                                        <p:strVal val="visible"/>
                                      </p:to>
                                    </p:set>
                                    <p:animEffect transition="in" filter="box(in)">
                                      <p:cBhvr>
                                        <p:cTn id="22" dur="500"/>
                                        <p:tgtEl>
                                          <p:spTgt spid="481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Deadlock Prevention </a:t>
            </a:r>
            <a:br>
              <a:rPr lang="en-US" altLang="en-US"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Attacking the Hold and Wait Condition</a:t>
            </a:r>
          </a:p>
        </p:txBody>
      </p:sp>
      <p:sp>
        <p:nvSpPr>
          <p:cNvPr id="49155" name="Rectangle 3"/>
          <p:cNvSpPr>
            <a:spLocks noGrp="1"/>
          </p:cNvSpPr>
          <p:nvPr>
            <p:ph type="body" sz="half" idx="4294967295"/>
          </p:nvPr>
        </p:nvSpPr>
        <p:spPr>
          <a:xfrm>
            <a:off x="0" y="1066800"/>
            <a:ext cx="9144000" cy="5791200"/>
          </a:xfrm>
        </p:spPr>
        <p:txBody>
          <a:bodyPr/>
          <a:lstStyle/>
          <a:p>
            <a:pPr algn="just">
              <a:lnSpc>
                <a:spcPct val="80000"/>
              </a:lnSpc>
            </a:pPr>
            <a:r>
              <a:rPr lang="en-US" altLang="en-US" sz="2400" dirty="0">
                <a:latin typeface="Times New Roman" panose="02020603050405020304" pitchFamily="18" charset="0"/>
                <a:cs typeface="Times New Roman" panose="02020603050405020304" pitchFamily="18" charset="0"/>
              </a:rPr>
              <a:t>Must </a:t>
            </a:r>
            <a:r>
              <a:rPr lang="en-US" altLang="en-US" sz="2400" b="1" dirty="0">
                <a:latin typeface="Times New Roman" panose="02020603050405020304" pitchFamily="18" charset="0"/>
                <a:cs typeface="Times New Roman" panose="02020603050405020304" pitchFamily="18" charset="0"/>
              </a:rPr>
              <a:t>guarantee</a:t>
            </a:r>
            <a:r>
              <a:rPr lang="en-US" altLang="en-US" sz="2400" dirty="0">
                <a:latin typeface="Times New Roman" panose="02020603050405020304" pitchFamily="18" charset="0"/>
                <a:cs typeface="Times New Roman" panose="02020603050405020304" pitchFamily="18" charset="0"/>
              </a:rPr>
              <a:t> that </a:t>
            </a:r>
            <a:r>
              <a:rPr lang="en-US" altLang="en-US" sz="2400" b="1" dirty="0">
                <a:latin typeface="Times New Roman" panose="02020603050405020304" pitchFamily="18" charset="0"/>
                <a:cs typeface="Times New Roman" panose="02020603050405020304" pitchFamily="18" charset="0"/>
              </a:rPr>
              <a:t>whenever</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process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requests a resource</a:t>
            </a:r>
            <a:r>
              <a:rPr lang="en-US" altLang="en-US" sz="2400" dirty="0">
                <a:latin typeface="Times New Roman" panose="02020603050405020304" pitchFamily="18" charset="0"/>
                <a:cs typeface="Times New Roman" panose="02020603050405020304" pitchFamily="18" charset="0"/>
              </a:rPr>
              <a:t>, it </a:t>
            </a:r>
            <a:r>
              <a:rPr lang="en-US" altLang="en-US" sz="2400" b="1" dirty="0">
                <a:latin typeface="Times New Roman" panose="02020603050405020304" pitchFamily="18" charset="0"/>
                <a:cs typeface="Times New Roman" panose="02020603050405020304" pitchFamily="18" charset="0"/>
              </a:rPr>
              <a:t>does not hold any other resources</a:t>
            </a:r>
            <a:r>
              <a:rPr lang="en-US" altLang="en-US" sz="2400" dirty="0">
                <a:latin typeface="Times New Roman" panose="02020603050405020304" pitchFamily="18" charset="0"/>
                <a:cs typeface="Times New Roman" panose="02020603050405020304" pitchFamily="18" charset="0"/>
              </a:rPr>
              <a:t>, or</a:t>
            </a:r>
          </a:p>
          <a:p>
            <a:pPr algn="just">
              <a:lnSpc>
                <a:spcPct val="80000"/>
              </a:lnSpc>
            </a:pPr>
            <a:r>
              <a:rPr lang="en-US" altLang="en-US" sz="2400" b="1" dirty="0">
                <a:latin typeface="Times New Roman" panose="02020603050405020304" pitchFamily="18" charset="0"/>
                <a:cs typeface="Times New Roman" panose="02020603050405020304" pitchFamily="18" charset="0"/>
              </a:rPr>
              <a:t>Prevent</a:t>
            </a:r>
            <a:r>
              <a:rPr lang="en-US" altLang="en-US" sz="2400" dirty="0">
                <a:latin typeface="Times New Roman" panose="02020603050405020304" pitchFamily="18" charset="0"/>
                <a:cs typeface="Times New Roman" panose="02020603050405020304" pitchFamily="18" charset="0"/>
              </a:rPr>
              <a:t> process that </a:t>
            </a:r>
            <a:r>
              <a:rPr lang="en-US" altLang="en-US" sz="2400" b="1" dirty="0">
                <a:latin typeface="Times New Roman" panose="02020603050405020304" pitchFamily="18" charset="0"/>
                <a:cs typeface="Times New Roman" panose="02020603050405020304" pitchFamily="18" charset="0"/>
              </a:rPr>
              <a:t>holds resource from</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waiting</a:t>
            </a:r>
            <a:r>
              <a:rPr lang="en-US" altLang="en-US" sz="2400" dirty="0">
                <a:latin typeface="Times New Roman" panose="02020603050405020304" pitchFamily="18" charset="0"/>
                <a:cs typeface="Times New Roman" panose="02020603050405020304" pitchFamily="18" charset="0"/>
              </a:rPr>
              <a:t> for more resources</a:t>
            </a:r>
          </a:p>
          <a:p>
            <a:pPr algn="just">
              <a:lnSpc>
                <a:spcPct val="8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all process to request all their resources before starting execution</a:t>
            </a:r>
          </a:p>
          <a:p>
            <a:pPr lvl="1" algn="just">
              <a:lnSpc>
                <a:spcPct val="80000"/>
              </a:lnSpc>
            </a:pPr>
            <a:r>
              <a:rPr lang="en-US" altLang="en-US" sz="2000" dirty="0">
                <a:latin typeface="Times New Roman" panose="02020603050405020304" pitchFamily="18" charset="0"/>
                <a:cs typeface="Times New Roman" panose="02020603050405020304" pitchFamily="18" charset="0"/>
              </a:rPr>
              <a:t>If everything is available, the process will be allocated whatever it needs and can run to completion</a:t>
            </a:r>
          </a:p>
          <a:p>
            <a:pPr lvl="1" algn="just">
              <a:lnSpc>
                <a:spcPct val="80000"/>
              </a:lnSpc>
            </a:pPr>
            <a:r>
              <a:rPr lang="en-US" altLang="en-US" sz="2000" dirty="0">
                <a:latin typeface="Times New Roman" panose="02020603050405020304" pitchFamily="18" charset="0"/>
                <a:cs typeface="Times New Roman" panose="02020603050405020304" pitchFamily="18" charset="0"/>
              </a:rPr>
              <a:t>If one ore more resources are busy, nothing will be allocated and the process would just wait</a:t>
            </a:r>
          </a:p>
          <a:p>
            <a:pPr algn="just">
              <a:lnSpc>
                <a:spcPct val="80000"/>
              </a:lnSpc>
            </a:pPr>
            <a:r>
              <a:rPr lang="en-US" altLang="en-US" sz="2400" b="1" dirty="0">
                <a:latin typeface="Times New Roman" panose="02020603050405020304" pitchFamily="18" charset="0"/>
                <a:cs typeface="Times New Roman" panose="02020603050405020304" pitchFamily="18" charset="0"/>
              </a:rPr>
              <a:t>Problems</a:t>
            </a:r>
          </a:p>
          <a:p>
            <a:pPr lvl="1" algn="just">
              <a:lnSpc>
                <a:spcPct val="80000"/>
              </a:lnSpc>
            </a:pPr>
            <a:r>
              <a:rPr lang="en-US" altLang="en-US" sz="2000" dirty="0">
                <a:latin typeface="Times New Roman" panose="02020603050405020304" pitchFamily="18" charset="0"/>
                <a:cs typeface="Times New Roman" panose="02020603050405020304" pitchFamily="18" charset="0"/>
              </a:rPr>
              <a:t>Many process </a:t>
            </a:r>
            <a:r>
              <a:rPr lang="en-US" altLang="en-US" sz="2000" b="1" dirty="0">
                <a:latin typeface="Times New Roman" panose="02020603050405020304" pitchFamily="18" charset="0"/>
                <a:cs typeface="Times New Roman" panose="02020603050405020304" pitchFamily="18" charset="0"/>
              </a:rPr>
              <a:t>do not know how many resources they</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will need until they have started running</a:t>
            </a:r>
          </a:p>
          <a:p>
            <a:pPr lvl="1" algn="just">
              <a:lnSpc>
                <a:spcPct val="80000"/>
              </a:lnSpc>
            </a:pPr>
            <a:r>
              <a:rPr lang="en-US" altLang="en-US" sz="2000" dirty="0">
                <a:latin typeface="Times New Roman" panose="02020603050405020304" pitchFamily="18" charset="0"/>
                <a:cs typeface="Times New Roman" panose="02020603050405020304" pitchFamily="18" charset="0"/>
              </a:rPr>
              <a:t>Resources will </a:t>
            </a:r>
            <a:r>
              <a:rPr lang="en-US" altLang="en-US" sz="2000" b="1" dirty="0">
                <a:latin typeface="Times New Roman" panose="02020603050405020304" pitchFamily="18" charset="0"/>
                <a:cs typeface="Times New Roman" panose="02020603050405020304" pitchFamily="18" charset="0"/>
              </a:rPr>
              <a:t>not be used optimally</a:t>
            </a:r>
          </a:p>
          <a:p>
            <a:pPr algn="just">
              <a:lnSpc>
                <a:spcPct val="80000"/>
              </a:lnSpc>
            </a:pPr>
            <a:r>
              <a:rPr lang="en-US" altLang="en-US" sz="2400" b="1" dirty="0">
                <a:latin typeface="Times New Roman" panose="02020603050405020304" pitchFamily="18" charset="0"/>
                <a:cs typeface="Times New Roman" panose="02020603050405020304" pitchFamily="18" charset="0"/>
              </a:rPr>
              <a:t>Disadvantages</a:t>
            </a:r>
            <a:r>
              <a:rPr lang="en-US" altLang="en-US" sz="2400" dirty="0">
                <a:latin typeface="Times New Roman" panose="02020603050405020304" pitchFamily="18" charset="0"/>
                <a:cs typeface="Times New Roman" panose="02020603050405020304" pitchFamily="18" charset="0"/>
              </a:rPr>
              <a:t>: put a burden on the programmer and waste resource</a:t>
            </a:r>
          </a:p>
          <a:p>
            <a:pPr algn="just">
              <a:lnSpc>
                <a:spcPct val="80000"/>
              </a:lnSpc>
            </a:pPr>
            <a:r>
              <a:rPr lang="en-US" altLang="en-US" sz="2400" b="1" dirty="0">
                <a:latin typeface="Times New Roman" panose="02020603050405020304" pitchFamily="18" charset="0"/>
                <a:cs typeface="Times New Roman" panose="02020603050405020304" pitchFamily="18" charset="0"/>
              </a:rPr>
              <a:t>Advantages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prevent</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deadlocks</a:t>
            </a:r>
            <a:r>
              <a:rPr lang="en-US" altLang="en-US" sz="2400" dirty="0">
                <a:latin typeface="Times New Roman" panose="02020603050405020304" pitchFamily="18" charset="0"/>
                <a:cs typeface="Times New Roman" panose="02020603050405020304" pitchFamily="18" charset="0"/>
              </a:rPr>
              <a:t> and can be applied to batch system</a:t>
            </a:r>
          </a:p>
          <a:p>
            <a:pPr algn="just">
              <a:lnSpc>
                <a:spcPct val="80000"/>
              </a:lnSpc>
            </a:pPr>
            <a:r>
              <a:rPr lang="en-US" altLang="en-US" sz="2400" b="1" dirty="0">
                <a:latin typeface="Times New Roman" panose="02020603050405020304" pitchFamily="18" charset="0"/>
                <a:cs typeface="Times New Roman" panose="02020603050405020304" pitchFamily="18" charset="0"/>
              </a:rPr>
              <a:t>Others</a:t>
            </a:r>
            <a:r>
              <a:rPr lang="en-US" altLang="en-US" sz="2400" dirty="0">
                <a:latin typeface="Times New Roman" panose="02020603050405020304" pitchFamily="18" charset="0"/>
                <a:cs typeface="Times New Roman" panose="02020603050405020304" pitchFamily="18" charset="0"/>
              </a:rPr>
              <a:t>: require a process requesting a resource to f</a:t>
            </a:r>
            <a:r>
              <a:rPr lang="en-US" altLang="en-US" sz="2400" b="1" dirty="0">
                <a:latin typeface="Times New Roman" panose="02020603050405020304" pitchFamily="18" charset="0"/>
                <a:cs typeface="Times New Roman" panose="02020603050405020304" pitchFamily="18" charset="0"/>
              </a:rPr>
              <a:t>irst temporarily release all the resource it currently holds</a:t>
            </a:r>
            <a:r>
              <a:rPr lang="en-US" altLang="en-US" sz="2400" dirty="0">
                <a:latin typeface="Times New Roman" panose="02020603050405020304" pitchFamily="18" charset="0"/>
                <a:cs typeface="Times New Roman" panose="02020603050405020304" pitchFamily="18" charset="0"/>
              </a:rPr>
              <a:t>, then </a:t>
            </a:r>
            <a:r>
              <a:rPr lang="en-US" altLang="en-US" sz="2400" b="1" dirty="0">
                <a:latin typeface="Times New Roman" panose="02020603050405020304" pitchFamily="18" charset="0"/>
                <a:cs typeface="Times New Roman" panose="02020603050405020304" pitchFamily="18" charset="0"/>
              </a:rPr>
              <a:t>it tries to get everything it needs all at one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Effect transition="in" filter="checkerboard(across)">
                                      <p:cBhvr>
                                        <p:cTn id="7" dur="500"/>
                                        <p:tgtEl>
                                          <p:spTgt spid="4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Deadlock Prevention </a:t>
            </a:r>
            <a:br>
              <a:rPr lang="en-US" altLang="en-US"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Attacking the No Preemption Condition</a:t>
            </a:r>
          </a:p>
        </p:txBody>
      </p:sp>
      <p:sp>
        <p:nvSpPr>
          <p:cNvPr id="23555" name="Rectangle 3"/>
          <p:cNvSpPr>
            <a:spLocks noGrp="1"/>
          </p:cNvSpPr>
          <p:nvPr>
            <p:ph type="body" sz="half" idx="4294967295"/>
          </p:nvPr>
        </p:nvSpPr>
        <p:spPr>
          <a:xfrm>
            <a:off x="0" y="1143000"/>
            <a:ext cx="9144000" cy="5715000"/>
          </a:xfrm>
        </p:spPr>
        <p:txBody>
          <a:bodyPr/>
          <a:lstStyle/>
          <a:p>
            <a:pPr algn="just"/>
            <a:r>
              <a:rPr lang="en-US" altLang="en-US" sz="2800" dirty="0">
                <a:latin typeface="Times New Roman" panose="02020603050405020304" pitchFamily="18" charset="0"/>
                <a:cs typeface="Times New Roman" panose="02020603050405020304" pitchFamily="18" charset="0"/>
              </a:rPr>
              <a:t>If a process that is </a:t>
            </a:r>
            <a:r>
              <a:rPr lang="en-US" altLang="en-US" sz="2800" b="1" dirty="0">
                <a:latin typeface="Times New Roman" panose="02020603050405020304" pitchFamily="18" charset="0"/>
                <a:cs typeface="Times New Roman" panose="02020603050405020304" pitchFamily="18" charset="0"/>
              </a:rPr>
              <a:t>holding some resources requests another resource that cannot be immediately allocated to it</a:t>
            </a:r>
            <a:r>
              <a:rPr lang="en-US" altLang="en-US" sz="2800" dirty="0">
                <a:latin typeface="Times New Roman" panose="02020603050405020304" pitchFamily="18" charset="0"/>
                <a:cs typeface="Times New Roman" panose="02020603050405020304" pitchFamily="18" charset="0"/>
              </a:rPr>
              <a:t>, then </a:t>
            </a:r>
            <a:r>
              <a:rPr lang="en-US" altLang="en-US" sz="2800" b="1" dirty="0">
                <a:latin typeface="Times New Roman" panose="02020603050405020304" pitchFamily="18" charset="0"/>
                <a:cs typeface="Times New Roman" panose="02020603050405020304" pitchFamily="18" charset="0"/>
              </a:rPr>
              <a:t>all resources currently being held are released</a:t>
            </a:r>
          </a:p>
          <a:p>
            <a:pPr algn="just"/>
            <a:r>
              <a:rPr lang="en-US" altLang="en-US" sz="2800" dirty="0">
                <a:latin typeface="Times New Roman" panose="02020603050405020304" pitchFamily="18" charset="0"/>
                <a:cs typeface="Times New Roman" panose="02020603050405020304" pitchFamily="18" charset="0"/>
              </a:rPr>
              <a:t>Preempted resources </a:t>
            </a:r>
            <a:r>
              <a:rPr lang="en-US" altLang="en-US" sz="2800" b="1" dirty="0">
                <a:latin typeface="Times New Roman" panose="02020603050405020304" pitchFamily="18" charset="0"/>
                <a:cs typeface="Times New Roman" panose="02020603050405020304" pitchFamily="18" charset="0"/>
              </a:rPr>
              <a:t>are added to the list of resources </a:t>
            </a:r>
            <a:r>
              <a:rPr lang="en-US" altLang="en-US" sz="2800" dirty="0">
                <a:latin typeface="Times New Roman" panose="02020603050405020304" pitchFamily="18" charset="0"/>
                <a:cs typeface="Times New Roman" panose="02020603050405020304" pitchFamily="18" charset="0"/>
              </a:rPr>
              <a:t>for which the process is waiting</a:t>
            </a:r>
          </a:p>
          <a:p>
            <a:pPr algn="just"/>
            <a:r>
              <a:rPr lang="en-US" altLang="en-US" sz="2800" dirty="0">
                <a:latin typeface="Times New Roman" panose="02020603050405020304" pitchFamily="18" charset="0"/>
                <a:cs typeface="Times New Roman" panose="02020603050405020304" pitchFamily="18" charset="0"/>
              </a:rPr>
              <a:t>Process </a:t>
            </a:r>
            <a:r>
              <a:rPr lang="en-US" altLang="en-US" sz="2800" b="1" dirty="0">
                <a:latin typeface="Times New Roman" panose="02020603050405020304" pitchFamily="18" charset="0"/>
                <a:cs typeface="Times New Roman" panose="02020603050405020304" pitchFamily="18" charset="0"/>
              </a:rPr>
              <a:t>will be restarted only when it can regain its old resources</a:t>
            </a:r>
            <a:r>
              <a:rPr lang="en-US" altLang="en-US" sz="2800" dirty="0">
                <a:latin typeface="Times New Roman" panose="02020603050405020304" pitchFamily="18" charset="0"/>
                <a:cs typeface="Times New Roman" panose="02020603050405020304" pitchFamily="18" charset="0"/>
              </a:rPr>
              <a:t>, as well as the new ones that it is requesting</a:t>
            </a:r>
          </a:p>
          <a:p>
            <a:pPr algn="just"/>
            <a:r>
              <a:rPr lang="en-US" altLang="en-US" sz="2800" dirty="0">
                <a:latin typeface="Times New Roman" panose="02020603050405020304" pitchFamily="18" charset="0"/>
                <a:cs typeface="Times New Roman" panose="02020603050405020304" pitchFamily="18" charset="0"/>
              </a:rPr>
              <a:t>Some recourse can be virtualized to avoid the first condition such as spooling and daemon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Deadlock Prevention </a:t>
            </a:r>
            <a:br>
              <a:rPr lang="en-US" altLang="en-US"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Attacking the Circular Wait Condition</a:t>
            </a:r>
          </a:p>
        </p:txBody>
      </p:sp>
      <p:sp>
        <p:nvSpPr>
          <p:cNvPr id="24579" name="Rectangle 3"/>
          <p:cNvSpPr>
            <a:spLocks noGrp="1"/>
          </p:cNvSpPr>
          <p:nvPr>
            <p:ph type="body" sz="half" idx="4294967295"/>
          </p:nvPr>
        </p:nvSpPr>
        <p:spPr>
          <a:xfrm>
            <a:off x="0" y="1219200"/>
            <a:ext cx="9144000" cy="5638800"/>
          </a:xfrm>
        </p:spPr>
        <p:txBody>
          <a:bodyPr/>
          <a:lstStyle/>
          <a:p>
            <a:pPr algn="just"/>
            <a:r>
              <a:rPr lang="en-US" altLang="en-US" sz="2800" b="1">
                <a:latin typeface="Times New Roman" panose="02020603050405020304" pitchFamily="18" charset="0"/>
                <a:cs typeface="Times New Roman" panose="02020603050405020304" pitchFamily="18" charset="0"/>
              </a:rPr>
              <a:t>First approach</a:t>
            </a:r>
          </a:p>
          <a:p>
            <a:pPr lvl="1" algn="just"/>
            <a:r>
              <a:rPr lang="en-US" altLang="en-US" sz="2400">
                <a:latin typeface="Times New Roman" panose="02020603050405020304" pitchFamily="18" charset="0"/>
                <a:cs typeface="Times New Roman" panose="02020603050405020304" pitchFamily="18" charset="0"/>
              </a:rPr>
              <a:t>A process is entitled only to a single resource at the moment. </a:t>
            </a:r>
          </a:p>
          <a:p>
            <a:pPr lvl="1" algn="just"/>
            <a:r>
              <a:rPr lang="en-US" altLang="en-US" sz="2400">
                <a:latin typeface="Times New Roman" panose="02020603050405020304" pitchFamily="18" charset="0"/>
                <a:cs typeface="Times New Roman" panose="02020603050405020304" pitchFamily="18" charset="0"/>
              </a:rPr>
              <a:t>If it needs a second one, it must release the first one</a:t>
            </a:r>
          </a:p>
          <a:p>
            <a:pPr lvl="1"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→if a process needs to copy a huge file from a tape to a printer, this restriction is unacceptable</a:t>
            </a:r>
          </a:p>
          <a:p>
            <a:pPr algn="just"/>
            <a:r>
              <a:rPr lang="en-US" altLang="en-US" sz="2800" b="1">
                <a:latin typeface="Times New Roman" panose="02020603050405020304" pitchFamily="18" charset="0"/>
                <a:cs typeface="Times New Roman" panose="02020603050405020304" pitchFamily="18" charset="0"/>
              </a:rPr>
              <a:t>Second approach</a:t>
            </a:r>
          </a:p>
          <a:p>
            <a:pPr lvl="1" algn="just"/>
            <a:r>
              <a:rPr lang="en-US" altLang="en-US" sz="2400">
                <a:latin typeface="Times New Roman" panose="02020603050405020304" pitchFamily="18" charset="0"/>
                <a:cs typeface="Times New Roman" panose="02020603050405020304" pitchFamily="18" charset="0"/>
              </a:rPr>
              <a:t>Provide a global numbering of the resources</a:t>
            </a:r>
          </a:p>
          <a:p>
            <a:pPr lvl="1" algn="just"/>
            <a:r>
              <a:rPr lang="en-US" altLang="en-US" sz="2400">
                <a:latin typeface="Times New Roman" panose="02020603050405020304" pitchFamily="18" charset="0"/>
                <a:cs typeface="Times New Roman" panose="02020603050405020304" pitchFamily="18" charset="0"/>
              </a:rPr>
              <a:t>Process can request resources whenever they want to, but all requests must be made in numerical order</a:t>
            </a:r>
          </a:p>
          <a:p>
            <a:pPr lvl="1"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the resource allocation graph can never have cycles but the numerically ordering the resources may be impossible to find an ordering that satisfies every ones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0" y="76200"/>
            <a:ext cx="9144000" cy="762000"/>
          </a:xfrm>
        </p:spPr>
        <p:txBody>
          <a:bodyPr/>
          <a:lstStyle/>
          <a:p>
            <a:r>
              <a:rPr lang="en-US" altLang="en-US" sz="6600" b="1">
                <a:latin typeface="Times New Roman" panose="02020603050405020304" pitchFamily="18" charset="0"/>
                <a:cs typeface="Times New Roman" panose="02020603050405020304" pitchFamily="18" charset="0"/>
              </a:rPr>
              <a:t> </a:t>
            </a:r>
            <a:r>
              <a:rPr lang="en-US" altLang="en-US" sz="4000" b="1">
                <a:latin typeface="Times New Roman" panose="02020603050405020304" pitchFamily="18" charset="0"/>
                <a:cs typeface="Times New Roman" panose="02020603050405020304" pitchFamily="18" charset="0"/>
              </a:rPr>
              <a:t>Deadlock Prevention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Attacking the Circular Wait Condition</a:t>
            </a:r>
          </a:p>
        </p:txBody>
      </p:sp>
      <p:pic>
        <p:nvPicPr>
          <p:cNvPr id="256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19200"/>
            <a:ext cx="7373938"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370" name="Text Box 4"/>
          <p:cNvSpPr txBox="1">
            <a:spLocks noChangeArrowheads="1"/>
          </p:cNvSpPr>
          <p:nvPr/>
        </p:nvSpPr>
        <p:spPr bwMode="auto">
          <a:xfrm>
            <a:off x="3886200" y="3505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6-13.</a:t>
            </a:r>
          </a:p>
        </p:txBody>
      </p:sp>
      <p:sp>
        <p:nvSpPr>
          <p:cNvPr id="25605" name="Rectangle 3"/>
          <p:cNvSpPr>
            <a:spLocks/>
          </p:cNvSpPr>
          <p:nvPr/>
        </p:nvSpPr>
        <p:spPr bwMode="auto">
          <a:xfrm>
            <a:off x="0" y="3886200"/>
            <a:ext cx="9144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spcBef>
                <a:spcPct val="20000"/>
              </a:spcBef>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Deadlock occurs only if A request j and B request i (i ≠ j)</a:t>
            </a:r>
          </a:p>
          <a:p>
            <a:pPr lvl="1" algn="just">
              <a:spcBef>
                <a:spcPct val="20000"/>
              </a:spcBef>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If i&gt;j, the A is not allowed to request j because that is lower than what it already has</a:t>
            </a:r>
          </a:p>
          <a:p>
            <a:pPr lvl="1" algn="just">
              <a:spcBef>
                <a:spcPct val="20000"/>
              </a:spcBef>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If i&lt;j, the B is not allowed to request i because that is lower than what is already has</a:t>
            </a:r>
          </a:p>
          <a:p>
            <a:pPr lvl="1" algn="just">
              <a:spcBef>
                <a:spcPct val="20000"/>
              </a:spcBef>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 deadlock is impossible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Deadlock Prevention</a:t>
            </a:r>
            <a:r>
              <a:rPr lang="en-US" altLang="en-US" b="1">
                <a:latin typeface="Times New Roman" panose="02020603050405020304" pitchFamily="18" charset="0"/>
                <a:cs typeface="Times New Roman" panose="02020603050405020304" pitchFamily="18" charset="0"/>
              </a:rPr>
              <a:t> </a:t>
            </a:r>
            <a:br>
              <a:rPr lang="en-US" altLang="en-US" sz="48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Attacking the Circular Wait Condition</a:t>
            </a:r>
          </a:p>
        </p:txBody>
      </p:sp>
      <p:sp>
        <p:nvSpPr>
          <p:cNvPr id="26627" name="Rectangle 3"/>
          <p:cNvSpPr>
            <a:spLocks noGrp="1"/>
          </p:cNvSpPr>
          <p:nvPr>
            <p:ph type="body" sz="half" idx="4294967295"/>
          </p:nvPr>
        </p:nvSpPr>
        <p:spPr>
          <a:xfrm>
            <a:off x="0" y="1219200"/>
            <a:ext cx="9144000" cy="5638800"/>
          </a:xfrm>
        </p:spPr>
        <p:txBody>
          <a:bodyPr/>
          <a:lstStyle/>
          <a:p>
            <a:pPr algn="just"/>
            <a:r>
              <a:rPr lang="en-US" altLang="en-US" sz="2800" dirty="0">
                <a:latin typeface="Times New Roman" panose="02020603050405020304" pitchFamily="18" charset="0"/>
                <a:cs typeface="Times New Roman" panose="02020603050405020304" pitchFamily="18" charset="0"/>
              </a:rPr>
              <a:t>With more than two processes</a:t>
            </a:r>
          </a:p>
          <a:p>
            <a:pPr lvl="1" algn="just"/>
            <a:r>
              <a:rPr lang="en-US" altLang="en-US" sz="2400" dirty="0">
                <a:latin typeface="Times New Roman" panose="02020603050405020304" pitchFamily="18" charset="0"/>
                <a:cs typeface="Times New Roman" panose="02020603050405020304" pitchFamily="18" charset="0"/>
              </a:rPr>
              <a:t>At every instant, one of the assigned resources will be highest</a:t>
            </a:r>
          </a:p>
          <a:p>
            <a:pPr lvl="1" algn="just"/>
            <a:r>
              <a:rPr lang="en-US" altLang="en-US" sz="2400" dirty="0">
                <a:latin typeface="Times New Roman" panose="02020603050405020304" pitchFamily="18" charset="0"/>
                <a:cs typeface="Times New Roman" panose="02020603050405020304" pitchFamily="18" charset="0"/>
              </a:rPr>
              <a:t>The process holding that resource will never ask for a resource already assigned</a:t>
            </a:r>
          </a:p>
          <a:p>
            <a:pPr lvl="1" algn="just"/>
            <a:r>
              <a:rPr lang="en-US" altLang="en-US" sz="2400" dirty="0">
                <a:latin typeface="Times New Roman" panose="02020603050405020304" pitchFamily="18" charset="0"/>
                <a:cs typeface="Times New Roman" panose="02020603050405020304" pitchFamily="18" charset="0"/>
              </a:rPr>
              <a:t>It will either finish, or at worst, request even higher numbered resources, all of which are available</a:t>
            </a:r>
          </a:p>
          <a:p>
            <a:pPr lvl="1" algn="just"/>
            <a:r>
              <a:rPr lang="en-US" altLang="en-US" sz="2400" dirty="0">
                <a:latin typeface="Times New Roman" panose="02020603050405020304" pitchFamily="18" charset="0"/>
                <a:cs typeface="Times New Roman" panose="02020603050405020304" pitchFamily="18" charset="0"/>
              </a:rPr>
              <a:t>Eventually, it will finish and free resources. At this point, some other process will hold the highest resource and can also finish</a:t>
            </a:r>
          </a:p>
          <a:p>
            <a:pPr lvl="1" algn="just"/>
            <a:r>
              <a:rPr lang="en-US" altLang="en-US" sz="2400" dirty="0">
                <a:latin typeface="Times New Roman" panose="02020603050405020304" pitchFamily="18" charset="0"/>
                <a:cs typeface="Times New Roman" panose="02020603050405020304" pitchFamily="18" charset="0"/>
              </a:rPr>
              <a:t>→all processes finish, so no deadlock occurs</a:t>
            </a:r>
          </a:p>
          <a:p>
            <a:pPr algn="just"/>
            <a:r>
              <a:rPr lang="en-US" altLang="en-US" sz="2800" dirty="0">
                <a:latin typeface="Times New Roman" panose="02020603050405020304" pitchFamily="18" charset="0"/>
                <a:cs typeface="Times New Roman" panose="02020603050405020304" pitchFamily="18" charset="0"/>
              </a:rPr>
              <a:t>A minor variation of the algorithm</a:t>
            </a:r>
          </a:p>
          <a:p>
            <a:pPr lvl="1" algn="just"/>
            <a:r>
              <a:rPr lang="en-US" altLang="en-US" sz="2400" dirty="0">
                <a:latin typeface="Times New Roman" panose="02020603050405020304" pitchFamily="18" charset="0"/>
                <a:cs typeface="Times New Roman" panose="02020603050405020304" pitchFamily="18" charset="0"/>
              </a:rPr>
              <a:t>Drop the requirement that resource be acquired in strictly increasing sequence and merely insist that no process request a resource lower than what it is already holding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0" y="152400"/>
            <a:ext cx="9144000" cy="762000"/>
          </a:xfrm>
        </p:spPr>
        <p:txBody>
          <a:bodyPr/>
          <a:lstStyle/>
          <a:p>
            <a:r>
              <a:rPr lang="en-US" altLang="en-US" sz="4000" b="1">
                <a:latin typeface="Times New Roman" panose="02020603050405020304" pitchFamily="18" charset="0"/>
                <a:cs typeface="Times New Roman" panose="02020603050405020304" pitchFamily="18" charset="0"/>
              </a:rPr>
              <a:t> Deadlock Prevention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Summarized</a:t>
            </a:r>
          </a:p>
        </p:txBody>
      </p:sp>
      <p:sp>
        <p:nvSpPr>
          <p:cNvPr id="160370" name="Text Box 4"/>
          <p:cNvSpPr txBox="1">
            <a:spLocks noChangeArrowheads="1"/>
          </p:cNvSpPr>
          <p:nvPr/>
        </p:nvSpPr>
        <p:spPr bwMode="auto">
          <a:xfrm>
            <a:off x="3581400" y="5562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6-14.</a:t>
            </a:r>
          </a:p>
        </p:txBody>
      </p:sp>
      <p:pic>
        <p:nvPicPr>
          <p:cNvPr id="2" name="Picture 1">
            <a:extLst>
              <a:ext uri="{FF2B5EF4-FFF2-40B4-BE49-F238E27FC236}">
                <a16:creationId xmlns:a16="http://schemas.microsoft.com/office/drawing/2014/main" id="{7F097A8A-8122-47F6-BDC0-0CC6CABA2AAA}"/>
              </a:ext>
            </a:extLst>
          </p:cNvPr>
          <p:cNvPicPr>
            <a:picLocks noChangeAspect="1"/>
          </p:cNvPicPr>
          <p:nvPr/>
        </p:nvPicPr>
        <p:blipFill>
          <a:blip r:embed="rId3"/>
          <a:stretch>
            <a:fillRect/>
          </a:stretch>
        </p:blipFill>
        <p:spPr>
          <a:xfrm>
            <a:off x="614362" y="1371600"/>
            <a:ext cx="7829550" cy="3962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Other Issues</a:t>
            </a:r>
            <a:r>
              <a:rPr lang="en-US" altLang="en-US" b="1" dirty="0">
                <a:latin typeface="Times New Roman" panose="02020603050405020304" pitchFamily="18" charset="0"/>
                <a:cs typeface="Times New Roman" panose="02020603050405020304" pitchFamily="18" charset="0"/>
              </a:rPr>
              <a:t> </a:t>
            </a:r>
            <a:br>
              <a:rPr lang="en-US" altLang="en-US" sz="48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Two-Phase Locking</a:t>
            </a:r>
          </a:p>
        </p:txBody>
      </p:sp>
      <p:sp>
        <p:nvSpPr>
          <p:cNvPr id="28675" name="Rectangle 3"/>
          <p:cNvSpPr>
            <a:spLocks noGrp="1"/>
          </p:cNvSpPr>
          <p:nvPr>
            <p:ph type="body" sz="half" idx="4294967295"/>
          </p:nvPr>
        </p:nvSpPr>
        <p:spPr>
          <a:xfrm>
            <a:off x="0" y="1219200"/>
            <a:ext cx="9144000" cy="5638800"/>
          </a:xfrm>
        </p:spPr>
        <p:txBody>
          <a:bodyPr/>
          <a:lstStyle/>
          <a:p>
            <a:pPr algn="just">
              <a:lnSpc>
                <a:spcPct val="80000"/>
              </a:lnSpc>
            </a:pPr>
            <a:r>
              <a:rPr lang="en-US" altLang="en-US" sz="2400" b="1" dirty="0">
                <a:latin typeface="Times New Roman" panose="02020603050405020304" pitchFamily="18" charset="0"/>
                <a:cs typeface="Times New Roman" panose="02020603050405020304" pitchFamily="18" charset="0"/>
              </a:rPr>
              <a:t>Context</a:t>
            </a:r>
          </a:p>
          <a:p>
            <a:pPr lvl="1" algn="just">
              <a:lnSpc>
                <a:spcPct val="80000"/>
              </a:lnSpc>
            </a:pPr>
            <a:r>
              <a:rPr lang="en-US" altLang="en-US" sz="2000" dirty="0">
                <a:latin typeface="Times New Roman" panose="02020603050405020304" pitchFamily="18" charset="0"/>
                <a:cs typeface="Times New Roman" panose="02020603050405020304" pitchFamily="18" charset="0"/>
              </a:rPr>
              <a:t>In many DB systems, an operation that occurs frequently is requesting locks on several records and then updating all the locked records</a:t>
            </a:r>
          </a:p>
          <a:p>
            <a:pPr lvl="1" algn="just">
              <a:lnSpc>
                <a:spcPct val="80000"/>
              </a:lnSpc>
            </a:pPr>
            <a:r>
              <a:rPr lang="en-US" altLang="en-US" sz="2000" dirty="0">
                <a:latin typeface="Times New Roman" panose="02020603050405020304" pitchFamily="18" charset="0"/>
                <a:cs typeface="Times New Roman" panose="02020603050405020304" pitchFamily="18" charset="0"/>
              </a:rPr>
              <a:t>When multiple processes are running at the same time, there is a real danger of deadlock</a:t>
            </a:r>
          </a:p>
          <a:p>
            <a:pPr algn="just">
              <a:lnSpc>
                <a:spcPct val="80000"/>
              </a:lnSpc>
            </a:pPr>
            <a:r>
              <a:rPr lang="en-US" altLang="en-US" sz="2400" b="1" dirty="0">
                <a:latin typeface="Times New Roman" panose="02020603050405020304" pitchFamily="18" charset="0"/>
                <a:cs typeface="Times New Roman" panose="02020603050405020304" pitchFamily="18" charset="0"/>
              </a:rPr>
              <a:t>Two-phase locking</a:t>
            </a:r>
          </a:p>
          <a:p>
            <a:pPr lvl="1" algn="just">
              <a:lnSpc>
                <a:spcPct val="80000"/>
              </a:lnSpc>
            </a:pPr>
            <a:r>
              <a:rPr lang="en-US" altLang="en-US" sz="2000" dirty="0">
                <a:latin typeface="Times New Roman" panose="02020603050405020304" pitchFamily="18" charset="0"/>
                <a:cs typeface="Times New Roman" panose="02020603050405020304" pitchFamily="18" charset="0"/>
              </a:rPr>
              <a:t>First phase, the process tries to lock all records it needs, one at a time.</a:t>
            </a:r>
          </a:p>
          <a:p>
            <a:pPr lvl="1" algn="just">
              <a:lnSpc>
                <a:spcPct val="80000"/>
              </a:lnSpc>
            </a:pPr>
            <a:r>
              <a:rPr lang="en-US" altLang="en-US" sz="2000" dirty="0">
                <a:latin typeface="Times New Roman" panose="02020603050405020304" pitchFamily="18" charset="0"/>
                <a:cs typeface="Times New Roman" panose="02020603050405020304" pitchFamily="18" charset="0"/>
              </a:rPr>
              <a:t>If it succeeds, it begins the second phase, performing its updates and releasing the locks (then starts the first phase all over)</a:t>
            </a:r>
          </a:p>
          <a:p>
            <a:pPr lvl="1" algn="just">
              <a:lnSpc>
                <a:spcPct val="80000"/>
              </a:lnSpc>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→request all the resources needed in advance, or at least before irreversible is done</a:t>
            </a:r>
          </a:p>
          <a:p>
            <a:pPr lvl="1" algn="just">
              <a:lnSpc>
                <a:spcPct val="80000"/>
              </a:lnSpc>
            </a:pPr>
            <a:r>
              <a:rPr lang="en-US" altLang="en-US" sz="2000" dirty="0">
                <a:latin typeface="Times New Roman" panose="02020603050405020304" pitchFamily="18" charset="0"/>
                <a:cs typeface="Times New Roman" panose="02020603050405020304" pitchFamily="18" charset="0"/>
              </a:rPr>
              <a:t>There is no release and restart of a locked record is encountered during the first phase → deadlock can occur</a:t>
            </a:r>
          </a:p>
          <a:p>
            <a:pPr algn="just">
              <a:lnSpc>
                <a:spcPct val="80000"/>
              </a:lnSpc>
            </a:pPr>
            <a:r>
              <a:rPr lang="en-US" altLang="en-US" sz="2400" dirty="0">
                <a:latin typeface="Times New Roman" panose="02020603050405020304" pitchFamily="18" charset="0"/>
                <a:cs typeface="Times New Roman" panose="02020603050405020304" pitchFamily="18" charset="0"/>
              </a:rPr>
              <a:t>This strategy is not applicable in general for many applications (except DB systems)</a:t>
            </a:r>
          </a:p>
          <a:p>
            <a:pPr algn="just">
              <a:lnSpc>
                <a:spcPct val="80000"/>
              </a:lnSpc>
            </a:pPr>
            <a:r>
              <a:rPr lang="en-US" altLang="en-US" sz="2400" dirty="0">
                <a:latin typeface="Times New Roman" panose="02020603050405020304" pitchFamily="18" charset="0"/>
                <a:cs typeface="Times New Roman" panose="02020603050405020304" pitchFamily="18" charset="0"/>
              </a:rPr>
              <a:t>To apply, the programmer has very carefully arranged things so that the program can be stopped at any point during the first phase and restart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Other Issues</a:t>
            </a:r>
            <a:r>
              <a:rPr lang="en-US" altLang="en-US" b="1" dirty="0">
                <a:latin typeface="Times New Roman" panose="02020603050405020304" pitchFamily="18" charset="0"/>
                <a:cs typeface="Times New Roman" panose="02020603050405020304" pitchFamily="18" charset="0"/>
              </a:rPr>
              <a:t> </a:t>
            </a:r>
            <a:br>
              <a:rPr lang="en-US" altLang="en-US" sz="48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Communication Deadlocks</a:t>
            </a:r>
          </a:p>
        </p:txBody>
      </p:sp>
      <p:sp>
        <p:nvSpPr>
          <p:cNvPr id="29699" name="Rectangle 3"/>
          <p:cNvSpPr>
            <a:spLocks noGrp="1"/>
          </p:cNvSpPr>
          <p:nvPr>
            <p:ph type="body" sz="half" idx="4294967295"/>
          </p:nvPr>
        </p:nvSpPr>
        <p:spPr>
          <a:xfrm>
            <a:off x="0" y="1219200"/>
            <a:ext cx="9144000" cy="5638800"/>
          </a:xfrm>
        </p:spPr>
        <p:txBody>
          <a:bodyPr/>
          <a:lstStyle/>
          <a:p>
            <a:pPr algn="just"/>
            <a:r>
              <a:rPr lang="en-US" altLang="en-US" sz="2800" dirty="0">
                <a:latin typeface="Times New Roman" panose="02020603050405020304" pitchFamily="18" charset="0"/>
                <a:cs typeface="Times New Roman" panose="02020603050405020304" pitchFamily="18" charset="0"/>
              </a:rPr>
              <a:t>Deadlock can occur in communication system in which two or more process communicate by sending message</a:t>
            </a:r>
          </a:p>
          <a:p>
            <a:pPr algn="just"/>
            <a:r>
              <a:rPr lang="en-US" altLang="en-US" sz="2800" b="1" dirty="0">
                <a:latin typeface="Times New Roman" panose="02020603050405020304" pitchFamily="18" charset="0"/>
                <a:cs typeface="Times New Roman" panose="02020603050405020304" pitchFamily="18" charset="0"/>
              </a:rPr>
              <a:t>Problems</a:t>
            </a:r>
          </a:p>
          <a:p>
            <a:pPr lvl="1" algn="just"/>
            <a:r>
              <a:rPr lang="en-US" altLang="en-US" sz="2400" dirty="0">
                <a:latin typeface="Times New Roman" panose="02020603050405020304" pitchFamily="18" charset="0"/>
                <a:cs typeface="Times New Roman" panose="02020603050405020304" pitchFamily="18" charset="0"/>
              </a:rPr>
              <a:t>Process A sends a request message to process B, then blocks until B sends back reply the message</a:t>
            </a:r>
          </a:p>
          <a:p>
            <a:pPr lvl="1" algn="just"/>
            <a:r>
              <a:rPr lang="en-US" altLang="en-US" sz="2400" dirty="0">
                <a:latin typeface="Times New Roman" panose="02020603050405020304" pitchFamily="18" charset="0"/>
                <a:cs typeface="Times New Roman" panose="02020603050405020304" pitchFamily="18" charset="0"/>
              </a:rPr>
              <a:t>If the request message gets lost, both A and B are blocked</a:t>
            </a:r>
          </a:p>
          <a:p>
            <a:pPr algn="just"/>
            <a:r>
              <a:rPr lang="en-US" altLang="en-US" sz="2800" b="1" dirty="0">
                <a:latin typeface="Times New Roman" panose="02020603050405020304" pitchFamily="18" charset="0"/>
                <a:cs typeface="Times New Roman" panose="02020603050405020304" pitchFamily="18" charset="0"/>
              </a:rPr>
              <a:t>Communication deadlock</a:t>
            </a:r>
          </a:p>
          <a:p>
            <a:pPr lvl="1" algn="just"/>
            <a:r>
              <a:rPr lang="en-US" altLang="en-US" sz="2400" dirty="0">
                <a:latin typeface="Times New Roman" panose="02020603050405020304" pitchFamily="18" charset="0"/>
                <a:cs typeface="Times New Roman" panose="02020603050405020304" pitchFamily="18" charset="0"/>
              </a:rPr>
              <a:t>The set of processes is deadlock if each blocked waiting for an event only the other one can cause</a:t>
            </a:r>
          </a:p>
          <a:p>
            <a:pPr lvl="1" algn="just"/>
            <a:r>
              <a:rPr lang="en-US" altLang="en-US" sz="2400" dirty="0">
                <a:latin typeface="Times New Roman" panose="02020603050405020304" pitchFamily="18" charset="0"/>
                <a:cs typeface="Times New Roman" panose="02020603050405020304" pitchFamily="18" charset="0"/>
              </a:rPr>
              <a:t>Cannot be prevented by ordering the resource (since there are none) or avoided by careful scheduling (since there are no moments when a request could be postponed)</a:t>
            </a:r>
          </a:p>
          <a:p>
            <a:pPr lvl="1" algn="just"/>
            <a:r>
              <a:rPr lang="en-US" altLang="en-US" sz="2400" dirty="0">
                <a:latin typeface="Times New Roman" panose="02020603050405020304" pitchFamily="18" charset="0"/>
                <a:cs typeface="Times New Roman" panose="02020603050405020304" pitchFamily="18" charset="0"/>
              </a:rPr>
              <a:t>→deadlock is prevented using </a:t>
            </a:r>
            <a:r>
              <a:rPr lang="en-US" altLang="en-US" sz="2400" b="1" dirty="0">
                <a:latin typeface="Times New Roman" panose="02020603050405020304" pitchFamily="18" charset="0"/>
                <a:cs typeface="Times New Roman" panose="02020603050405020304" pitchFamily="18" charset="0"/>
              </a:rPr>
              <a:t>timeout (or handling alarm)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Other Issues</a:t>
            </a:r>
            <a:r>
              <a:rPr lang="en-US" altLang="en-US" b="1" dirty="0">
                <a:latin typeface="Times New Roman" panose="02020603050405020304" pitchFamily="18" charset="0"/>
                <a:cs typeface="Times New Roman" panose="02020603050405020304" pitchFamily="18" charset="0"/>
              </a:rPr>
              <a:t> </a:t>
            </a:r>
            <a:br>
              <a:rPr lang="en-US" altLang="en-US" sz="4800" b="1" dirty="0">
                <a:latin typeface="Times New Roman" panose="02020603050405020304" pitchFamily="18" charset="0"/>
                <a:cs typeface="Times New Roman" panose="02020603050405020304" pitchFamily="18" charset="0"/>
              </a:rPr>
            </a:br>
            <a:r>
              <a:rPr lang="en-US" altLang="en-US" sz="3200" dirty="0" err="1">
                <a:latin typeface="Times New Roman" panose="02020603050405020304" pitchFamily="18" charset="0"/>
                <a:cs typeface="Times New Roman" panose="02020603050405020304" pitchFamily="18" charset="0"/>
              </a:rPr>
              <a:t>LiveLock</a:t>
            </a:r>
            <a:endParaRPr lang="en-US" altLang="en-US" sz="3200" dirty="0">
              <a:latin typeface="Times New Roman" panose="02020603050405020304" pitchFamily="18" charset="0"/>
              <a:cs typeface="Times New Roman" panose="02020603050405020304" pitchFamily="18" charset="0"/>
            </a:endParaRPr>
          </a:p>
        </p:txBody>
      </p:sp>
      <p:sp>
        <p:nvSpPr>
          <p:cNvPr id="125955" name="Rectangle 3"/>
          <p:cNvSpPr>
            <a:spLocks noGrp="1"/>
          </p:cNvSpPr>
          <p:nvPr>
            <p:ph type="body" sz="half" idx="4294967295"/>
          </p:nvPr>
        </p:nvSpPr>
        <p:spPr>
          <a:xfrm>
            <a:off x="228600" y="1143000"/>
            <a:ext cx="8915400" cy="3276600"/>
          </a:xfrm>
        </p:spPr>
        <p:txBody>
          <a:bodyPr/>
          <a:lstStyle/>
          <a:p>
            <a:pPr algn="just"/>
            <a:r>
              <a:rPr lang="en-US" altLang="en-US" sz="2400" b="1">
                <a:latin typeface="Times New Roman" panose="02020603050405020304" pitchFamily="18" charset="0"/>
                <a:cs typeface="Times New Roman" panose="02020603050405020304" pitchFamily="18" charset="0"/>
              </a:rPr>
              <a:t>Context</a:t>
            </a:r>
          </a:p>
          <a:p>
            <a:pPr lvl="1" algn="just"/>
            <a:r>
              <a:rPr lang="en-US" altLang="en-US" sz="2000">
                <a:latin typeface="Times New Roman" panose="02020603050405020304" pitchFamily="18" charset="0"/>
                <a:cs typeface="Times New Roman" panose="02020603050405020304" pitchFamily="18" charset="0"/>
              </a:rPr>
              <a:t>Mutual exclusion</a:t>
            </a:r>
          </a:p>
          <a:p>
            <a:pPr lvl="1" algn="just"/>
            <a:r>
              <a:rPr lang="en-US" altLang="en-US" sz="2000">
                <a:latin typeface="Times New Roman" panose="02020603050405020304" pitchFamily="18" charset="0"/>
                <a:cs typeface="Times New Roman" panose="02020603050405020304" pitchFamily="18" charset="0"/>
              </a:rPr>
              <a:t>Busy waiting</a:t>
            </a:r>
          </a:p>
          <a:p>
            <a:pPr algn="just"/>
            <a:r>
              <a:rPr lang="en-US" altLang="en-US" sz="2400">
                <a:latin typeface="Times New Roman" panose="02020603050405020304" pitchFamily="18" charset="0"/>
                <a:cs typeface="Times New Roman" panose="02020603050405020304" pitchFamily="18" charset="0"/>
              </a:rPr>
              <a:t>Definition</a:t>
            </a:r>
          </a:p>
          <a:p>
            <a:pPr lvl="1" algn="just"/>
            <a:r>
              <a:rPr lang="en-US" altLang="en-US" sz="2000">
                <a:latin typeface="Times New Roman" panose="02020603050405020304" pitchFamily="18" charset="0"/>
                <a:cs typeface="Times New Roman" panose="02020603050405020304" pitchFamily="18" charset="0"/>
              </a:rPr>
              <a:t>Each process acquires one resources, but it is not progressing because it uses up its CPU quantum over and over and over to checking to take/ enter the resource/ critical regions (in the other word, it is running)</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Is the equivalent of deadlock but no process is blocked (and it is similar to starvations because the process must wait for a long time)</a:t>
            </a:r>
          </a:p>
          <a:p>
            <a:pPr algn="just"/>
            <a:endParaRPr lang="en-US" altLang="en-US" sz="2400">
              <a:latin typeface="Times New Roman" panose="02020603050405020304" pitchFamily="18" charset="0"/>
              <a:cs typeface="Times New Roman" panose="02020603050405020304" pitchFamily="18" charset="0"/>
            </a:endParaRPr>
          </a:p>
        </p:txBody>
      </p:sp>
      <p:pic>
        <p:nvPicPr>
          <p:cNvPr id="1259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2386013"/>
            <a:ext cx="412432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5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2362200"/>
            <a:ext cx="390207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370" name="Text Box 4"/>
          <p:cNvSpPr txBox="1">
            <a:spLocks noChangeArrowheads="1"/>
          </p:cNvSpPr>
          <p:nvPr/>
        </p:nvSpPr>
        <p:spPr bwMode="auto">
          <a:xfrm>
            <a:off x="3629025" y="4367213"/>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Other Issues</a:t>
            </a:r>
            <a:r>
              <a:rPr lang="en-US" altLang="en-US" b="1" dirty="0">
                <a:latin typeface="Times New Roman" panose="02020603050405020304" pitchFamily="18" charset="0"/>
                <a:cs typeface="Times New Roman" panose="02020603050405020304" pitchFamily="18" charset="0"/>
              </a:rPr>
              <a:t> </a:t>
            </a:r>
            <a:br>
              <a:rPr lang="en-US" altLang="en-US" sz="4800" b="1" dirty="0">
                <a:latin typeface="Times New Roman" panose="02020603050405020304" pitchFamily="18" charset="0"/>
                <a:cs typeface="Times New Roman" panose="02020603050405020304" pitchFamily="18" charset="0"/>
              </a:rPr>
            </a:br>
            <a:r>
              <a:rPr lang="en-US" altLang="en-US" sz="3200" dirty="0" err="1">
                <a:latin typeface="Times New Roman" panose="02020603050405020304" pitchFamily="18" charset="0"/>
                <a:cs typeface="Times New Roman" panose="02020603050405020304" pitchFamily="18" charset="0"/>
              </a:rPr>
              <a:t>LiveLock</a:t>
            </a:r>
            <a:endParaRPr lang="en-US" altLang="en-US" sz="3200" dirty="0">
              <a:latin typeface="Times New Roman" panose="02020603050405020304" pitchFamily="18" charset="0"/>
              <a:cs typeface="Times New Roman" panose="02020603050405020304" pitchFamily="18" charset="0"/>
            </a:endParaRPr>
          </a:p>
        </p:txBody>
      </p:sp>
      <p:sp>
        <p:nvSpPr>
          <p:cNvPr id="125955" name="Rectangle 3"/>
          <p:cNvSpPr>
            <a:spLocks noGrp="1"/>
          </p:cNvSpPr>
          <p:nvPr>
            <p:ph type="body" sz="half" idx="4294967295"/>
          </p:nvPr>
        </p:nvSpPr>
        <p:spPr>
          <a:xfrm>
            <a:off x="228600" y="1143000"/>
            <a:ext cx="8915400" cy="3276600"/>
          </a:xfrm>
        </p:spPr>
        <p:txBody>
          <a:bodyPr/>
          <a:lstStyle/>
          <a:p>
            <a:pPr algn="just"/>
            <a:r>
              <a:rPr lang="en-US" altLang="en-US" sz="2400" b="1" dirty="0">
                <a:latin typeface="Times New Roman" panose="02020603050405020304" pitchFamily="18" charset="0"/>
                <a:cs typeface="Times New Roman" panose="02020603050405020304" pitchFamily="18" charset="0"/>
              </a:rPr>
              <a:t>Context</a:t>
            </a:r>
          </a:p>
          <a:p>
            <a:pPr lvl="1" algn="just"/>
            <a:r>
              <a:rPr lang="en-US" altLang="en-US" sz="2000" dirty="0">
                <a:latin typeface="Times New Roman" panose="02020603050405020304" pitchFamily="18" charset="0"/>
                <a:cs typeface="Times New Roman" panose="02020603050405020304" pitchFamily="18" charset="0"/>
              </a:rPr>
              <a:t>Mutual exclusion</a:t>
            </a:r>
          </a:p>
          <a:p>
            <a:pPr lvl="1" algn="just"/>
            <a:r>
              <a:rPr lang="en-US" altLang="en-US" sz="2000" dirty="0">
                <a:latin typeface="Times New Roman" panose="02020603050405020304" pitchFamily="18" charset="0"/>
                <a:cs typeface="Times New Roman" panose="02020603050405020304" pitchFamily="18" charset="0"/>
              </a:rPr>
              <a:t>Busy waiting</a:t>
            </a:r>
          </a:p>
          <a:p>
            <a:pPr algn="just"/>
            <a:r>
              <a:rPr lang="en-US" altLang="en-US" sz="2400" dirty="0">
                <a:latin typeface="Times New Roman" panose="02020603050405020304" pitchFamily="18" charset="0"/>
                <a:cs typeface="Times New Roman" panose="02020603050405020304" pitchFamily="18" charset="0"/>
              </a:rPr>
              <a:t>Definition</a:t>
            </a:r>
          </a:p>
          <a:p>
            <a:pPr lvl="1" algn="just"/>
            <a:r>
              <a:rPr lang="en-US" altLang="en-US" sz="2000" dirty="0">
                <a:latin typeface="Times New Roman" panose="02020603050405020304" pitchFamily="18" charset="0"/>
                <a:cs typeface="Times New Roman" panose="02020603050405020304" pitchFamily="18" charset="0"/>
              </a:rPr>
              <a:t>Each process acquires one resources, but it is not progressing because it uses up its CPU quantum over and over and over to checking to take/ enter the resource/ critical regions (in the other word, it is running)</a:t>
            </a:r>
          </a:p>
          <a:p>
            <a:pPr lvl="1" algn="just">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Is the equivalent of deadlock but no process is blocked (and it is similar to starvations because the process must wait for a long time)</a:t>
            </a:r>
          </a:p>
          <a:p>
            <a:pPr algn="just"/>
            <a:endParaRPr lang="en-US" altLang="en-US" sz="2400" dirty="0">
              <a:latin typeface="Times New Roman" panose="02020603050405020304" pitchFamily="18" charset="0"/>
              <a:cs typeface="Times New Roman" panose="02020603050405020304" pitchFamily="18" charset="0"/>
            </a:endParaRPr>
          </a:p>
        </p:txBody>
      </p:sp>
      <p:pic>
        <p:nvPicPr>
          <p:cNvPr id="1259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 y="4648654"/>
            <a:ext cx="412432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5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0" y="4678930"/>
            <a:ext cx="390207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370" name="Text Box 4"/>
          <p:cNvSpPr txBox="1">
            <a:spLocks noChangeArrowheads="1"/>
          </p:cNvSpPr>
          <p:nvPr/>
        </p:nvSpPr>
        <p:spPr bwMode="auto">
          <a:xfrm>
            <a:off x="3629025" y="4367213"/>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6-16.</a:t>
            </a:r>
          </a:p>
        </p:txBody>
      </p:sp>
    </p:spTree>
    <p:extLst>
      <p:ext uri="{BB962C8B-B14F-4D97-AF65-F5344CB8AC3E}">
        <p14:creationId xmlns:p14="http://schemas.microsoft.com/office/powerpoint/2010/main" val="3067270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Other Issues</a:t>
            </a:r>
            <a:r>
              <a:rPr lang="en-US" altLang="en-US" b="1">
                <a:latin typeface="Times New Roman" panose="02020603050405020304" pitchFamily="18" charset="0"/>
                <a:cs typeface="Times New Roman" panose="02020603050405020304" pitchFamily="18" charset="0"/>
              </a:rPr>
              <a:t> </a:t>
            </a:r>
            <a:br>
              <a:rPr lang="en-US" altLang="en-US" sz="48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LiveLock</a:t>
            </a:r>
          </a:p>
        </p:txBody>
      </p:sp>
      <p:sp>
        <p:nvSpPr>
          <p:cNvPr id="31747" name="Rectangle 3"/>
          <p:cNvSpPr>
            <a:spLocks noGrp="1"/>
          </p:cNvSpPr>
          <p:nvPr>
            <p:ph type="body" sz="half" idx="4294967295"/>
          </p:nvPr>
        </p:nvSpPr>
        <p:spPr>
          <a:xfrm>
            <a:off x="0" y="1219200"/>
            <a:ext cx="9144000" cy="5638800"/>
          </a:xfrm>
        </p:spPr>
        <p:txBody>
          <a:bodyPr/>
          <a:lstStyle/>
          <a:p>
            <a:pPr algn="just"/>
            <a:r>
              <a:rPr lang="en-US" altLang="en-US" sz="2800" b="1" dirty="0">
                <a:latin typeface="Times New Roman" panose="02020603050405020304" pitchFamily="18" charset="0"/>
                <a:cs typeface="Times New Roman" panose="02020603050405020304" pitchFamily="18" charset="0"/>
              </a:rPr>
              <a:t>Case studies</a:t>
            </a:r>
          </a:p>
          <a:p>
            <a:pPr lvl="1" algn="just"/>
            <a:r>
              <a:rPr lang="en-US" altLang="en-US" sz="2400" dirty="0">
                <a:latin typeface="Times New Roman" panose="02020603050405020304" pitchFamily="18" charset="0"/>
                <a:cs typeface="Times New Roman" panose="02020603050405020304" pitchFamily="18" charset="0"/>
              </a:rPr>
              <a:t>The process table slots are finite resource. When the table is full, the live lock occurs due to wait a random time and try again to enter the process table</a:t>
            </a:r>
          </a:p>
          <a:p>
            <a:pPr lvl="1" algn="just"/>
            <a:r>
              <a:rPr lang="en-US" altLang="en-US" sz="2400" dirty="0">
                <a:latin typeface="Times New Roman" panose="02020603050405020304" pitchFamily="18" charset="0"/>
                <a:cs typeface="Times New Roman" panose="02020603050405020304" pitchFamily="18" charset="0"/>
              </a:rPr>
              <a:t>Same as the </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-node table slots to open files are finite resource</a:t>
            </a:r>
          </a:p>
          <a:p>
            <a:pPr algn="just"/>
            <a:r>
              <a:rPr lang="en-US" altLang="en-US" sz="2800" b="1" dirty="0">
                <a:latin typeface="Times New Roman" panose="02020603050405020304" pitchFamily="18" charset="0"/>
                <a:cs typeface="Times New Roman" panose="02020603050405020304" pitchFamily="18" charset="0"/>
              </a:rPr>
              <a:t>Solutions</a:t>
            </a:r>
          </a:p>
          <a:p>
            <a:pPr lvl="1" algn="just"/>
            <a:r>
              <a:rPr lang="en-US" altLang="en-US" sz="2400" dirty="0">
                <a:latin typeface="Times New Roman" panose="02020603050405020304" pitchFamily="18" charset="0"/>
                <a:cs typeface="Times New Roman" panose="02020603050405020304" pitchFamily="18" charset="0"/>
              </a:rPr>
              <a:t>Abolish all the finite resources and each items can claim 1/n of the total (fairness is not a good idea)</a:t>
            </a:r>
          </a:p>
          <a:p>
            <a:pPr lvl="1" algn="just"/>
            <a:r>
              <a:rPr lang="en-US" altLang="en-US" sz="2400" dirty="0">
                <a:latin typeface="Times New Roman" panose="02020603050405020304" pitchFamily="18" charset="0"/>
                <a:cs typeface="Times New Roman" panose="02020603050405020304" pitchFamily="18" charset="0"/>
              </a:rPr>
              <a:t>Most OS just ignore the problem on the assumption that most users would prefer an occasional </a:t>
            </a:r>
            <a:r>
              <a:rPr lang="en-US" altLang="en-US" sz="2400" dirty="0" err="1">
                <a:latin typeface="Times New Roman" panose="02020603050405020304" pitchFamily="18" charset="0"/>
                <a:cs typeface="Times New Roman" panose="02020603050405020304" pitchFamily="18" charset="0"/>
              </a:rPr>
              <a:t>livelock</a:t>
            </a:r>
            <a:r>
              <a:rPr lang="en-US" altLang="en-US" sz="2400" dirty="0">
                <a:latin typeface="Times New Roman" panose="02020603050405020304" pitchFamily="18" charset="0"/>
                <a:cs typeface="Times New Roman" panose="02020603050405020304" pitchFamily="18" charset="0"/>
              </a:rPr>
              <a:t> to rule restricting all users to one process, one open file, and one everything</a:t>
            </a:r>
          </a:p>
          <a:p>
            <a:pPr lvl="1" algn="just">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Face with an unpleasant trade-off between convenience and correctness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idx="4294967295"/>
          </p:nvPr>
        </p:nvSpPr>
        <p:spPr>
          <a:xfrm>
            <a:off x="914400" y="0"/>
            <a:ext cx="8229600" cy="1143000"/>
          </a:xfrm>
        </p:spPr>
        <p:txBody>
          <a:bodyPr/>
          <a:lstStyle/>
          <a:p>
            <a:r>
              <a:rPr lang="en-US" altLang="en-US" sz="4000" b="1" dirty="0">
                <a:latin typeface="Times New Roman" panose="02020603050405020304" pitchFamily="18" charset="0"/>
                <a:cs typeface="Times New Roman" panose="02020603050405020304" pitchFamily="18" charset="0"/>
              </a:rPr>
              <a:t>Other Issues</a:t>
            </a:r>
            <a:r>
              <a:rPr lang="en-US" altLang="en-US" b="1" dirty="0">
                <a:latin typeface="Times New Roman" panose="02020603050405020304" pitchFamily="18" charset="0"/>
                <a:cs typeface="Times New Roman" panose="02020603050405020304" pitchFamily="18" charset="0"/>
              </a:rPr>
              <a:t> </a:t>
            </a:r>
            <a:br>
              <a:rPr lang="en-US" altLang="en-US" sz="48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Starvation</a:t>
            </a:r>
          </a:p>
        </p:txBody>
      </p:sp>
      <p:sp>
        <p:nvSpPr>
          <p:cNvPr id="32771" name="Rectangle 3"/>
          <p:cNvSpPr>
            <a:spLocks noGrp="1"/>
          </p:cNvSpPr>
          <p:nvPr>
            <p:ph type="body" sz="half" idx="4294967295"/>
          </p:nvPr>
        </p:nvSpPr>
        <p:spPr>
          <a:xfrm>
            <a:off x="0" y="1219200"/>
            <a:ext cx="9144000" cy="5638800"/>
          </a:xfrm>
        </p:spPr>
        <p:txBody>
          <a:bodyPr/>
          <a:lstStyle/>
          <a:p>
            <a:pPr algn="just"/>
            <a:r>
              <a:rPr lang="en-US" altLang="en-US" sz="2800" dirty="0">
                <a:latin typeface="Times New Roman" panose="02020603050405020304" pitchFamily="18" charset="0"/>
                <a:cs typeface="Times New Roman" panose="02020603050405020304" pitchFamily="18" charset="0"/>
              </a:rPr>
              <a:t>Some policy is needed to make a decision about who gets which resource when</a:t>
            </a:r>
          </a:p>
          <a:p>
            <a:pPr algn="just">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 may lead to some processes never getting service even though they are not deadlocks</a:t>
            </a:r>
          </a:p>
          <a:p>
            <a:pPr algn="just"/>
            <a:r>
              <a:rPr lang="en-US" altLang="en-US" sz="2800" b="1" dirty="0">
                <a:latin typeface="Times New Roman" panose="02020603050405020304" pitchFamily="18" charset="0"/>
                <a:cs typeface="Times New Roman" panose="02020603050405020304" pitchFamily="18" charset="0"/>
              </a:rPr>
              <a:t>Ex</a:t>
            </a:r>
            <a:endParaRPr lang="en-US" altLang="en-US" sz="2800" dirty="0">
              <a:latin typeface="Times New Roman" panose="02020603050405020304" pitchFamily="18" charset="0"/>
              <a:cs typeface="Times New Roman" panose="02020603050405020304" pitchFamily="18" charset="0"/>
            </a:endParaRPr>
          </a:p>
          <a:p>
            <a:pPr lvl="1" algn="just"/>
            <a:r>
              <a:rPr lang="en-US" altLang="en-US" sz="2400" dirty="0">
                <a:latin typeface="Times New Roman" panose="02020603050405020304" pitchFamily="18" charset="0"/>
                <a:cs typeface="Times New Roman" panose="02020603050405020304" pitchFamily="18" charset="0"/>
              </a:rPr>
              <a:t>A dinner philosophers problems</a:t>
            </a:r>
          </a:p>
          <a:p>
            <a:pPr algn="just"/>
            <a:r>
              <a:rPr lang="en-US" altLang="en-US" sz="2800" b="1" dirty="0">
                <a:latin typeface="Times New Roman" panose="02020603050405020304" pitchFamily="18" charset="0"/>
                <a:cs typeface="Times New Roman" panose="02020603050405020304" pitchFamily="18" charset="0"/>
              </a:rPr>
              <a:t>To avoid starvation</a:t>
            </a:r>
          </a:p>
          <a:p>
            <a:pPr lvl="1" algn="just"/>
            <a:r>
              <a:rPr lang="en-US" altLang="en-US" sz="2400" dirty="0">
                <a:latin typeface="Times New Roman" panose="02020603050405020304" pitchFamily="18" charset="0"/>
                <a:cs typeface="Times New Roman" panose="02020603050405020304" pitchFamily="18" charset="0"/>
              </a:rPr>
              <a:t>The FCFS is used for resource allocation policy</a:t>
            </a:r>
          </a:p>
          <a:p>
            <a:pPr lvl="1" algn="just"/>
            <a:r>
              <a:rPr lang="en-US" altLang="en-US" sz="2400" dirty="0">
                <a:latin typeface="Times New Roman" panose="02020603050405020304" pitchFamily="18" charset="0"/>
                <a:cs typeface="Times New Roman" panose="02020603050405020304" pitchFamily="18" charset="0"/>
              </a:rPr>
              <a:t>Disadvantages: the process waiting the longest gets served next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33795" name="Rectangle 3"/>
          <p:cNvSpPr>
            <a:spLocks noGrp="1"/>
          </p:cNvSpPr>
          <p:nvPr>
            <p:ph type="body" idx="1"/>
          </p:nvPr>
        </p:nvSpPr>
        <p:spPr>
          <a:xfrm>
            <a:off x="457200" y="1600200"/>
            <a:ext cx="8229600" cy="3200400"/>
          </a:xfrm>
        </p:spPr>
        <p:txBody>
          <a:bodyPr/>
          <a:lstStyle/>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Resources</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Introduction To Deadlocks</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The Ostrich Algorithm</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Deadlock Detection &amp; Recovery</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Deadlock Avoidance</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Deadlock Prevention</a:t>
            </a:r>
          </a:p>
          <a:p>
            <a:pPr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Other Issues</a:t>
            </a:r>
          </a:p>
        </p:txBody>
      </p:sp>
      <p:sp>
        <p:nvSpPr>
          <p:cNvPr id="33796"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34819" name="Rectangle 3"/>
          <p:cNvSpPr>
            <a:spLocks noGrp="1"/>
          </p:cNvSpPr>
          <p:nvPr>
            <p:ph type="body" idx="1"/>
          </p:nvPr>
        </p:nvSpPr>
        <p:spPr>
          <a:xfrm>
            <a:off x="457200" y="1600200"/>
            <a:ext cx="8229600" cy="3200400"/>
          </a:xfrm>
        </p:spPr>
        <p:txBody>
          <a:bodyPr/>
          <a:lstStyle/>
          <a:p>
            <a:pPr algn="just"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N/A</a:t>
            </a:r>
            <a:endParaRPr lang="en-US" altLang="en-US" dirty="0">
              <a:latin typeface="Times New Roman" panose="02020603050405020304" pitchFamily="18" charset="0"/>
              <a:cs typeface="Times New Roman" panose="02020603050405020304" pitchFamily="18" charset="0"/>
            </a:endParaRPr>
          </a:p>
          <a:p>
            <a:pPr algn="just" eaLnBrk="1" hangingPunct="1">
              <a:lnSpc>
                <a:spcPct val="80000"/>
              </a:lnSpc>
              <a:buClrTx/>
              <a:buSzTx/>
              <a:buFont typeface="Wingdings" pitchFamily="2" charset="2"/>
              <a:buNone/>
            </a:pPr>
            <a:endParaRPr lang="en-US" altLang="en-US" b="1" dirty="0">
              <a:latin typeface="Times New Roman" panose="02020603050405020304" pitchFamily="18" charset="0"/>
              <a:cs typeface="Times New Roman" panose="02020603050405020304" pitchFamily="18" charset="0"/>
            </a:endParaRPr>
          </a:p>
          <a:p>
            <a:pPr algn="just" eaLnBrk="1" hangingPunct="1">
              <a:lnSpc>
                <a:spcPct val="80000"/>
              </a:lnSpc>
              <a:buClrTx/>
              <a:buSzTx/>
              <a:buFont typeface="Wingdings" pitchFamily="2" charset="2"/>
              <a:buNone/>
            </a:pPr>
            <a:endParaRPr lang="en-US" altLang="en-US" b="1" dirty="0">
              <a:latin typeface="Times New Roman" panose="02020603050405020304" pitchFamily="18" charset="0"/>
              <a:cs typeface="Times New Roman" panose="02020603050405020304" pitchFamily="18" charset="0"/>
            </a:endParaRPr>
          </a:p>
          <a:p>
            <a:pPr algn="ctr" eaLnBrk="1" hangingPunct="1">
              <a:lnSpc>
                <a:spcPct val="80000"/>
              </a:lnSpc>
              <a:buClrTx/>
              <a:buSzTx/>
              <a:buFont typeface="Wingdings" pitchFamily="2" charset="2"/>
              <a:buNone/>
            </a:pPr>
            <a:r>
              <a:rPr lang="en-US" altLang="en-US" sz="6000" b="1" dirty="0">
                <a:latin typeface="Times New Roman" panose="02020603050405020304" pitchFamily="18" charset="0"/>
                <a:cs typeface="Times New Roman" panose="02020603050405020304" pitchFamily="18" charset="0"/>
              </a:rPr>
              <a:t>Good luck to you </a:t>
            </a:r>
            <a:r>
              <a:rPr lang="en-US" altLang="en-US" sz="6000" b="1" dirty="0">
                <a:latin typeface="Times New Roman" panose="02020603050405020304" pitchFamily="18" charset="0"/>
                <a:cs typeface="Times New Roman" panose="02020603050405020304" pitchFamily="18" charset="0"/>
                <a:sym typeface="Wingdings" panose="05000000000000000000" pitchFamily="2" charset="2"/>
              </a:rPr>
              <a:t></a:t>
            </a:r>
            <a:endParaRPr lang="en-US" altLang="en-US" sz="60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26428</TotalTime>
  <Words>2996</Words>
  <Application>Microsoft Office PowerPoint</Application>
  <PresentationFormat>On-screen Show (4:3)</PresentationFormat>
  <Paragraphs>349</Paragraphs>
  <Slides>34</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Times New Roman</vt:lpstr>
      <vt:lpstr>Wingdings</vt:lpstr>
      <vt:lpstr>Office Theme</vt:lpstr>
      <vt:lpstr>DEADLOCKS   Deadlock Avoidance Deadlock Prevention Other Issues </vt:lpstr>
      <vt:lpstr>Review</vt:lpstr>
      <vt:lpstr>Review</vt:lpstr>
      <vt:lpstr>Objectives …</vt:lpstr>
      <vt:lpstr>Deadlock Avoidance  Context</vt:lpstr>
      <vt:lpstr> Deadlock Avoidance  Resource Trajectories</vt:lpstr>
      <vt:lpstr>Deadlock Avoidance  Safe and Unsafe States</vt:lpstr>
      <vt:lpstr> Deadlock Avoidance  Safe and Unsafe States</vt:lpstr>
      <vt:lpstr> Deadlock Avoidance  Safe and Unsafe States</vt:lpstr>
      <vt:lpstr>Deadlock Avoidance  Safe and Unsafe States</vt:lpstr>
      <vt:lpstr>Deadlock Avoidance  The Banker’s Algorithm for a Single Resource</vt:lpstr>
      <vt:lpstr> Deadlock Avoidance  The Banker’s Algorithm for a Single Resource</vt:lpstr>
      <vt:lpstr>Deadlock Avoidance  The Banker’s Algorithm for a Multiple Resource</vt:lpstr>
      <vt:lpstr> Deadlock Avoidance  The Banker’s Algorithm for a Multiple Resource</vt:lpstr>
      <vt:lpstr> Deadlock Avoidance  The Banker’s Algorithm for a Multiple Resource</vt:lpstr>
      <vt:lpstr> Deadlock Avoidance  The Banker’s Algorithm for a Multiple Resource</vt:lpstr>
      <vt:lpstr> Deadlock Avoidance  The Banker’s Algorithm for a Multiple Resource</vt:lpstr>
      <vt:lpstr> Deadlock Avoidance  The Banker’s Algorithm for a Multiple Resource</vt:lpstr>
      <vt:lpstr> Deadlock Avoidance  The Banker’s Algorithm for a Multiple Resource</vt:lpstr>
      <vt:lpstr>Deadlock Prevention  Attacking the Mutual Exclusion Condition</vt:lpstr>
      <vt:lpstr>Deadlock Prevention  Attacking the Hold and Wait Condition</vt:lpstr>
      <vt:lpstr>Deadlock Prevention  Attacking the No Preemption Condition</vt:lpstr>
      <vt:lpstr>Deadlock Prevention  Attacking the Circular Wait Condition</vt:lpstr>
      <vt:lpstr> Deadlock Prevention  Attacking the Circular Wait Condition</vt:lpstr>
      <vt:lpstr>Deadlock Prevention  Attacking the Circular Wait Condition</vt:lpstr>
      <vt:lpstr> Deadlock Prevention  Summarized</vt:lpstr>
      <vt:lpstr>Other Issues  Two-Phase Locking</vt:lpstr>
      <vt:lpstr>Other Issues  Communication Deadlocks</vt:lpstr>
      <vt:lpstr>Other Issues  LiveLock</vt:lpstr>
      <vt:lpstr>Other Issues  LiveLock</vt:lpstr>
      <vt:lpstr>Other Issues  LiveLock</vt:lpstr>
      <vt:lpstr>Other Issues  Starvation</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3346</cp:revision>
  <dcterms:created xsi:type="dcterms:W3CDTF">2007-08-21T04:43:22Z</dcterms:created>
  <dcterms:modified xsi:type="dcterms:W3CDTF">2021-11-05T07:22:51Z</dcterms:modified>
</cp:coreProperties>
</file>